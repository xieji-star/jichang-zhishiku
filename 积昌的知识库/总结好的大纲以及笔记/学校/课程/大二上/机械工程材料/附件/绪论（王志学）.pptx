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80"/>
  </p:notesMasterIdLst>
  <p:sldIdLst>
    <p:sldId id="988" r:id="rId3"/>
    <p:sldId id="989" r:id="rId4"/>
    <p:sldId id="990" r:id="rId5"/>
    <p:sldId id="991" r:id="rId6"/>
    <p:sldId id="992" r:id="rId7"/>
    <p:sldId id="993" r:id="rId8"/>
    <p:sldId id="994" r:id="rId9"/>
    <p:sldId id="995" r:id="rId10"/>
    <p:sldId id="996" r:id="rId11"/>
    <p:sldId id="997" r:id="rId12"/>
    <p:sldId id="999" r:id="rId13"/>
    <p:sldId id="1000" r:id="rId14"/>
    <p:sldId id="1001" r:id="rId15"/>
    <p:sldId id="1002" r:id="rId16"/>
    <p:sldId id="1004" r:id="rId17"/>
    <p:sldId id="1005" r:id="rId18"/>
    <p:sldId id="1006" r:id="rId19"/>
    <p:sldId id="1007" r:id="rId20"/>
    <p:sldId id="1010" r:id="rId21"/>
    <p:sldId id="1011" r:id="rId22"/>
    <p:sldId id="1012" r:id="rId23"/>
    <p:sldId id="1013" r:id="rId24"/>
    <p:sldId id="1015" r:id="rId25"/>
    <p:sldId id="1016" r:id="rId26"/>
    <p:sldId id="1017" r:id="rId27"/>
    <p:sldId id="1018" r:id="rId28"/>
    <p:sldId id="1019" r:id="rId29"/>
    <p:sldId id="1020" r:id="rId30"/>
    <p:sldId id="1021" r:id="rId31"/>
    <p:sldId id="1022" r:id="rId32"/>
    <p:sldId id="1023" r:id="rId33"/>
    <p:sldId id="1024" r:id="rId34"/>
    <p:sldId id="1025" r:id="rId35"/>
    <p:sldId id="1026" r:id="rId36"/>
    <p:sldId id="1027" r:id="rId37"/>
    <p:sldId id="1028" r:id="rId38"/>
    <p:sldId id="1029" r:id="rId39"/>
    <p:sldId id="1030" r:id="rId40"/>
    <p:sldId id="1031" r:id="rId41"/>
    <p:sldId id="1032" r:id="rId42"/>
    <p:sldId id="1033" r:id="rId43"/>
    <p:sldId id="1034" r:id="rId44"/>
    <p:sldId id="1035" r:id="rId45"/>
    <p:sldId id="1036" r:id="rId46"/>
    <p:sldId id="1037" r:id="rId47"/>
    <p:sldId id="1038" r:id="rId48"/>
    <p:sldId id="1039" r:id="rId49"/>
    <p:sldId id="288" r:id="rId50"/>
    <p:sldId id="405" r:id="rId51"/>
    <p:sldId id="256" r:id="rId52"/>
    <p:sldId id="1041" r:id="rId53"/>
    <p:sldId id="407" r:id="rId54"/>
    <p:sldId id="1165" r:id="rId55"/>
    <p:sldId id="1043" r:id="rId56"/>
    <p:sldId id="1045" r:id="rId57"/>
    <p:sldId id="1046" r:id="rId58"/>
    <p:sldId id="1047" r:id="rId59"/>
    <p:sldId id="1048" r:id="rId60"/>
    <p:sldId id="1167" r:id="rId61"/>
    <p:sldId id="1166" r:id="rId62"/>
    <p:sldId id="1050" r:id="rId63"/>
    <p:sldId id="1051" r:id="rId64"/>
    <p:sldId id="1052" r:id="rId65"/>
    <p:sldId id="1053" r:id="rId66"/>
    <p:sldId id="1054" r:id="rId67"/>
    <p:sldId id="1055" r:id="rId68"/>
    <p:sldId id="1056" r:id="rId69"/>
    <p:sldId id="1057" r:id="rId70"/>
    <p:sldId id="1058" r:id="rId71"/>
    <p:sldId id="1060" r:id="rId72"/>
    <p:sldId id="1061" r:id="rId73"/>
    <p:sldId id="1062" r:id="rId74"/>
    <p:sldId id="1063" r:id="rId75"/>
    <p:sldId id="1064" r:id="rId76"/>
    <p:sldId id="1065" r:id="rId77"/>
    <p:sldId id="1066" r:id="rId78"/>
    <p:sldId id="1164" r:id="rId7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C980"/>
    <a:srgbClr val="F6BB80"/>
    <a:srgbClr val="F5B06B"/>
    <a:srgbClr val="FF0000"/>
    <a:srgbClr val="660033"/>
    <a:srgbClr val="CCFF33"/>
    <a:srgbClr val="CCFFFF"/>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7" d="100"/>
          <a:sy n="77" d="100"/>
        </p:scale>
        <p:origin x="1349"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Rot="1" noChangeAspect="1"/>
          </p:cNvSpPr>
          <p:nvPr>
            <p:ph type="sldImg"/>
          </p:nvPr>
        </p:nvSpPr>
        <p:spPr>
          <a:xfrm>
            <a:off x="1143000" y="685800"/>
            <a:ext cx="4572000" cy="3429000"/>
          </a:xfrm>
          <a:prstGeom prst="rect">
            <a:avLst/>
          </a:prstGeom>
          <a:noFill/>
          <a:ln w="9525">
            <a:noFill/>
          </a:ln>
        </p:spPr>
      </p:sp>
      <p:sp>
        <p:nvSpPr>
          <p:cNvPr id="5125" name="Rectangle 5"/>
          <p:cNvSpPr>
            <a:spLocks noGrp="1" noRot="1" noChangeArrowheads="1"/>
          </p:cNvSpPr>
          <p:nvPr>
            <p:ph type="body" sz="quarter" idx="3"/>
          </p:nvPr>
        </p:nvSpPr>
        <p:spPr bwMode="auto">
          <a:xfrm>
            <a:off x="685800" y="4343400"/>
            <a:ext cx="5486400" cy="4114800"/>
          </a:xfrm>
          <a:prstGeom prst="rect">
            <a:avLst/>
          </a:prstGeom>
          <a:noFill/>
          <a:ln w="9525" cmpd="sng">
            <a:noFill/>
            <a:miter lim="800000"/>
          </a:ln>
          <a:effectLst/>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zh-CN" altLang="zh-CN" sz="1200" strike="noStrike" noProof="1" dirty="0">
                <a:latin typeface="Times New Roman" panose="02020603050405020304" pitchFamily="18" charset="0"/>
                <a:ea typeface="宋体" panose="02010600030101010101" pitchFamily="2" charset="-122"/>
                <a:cs typeface="+mn-cs"/>
              </a:rPr>
              <a:t>‹#›</a:t>
            </a:fld>
            <a:endParaRPr lang="zh-CN" altLang="zh-CN" sz="1200" strike="noStrike" noProof="1"/>
          </a:p>
        </p:txBody>
      </p:sp>
    </p:spTree>
    <p:extLst>
      <p:ext uri="{BB962C8B-B14F-4D97-AF65-F5344CB8AC3E}">
        <p14:creationId xmlns:p14="http://schemas.microsoft.com/office/powerpoint/2010/main" val="3452769265"/>
      </p:ext>
    </p:extLst>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p:sp>
      <p:sp>
        <p:nvSpPr>
          <p:cNvPr id="40963" name="Rectangle 3"/>
          <p:cNvSpPr>
            <a:spLocks noGrp="1" noRot="1"/>
          </p:cNvSpPr>
          <p:nvPr>
            <p:ph type="body"/>
          </p:nvPr>
        </p:nvSpPr>
        <p:spPr/>
        <p:txBody>
          <a:bodyPr wrap="square" lIns="91440" tIns="45720" rIns="91440" bIns="45720" anchor="ctr"/>
          <a:lstStyle/>
          <a:p>
            <a:pPr lvl="0" eaLnBrk="1" hangingPunct="1"/>
            <a:r>
              <a:rPr lang="zh-CN" altLang="en-US" dirty="0"/>
              <a:t>金属材料包括黑色金属和有色金属（轻金属</a:t>
            </a:r>
            <a:r>
              <a:rPr lang="zh-CN" altLang="zh-CN" dirty="0"/>
              <a:t>,</a:t>
            </a:r>
            <a:r>
              <a:rPr lang="zh-CN" altLang="en-US" dirty="0"/>
              <a:t>重金属</a:t>
            </a:r>
            <a:r>
              <a:rPr lang="zh-CN" altLang="zh-CN" dirty="0"/>
              <a:t>,</a:t>
            </a:r>
            <a:r>
              <a:rPr lang="zh-CN" altLang="en-US" dirty="0"/>
              <a:t>贵金属</a:t>
            </a:r>
            <a:r>
              <a:rPr lang="zh-CN" altLang="zh-CN" dirty="0"/>
              <a:t>,</a:t>
            </a:r>
            <a:r>
              <a:rPr lang="zh-CN" altLang="en-US" dirty="0"/>
              <a:t>稀有金属）。</a:t>
            </a:r>
          </a:p>
          <a:p>
            <a:pPr lvl="0" eaLnBrk="1" hangingPunct="1"/>
            <a:r>
              <a:rPr lang="zh-CN" altLang="en-US" dirty="0"/>
              <a:t>以金属键结合为主；</a:t>
            </a:r>
          </a:p>
          <a:p>
            <a:pPr lvl="0" eaLnBrk="1" hangingPunct="1"/>
            <a:r>
              <a:rPr lang="zh-CN" altLang="en-US" dirty="0"/>
              <a:t>良好的导电性、导热性、延展性和金属光泽；</a:t>
            </a:r>
          </a:p>
          <a:p>
            <a:pPr lvl="0" eaLnBrk="1" hangingPunct="1"/>
            <a:r>
              <a:rPr lang="zh-CN" altLang="en-US" dirty="0"/>
              <a:t>用量最大、应用最广泛。</a:t>
            </a:r>
          </a:p>
          <a:p>
            <a:pPr lvl="0" eaLnBrk="1" hangingPunct="1"/>
            <a:r>
              <a:rPr lang="zh-CN" altLang="en-US" dirty="0"/>
              <a:t>铁及铁合金称为黑色金属，即钢铁材料，其世界年产量已达</a:t>
            </a:r>
            <a:r>
              <a:rPr lang="zh-CN" altLang="zh-CN" dirty="0"/>
              <a:t>10</a:t>
            </a:r>
            <a:r>
              <a:rPr lang="zh-CN" altLang="en-US" dirty="0"/>
              <a:t>亿吨，在机械产品中的用量已占整个用材的</a:t>
            </a:r>
            <a:r>
              <a:rPr lang="zh-CN" altLang="zh-CN" dirty="0"/>
              <a:t>60%</a:t>
            </a:r>
            <a:r>
              <a:rPr lang="zh-CN" altLang="en-US" dirty="0"/>
              <a:t>以上。</a:t>
            </a:r>
          </a:p>
          <a:p>
            <a:pPr lvl="0" eaLnBrk="1" hangingPunct="1"/>
            <a:r>
              <a:rPr lang="zh-CN" altLang="en-US" dirty="0"/>
              <a:t>金属材料具有许多优良的使用性能（如机械性能、物理性能、化学性能等）和加工工艺性能（如铸造性能、锻造性能、焊接性能、热处理性能、机械加工性能等）。特别可贵的是，金属材料可通过不同成分配制，不同工艺方法来改变其内部组织结构，从而改善性能。加之其矿藏丰富，因而在机械制造业中，金属材料仍然是应用最广泛、用量最多的材料。在机械设备中约占所用材料的百分之九十以上，其中又以钢铁材料占绝大多数。</a:t>
            </a:r>
          </a:p>
        </p:txBody>
      </p:sp>
    </p:spTree>
    <p:extLst>
      <p:ext uri="{BB962C8B-B14F-4D97-AF65-F5344CB8AC3E}">
        <p14:creationId xmlns:p14="http://schemas.microsoft.com/office/powerpoint/2010/main" val="2035137338"/>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p:sp>
      <p:sp>
        <p:nvSpPr>
          <p:cNvPr id="45059" name="Rectangle 3"/>
          <p:cNvSpPr>
            <a:spLocks noGrp="1" noRot="1"/>
          </p:cNvSpPr>
          <p:nvPr>
            <p:ph type="body"/>
          </p:nvPr>
        </p:nvSpPr>
        <p:spPr/>
        <p:txBody>
          <a:bodyPr wrap="square" lIns="91440" tIns="45720" rIns="91440" bIns="45720" anchor="ctr"/>
          <a:lstStyle/>
          <a:p>
            <a:pPr lvl="0" eaLnBrk="1" hangingPunct="1"/>
            <a:r>
              <a:rPr lang="zh-CN" altLang="en-US" dirty="0"/>
              <a:t>以共价键和离子键为主；</a:t>
            </a:r>
          </a:p>
          <a:p>
            <a:pPr lvl="0" eaLnBrk="1" hangingPunct="1"/>
            <a:r>
              <a:rPr lang="zh-CN" altLang="en-US" dirty="0"/>
              <a:t>熔点高、硬度高、耐腐蚀、脆性大。</a:t>
            </a:r>
          </a:p>
          <a:p>
            <a:pPr lvl="0" eaLnBrk="1" hangingPunct="1"/>
            <a:r>
              <a:rPr lang="zh-CN" altLang="en-US" dirty="0"/>
              <a:t>分为传统陶瓷、特种陶瓷和金属陶瓷三类。</a:t>
            </a:r>
          </a:p>
          <a:p>
            <a:pPr lvl="0" eaLnBrk="1" hangingPunct="1"/>
            <a:r>
              <a:rPr lang="zh-CN" altLang="en-US" dirty="0"/>
              <a:t>传统陶瓷又称普通陶瓷，是以天然材料</a:t>
            </a:r>
            <a:r>
              <a:rPr lang="zh-CN" altLang="zh-CN" dirty="0"/>
              <a:t>(</a:t>
            </a:r>
            <a:r>
              <a:rPr lang="zh-CN" altLang="en-US" dirty="0"/>
              <a:t>如黏土、石英、长石等</a:t>
            </a:r>
            <a:r>
              <a:rPr lang="zh-CN" altLang="zh-CN" dirty="0"/>
              <a:t>)</a:t>
            </a:r>
            <a:r>
              <a:rPr lang="zh-CN" altLang="en-US" dirty="0"/>
              <a:t>为原料的陶瓷，主要用作建筑材料使用。</a:t>
            </a:r>
          </a:p>
          <a:p>
            <a:pPr lvl="0" eaLnBrk="1" hangingPunct="1"/>
            <a:r>
              <a:rPr lang="zh-CN" altLang="en-US" dirty="0"/>
              <a:t>特种陶瓷又称精细陶瓷，是以人工合成材料为原料的陶瓷，常用作工程上的耐热、耐蚀、耐磨零件。 </a:t>
            </a:r>
          </a:p>
        </p:txBody>
      </p:sp>
    </p:spTree>
    <p:extLst>
      <p:ext uri="{BB962C8B-B14F-4D97-AF65-F5344CB8AC3E}">
        <p14:creationId xmlns:p14="http://schemas.microsoft.com/office/powerpoint/2010/main" val="4075801836"/>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gradFill rotWithShape="0">
          <a:gsLst>
            <a:gs pos="0">
              <a:schemeClr val="bg1"/>
            </a:gs>
            <a:gs pos="100000">
              <a:schemeClr val="bg2"/>
            </a:gs>
          </a:gsLst>
          <a:lin ang="0" scaled="1"/>
          <a:tileRect/>
        </a:gradFill>
        <a:effectLst/>
      </p:bgPr>
    </p:bg>
    <p:spTree>
      <p:nvGrpSpPr>
        <p:cNvPr id="1" name=""/>
        <p:cNvGrpSpPr/>
        <p:nvPr/>
      </p:nvGrpSpPr>
      <p:grpSpPr>
        <a:xfrm>
          <a:off x="0" y="0"/>
          <a:ext cx="0" cy="0"/>
          <a:chOff x="0" y="0"/>
          <a:chExt cx="0" cy="0"/>
        </a:xfrm>
      </p:grpSpPr>
      <p:grpSp>
        <p:nvGrpSpPr>
          <p:cNvPr id="4098" name="Group 2"/>
          <p:cNvGrpSpPr/>
          <p:nvPr/>
        </p:nvGrpSpPr>
        <p:grpSpPr>
          <a:xfrm>
            <a:off x="-1033462" y="1552575"/>
            <a:ext cx="10177462" cy="5305425"/>
            <a:chOff x="0" y="0"/>
            <a:chExt cx="6412" cy="3342"/>
          </a:xfrm>
        </p:grpSpPr>
        <p:sp>
          <p:nvSpPr>
            <p:cNvPr id="11" name="Freeform 3"/>
            <p:cNvSpPr/>
            <p:nvPr/>
          </p:nvSpPr>
          <p:spPr bwMode="auto">
            <a:xfrm>
              <a:off x="2713" y="729"/>
              <a:ext cx="3699" cy="2613"/>
            </a:xfrm>
            <a:custGeom>
              <a:avLst/>
              <a:gdLst/>
              <a:ahLst/>
              <a:cxnLst>
                <a:cxn ang="0">
                  <a:pos x="1523" y="2611"/>
                </a:cxn>
                <a:cxn ang="0">
                  <a:pos x="3698" y="2612"/>
                </a:cxn>
                <a:cxn ang="0">
                  <a:pos x="3698" y="2228"/>
                </a:cxn>
                <a:cxn ang="0">
                  <a:pos x="0" y="0"/>
                </a:cxn>
                <a:cxn ang="0">
                  <a:pos x="160" y="118"/>
                </a:cxn>
                <a:cxn ang="0">
                  <a:pos x="292" y="219"/>
                </a:cxn>
                <a:cxn ang="0">
                  <a:pos x="441" y="347"/>
                </a:cxn>
                <a:cxn ang="0">
                  <a:pos x="585" y="482"/>
                </a:cxn>
                <a:cxn ang="0">
                  <a:pos x="796" y="711"/>
                </a:cxn>
                <a:cxn ang="0">
                  <a:pos x="983" y="955"/>
                </a:cxn>
                <a:cxn ang="0">
                  <a:pos x="1119" y="1168"/>
                </a:cxn>
                <a:cxn ang="0">
                  <a:pos x="1238" y="1388"/>
                </a:cxn>
                <a:cxn ang="0">
                  <a:pos x="1331" y="1608"/>
                </a:cxn>
                <a:cxn ang="0">
                  <a:pos x="1400" y="1809"/>
                </a:cxn>
                <a:cxn ang="0">
                  <a:pos x="1447" y="1979"/>
                </a:cxn>
                <a:cxn ang="0">
                  <a:pos x="1490" y="2190"/>
                </a:cxn>
                <a:cxn ang="0">
                  <a:pos x="1511" y="2374"/>
                </a:cxn>
                <a:cxn ang="0">
                  <a:pos x="1523" y="2611"/>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Arc 4"/>
            <p:cNvSpPr/>
            <p:nvPr/>
          </p:nvSpPr>
          <p:spPr bwMode="auto">
            <a:xfrm>
              <a:off x="0" y="0"/>
              <a:ext cx="4237" cy="3342"/>
            </a:xfrm>
            <a:custGeom>
              <a:avLst/>
              <a:gdLst>
                <a:gd name="G0" fmla="+- 0 0 0"/>
                <a:gd name="G1" fmla="+- 21231 0 0"/>
                <a:gd name="G2" fmla="+- 21600 0 0"/>
                <a:gd name="T0" fmla="*/ 3977 w 21600"/>
                <a:gd name="T1" fmla="*/ 0 h 21231"/>
                <a:gd name="T2" fmla="*/ 21600 w 21600"/>
                <a:gd name="T3" fmla="*/ 21231 h 21231"/>
                <a:gd name="T4" fmla="*/ 0 w 21600"/>
                <a:gd name="T5" fmla="*/ 21231 h 21231"/>
              </a:gdLst>
              <a:ahLst/>
              <a:cxnLst>
                <a:cxn ang="0">
                  <a:pos x="T0" y="T1"/>
                </a:cxn>
                <a:cxn ang="0">
                  <a:pos x="T2" y="T3"/>
                </a:cxn>
                <a:cxn ang="0">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close/>
                </a:path>
              </a:pathLst>
            </a:custGeom>
            <a:noFill/>
            <a:ln w="12700" cap="rnd" cmpd="sng">
              <a:solidFill>
                <a:schemeClr val="accent2"/>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101" name="Rectangle 5"/>
          <p:cNvSpPr>
            <a:spLocks noGrp="1" noChangeArrowheads="1"/>
          </p:cNvSpPr>
          <p:nvPr>
            <p:ph type="ctrTitle" sz="quarter"/>
          </p:nvPr>
        </p:nvSpPr>
        <p:spPr>
          <a:xfrm>
            <a:off x="1293813" y="762000"/>
            <a:ext cx="7772400" cy="1143000"/>
          </a:xfrm>
        </p:spPr>
        <p:txBody>
          <a:bodyPr anchor="b"/>
          <a:lstStyle>
            <a:lvl1pPr>
              <a:defRPr/>
            </a:lvl1pPr>
          </a:lstStyle>
          <a:p>
            <a:pPr fontAlgn="base"/>
            <a:r>
              <a:rPr lang="zh-CN" strike="noStrike" noProof="1"/>
              <a:t>单击此处编辑母版标题样式</a:t>
            </a:r>
          </a:p>
        </p:txBody>
      </p:sp>
      <p:sp>
        <p:nvSpPr>
          <p:cNvPr id="4102"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anose="05000000000000000000" pitchFamily="2" charset="2"/>
              <a:buNone/>
              <a:defRPr/>
            </a:lvl1pPr>
          </a:lstStyle>
          <a:p>
            <a:pPr fontAlgn="base"/>
            <a:r>
              <a:rPr lang="zh-CN" strike="noStrike" noProof="1"/>
              <a:t>单击此处编辑母版副标题样式</a:t>
            </a:r>
          </a:p>
        </p:txBody>
      </p:sp>
      <p:sp>
        <p:nvSpPr>
          <p:cNvPr id="13" name="Rectangle 7"/>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8"/>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9"/>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2075" tIns="46038" rIns="92075" bIns="46038" numCol="1" anchor="ctr" anchorCtr="0" compatLnSpc="1"/>
          <a:lstStyle/>
          <a:p>
            <a:pPr algn="r" fontAlgn="base"/>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剪贴画占位符 3"/>
          <p:cNvSpPr>
            <a:spLocks noGrp="1"/>
          </p:cNvSpPr>
          <p:nvPr>
            <p:ph type="clipArt" sz="half" idx="2"/>
          </p:nvPr>
        </p:nvSpPr>
        <p:spPr>
          <a:xfrm>
            <a:off x="4648200" y="1981200"/>
            <a:ext cx="38100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3671AD3-9B8C-4BA0-B4AC-E11C7302F27C}" type="slidenum">
              <a:rPr lang="en-US" altLang="zh-CN"/>
              <a:pPr>
                <a:defRPr/>
              </a:pPr>
              <a:t>‹#›</a:t>
            </a:fld>
            <a:endParaRPr lang="en-US" altLang="zh-CN"/>
          </a:p>
        </p:txBody>
      </p:sp>
    </p:spTree>
    <p:extLst>
      <p:ext uri="{BB962C8B-B14F-4D97-AF65-F5344CB8AC3E}">
        <p14:creationId xmlns:p14="http://schemas.microsoft.com/office/powerpoint/2010/main" val="1382701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E6835F3-C0D9-4E96-ACE2-0CAAF0D9D77E}" type="slidenum">
              <a:rPr lang="en-US" altLang="zh-CN"/>
              <a:pPr>
                <a:defRPr/>
              </a:pPr>
              <a:t>‹#›</a:t>
            </a:fld>
            <a:endParaRPr lang="en-US" altLang="zh-CN"/>
          </a:p>
        </p:txBody>
      </p:sp>
    </p:spTree>
    <p:extLst>
      <p:ext uri="{BB962C8B-B14F-4D97-AF65-F5344CB8AC3E}">
        <p14:creationId xmlns:p14="http://schemas.microsoft.com/office/powerpoint/2010/main" val="976858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9871595-2370-492D-B477-683431DF46C7}" type="slidenum">
              <a:rPr lang="en-US" altLang="zh-CN"/>
              <a:pPr>
                <a:defRPr/>
              </a:pPr>
              <a:t>‹#›</a:t>
            </a:fld>
            <a:endParaRPr lang="en-US" altLang="zh-CN"/>
          </a:p>
        </p:txBody>
      </p:sp>
    </p:spTree>
    <p:extLst>
      <p:ext uri="{BB962C8B-B14F-4D97-AF65-F5344CB8AC3E}">
        <p14:creationId xmlns:p14="http://schemas.microsoft.com/office/powerpoint/2010/main" val="1389683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62436F1-0891-4A16-99EE-BE576E7C62B9}" type="slidenum">
              <a:rPr lang="en-US" altLang="zh-CN"/>
              <a:pPr>
                <a:defRPr/>
              </a:pPr>
              <a:t>‹#›</a:t>
            </a:fld>
            <a:endParaRPr lang="en-US" altLang="zh-CN"/>
          </a:p>
        </p:txBody>
      </p:sp>
    </p:spTree>
    <p:extLst>
      <p:ext uri="{BB962C8B-B14F-4D97-AF65-F5344CB8AC3E}">
        <p14:creationId xmlns:p14="http://schemas.microsoft.com/office/powerpoint/2010/main" val="3440585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642DB31C-34FC-46CB-AB20-B4956AD2C802}" type="slidenum">
              <a:rPr lang="en-US" altLang="zh-CN"/>
              <a:pPr>
                <a:defRPr/>
              </a:pPr>
              <a:t>‹#›</a:t>
            </a:fld>
            <a:endParaRPr lang="en-US" altLang="zh-CN"/>
          </a:p>
        </p:txBody>
      </p:sp>
    </p:spTree>
    <p:extLst>
      <p:ext uri="{BB962C8B-B14F-4D97-AF65-F5344CB8AC3E}">
        <p14:creationId xmlns:p14="http://schemas.microsoft.com/office/powerpoint/2010/main" val="11470320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080A6DDB-E0A4-45FD-8331-90590F7695FD}" type="slidenum">
              <a:rPr lang="en-US" altLang="zh-CN"/>
              <a:pPr>
                <a:defRPr/>
              </a:pPr>
              <a:t>‹#›</a:t>
            </a:fld>
            <a:endParaRPr lang="en-US" altLang="zh-CN"/>
          </a:p>
        </p:txBody>
      </p:sp>
    </p:spTree>
    <p:extLst>
      <p:ext uri="{BB962C8B-B14F-4D97-AF65-F5344CB8AC3E}">
        <p14:creationId xmlns:p14="http://schemas.microsoft.com/office/powerpoint/2010/main" val="38179669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ABAE26F1-8447-4597-8D85-5D5C66541FB4}" type="slidenum">
              <a:rPr lang="en-US" altLang="zh-CN"/>
              <a:pPr>
                <a:defRPr/>
              </a:pPr>
              <a:t>‹#›</a:t>
            </a:fld>
            <a:endParaRPr lang="en-US" altLang="zh-CN"/>
          </a:p>
        </p:txBody>
      </p:sp>
    </p:spTree>
    <p:extLst>
      <p:ext uri="{BB962C8B-B14F-4D97-AF65-F5344CB8AC3E}">
        <p14:creationId xmlns:p14="http://schemas.microsoft.com/office/powerpoint/2010/main" val="3466593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36D56AE-6904-4CC5-BD5D-9C22FE881A31}" type="slidenum">
              <a:rPr lang="en-US" altLang="zh-CN"/>
              <a:pPr>
                <a:defRPr/>
              </a:pPr>
              <a:t>‹#›</a:t>
            </a:fld>
            <a:endParaRPr lang="en-US" altLang="zh-CN"/>
          </a:p>
        </p:txBody>
      </p:sp>
    </p:spTree>
    <p:extLst>
      <p:ext uri="{BB962C8B-B14F-4D97-AF65-F5344CB8AC3E}">
        <p14:creationId xmlns:p14="http://schemas.microsoft.com/office/powerpoint/2010/main" val="4691712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18AD8EC-FEDF-4500-A566-F5854B4DB691}" type="slidenum">
              <a:rPr lang="en-US" altLang="zh-CN"/>
              <a:pPr>
                <a:defRPr/>
              </a:pPr>
              <a:t>‹#›</a:t>
            </a:fld>
            <a:endParaRPr lang="en-US" altLang="zh-CN"/>
          </a:p>
        </p:txBody>
      </p:sp>
    </p:spTree>
    <p:extLst>
      <p:ext uri="{BB962C8B-B14F-4D97-AF65-F5344CB8AC3E}">
        <p14:creationId xmlns:p14="http://schemas.microsoft.com/office/powerpoint/2010/main" val="18354168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BC0E8C2-ABF1-42B5-A1DB-0D7B82BEDC09}" type="slidenum">
              <a:rPr lang="en-US" altLang="zh-CN"/>
              <a:pPr>
                <a:defRPr/>
              </a:pPr>
              <a:t>‹#›</a:t>
            </a:fld>
            <a:endParaRPr lang="en-US" altLang="zh-CN"/>
          </a:p>
        </p:txBody>
      </p:sp>
    </p:spTree>
    <p:extLst>
      <p:ext uri="{BB962C8B-B14F-4D97-AF65-F5344CB8AC3E}">
        <p14:creationId xmlns:p14="http://schemas.microsoft.com/office/powerpoint/2010/main" val="1061128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21D2466-A65B-4F71-B446-0651EDF96B06}" type="slidenum">
              <a:rPr lang="en-US" altLang="zh-CN"/>
              <a:pPr>
                <a:defRPr/>
              </a:pPr>
              <a:t>‹#›</a:t>
            </a:fld>
            <a:endParaRPr lang="en-US" altLang="zh-CN"/>
          </a:p>
        </p:txBody>
      </p:sp>
    </p:spTree>
    <p:extLst>
      <p:ext uri="{BB962C8B-B14F-4D97-AF65-F5344CB8AC3E}">
        <p14:creationId xmlns:p14="http://schemas.microsoft.com/office/powerpoint/2010/main" val="3029268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CD36CC8-1F48-454E-AAC7-8AC890086C47}" type="slidenum">
              <a:rPr lang="en-US" altLang="zh-CN"/>
              <a:pPr>
                <a:defRPr/>
              </a:pPr>
              <a:t>‹#›</a:t>
            </a:fld>
            <a:endParaRPr lang="en-US" altLang="zh-CN"/>
          </a:p>
        </p:txBody>
      </p:sp>
    </p:spTree>
    <p:extLst>
      <p:ext uri="{BB962C8B-B14F-4D97-AF65-F5344CB8AC3E}">
        <p14:creationId xmlns:p14="http://schemas.microsoft.com/office/powerpoint/2010/main" val="1696847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tileRect/>
        </a:gradFill>
        <a:effectLst/>
      </p:bgPr>
    </p:bg>
    <p:spTree>
      <p:nvGrpSpPr>
        <p:cNvPr id="1" name=""/>
        <p:cNvGrpSpPr/>
        <p:nvPr/>
      </p:nvGrpSpPr>
      <p:grpSpPr>
        <a:xfrm>
          <a:off x="0" y="0"/>
          <a:ext cx="0" cy="0"/>
          <a:chOff x="0" y="0"/>
          <a:chExt cx="0" cy="0"/>
        </a:xfrm>
      </p:grpSpPr>
      <p:grpSp>
        <p:nvGrpSpPr>
          <p:cNvPr id="2050" name="Group 2"/>
          <p:cNvGrpSpPr/>
          <p:nvPr/>
        </p:nvGrpSpPr>
        <p:grpSpPr>
          <a:xfrm>
            <a:off x="0" y="1588"/>
            <a:ext cx="9132888" cy="6845300"/>
            <a:chOff x="0" y="0"/>
            <a:chExt cx="5753" cy="4312"/>
          </a:xfrm>
        </p:grpSpPr>
        <p:sp>
          <p:nvSpPr>
            <p:cNvPr id="3075" name="Freeform 3"/>
            <p:cNvSpPr/>
            <p:nvPr/>
          </p:nvSpPr>
          <p:spPr bwMode="auto">
            <a:xfrm>
              <a:off x="3394" y="998"/>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Arc 4"/>
            <p:cNvSpPr/>
            <p:nvPr/>
          </p:nvSpPr>
          <p:spPr bwMode="auto">
            <a:xfrm>
              <a:off x="0" y="0"/>
              <a:ext cx="5298" cy="43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cmpd="sng">
              <a:solidFill>
                <a:schemeClr val="accent2"/>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077"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strike="noStrike" noProof="1"/>
              <a:t>单击此处编辑母版标题样式</a:t>
            </a:r>
          </a:p>
        </p:txBody>
      </p:sp>
      <p:sp>
        <p:nvSpPr>
          <p:cNvPr id="3078" name="Rectangle 6"/>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0" name="Rectangle 8"/>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lgn="r">
              <a:defRPr sz="1400"/>
            </a:lvl1pPr>
          </a:lstStyle>
          <a:p>
            <a:pPr lvl="0" eaLnBrk="1" fontAlgn="base" hangingPunct="1"/>
            <a:fld id="{9A0DB2DC-4C9A-4742-B13C-FB6460FD3503}" type="slidenum">
              <a:rPr lang="zh-CN" altLang="zh-CN" strike="noStrike" noProof="1" dirty="0">
                <a:latin typeface="Times New Roman" panose="02020603050405020304" pitchFamily="18" charset="0"/>
                <a:ea typeface="宋体" panose="02010600030101010101" pitchFamily="2" charset="-122"/>
                <a:cs typeface="+mn-cs"/>
              </a:rPr>
              <a:t>‹#›</a:t>
            </a:fld>
            <a:endParaRPr lang="zh-CN" altLang="zh-CN" strike="noStrike" noProof="1">
              <a:latin typeface="Times New Roman" panose="02020603050405020304" pitchFamily="18" charset="0"/>
            </a:endParaRPr>
          </a:p>
        </p:txBody>
      </p:sp>
      <p:sp>
        <p:nvSpPr>
          <p:cNvPr id="2057" name="Rectangle 9"/>
          <p:cNvSpPr>
            <a:spLocks noGrp="1"/>
          </p:cNvSpPr>
          <p:nvPr>
            <p:ph type="body"/>
          </p:nvPr>
        </p:nvSpPr>
        <p:spPr>
          <a:xfrm>
            <a:off x="685800" y="1981200"/>
            <a:ext cx="7772400" cy="4114800"/>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accent2"/>
        </a:buClr>
        <a:buSzPct val="80000"/>
        <a:buFont typeface="Wingdings" panose="05000000000000000000"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9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accent1"/>
        </a:buClr>
        <a:buSzPct val="60000"/>
        <a:buFont typeface="Wingdings" panose="05000000000000000000" pitchFamily="2" charset="2"/>
        <a:buChar char="l"/>
        <a:defRPr sz="2400">
          <a:solidFill>
            <a:schemeClr val="tx1"/>
          </a:solidFill>
          <a:latin typeface="+mn-lt"/>
          <a:ea typeface="+mn-ea"/>
        </a:defRPr>
      </a:lvl3pPr>
      <a:lvl4pPr marL="1600200" indent="-228600" algn="l" rtl="0" fontAlgn="base">
        <a:spcBef>
          <a:spcPct val="20000"/>
        </a:spcBef>
        <a:spcAft>
          <a:spcPct val="0"/>
        </a:spcAft>
        <a:buClr>
          <a:schemeClr val="tx1"/>
        </a:buClr>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spcBef>
                <a:spcPct val="50000"/>
              </a:spcBef>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1" hangingPunct="1">
              <a:spcBef>
                <a:spcPct val="50000"/>
              </a:spcBef>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spcBef>
                <a:spcPct val="50000"/>
              </a:spcBef>
              <a:defRPr sz="1400"/>
            </a:lvl1pPr>
          </a:lstStyle>
          <a:p>
            <a:pPr>
              <a:defRPr/>
            </a:pPr>
            <a:fld id="{E42590B6-E814-42F1-B5C2-976A1040C313}" type="slidenum">
              <a:rPr lang="en-US" altLang="zh-CN"/>
              <a:pPr>
                <a:defRPr/>
              </a:pPr>
              <a:t>‹#›</a:t>
            </a:fld>
            <a:endParaRPr lang="en-US" altLang="zh-CN"/>
          </a:p>
        </p:txBody>
      </p:sp>
    </p:spTree>
    <p:extLst>
      <p:ext uri="{BB962C8B-B14F-4D97-AF65-F5344CB8AC3E}">
        <p14:creationId xmlns:p14="http://schemas.microsoft.com/office/powerpoint/2010/main" val="201548477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2.xml"/><Relationship Id="rId4" Type="http://schemas.openxmlformats.org/officeDocument/2006/relationships/image" Target="../media/image24.jpeg"/></Relationships>
</file>

<file path=ppt/slides/_rels/slide1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12.xml"/><Relationship Id="rId5" Type="http://schemas.openxmlformats.org/officeDocument/2006/relationships/image" Target="../media/image29.jpeg"/><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5" Type="http://schemas.openxmlformats.org/officeDocument/2006/relationships/image" Target="../media/image37.jpeg"/><Relationship Id="rId4" Type="http://schemas.openxmlformats.org/officeDocument/2006/relationships/image" Target="../media/image36.jpeg"/></Relationships>
</file>

<file path=ppt/slides/_rels/slide2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3.tiff"/><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4.tiff"/><Relationship Id="rId1" Type="http://schemas.openxmlformats.org/officeDocument/2006/relationships/slideLayout" Target="../slideLayouts/slideLayout7.xml"/><Relationship Id="rId4" Type="http://schemas.openxmlformats.org/officeDocument/2006/relationships/image" Target="../media/image73.tiff"/></Relationships>
</file>

<file path=ppt/slides/_rels/slide50.xml.rels><?xml version="1.0" encoding="UTF-8" standalone="yes"?>
<Relationships xmlns="http://schemas.openxmlformats.org/package/2006/relationships"><Relationship Id="rId2" Type="http://schemas.openxmlformats.org/officeDocument/2006/relationships/image" Target="../media/image74.tiff"/><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2.xml.rels><?xml version="1.0" encoding="UTF-8" standalone="yes"?>
<Relationships xmlns="http://schemas.openxmlformats.org/package/2006/relationships"><Relationship Id="rId2" Type="http://schemas.openxmlformats.org/officeDocument/2006/relationships/image" Target="../media/image74.tiff"/><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1.wmf"/><Relationship Id="rId2" Type="http://schemas.openxmlformats.org/officeDocument/2006/relationships/image" Target="../media/image78.jpeg"/><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80.wmf"/><Relationship Id="rId4"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hyperlink" Target="http://www.0080.cn/Article/Auto2/200808/628.html" TargetMode="External"/><Relationship Id="rId1" Type="http://schemas.openxmlformats.org/officeDocument/2006/relationships/slideLayout" Target="../slideLayouts/slideLayout19.xml"/><Relationship Id="rId4" Type="http://schemas.openxmlformats.org/officeDocument/2006/relationships/image" Target="../media/image88.jpeg"/></Relationships>
</file>

<file path=ppt/slides/_rels/slide6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jpeg"/></Relationships>
</file>

<file path=ppt/slides/_rels/slide61.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jpeg"/></Relationships>
</file>

<file path=ppt/slides/_rels/slide63.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02.jpeg"/></Relationships>
</file>

<file path=ppt/slides/_rels/slide67.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jpeg"/><Relationship Id="rId1" Type="http://schemas.openxmlformats.org/officeDocument/2006/relationships/slideLayout" Target="../slideLayouts/slideLayout2.xml"/><Relationship Id="rId5" Type="http://schemas.openxmlformats.org/officeDocument/2006/relationships/image" Target="../media/image106.jpeg"/><Relationship Id="rId4" Type="http://schemas.openxmlformats.org/officeDocument/2006/relationships/image" Target="../media/image105.jpeg"/></Relationships>
</file>

<file path=ppt/slides/_rels/slide68.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108.jpeg"/></Relationships>
</file>

<file path=ppt/slides/_rels/slide69.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jpe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C5C5C5"/>
        </a:solidFill>
        <a:effectLst/>
      </p:bgPr>
    </p:bg>
    <p:spTree>
      <p:nvGrpSpPr>
        <p:cNvPr id="1" name=""/>
        <p:cNvGrpSpPr/>
        <p:nvPr/>
      </p:nvGrpSpPr>
      <p:grpSpPr>
        <a:xfrm>
          <a:off x="0" y="0"/>
          <a:ext cx="0" cy="0"/>
          <a:chOff x="0" y="0"/>
          <a:chExt cx="0" cy="0"/>
        </a:xfrm>
      </p:grpSpPr>
      <p:sp>
        <p:nvSpPr>
          <p:cNvPr id="6146" name="Text Box 2"/>
          <p:cNvSpPr txBox="1"/>
          <p:nvPr/>
        </p:nvSpPr>
        <p:spPr>
          <a:xfrm>
            <a:off x="3276600" y="3429000"/>
            <a:ext cx="2819400" cy="701675"/>
          </a:xfrm>
          <a:prstGeom prst="rect">
            <a:avLst/>
          </a:prstGeom>
          <a:noFill/>
          <a:ln w="9525">
            <a:noFill/>
          </a:ln>
        </p:spPr>
        <p:txBody>
          <a:bodyPr anchor="t">
            <a:spAutoFit/>
          </a:bodyPr>
          <a:lstStyle/>
          <a:p>
            <a:pPr algn="ctr">
              <a:spcBef>
                <a:spcPct val="50000"/>
              </a:spcBef>
            </a:pPr>
            <a:r>
              <a:rPr lang="zh-CN" altLang="en-US" sz="4000" b="1" dirty="0">
                <a:solidFill>
                  <a:srgbClr val="000099"/>
                </a:solidFill>
                <a:latin typeface="宋体" panose="02010600030101010101" pitchFamily="2" charset="-122"/>
              </a:rPr>
              <a:t>王志学</a:t>
            </a:r>
            <a:endParaRPr lang="zh-CN" altLang="en-US" sz="4000" b="1" dirty="0">
              <a:solidFill>
                <a:srgbClr val="000099"/>
              </a:solidFill>
              <a:latin typeface="宋体" panose="02010600030101010101" pitchFamily="2" charset="-122"/>
              <a:ea typeface="宋体" panose="02010600030101010101" pitchFamily="2" charset="-122"/>
            </a:endParaRPr>
          </a:p>
        </p:txBody>
      </p:sp>
      <p:sp>
        <p:nvSpPr>
          <p:cNvPr id="6147" name="Rectangle 3"/>
          <p:cNvSpPr>
            <a:spLocks noGrp="1" noChangeArrowheads="1"/>
          </p:cNvSpPr>
          <p:nvPr>
            <p:ph type="ctrTitle" sz="quarter"/>
          </p:nvPr>
        </p:nvSpPr>
        <p:spPr>
          <a:xfrm>
            <a:off x="239712" y="1268760"/>
            <a:ext cx="8893175" cy="1511300"/>
          </a:xfrm>
        </p:spPr>
        <p:txBody>
          <a:bodyPr vert="horz" wrap="square" lIns="92075" tIns="46038" rIns="92075" bIns="46038"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6600" b="1" i="0" u="none" strike="noStrike" kern="0" cap="none" spc="0" normalizeH="0" baseline="0" noProof="0" dirty="0">
                <a:ln>
                  <a:noFill/>
                </a:ln>
                <a:solidFill>
                  <a:schemeClr val="hlink"/>
                </a:solidFill>
                <a:effectLst>
                  <a:outerShdw blurRad="38100" dist="38100" dir="2700000" algn="tl">
                    <a:srgbClr val="000000"/>
                  </a:outerShdw>
                </a:effectLst>
                <a:uLnTx/>
                <a:uFillTx/>
                <a:latin typeface="+mj-lt"/>
                <a:ea typeface="隶书" panose="02010509060101010101" pitchFamily="49" charset="-122"/>
                <a:cs typeface="+mj-cs"/>
              </a:rPr>
              <a:t>机械工程材料与</a:t>
            </a:r>
            <a:br>
              <a:rPr kumimoji="0" lang="en-US" altLang="zh-CN" sz="6600" b="1" i="0" u="none" strike="noStrike" kern="0" cap="none" spc="0" normalizeH="0" baseline="0" noProof="0" dirty="0">
                <a:ln>
                  <a:noFill/>
                </a:ln>
                <a:solidFill>
                  <a:schemeClr val="hlink"/>
                </a:solidFill>
                <a:effectLst>
                  <a:outerShdw blurRad="38100" dist="38100" dir="2700000" algn="tl">
                    <a:srgbClr val="000000"/>
                  </a:outerShdw>
                </a:effectLst>
                <a:uLnTx/>
                <a:uFillTx/>
                <a:latin typeface="+mj-lt"/>
                <a:ea typeface="隶书" panose="02010509060101010101" pitchFamily="49" charset="-122"/>
                <a:cs typeface="+mj-cs"/>
              </a:rPr>
            </a:br>
            <a:r>
              <a:rPr kumimoji="0" lang="zh-CN" altLang="en-US" sz="6600" b="1" i="0" u="none" strike="noStrike" kern="0" cap="none" spc="0" normalizeH="0" baseline="0" noProof="0" dirty="0">
                <a:ln>
                  <a:noFill/>
                </a:ln>
                <a:solidFill>
                  <a:schemeClr val="hlink"/>
                </a:solidFill>
                <a:effectLst>
                  <a:outerShdw blurRad="38100" dist="38100" dir="2700000" algn="tl">
                    <a:srgbClr val="000000"/>
                  </a:outerShdw>
                </a:effectLst>
                <a:uLnTx/>
                <a:uFillTx/>
                <a:latin typeface="+mj-lt"/>
                <a:ea typeface="隶书" panose="02010509060101010101" pitchFamily="49" charset="-122"/>
                <a:cs typeface="+mj-cs"/>
              </a:rPr>
              <a:t>成型技术</a:t>
            </a:r>
            <a:r>
              <a:rPr kumimoji="0" lang="zh-CN" sz="9600" b="1" i="0" u="none" strike="noStrike" kern="0" cap="none" spc="0" normalizeH="0" baseline="0" noProof="0" dirty="0">
                <a:ln>
                  <a:noFill/>
                </a:ln>
                <a:solidFill>
                  <a:schemeClr val="hlink"/>
                </a:solidFill>
                <a:effectLst>
                  <a:outerShdw blurRad="38100" dist="38100" dir="2700000" algn="tl">
                    <a:srgbClr val="000000"/>
                  </a:outerShdw>
                </a:effectLst>
                <a:uLnTx/>
                <a:uFillTx/>
                <a:latin typeface="+mj-lt"/>
                <a:ea typeface="华文琥珀" panose="02010800040101010101" pitchFamily="2" charset="-122"/>
                <a:cs typeface="+mj-cs"/>
              </a:rPr>
              <a:t> </a:t>
            </a:r>
          </a:p>
        </p:txBody>
      </p:sp>
      <p:sp>
        <p:nvSpPr>
          <p:cNvPr id="6148" name="Rectangle 4"/>
          <p:cNvSpPr>
            <a:spLocks noGrp="1"/>
          </p:cNvSpPr>
          <p:nvPr>
            <p:ph type="subTitle" sz="quarter" idx="1"/>
          </p:nvPr>
        </p:nvSpPr>
        <p:spPr>
          <a:xfrm>
            <a:off x="1403350" y="5013325"/>
            <a:ext cx="6934200" cy="838200"/>
          </a:xfrm>
        </p:spPr>
        <p:txBody>
          <a:bodyPr vert="horz" wrap="square" lIns="92075" tIns="46038" rIns="92075" bIns="46038" anchor="ctr"/>
          <a:lstStyle/>
          <a:p>
            <a:pPr eaLnBrk="1" hangingPunct="1">
              <a:buSzPct val="80000"/>
            </a:pPr>
            <a:r>
              <a:rPr lang="zh-CN" altLang="en-US" sz="4800" b="1" dirty="0">
                <a:solidFill>
                  <a:srgbClr val="800000"/>
                </a:solidFill>
                <a:latin typeface="+mn-lt"/>
                <a:ea typeface="黑体" panose="02010609060101010101" pitchFamily="49" charset="-122"/>
                <a:cs typeface="+mn-cs"/>
              </a:rPr>
              <a:t>黑龙江大学机电工程学院</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barn(outVertical)">
                                      <p:cBhvr>
                                        <p:cTn id="7" dur="500"/>
                                        <p:tgtEl>
                                          <p:spTgt spid="6147"/>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6146"/>
                                        </p:tgtEl>
                                        <p:attrNameLst>
                                          <p:attrName>style.visibility</p:attrName>
                                        </p:attrNameLst>
                                      </p:cBhvr>
                                      <p:to>
                                        <p:strVal val="visible"/>
                                      </p:to>
                                    </p:set>
                                    <p:animEffect transition="in" filter="barn(outVertical)">
                                      <p:cBhvr>
                                        <p:cTn id="11" dur="500"/>
                                        <p:tgtEl>
                                          <p:spTgt spid="6146"/>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6148">
                                            <p:txEl>
                                              <p:pRg st="0" end="0"/>
                                            </p:txEl>
                                          </p:spTgt>
                                        </p:tgtEl>
                                        <p:attrNameLst>
                                          <p:attrName>style.visibility</p:attrName>
                                        </p:attrNameLst>
                                      </p:cBhvr>
                                      <p:to>
                                        <p:strVal val="visible"/>
                                      </p:to>
                                    </p:set>
                                    <p:animEffect transition="in" filter="barn(outVertical)">
                                      <p:cBhvr>
                                        <p:cTn id="15" dur="500"/>
                                        <p:tgtEl>
                                          <p:spTgt spid="61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bldLvl="0" animBg="1"/>
      <p:bldP spid="6148" grpId="0" build="p" advAuto="100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152400"/>
            <a:ext cx="8153400" cy="762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5400" b="0" i="0" u="none" strike="noStrike" kern="0" cap="none" spc="0" normalizeH="0" baseline="0" noProof="0">
                <a:ln>
                  <a:noFill/>
                </a:ln>
                <a:solidFill>
                  <a:schemeClr val="tx2"/>
                </a:solidFill>
                <a:effectLst>
                  <a:outerShdw blurRad="38100" dist="38100" dir="2700000" algn="tl">
                    <a:srgbClr val="000000"/>
                  </a:outerShdw>
                </a:effectLst>
                <a:uLnTx/>
                <a:uFillTx/>
                <a:latin typeface="隶书" panose="02010509060101010101" pitchFamily="49" charset="-122"/>
                <a:ea typeface="隶书" panose="02010509060101010101" pitchFamily="49" charset="-122"/>
                <a:cs typeface="+mj-cs"/>
              </a:rPr>
              <a:t>相 关 事 宜</a:t>
            </a:r>
          </a:p>
        </p:txBody>
      </p:sp>
      <p:sp>
        <p:nvSpPr>
          <p:cNvPr id="7171" name="Rectangle 3"/>
          <p:cNvSpPr>
            <a:spLocks noGrp="1"/>
          </p:cNvSpPr>
          <p:nvPr>
            <p:ph idx="1"/>
          </p:nvPr>
        </p:nvSpPr>
        <p:spPr>
          <a:xfrm>
            <a:off x="609600" y="1066800"/>
            <a:ext cx="7924800" cy="5334000"/>
          </a:xfrm>
        </p:spPr>
        <p:txBody>
          <a:bodyPr vert="horz" wrap="square" lIns="91440" tIns="45720" rIns="91440" bIns="45720" anchor="t"/>
          <a:lstStyle/>
          <a:p>
            <a:pPr eaLnBrk="1" hangingPunct="1">
              <a:lnSpc>
                <a:spcPct val="120000"/>
              </a:lnSpc>
            </a:pPr>
            <a:r>
              <a:rPr lang="zh-CN" altLang="en-US" sz="2400" b="1" dirty="0">
                <a:latin typeface="仿宋_GB2312" pitchFamily="1" charset="-122"/>
                <a:ea typeface="仿宋_GB2312" pitchFamily="1" charset="-122"/>
              </a:rPr>
              <a:t>主要参考书：</a:t>
            </a:r>
          </a:p>
          <a:p>
            <a:pPr eaLnBrk="1" hangingPunct="1">
              <a:lnSpc>
                <a:spcPct val="120000"/>
              </a:lnSpc>
              <a:buNone/>
            </a:pPr>
            <a:r>
              <a:rPr lang="zh-CN" altLang="en-US" sz="2400" b="1" dirty="0">
                <a:latin typeface="仿宋_GB2312" pitchFamily="1" charset="-122"/>
                <a:ea typeface="仿宋_GB2312" pitchFamily="1" charset="-122"/>
              </a:rPr>
              <a:t>《机械工程材料》（第十一版）</a:t>
            </a:r>
            <a:r>
              <a:rPr lang="zh-CN" altLang="en-US" sz="2400" b="1" dirty="0"/>
              <a:t>齐民等主编，大连理工大学出版社</a:t>
            </a:r>
            <a:r>
              <a:rPr lang="zh-CN" altLang="en-US" sz="2400" dirty="0"/>
              <a:t> </a:t>
            </a:r>
          </a:p>
          <a:p>
            <a:pPr eaLnBrk="1" hangingPunct="1">
              <a:lnSpc>
                <a:spcPct val="120000"/>
              </a:lnSpc>
              <a:buNone/>
            </a:pPr>
            <a:r>
              <a:rPr lang="zh-CN" altLang="en-US" sz="2400" b="1" dirty="0"/>
              <a:t>《材料成形工艺基础》，柳秉毅主编，机械工业出版社，</a:t>
            </a:r>
            <a:r>
              <a:rPr lang="zh-CN" altLang="en-US" sz="2400" dirty="0"/>
              <a:t> </a:t>
            </a:r>
            <a:endParaRPr lang="zh-CN" altLang="en-US" sz="2400" b="1" dirty="0">
              <a:latin typeface="仿宋_GB2312" pitchFamily="1" charset="-122"/>
              <a:ea typeface="仿宋_GB2312" pitchFamily="1" charset="-122"/>
            </a:endParaRPr>
          </a:p>
          <a:p>
            <a:pPr eaLnBrk="1" hangingPunct="1">
              <a:lnSpc>
                <a:spcPct val="120000"/>
              </a:lnSpc>
            </a:pPr>
            <a:r>
              <a:rPr lang="zh-CN" altLang="en-US" sz="2400" b="1" dirty="0">
                <a:solidFill>
                  <a:schemeClr val="hlink"/>
                </a:solidFill>
                <a:latin typeface="仿宋_GB2312" pitchFamily="1" charset="-122"/>
                <a:ea typeface="仿宋_GB2312" pitchFamily="1" charset="-122"/>
              </a:rPr>
              <a:t>成绩评定方法：平时、作业成绩占</a:t>
            </a:r>
            <a:r>
              <a:rPr lang="en-US" altLang="zh-CN" sz="2400" b="1" dirty="0">
                <a:solidFill>
                  <a:schemeClr val="hlink"/>
                </a:solidFill>
                <a:latin typeface="仿宋_GB2312" pitchFamily="1" charset="-122"/>
                <a:ea typeface="仿宋_GB2312" pitchFamily="1" charset="-122"/>
              </a:rPr>
              <a:t>2</a:t>
            </a:r>
            <a:r>
              <a:rPr lang="zh-CN" altLang="en-US" sz="2400" b="1" dirty="0">
                <a:solidFill>
                  <a:schemeClr val="hlink"/>
                </a:solidFill>
                <a:latin typeface="仿宋_GB2312" pitchFamily="1" charset="-122"/>
                <a:ea typeface="仿宋_GB2312" pitchFamily="1" charset="-122"/>
              </a:rPr>
              <a:t>0%，实验成绩占20 %，期末考试成绩占</a:t>
            </a:r>
            <a:r>
              <a:rPr lang="en-US" altLang="zh-CN" sz="2400" b="1" dirty="0">
                <a:solidFill>
                  <a:schemeClr val="hlink"/>
                </a:solidFill>
                <a:latin typeface="仿宋_GB2312" pitchFamily="1" charset="-122"/>
                <a:ea typeface="仿宋_GB2312" pitchFamily="1" charset="-122"/>
              </a:rPr>
              <a:t>6</a:t>
            </a:r>
            <a:r>
              <a:rPr lang="zh-CN" altLang="en-US" sz="2400" b="1" dirty="0">
                <a:solidFill>
                  <a:schemeClr val="hlink"/>
                </a:solidFill>
                <a:latin typeface="仿宋_GB2312" pitchFamily="1" charset="-122"/>
                <a:ea typeface="仿宋_GB2312" pitchFamily="1" charset="-122"/>
              </a:rPr>
              <a:t>0%。</a:t>
            </a:r>
          </a:p>
          <a:p>
            <a:pPr eaLnBrk="1" hangingPunct="1">
              <a:lnSpc>
                <a:spcPct val="120000"/>
              </a:lnSpc>
              <a:buNone/>
            </a:pPr>
            <a:endParaRPr lang="zh-CN" altLang="en-US" sz="2400" b="1" dirty="0">
              <a:latin typeface="仿宋_GB2312" pitchFamily="1" charset="-122"/>
              <a:ea typeface="仿宋_GB2312" pitchFamily="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wipe(left)">
                                      <p:cBhvr>
                                        <p:cTn id="7" dur="500"/>
                                        <p:tgtEl>
                                          <p:spTgt spid="717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171">
                                            <p:txEl>
                                              <p:pRg st="0" end="0"/>
                                            </p:txEl>
                                          </p:spTgt>
                                        </p:tgtEl>
                                        <p:attrNameLst>
                                          <p:attrName>style.visibility</p:attrName>
                                        </p:attrNameLst>
                                      </p:cBhvr>
                                      <p:to>
                                        <p:strVal val="visible"/>
                                      </p:to>
                                    </p:set>
                                    <p:animEffect transition="in" filter="wipe(left)">
                                      <p:cBhvr>
                                        <p:cTn id="11" dur="500"/>
                                        <p:tgtEl>
                                          <p:spTgt spid="7171">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171">
                                            <p:txEl>
                                              <p:pRg st="1" end="1"/>
                                            </p:txEl>
                                          </p:spTgt>
                                        </p:tgtEl>
                                        <p:attrNameLst>
                                          <p:attrName>style.visibility</p:attrName>
                                        </p:attrNameLst>
                                      </p:cBhvr>
                                      <p:to>
                                        <p:strVal val="visible"/>
                                      </p:to>
                                    </p:set>
                                    <p:animEffect transition="in" filter="wipe(left)">
                                      <p:cBhvr>
                                        <p:cTn id="15" dur="500"/>
                                        <p:tgtEl>
                                          <p:spTgt spid="7171">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animEffect transition="in" filter="wipe(left)">
                                      <p:cBhvr>
                                        <p:cTn id="19" dur="500"/>
                                        <p:tgtEl>
                                          <p:spTgt spid="7171">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171">
                                            <p:txEl>
                                              <p:pRg st="3" end="3"/>
                                            </p:txEl>
                                          </p:spTgt>
                                        </p:tgtEl>
                                        <p:attrNameLst>
                                          <p:attrName>style.visibility</p:attrName>
                                        </p:attrNameLst>
                                      </p:cBhvr>
                                      <p:to>
                                        <p:strVal val="visible"/>
                                      </p:to>
                                    </p:set>
                                    <p:animEffect transition="in" filter="wipe(left)">
                                      <p:cBhvr>
                                        <p:cTn id="23"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ldLvl="0" animBg="1"/>
      <p:bldP spid="7171" grpId="0" build="p" advAuto="100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762000"/>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6000" b="1" i="0" u="none" strike="noStrike" kern="0" cap="none" spc="0" normalizeH="0" baseline="0" noProof="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绪   论</a:t>
            </a:r>
          </a:p>
        </p:txBody>
      </p:sp>
      <p:sp>
        <p:nvSpPr>
          <p:cNvPr id="8195" name="Rectangle 3"/>
          <p:cNvSpPr>
            <a:spLocks noGrp="1"/>
          </p:cNvSpPr>
          <p:nvPr>
            <p:ph idx="1"/>
          </p:nvPr>
        </p:nvSpPr>
        <p:spPr>
          <a:xfrm>
            <a:off x="685800" y="2362200"/>
            <a:ext cx="7772400" cy="3733800"/>
          </a:xfrm>
        </p:spPr>
        <p:txBody>
          <a:bodyPr vert="horz" wrap="square" lIns="91440" tIns="45720" rIns="91440" bIns="45720" anchor="t"/>
          <a:lstStyle/>
          <a:p>
            <a:pPr eaLnBrk="1" hangingPunct="1">
              <a:lnSpc>
                <a:spcPct val="150000"/>
              </a:lnSpc>
            </a:pPr>
            <a:r>
              <a:rPr lang="zh-CN" altLang="en-US" b="1" dirty="0">
                <a:solidFill>
                  <a:schemeClr val="folHlink"/>
                </a:solidFill>
                <a:ea typeface="华文中宋" panose="02010600040101010101" pitchFamily="2" charset="-122"/>
              </a:rPr>
              <a:t>一、材料和材料科学</a:t>
            </a:r>
          </a:p>
          <a:p>
            <a:pPr eaLnBrk="1" hangingPunct="1">
              <a:lnSpc>
                <a:spcPct val="150000"/>
              </a:lnSpc>
            </a:pPr>
            <a:r>
              <a:rPr lang="zh-CN" altLang="en-US" b="1" dirty="0">
                <a:solidFill>
                  <a:schemeClr val="folHlink"/>
                </a:solidFill>
                <a:ea typeface="华文中宋" panose="02010600040101010101" pitchFamily="2" charset="-122"/>
              </a:rPr>
              <a:t>二、工程材料的分类</a:t>
            </a:r>
          </a:p>
          <a:p>
            <a:pPr eaLnBrk="1" hangingPunct="1">
              <a:lnSpc>
                <a:spcPct val="150000"/>
              </a:lnSpc>
            </a:pPr>
            <a:r>
              <a:rPr lang="zh-CN" altLang="en-US" b="1" dirty="0">
                <a:solidFill>
                  <a:schemeClr val="folHlink"/>
                </a:solidFill>
                <a:ea typeface="华文中宋" panose="02010600040101010101" pitchFamily="2" charset="-122"/>
              </a:rPr>
              <a:t>三、工程材料的应用和发展</a:t>
            </a:r>
          </a:p>
          <a:p>
            <a:pPr eaLnBrk="1" hangingPunct="1">
              <a:lnSpc>
                <a:spcPct val="150000"/>
              </a:lnSpc>
            </a:pPr>
            <a:r>
              <a:rPr lang="zh-CN" altLang="en-US" b="1" dirty="0">
                <a:solidFill>
                  <a:schemeClr val="folHlink"/>
                </a:solidFill>
                <a:ea typeface="华文中宋" panose="02010600040101010101" pitchFamily="2" charset="-122"/>
              </a:rPr>
              <a:t>四、机械工程材料课程的性质和任务</a:t>
            </a:r>
            <a:endParaRPr lang="zh-CN" altLang="en-US" sz="4000" dirty="0">
              <a:solidFill>
                <a:schemeClr val="folHlink"/>
              </a:solidFill>
              <a:latin typeface="隶书" panose="02010509060101010101" pitchFamily="49" charset="-122"/>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195">
                                            <p:txEl>
                                              <p:pRg st="0" end="0"/>
                                            </p:txEl>
                                          </p:spTgt>
                                        </p:tgtEl>
                                        <p:attrNameLst>
                                          <p:attrName>style.visibility</p:attrName>
                                        </p:attrNameLst>
                                      </p:cBhvr>
                                      <p:to>
                                        <p:strVal val="visible"/>
                                      </p:to>
                                    </p:set>
                                    <p:animEffect transition="in" filter="wipe(left)">
                                      <p:cBhvr>
                                        <p:cTn id="11" dur="500"/>
                                        <p:tgtEl>
                                          <p:spTgt spid="8195">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195">
                                            <p:txEl>
                                              <p:pRg st="1" end="1"/>
                                            </p:txEl>
                                          </p:spTgt>
                                        </p:tgtEl>
                                        <p:attrNameLst>
                                          <p:attrName>style.visibility</p:attrName>
                                        </p:attrNameLst>
                                      </p:cBhvr>
                                      <p:to>
                                        <p:strVal val="visible"/>
                                      </p:to>
                                    </p:set>
                                    <p:animEffect transition="in" filter="wipe(left)">
                                      <p:cBhvr>
                                        <p:cTn id="15" dur="500"/>
                                        <p:tgtEl>
                                          <p:spTgt spid="8195">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Effect transition="in" filter="wipe(left)">
                                      <p:cBhvr>
                                        <p:cTn id="19" dur="500"/>
                                        <p:tgtEl>
                                          <p:spTgt spid="8195">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195">
                                            <p:txEl>
                                              <p:pRg st="3" end="3"/>
                                            </p:txEl>
                                          </p:spTgt>
                                        </p:tgtEl>
                                        <p:attrNameLst>
                                          <p:attrName>style.visibility</p:attrName>
                                        </p:attrNameLst>
                                      </p:cBhvr>
                                      <p:to>
                                        <p:strVal val="visible"/>
                                      </p:to>
                                    </p:set>
                                    <p:animEffect transition="in" filter="wipe(left)">
                                      <p:cBhvr>
                                        <p:cTn id="23"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ldLvl="0" animBg="1"/>
      <p:bldP spid="8195" grpId="0" build="p" advAuto="100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idx="1"/>
          </p:nvPr>
        </p:nvSpPr>
        <p:spPr>
          <a:xfrm>
            <a:off x="250825" y="838200"/>
            <a:ext cx="4249738" cy="2514600"/>
          </a:xfrm>
        </p:spPr>
        <p:txBody>
          <a:bodyPr vert="horz" wrap="square" lIns="91440" tIns="45720" rIns="91440" bIns="45720" anchor="t"/>
          <a:lstStyle/>
          <a:p>
            <a:pPr eaLnBrk="1" hangingPunct="1">
              <a:lnSpc>
                <a:spcPct val="130000"/>
              </a:lnSpc>
            </a:pPr>
            <a:r>
              <a:rPr lang="zh-CN" altLang="en-US" b="1" dirty="0">
                <a:solidFill>
                  <a:schemeClr val="tx2"/>
                </a:solidFill>
                <a:ea typeface="华文中宋" panose="02010600040101010101" pitchFamily="2" charset="-122"/>
              </a:rPr>
              <a:t>一、材料和材料科学</a:t>
            </a:r>
          </a:p>
          <a:p>
            <a:pPr eaLnBrk="1" hangingPunct="1">
              <a:lnSpc>
                <a:spcPct val="140000"/>
              </a:lnSpc>
            </a:pPr>
            <a:r>
              <a:rPr lang="zh-CN" altLang="zh-CN" sz="2800" b="1" dirty="0">
                <a:ea typeface="华文中宋" panose="02010600040101010101" pitchFamily="2" charset="-122"/>
              </a:rPr>
              <a:t>1</a:t>
            </a:r>
            <a:r>
              <a:rPr lang="zh-CN" altLang="en-US" sz="2800" b="1" dirty="0">
                <a:ea typeface="华文中宋" panose="02010600040101010101" pitchFamily="2" charset="-122"/>
              </a:rPr>
              <a:t>、材料</a:t>
            </a:r>
          </a:p>
        </p:txBody>
      </p:sp>
      <p:sp>
        <p:nvSpPr>
          <p:cNvPr id="9222" name="Text Box 6"/>
          <p:cNvSpPr txBox="1">
            <a:spLocks noChangeArrowheads="1"/>
          </p:cNvSpPr>
          <p:nvPr/>
        </p:nvSpPr>
        <p:spPr bwMode="auto">
          <a:xfrm>
            <a:off x="971550" y="3141663"/>
            <a:ext cx="2819400" cy="1887538"/>
          </a:xfrm>
          <a:prstGeom prst="rect">
            <a:avLst/>
          </a:prstGeom>
          <a:solidFill>
            <a:srgbClr val="CCFFCC"/>
          </a:solidFill>
          <a:ln w="9525">
            <a:noFill/>
            <a:miter lim="800000"/>
          </a:ln>
          <a:effectLst/>
        </p:spPr>
        <p:txBody>
          <a:bodyPr>
            <a:spAutoFit/>
          </a:bodyPr>
          <a:lstStyle/>
          <a:p>
            <a:pPr marR="0" defTabSz="914400">
              <a:lnSpc>
                <a:spcPct val="140000"/>
              </a:lnSpc>
              <a:spcBef>
                <a:spcPct val="20000"/>
              </a:spcBef>
              <a:buClr>
                <a:schemeClr val="accent2"/>
              </a:buClr>
              <a:buSzPct val="80000"/>
              <a:buFont typeface="Wingdings" panose="05000000000000000000" pitchFamily="2" charset="2"/>
              <a:defRPr/>
            </a:pPr>
            <a:r>
              <a:rPr kumimoji="0" lang="zh-CN" sz="2800" b="1" kern="1200" cap="none" spc="0" normalizeH="0" baseline="0" noProof="0" dirty="0">
                <a:solidFill>
                  <a:srgbClr val="800000"/>
                </a:solidFill>
                <a:latin typeface="Times New Roman" panose="02020603050405020304" pitchFamily="18" charset="0"/>
                <a:ea typeface="华文中宋" panose="02010600040101010101" pitchFamily="2" charset="-122"/>
                <a:cs typeface="+mn-cs"/>
              </a:rPr>
              <a:t>材料是指人类用以制造各种有用器件的物质。</a:t>
            </a:r>
            <a:endParaRPr kumimoji="0" lang="zh-CN" sz="2400" kern="1200" cap="none" spc="0" normalizeH="0" baseline="0" noProof="0" dirty="0">
              <a:solidFill>
                <a:srgbClr val="80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pic>
        <p:nvPicPr>
          <p:cNvPr id="3" name="图片 2"/>
          <p:cNvPicPr>
            <a:picLocks noChangeAspect="1"/>
          </p:cNvPicPr>
          <p:nvPr/>
        </p:nvPicPr>
        <p:blipFill rotWithShape="1">
          <a:blip r:embed="rId2"/>
          <a:srcRect l="39763" t="17344" r="37400" b="20082"/>
          <a:stretch/>
        </p:blipFill>
        <p:spPr>
          <a:xfrm>
            <a:off x="5776104" y="404664"/>
            <a:ext cx="2880320" cy="5264033"/>
          </a:xfrm>
          <a:prstGeom prst="rect">
            <a:avLst/>
          </a:prstGeom>
        </p:spPr>
      </p:pic>
      <p:sp>
        <p:nvSpPr>
          <p:cNvPr id="4" name="矩形 3"/>
          <p:cNvSpPr/>
          <p:nvPr/>
        </p:nvSpPr>
        <p:spPr>
          <a:xfrm>
            <a:off x="5508104" y="5733256"/>
            <a:ext cx="3416320" cy="695575"/>
          </a:xfrm>
          <a:prstGeom prst="rect">
            <a:avLst/>
          </a:prstGeom>
          <a:noFill/>
          <a:ln w="9525">
            <a:noFill/>
            <a:miter lim="800000"/>
          </a:ln>
          <a:effectLst/>
        </p:spPr>
        <p:txBody>
          <a:bodyPr>
            <a:spAutoFit/>
          </a:bodyPr>
          <a:lstStyle/>
          <a:p>
            <a:pPr>
              <a:lnSpc>
                <a:spcPct val="140000"/>
              </a:lnSpc>
              <a:spcBef>
                <a:spcPct val="20000"/>
              </a:spcBef>
              <a:buClr>
                <a:schemeClr val="accent2"/>
              </a:buClr>
              <a:buSzPct val="80000"/>
              <a:buFont typeface="Wingdings" panose="05000000000000000000" pitchFamily="2" charset="2"/>
            </a:pPr>
            <a:r>
              <a:rPr lang="zh-CN" altLang="en-US" sz="2800" dirty="0">
                <a:ea typeface="华文中宋" panose="02010600040101010101" pitchFamily="2" charset="-122"/>
              </a:rPr>
              <a:t>长征二号丙运载火箭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Effect transition="in" filter="wipe(left)">
                                      <p:cBhvr>
                                        <p:cTn id="7" dur="500"/>
                                        <p:tgtEl>
                                          <p:spTgt spid="921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18">
                                            <p:txEl>
                                              <p:pRg st="1" end="1"/>
                                            </p:txEl>
                                          </p:spTgt>
                                        </p:tgtEl>
                                        <p:attrNameLst>
                                          <p:attrName>style.visibility</p:attrName>
                                        </p:attrNameLst>
                                      </p:cBhvr>
                                      <p:to>
                                        <p:strVal val="visible"/>
                                      </p:to>
                                    </p:set>
                                    <p:animEffect transition="in" filter="wipe(left)">
                                      <p:cBhvr>
                                        <p:cTn id="11" dur="500"/>
                                        <p:tgtEl>
                                          <p:spTgt spid="9218">
                                            <p:txEl>
                                              <p:pRg st="1" end="1"/>
                                            </p:txEl>
                                          </p:spTgt>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9222"/>
                                        </p:tgtEl>
                                        <p:attrNameLst>
                                          <p:attrName>style.visibility</p:attrName>
                                        </p:attrNameLst>
                                      </p:cBhvr>
                                      <p:to>
                                        <p:strVal val="visible"/>
                                      </p:to>
                                    </p:set>
                                    <p:anim calcmode="lin" valueType="num">
                                      <p:cBhvr additive="base">
                                        <p:cTn id="15" dur="500" fill="hold"/>
                                        <p:tgtEl>
                                          <p:spTgt spid="9222"/>
                                        </p:tgtEl>
                                        <p:attrNameLst>
                                          <p:attrName>ppt_x</p:attrName>
                                        </p:attrNameLst>
                                      </p:cBhvr>
                                      <p:tavLst>
                                        <p:tav tm="0">
                                          <p:val>
                                            <p:strVal val="0-#ppt_w/2"/>
                                          </p:val>
                                        </p:tav>
                                        <p:tav tm="100000">
                                          <p:val>
                                            <p:strVal val="#ppt_x"/>
                                          </p:val>
                                        </p:tav>
                                      </p:tavLst>
                                    </p:anim>
                                    <p:anim calcmode="lin" valueType="num">
                                      <p:cBhvr additive="base">
                                        <p:cTn id="16" dur="500" fill="hold"/>
                                        <p:tgtEl>
                                          <p:spTgt spid="92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dvAuto="1000"/>
      <p:bldP spid="92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457200" y="762000"/>
            <a:ext cx="3886200" cy="1295400"/>
          </a:xfrm>
          <a:solidFill>
            <a:srgbClr val="CCFFFF"/>
          </a:solidFill>
        </p:spPr>
        <p:txBody>
          <a:bodyPr vert="horz" wrap="square" lIns="92075" tIns="46038" rIns="92075" bIns="46038" anchor="ctr"/>
          <a:lstStyle/>
          <a:p>
            <a:pPr algn="l" eaLnBrk="1" hangingPunct="1">
              <a:lnSpc>
                <a:spcPct val="140000"/>
              </a:lnSpc>
            </a:pPr>
            <a:r>
              <a:rPr lang="zh-CN" altLang="en-US" sz="2800" b="1" dirty="0">
                <a:solidFill>
                  <a:srgbClr val="800000"/>
                </a:solidFill>
                <a:effectLst/>
                <a:ea typeface="华文中宋" panose="02010600040101010101" pitchFamily="2" charset="-122"/>
              </a:rPr>
              <a:t>材料是人类生产和生活所必须的物质基础。</a:t>
            </a:r>
          </a:p>
        </p:txBody>
      </p:sp>
      <p:grpSp>
        <p:nvGrpSpPr>
          <p:cNvPr id="2" name="Group 3"/>
          <p:cNvGrpSpPr/>
          <p:nvPr/>
        </p:nvGrpSpPr>
        <p:grpSpPr>
          <a:xfrm>
            <a:off x="457200" y="533400"/>
            <a:ext cx="8305800" cy="6054725"/>
            <a:chOff x="0" y="0"/>
            <a:chExt cx="5232" cy="3814"/>
          </a:xfrm>
        </p:grpSpPr>
        <p:grpSp>
          <p:nvGrpSpPr>
            <p:cNvPr id="10243" name="Group 4"/>
            <p:cNvGrpSpPr/>
            <p:nvPr/>
          </p:nvGrpSpPr>
          <p:grpSpPr>
            <a:xfrm>
              <a:off x="0" y="2352"/>
              <a:ext cx="2304" cy="1427"/>
              <a:chOff x="0" y="0"/>
              <a:chExt cx="2304" cy="1427"/>
            </a:xfrm>
          </p:grpSpPr>
          <p:pic>
            <p:nvPicPr>
              <p:cNvPr id="10244" name="Picture 5" descr="手锤"/>
              <p:cNvPicPr preferRelativeResize="0">
                <a:picLocks noChangeAspect="1"/>
              </p:cNvPicPr>
              <p:nvPr/>
            </p:nvPicPr>
            <p:blipFill>
              <a:blip r:embed="rId2"/>
              <a:stretch>
                <a:fillRect/>
              </a:stretch>
            </p:blipFill>
            <p:spPr>
              <a:xfrm>
                <a:off x="0" y="0"/>
                <a:ext cx="2274" cy="1427"/>
              </a:xfrm>
              <a:prstGeom prst="rect">
                <a:avLst/>
              </a:prstGeom>
              <a:noFill/>
              <a:ln w="38100" cap="flat" cmpd="sng">
                <a:solidFill>
                  <a:srgbClr val="FF9900"/>
                </a:solidFill>
                <a:prstDash val="solid"/>
                <a:miter/>
                <a:headEnd type="none" w="med" len="med"/>
                <a:tailEnd type="none" w="med" len="med"/>
              </a:ln>
            </p:spPr>
          </p:pic>
          <p:sp>
            <p:nvSpPr>
              <p:cNvPr id="10245" name="Text Box 6"/>
              <p:cNvSpPr txBox="1"/>
              <p:nvPr/>
            </p:nvSpPr>
            <p:spPr>
              <a:xfrm>
                <a:off x="1968" y="960"/>
                <a:ext cx="336" cy="442"/>
              </a:xfrm>
              <a:prstGeom prst="rect">
                <a:avLst/>
              </a:prstGeom>
              <a:noFill/>
              <a:ln w="9525">
                <a:noFill/>
              </a:ln>
            </p:spPr>
            <p:txBody>
              <a:bodyPr anchor="t">
                <a:spAutoFit/>
              </a:bodyPr>
              <a:lstStyle/>
              <a:p>
                <a:pPr algn="ct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手锤</a:t>
                </a:r>
              </a:p>
            </p:txBody>
          </p:sp>
        </p:grpSp>
        <p:grpSp>
          <p:nvGrpSpPr>
            <p:cNvPr id="10246" name="Group 7"/>
            <p:cNvGrpSpPr/>
            <p:nvPr/>
          </p:nvGrpSpPr>
          <p:grpSpPr>
            <a:xfrm>
              <a:off x="0" y="1392"/>
              <a:ext cx="2720" cy="744"/>
              <a:chOff x="0" y="0"/>
              <a:chExt cx="2720" cy="744"/>
            </a:xfrm>
          </p:grpSpPr>
          <p:pic>
            <p:nvPicPr>
              <p:cNvPr id="10247" name="Picture 8" descr="扁锉"/>
              <p:cNvPicPr preferRelativeResize="0">
                <a:picLocks noChangeAspect="1"/>
              </p:cNvPicPr>
              <p:nvPr/>
            </p:nvPicPr>
            <p:blipFill>
              <a:blip r:embed="rId3"/>
              <a:stretch>
                <a:fillRect/>
              </a:stretch>
            </p:blipFill>
            <p:spPr>
              <a:xfrm>
                <a:off x="0" y="0"/>
                <a:ext cx="2720" cy="744"/>
              </a:xfrm>
              <a:prstGeom prst="rect">
                <a:avLst/>
              </a:prstGeom>
              <a:noFill/>
              <a:ln w="38100" cap="flat" cmpd="sng">
                <a:solidFill>
                  <a:srgbClr val="FF9900"/>
                </a:solidFill>
                <a:prstDash val="solid"/>
                <a:miter/>
                <a:headEnd type="none" w="med" len="med"/>
                <a:tailEnd type="none" w="med" len="med"/>
              </a:ln>
            </p:spPr>
          </p:pic>
          <p:sp>
            <p:nvSpPr>
              <p:cNvPr id="10248" name="Text Box 9"/>
              <p:cNvSpPr txBox="1"/>
              <p:nvPr/>
            </p:nvSpPr>
            <p:spPr>
              <a:xfrm>
                <a:off x="96" y="432"/>
                <a:ext cx="624" cy="250"/>
              </a:xfrm>
              <a:prstGeom prst="rect">
                <a:avLst/>
              </a:prstGeom>
              <a:noFill/>
              <a:ln w="9525">
                <a:noFill/>
              </a:ln>
            </p:spPr>
            <p:txBody>
              <a:bodyPr anchor="t">
                <a:spAutoFit/>
              </a:bodyPr>
              <a:lstStyle/>
              <a:p>
                <a:pPr algn="ct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锉刀</a:t>
                </a:r>
              </a:p>
            </p:txBody>
          </p:sp>
        </p:grpSp>
        <p:grpSp>
          <p:nvGrpSpPr>
            <p:cNvPr id="10249" name="Group 10"/>
            <p:cNvGrpSpPr/>
            <p:nvPr/>
          </p:nvGrpSpPr>
          <p:grpSpPr>
            <a:xfrm>
              <a:off x="2952" y="0"/>
              <a:ext cx="2206" cy="2197"/>
              <a:chOff x="0" y="0"/>
              <a:chExt cx="2206" cy="2197"/>
            </a:xfrm>
          </p:grpSpPr>
          <p:pic>
            <p:nvPicPr>
              <p:cNvPr id="10250" name="Picture 11" descr="“神舟”四号飞船成功返回1"/>
              <p:cNvPicPr preferRelativeResize="0">
                <a:picLocks noChangeAspect="1"/>
              </p:cNvPicPr>
              <p:nvPr/>
            </p:nvPicPr>
            <p:blipFill>
              <a:blip r:embed="rId4"/>
              <a:stretch>
                <a:fillRect/>
              </a:stretch>
            </p:blipFill>
            <p:spPr>
              <a:xfrm>
                <a:off x="0" y="0"/>
                <a:ext cx="2206" cy="2197"/>
              </a:xfrm>
              <a:prstGeom prst="rect">
                <a:avLst/>
              </a:prstGeom>
              <a:noFill/>
              <a:ln w="38100" cap="flat" cmpd="sng">
                <a:solidFill>
                  <a:srgbClr val="FF6600"/>
                </a:solidFill>
                <a:prstDash val="solid"/>
                <a:miter/>
                <a:headEnd type="none" w="med" len="med"/>
                <a:tailEnd type="none" w="med" len="med"/>
              </a:ln>
            </p:spPr>
          </p:pic>
          <p:sp>
            <p:nvSpPr>
              <p:cNvPr id="10252" name="Text Box 12"/>
              <p:cNvSpPr txBox="1">
                <a:spLocks noChangeArrowheads="1"/>
              </p:cNvSpPr>
              <p:nvPr/>
            </p:nvSpPr>
            <p:spPr bwMode="auto">
              <a:xfrm>
                <a:off x="192" y="96"/>
                <a:ext cx="1728" cy="231"/>
              </a:xfrm>
              <a:prstGeom prst="rect">
                <a:avLst/>
              </a:prstGeom>
              <a:noFill/>
              <a:ln w="9525">
                <a:noFill/>
                <a:miter lim="800000"/>
              </a:ln>
              <a:effectLst/>
            </p:spPr>
            <p:txBody>
              <a:bodyPr>
                <a:spAutoFit/>
              </a:bodyPr>
              <a:lstStyle/>
              <a:p>
                <a:pPr marR="0" defTabSz="914400">
                  <a:spcBef>
                    <a:spcPct val="50000"/>
                  </a:spcBef>
                  <a:buClrTx/>
                  <a:buSzTx/>
                  <a:defRPr/>
                </a:pPr>
                <a:r>
                  <a:rPr kumimoji="0" lang="zh-CN" altLang="zh-CN" b="1" kern="1200" cap="none" spc="0" normalizeH="0" baseline="0" noProof="0">
                    <a:solidFill>
                      <a:schemeClr val="folHlink"/>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0" lang="zh-CN" b="1" kern="1200" cap="none" spc="0" normalizeH="0" baseline="0" noProof="0">
                    <a:solidFill>
                      <a:schemeClr val="folHlink"/>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神舟”四号飞船成功返回</a:t>
                </a:r>
              </a:p>
            </p:txBody>
          </p:sp>
        </p:grpSp>
        <p:grpSp>
          <p:nvGrpSpPr>
            <p:cNvPr id="3" name="Group 13"/>
            <p:cNvGrpSpPr/>
            <p:nvPr/>
          </p:nvGrpSpPr>
          <p:grpSpPr>
            <a:xfrm>
              <a:off x="2496" y="2352"/>
              <a:ext cx="2736" cy="1462"/>
              <a:chOff x="0" y="0"/>
              <a:chExt cx="2736" cy="1462"/>
            </a:xfrm>
          </p:grpSpPr>
          <p:pic>
            <p:nvPicPr>
              <p:cNvPr id="10253" name="Picture 14" descr="国产涡喷-7涡轮喷气发动机"/>
              <p:cNvPicPr>
                <a:picLocks noChangeAspect="1"/>
              </p:cNvPicPr>
              <p:nvPr/>
            </p:nvPicPr>
            <p:blipFill>
              <a:blip r:embed="rId5"/>
              <a:stretch>
                <a:fillRect/>
              </a:stretch>
            </p:blipFill>
            <p:spPr>
              <a:xfrm>
                <a:off x="0" y="0"/>
                <a:ext cx="2677" cy="1429"/>
              </a:xfrm>
              <a:prstGeom prst="rect">
                <a:avLst/>
              </a:prstGeom>
              <a:noFill/>
              <a:ln w="38100" cap="flat" cmpd="sng">
                <a:solidFill>
                  <a:srgbClr val="FF0000"/>
                </a:solidFill>
                <a:prstDash val="solid"/>
                <a:miter/>
                <a:headEnd type="none" w="med" len="med"/>
                <a:tailEnd type="none" w="med" len="med"/>
              </a:ln>
            </p:spPr>
          </p:pic>
          <p:sp>
            <p:nvSpPr>
              <p:cNvPr id="10254" name="Text Box 15"/>
              <p:cNvSpPr txBox="1"/>
              <p:nvPr/>
            </p:nvSpPr>
            <p:spPr>
              <a:xfrm>
                <a:off x="672" y="1212"/>
                <a:ext cx="2064" cy="250"/>
              </a:xfrm>
              <a:prstGeom prst="rect">
                <a:avLst/>
              </a:prstGeom>
              <a:noFill/>
              <a:ln w="9525">
                <a:noFill/>
              </a:ln>
            </p:spPr>
            <p:txBody>
              <a:bodyPr anchor="t">
                <a:spAutoFit/>
              </a:bodyPr>
              <a:lstStyle/>
              <a:p>
                <a:pPr algn="ct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国产涡喷</a:t>
                </a:r>
                <a:r>
                  <a:rPr lang="zh-CN" altLang="zh-CN" sz="2000" b="1" dirty="0">
                    <a:solidFill>
                      <a:schemeClr val="folHlink"/>
                    </a:solidFill>
                    <a:latin typeface="Times New Roman" panose="02020603050405020304" pitchFamily="18" charset="0"/>
                    <a:ea typeface="宋体" panose="02010600030101010101" pitchFamily="2" charset="-122"/>
                  </a:rPr>
                  <a:t>-7</a:t>
                </a:r>
                <a:r>
                  <a:rPr lang="zh-CN" altLang="en-US" sz="2000" b="1" dirty="0">
                    <a:solidFill>
                      <a:schemeClr val="folHlink"/>
                    </a:solidFill>
                    <a:latin typeface="Times New Roman" panose="02020603050405020304" pitchFamily="18" charset="0"/>
                    <a:ea typeface="宋体" panose="02010600030101010101" pitchFamily="2" charset="-122"/>
                  </a:rPr>
                  <a:t>涡轮喷气发动机</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left)">
                                      <p:cBhvr>
                                        <p:cTn id="7" dur="500"/>
                                        <p:tgtEl>
                                          <p:spTgt spid="1024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00076"/>
            </a:gs>
          </a:gsLst>
          <a:lin ang="0" scaled="1"/>
          <a:tileRect/>
        </a:gradFill>
        <a:effectLst/>
      </p:bgPr>
    </p:bg>
    <p:spTree>
      <p:nvGrpSpPr>
        <p:cNvPr id="1" name=""/>
        <p:cNvGrpSpPr/>
        <p:nvPr/>
      </p:nvGrpSpPr>
      <p:grpSpPr>
        <a:xfrm>
          <a:off x="0" y="0"/>
          <a:ext cx="0" cy="0"/>
          <a:chOff x="0" y="0"/>
          <a:chExt cx="0" cy="0"/>
        </a:xfrm>
      </p:grpSpPr>
      <p:grpSp>
        <p:nvGrpSpPr>
          <p:cNvPr id="2" name="Group 2"/>
          <p:cNvGrpSpPr/>
          <p:nvPr/>
        </p:nvGrpSpPr>
        <p:grpSpPr>
          <a:xfrm>
            <a:off x="1371600" y="1676400"/>
            <a:ext cx="6915150" cy="4959350"/>
            <a:chOff x="0" y="0"/>
            <a:chExt cx="4356" cy="3124"/>
          </a:xfrm>
        </p:grpSpPr>
        <p:grpSp>
          <p:nvGrpSpPr>
            <p:cNvPr id="11267" name="Group 3"/>
            <p:cNvGrpSpPr/>
            <p:nvPr/>
          </p:nvGrpSpPr>
          <p:grpSpPr>
            <a:xfrm>
              <a:off x="0" y="1536"/>
              <a:ext cx="1460" cy="1584"/>
              <a:chOff x="0" y="0"/>
              <a:chExt cx="1460" cy="1584"/>
            </a:xfrm>
          </p:grpSpPr>
          <p:pic>
            <p:nvPicPr>
              <p:cNvPr id="11268" name="Picture 4" descr="石器"/>
              <p:cNvPicPr>
                <a:picLocks noChangeAspect="1"/>
              </p:cNvPicPr>
              <p:nvPr/>
            </p:nvPicPr>
            <p:blipFill>
              <a:blip r:embed="rId2"/>
              <a:stretch>
                <a:fillRect/>
              </a:stretch>
            </p:blipFill>
            <p:spPr>
              <a:xfrm>
                <a:off x="0" y="0"/>
                <a:ext cx="1460" cy="1579"/>
              </a:xfrm>
              <a:prstGeom prst="rect">
                <a:avLst/>
              </a:prstGeom>
              <a:noFill/>
              <a:ln w="57150" cap="flat" cmpd="sng">
                <a:solidFill>
                  <a:srgbClr val="FF6600"/>
                </a:solidFill>
                <a:prstDash val="solid"/>
                <a:miter/>
                <a:headEnd type="none" w="med" len="med"/>
                <a:tailEnd type="none" w="med" len="med"/>
              </a:ln>
            </p:spPr>
          </p:pic>
          <p:sp>
            <p:nvSpPr>
              <p:cNvPr id="11269" name="Text Box 5"/>
              <p:cNvSpPr txBox="1"/>
              <p:nvPr/>
            </p:nvSpPr>
            <p:spPr>
              <a:xfrm>
                <a:off x="0" y="1296"/>
                <a:ext cx="624" cy="288"/>
              </a:xfrm>
              <a:prstGeom prst="rect">
                <a:avLst/>
              </a:prstGeom>
              <a:noFill/>
              <a:ln w="9525">
                <a:noFill/>
              </a:ln>
            </p:spPr>
            <p:txBody>
              <a:bodyPr anchor="t">
                <a:spAutoFit/>
              </a:bodyPr>
              <a:lstStyle/>
              <a:p>
                <a:pPr>
                  <a:spcBef>
                    <a:spcPct val="50000"/>
                  </a:spcBef>
                </a:pPr>
                <a:r>
                  <a:rPr lang="zh-CN" altLang="en-US" sz="2400" b="1" dirty="0">
                    <a:solidFill>
                      <a:srgbClr val="800000"/>
                    </a:solidFill>
                    <a:latin typeface="Times New Roman" panose="02020603050405020304" pitchFamily="18" charset="0"/>
                    <a:ea typeface="宋体" panose="02010600030101010101" pitchFamily="2" charset="-122"/>
                  </a:rPr>
                  <a:t>石器</a:t>
                </a:r>
              </a:p>
            </p:txBody>
          </p:sp>
        </p:grpSp>
        <p:grpSp>
          <p:nvGrpSpPr>
            <p:cNvPr id="11270" name="Group 6"/>
            <p:cNvGrpSpPr/>
            <p:nvPr/>
          </p:nvGrpSpPr>
          <p:grpSpPr>
            <a:xfrm>
              <a:off x="2064" y="1536"/>
              <a:ext cx="2292" cy="1588"/>
              <a:chOff x="0" y="0"/>
              <a:chExt cx="2292" cy="1588"/>
            </a:xfrm>
          </p:grpSpPr>
          <p:pic>
            <p:nvPicPr>
              <p:cNvPr id="11271" name="Picture 7" descr="铁器"/>
              <p:cNvPicPr>
                <a:picLocks noChangeAspect="1"/>
              </p:cNvPicPr>
              <p:nvPr/>
            </p:nvPicPr>
            <p:blipFill>
              <a:blip r:embed="rId3"/>
              <a:stretch>
                <a:fillRect/>
              </a:stretch>
            </p:blipFill>
            <p:spPr>
              <a:xfrm>
                <a:off x="0" y="0"/>
                <a:ext cx="2272" cy="1588"/>
              </a:xfrm>
              <a:prstGeom prst="rect">
                <a:avLst/>
              </a:prstGeom>
              <a:noFill/>
              <a:ln w="57150" cap="flat" cmpd="sng">
                <a:solidFill>
                  <a:srgbClr val="FF9900"/>
                </a:solidFill>
                <a:prstDash val="solid"/>
                <a:miter/>
                <a:headEnd type="none" w="med" len="med"/>
                <a:tailEnd type="none" w="med" len="med"/>
              </a:ln>
            </p:spPr>
          </p:pic>
          <p:sp>
            <p:nvSpPr>
              <p:cNvPr id="11272" name="Text Box 8"/>
              <p:cNvSpPr txBox="1"/>
              <p:nvPr/>
            </p:nvSpPr>
            <p:spPr>
              <a:xfrm>
                <a:off x="1824" y="0"/>
                <a:ext cx="468" cy="250"/>
              </a:xfrm>
              <a:prstGeom prst="rect">
                <a:avLst/>
              </a:prstGeom>
              <a:noFill/>
              <a:ln w="9525">
                <a:noFill/>
              </a:ln>
            </p:spPr>
            <p:txBody>
              <a:bodyPr anchor="t">
                <a:spAutoFit/>
              </a:bodyPr>
              <a:lstStyle/>
              <a:p>
                <a:pPr>
                  <a:spcBef>
                    <a:spcPct val="50000"/>
                  </a:spcBef>
                </a:pPr>
                <a:r>
                  <a:rPr lang="zh-CN" altLang="en-US" sz="2000" b="1" dirty="0">
                    <a:solidFill>
                      <a:schemeClr val="hlink"/>
                    </a:solidFill>
                    <a:latin typeface="Times New Roman" panose="02020603050405020304" pitchFamily="18" charset="0"/>
                    <a:ea typeface="宋体" panose="02010600030101010101" pitchFamily="2" charset="-122"/>
                  </a:rPr>
                  <a:t>铁器</a:t>
                </a:r>
              </a:p>
            </p:txBody>
          </p:sp>
        </p:grpSp>
        <p:grpSp>
          <p:nvGrpSpPr>
            <p:cNvPr id="11273" name="Group 9"/>
            <p:cNvGrpSpPr/>
            <p:nvPr/>
          </p:nvGrpSpPr>
          <p:grpSpPr>
            <a:xfrm>
              <a:off x="2016" y="0"/>
              <a:ext cx="2333" cy="1374"/>
              <a:chOff x="0" y="0"/>
              <a:chExt cx="2333" cy="1374"/>
            </a:xfrm>
          </p:grpSpPr>
          <p:pic>
            <p:nvPicPr>
              <p:cNvPr id="11274" name="Picture 10" descr="象形尊"/>
              <p:cNvPicPr>
                <a:picLocks noChangeAspect="1"/>
              </p:cNvPicPr>
              <p:nvPr/>
            </p:nvPicPr>
            <p:blipFill>
              <a:blip r:embed="rId4"/>
              <a:stretch>
                <a:fillRect/>
              </a:stretch>
            </p:blipFill>
            <p:spPr>
              <a:xfrm>
                <a:off x="48" y="24"/>
                <a:ext cx="2285" cy="1350"/>
              </a:xfrm>
              <a:prstGeom prst="rect">
                <a:avLst/>
              </a:prstGeom>
              <a:noFill/>
              <a:ln w="57150" cap="flat" cmpd="sng">
                <a:solidFill>
                  <a:srgbClr val="FF6600"/>
                </a:solidFill>
                <a:prstDash val="solid"/>
                <a:miter/>
                <a:headEnd type="none" w="med" len="med"/>
                <a:tailEnd type="none" w="med" len="med"/>
              </a:ln>
            </p:spPr>
          </p:pic>
          <p:sp>
            <p:nvSpPr>
              <p:cNvPr id="11275" name="Rectangle 11"/>
              <p:cNvSpPr/>
              <p:nvPr/>
            </p:nvSpPr>
            <p:spPr>
              <a:xfrm>
                <a:off x="0" y="0"/>
                <a:ext cx="1104" cy="288"/>
              </a:xfrm>
              <a:prstGeom prst="rect">
                <a:avLst/>
              </a:prstGeom>
              <a:noFill/>
              <a:ln w="9525">
                <a:noFill/>
              </a:ln>
            </p:spPr>
            <p:txBody>
              <a:bodyPr anchor="t">
                <a:spAutoFit/>
              </a:bodyPr>
              <a:lstStyle/>
              <a:p>
                <a:r>
                  <a:rPr lang="zh-CN" altLang="zh-CN" sz="2400" b="1" dirty="0">
                    <a:solidFill>
                      <a:schemeClr val="folHlink"/>
                    </a:solidFill>
                    <a:latin typeface="Arial" panose="020B0604020202020204" pitchFamily="34" charset="0"/>
                    <a:ea typeface="宋体" panose="02010600030101010101" pitchFamily="2" charset="-122"/>
                  </a:rPr>
                  <a:t> </a:t>
                </a:r>
                <a:r>
                  <a:rPr lang="zh-CN" altLang="en-US" sz="2000" b="1" dirty="0">
                    <a:solidFill>
                      <a:schemeClr val="folHlink"/>
                    </a:solidFill>
                    <a:latin typeface="宋体" panose="02010600030101010101" pitchFamily="2" charset="-122"/>
                    <a:ea typeface="宋体" panose="02010600030101010101" pitchFamily="2" charset="-122"/>
                  </a:rPr>
                  <a:t>象形尊</a:t>
                </a:r>
                <a:r>
                  <a:rPr lang="zh-CN" altLang="zh-CN" sz="2000" b="1" dirty="0">
                    <a:solidFill>
                      <a:schemeClr val="folHlink"/>
                    </a:solidFill>
                    <a:latin typeface="宋体" panose="02010600030101010101" pitchFamily="2" charset="-122"/>
                    <a:ea typeface="宋体" panose="02010600030101010101" pitchFamily="2" charset="-122"/>
                  </a:rPr>
                  <a:t>(</a:t>
                </a:r>
                <a:r>
                  <a:rPr lang="zh-CN" altLang="en-US" sz="2000" b="1" dirty="0">
                    <a:solidFill>
                      <a:schemeClr val="folHlink"/>
                    </a:solidFill>
                    <a:latin typeface="宋体" panose="02010600030101010101" pitchFamily="2" charset="-122"/>
                    <a:ea typeface="宋体" panose="02010600030101010101" pitchFamily="2" charset="-122"/>
                  </a:rPr>
                  <a:t>西周</a:t>
                </a:r>
                <a:r>
                  <a:rPr lang="zh-CN" altLang="zh-CN" sz="2000" b="1" dirty="0">
                    <a:solidFill>
                      <a:schemeClr val="folHlink"/>
                    </a:solidFill>
                    <a:latin typeface="宋体" panose="02010600030101010101" pitchFamily="2" charset="-122"/>
                    <a:ea typeface="宋体" panose="02010600030101010101" pitchFamily="2" charset="-122"/>
                  </a:rPr>
                  <a:t>)</a:t>
                </a:r>
              </a:p>
            </p:txBody>
          </p:sp>
        </p:grpSp>
      </p:grpSp>
      <p:sp>
        <p:nvSpPr>
          <p:cNvPr id="11276" name="Rectangle 12"/>
          <p:cNvSpPr>
            <a:spLocks noGrp="1"/>
          </p:cNvSpPr>
          <p:nvPr>
            <p:ph type="body" sz="half" idx="1"/>
          </p:nvPr>
        </p:nvSpPr>
        <p:spPr>
          <a:xfrm>
            <a:off x="914400" y="1600200"/>
            <a:ext cx="3048000" cy="2647950"/>
          </a:xfrm>
        </p:spPr>
        <p:txBody>
          <a:bodyPr vert="horz" wrap="square" lIns="91440" tIns="45720" rIns="91440" bIns="45720" anchor="t"/>
          <a:lstStyle/>
          <a:p>
            <a:pPr eaLnBrk="1" hangingPunct="1">
              <a:lnSpc>
                <a:spcPct val="150000"/>
              </a:lnSpc>
              <a:buClr>
                <a:schemeClr val="accent2"/>
              </a:buClr>
              <a:buSzPct val="80000"/>
              <a:buFont typeface="Wingdings" panose="05000000000000000000" pitchFamily="2" charset="2"/>
            </a:pPr>
            <a:r>
              <a:rPr lang="zh-CN" altLang="en-US" sz="2800" b="1" dirty="0">
                <a:solidFill>
                  <a:schemeClr val="folHlink"/>
                </a:solidFill>
                <a:ea typeface="华文中宋" panose="02010600040101010101" pitchFamily="2" charset="-122"/>
              </a:rPr>
              <a:t>石器时代</a:t>
            </a:r>
          </a:p>
          <a:p>
            <a:pPr eaLnBrk="1" hangingPunct="1">
              <a:lnSpc>
                <a:spcPct val="150000"/>
              </a:lnSpc>
              <a:buClr>
                <a:schemeClr val="accent2"/>
              </a:buClr>
              <a:buSzPct val="80000"/>
              <a:buFont typeface="Wingdings" panose="05000000000000000000" pitchFamily="2" charset="2"/>
            </a:pPr>
            <a:r>
              <a:rPr lang="zh-CN" altLang="en-US" sz="2800" b="1" dirty="0">
                <a:solidFill>
                  <a:schemeClr val="folHlink"/>
                </a:solidFill>
                <a:ea typeface="华文中宋" panose="02010600040101010101" pitchFamily="2" charset="-122"/>
              </a:rPr>
              <a:t>青铜器时代</a:t>
            </a:r>
          </a:p>
          <a:p>
            <a:pPr eaLnBrk="1" hangingPunct="1">
              <a:lnSpc>
                <a:spcPct val="150000"/>
              </a:lnSpc>
              <a:buClr>
                <a:schemeClr val="accent2"/>
              </a:buClr>
              <a:buSzPct val="80000"/>
              <a:buFont typeface="Wingdings" panose="05000000000000000000" pitchFamily="2" charset="2"/>
            </a:pPr>
            <a:r>
              <a:rPr lang="zh-CN" altLang="en-US" sz="2800" b="1" dirty="0">
                <a:solidFill>
                  <a:schemeClr val="folHlink"/>
                </a:solidFill>
                <a:ea typeface="华文中宋" panose="02010600040101010101" pitchFamily="2" charset="-122"/>
              </a:rPr>
              <a:t>铁器时代</a:t>
            </a:r>
          </a:p>
        </p:txBody>
      </p:sp>
      <p:sp>
        <p:nvSpPr>
          <p:cNvPr id="11277" name="Text Box 13"/>
          <p:cNvSpPr txBox="1">
            <a:spLocks noChangeArrowheads="1"/>
          </p:cNvSpPr>
          <p:nvPr/>
        </p:nvSpPr>
        <p:spPr bwMode="auto">
          <a:xfrm>
            <a:off x="762000" y="304800"/>
            <a:ext cx="7696200" cy="1289050"/>
          </a:xfrm>
          <a:prstGeom prst="rect">
            <a:avLst/>
          </a:prstGeom>
          <a:solidFill>
            <a:srgbClr val="CCFFFF"/>
          </a:solidFill>
          <a:ln w="9525">
            <a:noFill/>
            <a:miter lim="800000"/>
          </a:ln>
          <a:effectLst/>
        </p:spPr>
        <p:txBody>
          <a:bodyPr>
            <a:spAutoFit/>
          </a:bodyPr>
          <a:lstStyle/>
          <a:p>
            <a:pPr marR="0" defTabSz="914400">
              <a:lnSpc>
                <a:spcPct val="140000"/>
              </a:lnSpc>
              <a:spcBef>
                <a:spcPct val="20000"/>
              </a:spcBef>
              <a:buClr>
                <a:schemeClr val="accent2"/>
              </a:buClr>
              <a:buSzPct val="80000"/>
              <a:buFont typeface="Wingdings" panose="05000000000000000000" pitchFamily="2" charset="2"/>
              <a:defRPr/>
            </a:pPr>
            <a:r>
              <a:rPr kumimoji="0" lang="zh-CN" sz="2800" kern="1200" cap="none" spc="0" normalizeH="0" baseline="0" noProof="0">
                <a:solidFill>
                  <a:srgbClr val="CC00CC"/>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材料是人类进化的里程碑。</a:t>
            </a:r>
            <a:r>
              <a:rPr kumimoji="0" lang="zh-CN" sz="2800" b="1" kern="1200" cap="none" spc="0" normalizeH="0" baseline="0" noProof="0">
                <a:solidFill>
                  <a:srgbClr val="800000"/>
                </a:solidFill>
                <a:latin typeface="Times New Roman" panose="02020603050405020304" pitchFamily="18" charset="0"/>
                <a:ea typeface="华文中宋" panose="02010600040101010101" pitchFamily="2" charset="-122"/>
                <a:cs typeface="+mn-cs"/>
              </a:rPr>
              <a:t>由于材料的重要性，历史学家根据人类所使用的材料来划分时代。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277"/>
                                        </p:tgtEl>
                                        <p:attrNameLst>
                                          <p:attrName>style.visibility</p:attrName>
                                        </p:attrNameLst>
                                      </p:cBhvr>
                                      <p:to>
                                        <p:strVal val="visible"/>
                                      </p:to>
                                    </p:set>
                                    <p:anim calcmode="lin" valueType="num">
                                      <p:cBhvr additive="base">
                                        <p:cTn id="7" dur="500" fill="hold"/>
                                        <p:tgtEl>
                                          <p:spTgt spid="11277"/>
                                        </p:tgtEl>
                                        <p:attrNameLst>
                                          <p:attrName>ppt_x</p:attrName>
                                        </p:attrNameLst>
                                      </p:cBhvr>
                                      <p:tavLst>
                                        <p:tav tm="0">
                                          <p:val>
                                            <p:strVal val="0-#ppt_w/2"/>
                                          </p:val>
                                        </p:tav>
                                        <p:tav tm="100000">
                                          <p:val>
                                            <p:strVal val="#ppt_x"/>
                                          </p:val>
                                        </p:tav>
                                      </p:tavLst>
                                    </p:anim>
                                    <p:anim calcmode="lin" valueType="num">
                                      <p:cBhvr additive="base">
                                        <p:cTn id="8" dur="500" fill="hold"/>
                                        <p:tgtEl>
                                          <p:spTgt spid="1127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1276">
                                            <p:txEl>
                                              <p:pRg st="0" end="0"/>
                                            </p:txEl>
                                          </p:spTgt>
                                        </p:tgtEl>
                                        <p:attrNameLst>
                                          <p:attrName>style.visibility</p:attrName>
                                        </p:attrNameLst>
                                      </p:cBhvr>
                                      <p:to>
                                        <p:strVal val="visible"/>
                                      </p:to>
                                    </p:set>
                                    <p:animEffect transition="in" filter="wipe(left)">
                                      <p:cBhvr>
                                        <p:cTn id="12" dur="500"/>
                                        <p:tgtEl>
                                          <p:spTgt spid="11276">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1276">
                                            <p:txEl>
                                              <p:pRg st="1" end="1"/>
                                            </p:txEl>
                                          </p:spTgt>
                                        </p:tgtEl>
                                        <p:attrNameLst>
                                          <p:attrName>style.visibility</p:attrName>
                                        </p:attrNameLst>
                                      </p:cBhvr>
                                      <p:to>
                                        <p:strVal val="visible"/>
                                      </p:to>
                                    </p:set>
                                    <p:animEffect transition="in" filter="wipe(left)">
                                      <p:cBhvr>
                                        <p:cTn id="16" dur="500"/>
                                        <p:tgtEl>
                                          <p:spTgt spid="11276">
                                            <p:txEl>
                                              <p:pRg st="1" end="1"/>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11276">
                                            <p:txEl>
                                              <p:pRg st="2" end="2"/>
                                            </p:txEl>
                                          </p:spTgt>
                                        </p:tgtEl>
                                        <p:attrNameLst>
                                          <p:attrName>style.visibility</p:attrName>
                                        </p:attrNameLst>
                                      </p:cBhvr>
                                      <p:to>
                                        <p:strVal val="visible"/>
                                      </p:to>
                                    </p:set>
                                    <p:animEffect transition="in" filter="wipe(left)">
                                      <p:cBhvr>
                                        <p:cTn id="20" dur="500"/>
                                        <p:tgtEl>
                                          <p:spTgt spid="11276">
                                            <p:txEl>
                                              <p:pRg st="2" end="2"/>
                                            </p:txEl>
                                          </p:spTgt>
                                        </p:tgtEl>
                                      </p:cBhvr>
                                    </p:animEffect>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6" grpId="0" build="p" advAuto="1000"/>
      <p:bldP spid="11277"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solidFill>
            <a:srgbClr val="CCFF33"/>
          </a:solidFill>
        </p:spPr>
        <p:txBody>
          <a:bodyPr vert="horz" wrap="square" lIns="92075" tIns="46038" rIns="92075" bIns="46038" numCol="1" anchor="ctr"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sz="2800" b="1" i="0" u="none" strike="noStrike" kern="0" cap="none" spc="0" normalizeH="0" baseline="0" noProof="0">
                <a:ln>
                  <a:noFill/>
                </a:ln>
                <a:solidFill>
                  <a:srgbClr val="800000"/>
                </a:solidFill>
                <a:effectLst/>
                <a:uLnTx/>
                <a:uFillTx/>
                <a:latin typeface="华文中宋" panose="02010600040101010101" pitchFamily="2" charset="-122"/>
                <a:ea typeface="华文中宋" panose="02010600040101010101" pitchFamily="2" charset="-122"/>
                <a:cs typeface="+mj-cs"/>
              </a:rPr>
              <a:t>材料的发展水平和利用程度已成为人类文明进步的标志。</a:t>
            </a:r>
            <a:r>
              <a:rPr kumimoji="0" 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 </a:t>
            </a:r>
          </a:p>
        </p:txBody>
      </p:sp>
      <p:grpSp>
        <p:nvGrpSpPr>
          <p:cNvPr id="2" name="Group 3"/>
          <p:cNvGrpSpPr/>
          <p:nvPr/>
        </p:nvGrpSpPr>
        <p:grpSpPr>
          <a:xfrm>
            <a:off x="685800" y="1981200"/>
            <a:ext cx="7924800" cy="4329113"/>
            <a:chOff x="0" y="0"/>
            <a:chExt cx="4992" cy="2727"/>
          </a:xfrm>
        </p:grpSpPr>
        <p:pic>
          <p:nvPicPr>
            <p:cNvPr id="12292" name="Picture 4" descr="材料与人类进步关系"/>
            <p:cNvPicPr>
              <a:picLocks noChangeAspect="1"/>
            </p:cNvPicPr>
            <p:nvPr/>
          </p:nvPicPr>
          <p:blipFill>
            <a:blip r:embed="rId2"/>
            <a:stretch>
              <a:fillRect/>
            </a:stretch>
          </p:blipFill>
          <p:spPr>
            <a:xfrm>
              <a:off x="0" y="0"/>
              <a:ext cx="4992" cy="2494"/>
            </a:xfrm>
            <a:prstGeom prst="rect">
              <a:avLst/>
            </a:prstGeom>
            <a:noFill/>
            <a:ln w="9525">
              <a:noFill/>
            </a:ln>
          </p:spPr>
        </p:pic>
        <p:sp>
          <p:nvSpPr>
            <p:cNvPr id="12293" name="Rectangle 5"/>
            <p:cNvSpPr/>
            <p:nvPr/>
          </p:nvSpPr>
          <p:spPr>
            <a:xfrm>
              <a:off x="624" y="2400"/>
              <a:ext cx="3456" cy="327"/>
            </a:xfrm>
            <a:prstGeom prst="rect">
              <a:avLst/>
            </a:prstGeom>
            <a:noFill/>
            <a:ln w="9525">
              <a:noFill/>
            </a:ln>
          </p:spPr>
          <p:txBody>
            <a:bodyPr anchor="t">
              <a:spAutoFit/>
            </a:bodyPr>
            <a:lstStyle/>
            <a:p>
              <a:pPr lvl="1" indent="0" eaLnBrk="1" hangingPunct="1">
                <a:spcBef>
                  <a:spcPct val="20000"/>
                </a:spcBef>
                <a:buClr>
                  <a:schemeClr val="tx1"/>
                </a:buClr>
                <a:buSzPct val="75000"/>
                <a:buFont typeface="Wingdings" panose="05000000000000000000" pitchFamily="2" charset="2"/>
                <a:buChar char="Ø"/>
              </a:pPr>
              <a:r>
                <a:rPr lang="zh-CN" altLang="en-US" sz="2800" b="1" dirty="0">
                  <a:solidFill>
                    <a:schemeClr val="bg2"/>
                  </a:solidFill>
                  <a:latin typeface="Times New Roman" panose="02020603050405020304" pitchFamily="18" charset="0"/>
                  <a:ea typeface="黑体" panose="02010609060101010101" pitchFamily="49" charset="-122"/>
                </a:rPr>
                <a:t>材料的发展与人类社会简图</a:t>
              </a:r>
              <a:endParaRPr lang="zh-CN" altLang="en-US" sz="3600" b="1" dirty="0">
                <a:solidFill>
                  <a:schemeClr val="bg2"/>
                </a:solidFill>
                <a:latin typeface="Times New Roman" panose="02020603050405020304" pitchFamily="18" charset="0"/>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500"/>
                                        <p:tgtEl>
                                          <p:spTgt spid="1229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sz="half" idx="1"/>
          </p:nvPr>
        </p:nvSpPr>
        <p:spPr>
          <a:xfrm>
            <a:off x="685800" y="457200"/>
            <a:ext cx="7990656" cy="1981200"/>
          </a:xfrm>
        </p:spPr>
        <p:txBody>
          <a:bodyPr vert="horz" wrap="square" lIns="91440" tIns="45720" rIns="91440" bIns="45720" numCol="1" anchor="t" anchorCtr="0" compatLnSpc="1"/>
          <a:lstStyle/>
          <a:p>
            <a:pPr marL="342900" marR="0" lvl="0" indent="-342900" algn="l" defTabSz="914400" rtl="0" eaLnBrk="1" fontAlgn="base" latinLnBrk="0" hangingPunct="1">
              <a:lnSpc>
                <a:spcPct val="140000"/>
              </a:lnSpc>
              <a:spcBef>
                <a:spcPct val="20000"/>
              </a:spcBef>
              <a:spcAft>
                <a:spcPct val="0"/>
              </a:spcAft>
              <a:buClr>
                <a:schemeClr val="accent2"/>
              </a:buClr>
              <a:buSzPct val="80000"/>
              <a:buFont typeface="Wingdings" panose="05000000000000000000" pitchFamily="2" charset="2"/>
              <a:buChar char="l"/>
              <a:defRPr/>
            </a:pPr>
            <a:r>
              <a:rPr kumimoji="0" lang="zh-CN" sz="2800" b="1" i="0" u="none" strike="noStrike" kern="0" cap="none" spc="0" normalizeH="0" baseline="0" noProof="0" dirty="0">
                <a:ln>
                  <a:noFill/>
                </a:ln>
                <a:solidFill>
                  <a:schemeClr val="folHlink"/>
                </a:solidFill>
                <a:effectLst/>
                <a:uLnTx/>
                <a:uFillTx/>
                <a:latin typeface="华文中宋" panose="02010600040101010101" pitchFamily="2" charset="-122"/>
                <a:ea typeface="华文中宋" panose="02010600040101010101" pitchFamily="2" charset="-122"/>
                <a:cs typeface="+mn-cs"/>
              </a:rPr>
              <a:t>没有半导体材料的工业化生产，就不可能有目前的计算机技术</a:t>
            </a:r>
            <a:r>
              <a:rPr kumimoji="0" lang="zh-CN" altLang="zh-CN" sz="2800" b="1" i="0" u="none" strike="noStrike" kern="0" cap="none" spc="0" normalizeH="0" baseline="0" noProof="0" dirty="0">
                <a:ln>
                  <a:noFill/>
                </a:ln>
                <a:solidFill>
                  <a:schemeClr val="folHlink"/>
                </a:solidFill>
                <a:effectLst/>
                <a:uLnTx/>
                <a:uFillTx/>
                <a:latin typeface="华文中宋" panose="02010600040101010101" pitchFamily="2" charset="-122"/>
                <a:ea typeface="华文中宋" panose="02010600040101010101" pitchFamily="2" charset="-122"/>
                <a:cs typeface="+mn-cs"/>
              </a:rPr>
              <a:t>.</a:t>
            </a:r>
            <a:r>
              <a:rPr kumimoji="0" lang="zh-CN" altLang="zh-CN"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n-cs"/>
              </a:rPr>
              <a:t> </a:t>
            </a:r>
          </a:p>
        </p:txBody>
      </p:sp>
      <p:pic>
        <p:nvPicPr>
          <p:cNvPr id="3" name="图片 2">
            <a:extLst>
              <a:ext uri="{FF2B5EF4-FFF2-40B4-BE49-F238E27FC236}">
                <a16:creationId xmlns:a16="http://schemas.microsoft.com/office/drawing/2014/main" id="{776DED05-5159-7872-3C11-8AFDEFE588C8}"/>
              </a:ext>
            </a:extLst>
          </p:cNvPr>
          <p:cNvPicPr>
            <a:picLocks noChangeAspect="1"/>
          </p:cNvPicPr>
          <p:nvPr/>
        </p:nvPicPr>
        <p:blipFill>
          <a:blip r:embed="rId2"/>
          <a:stretch>
            <a:fillRect/>
          </a:stretch>
        </p:blipFill>
        <p:spPr>
          <a:xfrm>
            <a:off x="1403648" y="1844824"/>
            <a:ext cx="6336704" cy="42922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wipe(left)">
                                      <p:cBhvr>
                                        <p:cTn id="7" dur="500"/>
                                        <p:tgtEl>
                                          <p:spTgt spid="133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advAuto="100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304800"/>
            <a:ext cx="8153400" cy="1371600"/>
          </a:xfrm>
        </p:spPr>
        <p:txBody>
          <a:bodyPr vert="horz" wrap="square" lIns="92075" tIns="46038" rIns="92075" bIns="46038" numCol="1" anchor="ctr"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sz="2800" b="1" i="0" u="none" strike="noStrike" kern="0" cap="none" spc="0" normalizeH="0" baseline="0" noProof="0" dirty="0">
                <a:ln>
                  <a:noFill/>
                </a:ln>
                <a:solidFill>
                  <a:schemeClr val="folHlink"/>
                </a:solidFill>
                <a:effectLst/>
                <a:uLnTx/>
                <a:uFillTx/>
                <a:latin typeface="华文中宋" panose="02010600040101010101" pitchFamily="2" charset="-122"/>
                <a:ea typeface="华文中宋" panose="02010600040101010101" pitchFamily="2" charset="-122"/>
                <a:cs typeface="+mj-cs"/>
              </a:rPr>
              <a:t>没有高温高强度的结构材料，就不可能有今天的航空工业和宇航工业。</a:t>
            </a:r>
            <a:r>
              <a:rPr kumimoji="0" lang="zh-CN" sz="28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 </a:t>
            </a:r>
          </a:p>
        </p:txBody>
      </p:sp>
      <p:grpSp>
        <p:nvGrpSpPr>
          <p:cNvPr id="3" name="Group 6"/>
          <p:cNvGrpSpPr/>
          <p:nvPr/>
        </p:nvGrpSpPr>
        <p:grpSpPr>
          <a:xfrm>
            <a:off x="4686300" y="1143000"/>
            <a:ext cx="3887788" cy="5410200"/>
            <a:chOff x="0" y="0"/>
            <a:chExt cx="2449" cy="3408"/>
          </a:xfrm>
        </p:grpSpPr>
        <p:grpSp>
          <p:nvGrpSpPr>
            <p:cNvPr id="14342" name="Group 7"/>
            <p:cNvGrpSpPr/>
            <p:nvPr/>
          </p:nvGrpSpPr>
          <p:grpSpPr>
            <a:xfrm>
              <a:off x="0" y="0"/>
              <a:ext cx="2449" cy="1700"/>
              <a:chOff x="0" y="0"/>
              <a:chExt cx="2449" cy="1700"/>
            </a:xfrm>
          </p:grpSpPr>
          <p:pic>
            <p:nvPicPr>
              <p:cNvPr id="14343" name="Picture 8" descr="ds定向凝固叶片"/>
              <p:cNvPicPr>
                <a:picLocks noChangeAspect="1"/>
              </p:cNvPicPr>
              <p:nvPr/>
            </p:nvPicPr>
            <p:blipFill>
              <a:blip r:embed="rId2"/>
              <a:stretch>
                <a:fillRect/>
              </a:stretch>
            </p:blipFill>
            <p:spPr>
              <a:xfrm>
                <a:off x="48" y="19"/>
                <a:ext cx="2401" cy="1681"/>
              </a:xfrm>
              <a:prstGeom prst="rect">
                <a:avLst/>
              </a:prstGeom>
              <a:noFill/>
              <a:ln w="38100" cap="flat" cmpd="sng">
                <a:solidFill>
                  <a:srgbClr val="FF9900"/>
                </a:solidFill>
                <a:prstDash val="solid"/>
                <a:miter/>
                <a:headEnd type="none" w="med" len="med"/>
                <a:tailEnd type="none" w="med" len="med"/>
              </a:ln>
            </p:spPr>
          </p:pic>
          <p:sp>
            <p:nvSpPr>
              <p:cNvPr id="14344" name="Text Box 9"/>
              <p:cNvSpPr txBox="1"/>
              <p:nvPr/>
            </p:nvSpPr>
            <p:spPr>
              <a:xfrm>
                <a:off x="0" y="0"/>
                <a:ext cx="1536" cy="250"/>
              </a:xfrm>
              <a:prstGeom prst="rect">
                <a:avLst/>
              </a:prstGeom>
              <a:noFill/>
              <a:ln w="9525">
                <a:noFill/>
              </a:ln>
            </p:spPr>
            <p:txBody>
              <a:bodyPr anchor="t">
                <a:spAutoFit/>
              </a:bodyPr>
              <a:lstStyle/>
              <a:p>
                <a:pP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飞机发动机叶片</a:t>
                </a:r>
              </a:p>
            </p:txBody>
          </p:sp>
        </p:grpSp>
        <p:grpSp>
          <p:nvGrpSpPr>
            <p:cNvPr id="14345" name="Group 10"/>
            <p:cNvGrpSpPr/>
            <p:nvPr/>
          </p:nvGrpSpPr>
          <p:grpSpPr>
            <a:xfrm>
              <a:off x="48" y="1795"/>
              <a:ext cx="2401" cy="1613"/>
              <a:chOff x="0" y="0"/>
              <a:chExt cx="2401" cy="1613"/>
            </a:xfrm>
          </p:grpSpPr>
          <p:pic>
            <p:nvPicPr>
              <p:cNvPr id="14346" name="Picture 11" descr="波音1"/>
              <p:cNvPicPr>
                <a:picLocks noChangeAspect="1"/>
              </p:cNvPicPr>
              <p:nvPr/>
            </p:nvPicPr>
            <p:blipFill>
              <a:blip r:embed="rId3"/>
              <a:stretch>
                <a:fillRect/>
              </a:stretch>
            </p:blipFill>
            <p:spPr>
              <a:xfrm>
                <a:off x="0" y="0"/>
                <a:ext cx="2401" cy="1613"/>
              </a:xfrm>
              <a:prstGeom prst="rect">
                <a:avLst/>
              </a:prstGeom>
              <a:noFill/>
              <a:ln w="38100" cap="flat" cmpd="sng">
                <a:solidFill>
                  <a:srgbClr val="FF00FF"/>
                </a:solidFill>
                <a:prstDash val="solid"/>
                <a:miter/>
                <a:headEnd type="none" w="med" len="med"/>
                <a:tailEnd type="none" w="med" len="med"/>
              </a:ln>
            </p:spPr>
          </p:pic>
          <p:sp>
            <p:nvSpPr>
              <p:cNvPr id="14347" name="Text Box 12"/>
              <p:cNvSpPr txBox="1"/>
              <p:nvPr/>
            </p:nvSpPr>
            <p:spPr>
              <a:xfrm>
                <a:off x="1440" y="7"/>
                <a:ext cx="960" cy="250"/>
              </a:xfrm>
              <a:prstGeom prst="rect">
                <a:avLst/>
              </a:prstGeom>
              <a:noFill/>
              <a:ln w="9525">
                <a:noFill/>
              </a:ln>
            </p:spPr>
            <p:txBody>
              <a:bodyPr anchor="t">
                <a:spAutoFit/>
              </a:bodyPr>
              <a:lstStyle/>
              <a:p>
                <a:pPr algn="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波音客机</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09600" y="457200"/>
            <a:ext cx="8534400" cy="4572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2800" b="1" i="0" u="none" strike="noStrike" kern="0" cap="none" spc="0" normalizeH="0" baseline="0" noProof="0">
                <a:ln>
                  <a:noFill/>
                </a:ln>
                <a:solidFill>
                  <a:schemeClr val="folHlink"/>
                </a:solidFill>
                <a:effectLst/>
                <a:uLnTx/>
                <a:uFillTx/>
                <a:latin typeface="华文中宋" panose="02010600040101010101" pitchFamily="2" charset="-122"/>
                <a:ea typeface="华文中宋" panose="02010600040101010101" pitchFamily="2" charset="-122"/>
                <a:cs typeface="+mj-cs"/>
              </a:rPr>
              <a:t>没有低消耗的光导纤维，也就没有现代的光纤通讯。</a:t>
            </a:r>
            <a:r>
              <a:rPr kumimoji="0" 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 </a:t>
            </a:r>
          </a:p>
        </p:txBody>
      </p:sp>
      <p:grpSp>
        <p:nvGrpSpPr>
          <p:cNvPr id="2" name="Group 3"/>
          <p:cNvGrpSpPr/>
          <p:nvPr/>
        </p:nvGrpSpPr>
        <p:grpSpPr>
          <a:xfrm>
            <a:off x="304800" y="1219200"/>
            <a:ext cx="8556625" cy="3962400"/>
            <a:chOff x="0" y="0"/>
            <a:chExt cx="5390" cy="2496"/>
          </a:xfrm>
        </p:grpSpPr>
        <p:pic>
          <p:nvPicPr>
            <p:cNvPr id="15363" name="Picture 4" descr="光纤"/>
            <p:cNvPicPr>
              <a:picLocks noChangeAspect="1"/>
            </p:cNvPicPr>
            <p:nvPr/>
          </p:nvPicPr>
          <p:blipFill>
            <a:blip r:embed="rId2"/>
            <a:stretch>
              <a:fillRect/>
            </a:stretch>
          </p:blipFill>
          <p:spPr>
            <a:xfrm>
              <a:off x="0" y="288"/>
              <a:ext cx="1714" cy="1721"/>
            </a:xfrm>
            <a:prstGeom prst="rect">
              <a:avLst/>
            </a:prstGeom>
            <a:noFill/>
            <a:ln w="38100" cap="flat" cmpd="sng">
              <a:solidFill>
                <a:srgbClr val="FF9900"/>
              </a:solidFill>
              <a:prstDash val="solid"/>
              <a:miter/>
              <a:headEnd type="none" w="med" len="med"/>
              <a:tailEnd type="none" w="med" len="med"/>
            </a:ln>
          </p:spPr>
        </p:pic>
        <p:grpSp>
          <p:nvGrpSpPr>
            <p:cNvPr id="15364" name="Group 5"/>
            <p:cNvGrpSpPr/>
            <p:nvPr/>
          </p:nvGrpSpPr>
          <p:grpSpPr>
            <a:xfrm>
              <a:off x="1824" y="0"/>
              <a:ext cx="3566" cy="2496"/>
              <a:chOff x="0" y="0"/>
              <a:chExt cx="3566" cy="2496"/>
            </a:xfrm>
          </p:grpSpPr>
          <p:pic>
            <p:nvPicPr>
              <p:cNvPr id="15365" name="Picture 6" descr="光纤通讯"/>
              <p:cNvPicPr>
                <a:picLocks noChangeAspect="1"/>
              </p:cNvPicPr>
              <p:nvPr/>
            </p:nvPicPr>
            <p:blipFill>
              <a:blip r:embed="rId3"/>
              <a:stretch>
                <a:fillRect/>
              </a:stretch>
            </p:blipFill>
            <p:spPr>
              <a:xfrm>
                <a:off x="0" y="0"/>
                <a:ext cx="3566" cy="2496"/>
              </a:xfrm>
              <a:prstGeom prst="rect">
                <a:avLst/>
              </a:prstGeom>
              <a:noFill/>
              <a:ln w="9525">
                <a:noFill/>
              </a:ln>
            </p:spPr>
          </p:pic>
          <p:sp>
            <p:nvSpPr>
              <p:cNvPr id="15366" name="Rectangle 7"/>
              <p:cNvSpPr/>
              <p:nvPr/>
            </p:nvSpPr>
            <p:spPr>
              <a:xfrm>
                <a:off x="12" y="0"/>
                <a:ext cx="3552" cy="2448"/>
              </a:xfrm>
              <a:prstGeom prst="rect">
                <a:avLst/>
              </a:prstGeom>
              <a:noFill/>
              <a:ln w="38100" cap="flat" cmpd="sng">
                <a:solidFill>
                  <a:srgbClr val="FF99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grpSp>
      </p:grpSp>
      <p:sp>
        <p:nvSpPr>
          <p:cNvPr id="15368" name="Text Box 8"/>
          <p:cNvSpPr txBox="1">
            <a:spLocks noChangeArrowheads="1"/>
          </p:cNvSpPr>
          <p:nvPr/>
        </p:nvSpPr>
        <p:spPr bwMode="auto">
          <a:xfrm>
            <a:off x="533400" y="5257800"/>
            <a:ext cx="8229600" cy="1203325"/>
          </a:xfrm>
          <a:prstGeom prst="rect">
            <a:avLst/>
          </a:prstGeom>
          <a:solidFill>
            <a:srgbClr val="00FFFF"/>
          </a:solidFill>
          <a:ln w="9525">
            <a:noFill/>
            <a:miter lim="800000"/>
          </a:ln>
          <a:effectLst/>
        </p:spPr>
        <p:txBody>
          <a:bodyPr>
            <a:spAutoFit/>
          </a:bodyPr>
          <a:lstStyle/>
          <a:p>
            <a:pPr marR="0" defTabSz="914400">
              <a:lnSpc>
                <a:spcPct val="130000"/>
              </a:lnSpc>
              <a:spcBef>
                <a:spcPct val="50000"/>
              </a:spcBef>
              <a:buClrTx/>
              <a:buSzTx/>
              <a:defRPr/>
            </a:pPr>
            <a:r>
              <a:rPr kumimoji="0" lang="zh-CN" sz="2800" b="1" kern="1200" cap="none" spc="0" normalizeH="0" baseline="0" noProof="0">
                <a:solidFill>
                  <a:srgbClr val="800000"/>
                </a:solidFill>
                <a:latin typeface="华文中宋" panose="02010600040101010101" pitchFamily="2" charset="-122"/>
                <a:ea typeface="华文中宋" panose="02010600040101010101" pitchFamily="2" charset="-122"/>
                <a:cs typeface="+mn-cs"/>
              </a:rPr>
              <a:t>二十世纪七十年代，人们把材料与能源和信息并列，称作现代文明的三大支柱之一。</a:t>
            </a:r>
            <a:r>
              <a:rPr kumimoji="0" lang="zh-CN" sz="2800" b="1" kern="1200" cap="none" spc="0" normalizeH="0" baseline="0" noProof="0">
                <a:effectLst>
                  <a:outerShdw blurRad="38100" dist="38100" dir="2700000" algn="tl">
                    <a:srgbClr val="000000"/>
                  </a:outerShdw>
                </a:effectLst>
                <a:latin typeface="华文中宋" panose="02010600040101010101" pitchFamily="2" charset="-122"/>
                <a:ea typeface="华文中宋" panose="02010600040101010101" pitchFamily="2" charset="-122"/>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wipe(left)">
                                      <p:cBhvr>
                                        <p:cTn id="7" dur="500"/>
                                        <p:tgtEl>
                                          <p:spTgt spid="1536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15368"/>
                                        </p:tgtEl>
                                        <p:attrNameLst>
                                          <p:attrName>style.visibility</p:attrName>
                                        </p:attrNameLst>
                                      </p:cBhvr>
                                      <p:to>
                                        <p:strVal val="visible"/>
                                      </p:to>
                                    </p:set>
                                    <p:anim calcmode="lin" valueType="num">
                                      <p:cBhvr additive="base">
                                        <p:cTn id="15" dur="500" fill="hold"/>
                                        <p:tgtEl>
                                          <p:spTgt spid="15368"/>
                                        </p:tgtEl>
                                        <p:attrNameLst>
                                          <p:attrName>ppt_x</p:attrName>
                                        </p:attrNameLst>
                                      </p:cBhvr>
                                      <p:tavLst>
                                        <p:tav tm="0">
                                          <p:val>
                                            <p:strVal val="0-#ppt_w/2"/>
                                          </p:val>
                                        </p:tav>
                                        <p:tav tm="100000">
                                          <p:val>
                                            <p:strVal val="#ppt_x"/>
                                          </p:val>
                                        </p:tav>
                                      </p:tavLst>
                                    </p:anim>
                                    <p:anim calcmode="lin" valueType="num">
                                      <p:cBhvr additive="base">
                                        <p:cTn id="16" dur="500" fill="hold"/>
                                        <p:tgtEl>
                                          <p:spTgt spid="153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ldLvl="0" animBg="1"/>
      <p:bldP spid="1536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solidFill>
            <a:srgbClr val="CCFFFF"/>
          </a:solidFill>
        </p:spPr>
        <p:txBody>
          <a:bodyPr vert="horz" wrap="square" lIns="92075" tIns="46038" rIns="92075" bIns="46038" anchor="ctr"/>
          <a:lstStyle/>
          <a:p>
            <a:pPr algn="l" eaLnBrk="1" hangingPunct="1">
              <a:lnSpc>
                <a:spcPct val="140000"/>
              </a:lnSpc>
            </a:pPr>
            <a:r>
              <a:rPr lang="zh-CN" altLang="en-US" sz="2800" b="1" dirty="0">
                <a:solidFill>
                  <a:srgbClr val="800000"/>
                </a:solidFill>
                <a:effectLst/>
                <a:latin typeface="华文中宋" panose="02010600040101010101" pitchFamily="2" charset="-122"/>
                <a:ea typeface="华文中宋" panose="02010600040101010101" pitchFamily="2" charset="-122"/>
              </a:rPr>
              <a:t>中华民族在人类历史上为材料的发展和应用作出过重大贡献。</a:t>
            </a:r>
          </a:p>
        </p:txBody>
      </p:sp>
      <p:sp>
        <p:nvSpPr>
          <p:cNvPr id="17411" name="Rectangle 3"/>
          <p:cNvSpPr>
            <a:spLocks noGrp="1"/>
          </p:cNvSpPr>
          <p:nvPr>
            <p:ph type="body" sz="half" idx="1"/>
          </p:nvPr>
        </p:nvSpPr>
        <p:spPr>
          <a:xfrm>
            <a:off x="381000" y="2057400"/>
            <a:ext cx="4119563" cy="4419600"/>
          </a:xfrm>
        </p:spPr>
        <p:txBody>
          <a:bodyPr vert="horz" wrap="square" lIns="91440" tIns="45720" rIns="91440" bIns="45720" anchor="t"/>
          <a:lstStyle/>
          <a:p>
            <a:pPr eaLnBrk="1" hangingPunct="1">
              <a:lnSpc>
                <a:spcPct val="160000"/>
              </a:lnSpc>
              <a:buClr>
                <a:schemeClr val="accent2"/>
              </a:buClr>
              <a:buSzPct val="80000"/>
              <a:buFont typeface="Wingdings" panose="05000000000000000000" pitchFamily="2" charset="2"/>
            </a:pPr>
            <a:r>
              <a:rPr lang="zh-CN" altLang="en-US" sz="2800" b="1" dirty="0">
                <a:solidFill>
                  <a:schemeClr val="folHlink"/>
                </a:solidFill>
                <a:ea typeface="华文中宋" panose="02010600040101010101" pitchFamily="2" charset="-122"/>
              </a:rPr>
              <a:t>早在公元前</a:t>
            </a:r>
            <a:r>
              <a:rPr lang="zh-CN" altLang="zh-CN" sz="2800" b="1" dirty="0">
                <a:solidFill>
                  <a:schemeClr val="folHlink"/>
                </a:solidFill>
                <a:ea typeface="华文中宋" panose="02010600040101010101" pitchFamily="2" charset="-122"/>
              </a:rPr>
              <a:t>6000~ 5000</a:t>
            </a:r>
            <a:r>
              <a:rPr lang="zh-CN" altLang="en-US" sz="2800" b="1" dirty="0">
                <a:solidFill>
                  <a:schemeClr val="folHlink"/>
                </a:solidFill>
                <a:ea typeface="华文中宋" panose="02010600040101010101" pitchFamily="2" charset="-122"/>
              </a:rPr>
              <a:t>年的新石器时代，中华民族的先人就能用黏土烧制成陶器，到东汉时期又出现了瓷器，并流传海外。 </a:t>
            </a:r>
          </a:p>
        </p:txBody>
      </p:sp>
      <p:pic>
        <p:nvPicPr>
          <p:cNvPr id="17412" name="Picture 4" descr="陶罐"/>
          <p:cNvPicPr>
            <a:picLocks noGrp="1" noChangeAspect="1"/>
          </p:cNvPicPr>
          <p:nvPr>
            <p:ph type="clipArt" sz="half" idx="2"/>
          </p:nvPr>
        </p:nvPicPr>
        <p:blipFill>
          <a:blip r:embed="rId2"/>
          <a:stretch>
            <a:fillRect/>
          </a:stretch>
        </p:blipFill>
        <p:spPr>
          <a:xfrm>
            <a:off x="4648200" y="2514600"/>
            <a:ext cx="3810000" cy="3243263"/>
          </a:xfrm>
          <a:ln w="38100">
            <a:solidFill>
              <a:srgbClr val="FF0000"/>
            </a:solidFill>
            <a:miter/>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left)">
                                      <p:cBhvr>
                                        <p:cTn id="7" dur="500"/>
                                        <p:tgtEl>
                                          <p:spTgt spid="174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411">
                                            <p:txEl>
                                              <p:pRg st="0" end="0"/>
                                            </p:txEl>
                                          </p:spTgt>
                                        </p:tgtEl>
                                        <p:attrNameLst>
                                          <p:attrName>style.visibility</p:attrName>
                                        </p:attrNameLst>
                                      </p:cBhvr>
                                      <p:to>
                                        <p:strVal val="visible"/>
                                      </p:to>
                                    </p:set>
                                    <p:animEffect transition="in" filter="wipe(left)">
                                      <p:cBhvr>
                                        <p:cTn id="11" dur="500"/>
                                        <p:tgtEl>
                                          <p:spTgt spid="17411">
                                            <p:txEl>
                                              <p:pRg st="0" end="0"/>
                                            </p:txEl>
                                          </p:spTgt>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17412"/>
                                        </p:tgtEl>
                                        <p:attrNameLst>
                                          <p:attrName>style.visibility</p:attrName>
                                        </p:attrNameLst>
                                      </p:cBhvr>
                                      <p:to>
                                        <p:strVal val="visible"/>
                                      </p:to>
                                    </p:set>
                                    <p:anim calcmode="lin" valueType="num">
                                      <p:cBhvr>
                                        <p:cTn id="15" dur="500" fill="hold"/>
                                        <p:tgtEl>
                                          <p:spTgt spid="17412"/>
                                        </p:tgtEl>
                                        <p:attrNameLst>
                                          <p:attrName>ppt_w</p:attrName>
                                        </p:attrNameLst>
                                      </p:cBhvr>
                                      <p:tavLst>
                                        <p:tav tm="0">
                                          <p:val>
                                            <p:fltVal val="0"/>
                                          </p:val>
                                        </p:tav>
                                        <p:tav tm="100000">
                                          <p:val>
                                            <p:strVal val="#ppt_w"/>
                                          </p:val>
                                        </p:tav>
                                      </p:tavLst>
                                    </p:anim>
                                    <p:anim calcmode="lin" valueType="num">
                                      <p:cBhvr>
                                        <p:cTn id="16" dur="500" fill="hold"/>
                                        <p:tgtEl>
                                          <p:spTgt spid="174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ldLvl="0" animBg="1"/>
      <p:bldP spid="17411" grpId="0" build="p" advAuto="100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304800"/>
            <a:ext cx="8534400" cy="1219200"/>
          </a:xfrm>
        </p:spPr>
        <p:txBody>
          <a:bodyPr vert="horz" wrap="square" lIns="92075" tIns="46038" rIns="92075" bIns="46038" numCol="1" anchor="ctr"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4000</a:t>
            </a:r>
            <a:r>
              <a:rPr kumimoji="0" 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年前的夏朝我们的祖先已经能够炼铜，到殷、商时期，我国的青铜冶炼和铸造技术已达到很高水平。</a:t>
            </a:r>
            <a:r>
              <a:rPr kumimoji="0" 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隶书" panose="02010509060101010101" pitchFamily="49" charset="-122"/>
                <a:cs typeface="+mj-cs"/>
              </a:rPr>
              <a:t> </a:t>
            </a:r>
          </a:p>
        </p:txBody>
      </p:sp>
      <p:sp>
        <p:nvSpPr>
          <p:cNvPr id="18435" name="Rectangle 3"/>
          <p:cNvSpPr>
            <a:spLocks noGrp="1"/>
          </p:cNvSpPr>
          <p:nvPr>
            <p:ph type="body" sz="half" idx="1"/>
          </p:nvPr>
        </p:nvSpPr>
        <p:spPr>
          <a:xfrm>
            <a:off x="457200" y="1752600"/>
            <a:ext cx="3810000" cy="4495800"/>
          </a:xfrm>
        </p:spPr>
        <p:txBody>
          <a:bodyPr vert="horz" wrap="square" lIns="91440" tIns="45720" rIns="91440" bIns="45720" anchor="t"/>
          <a:lstStyle/>
          <a:p>
            <a:pPr eaLnBrk="1" hangingPunct="1">
              <a:spcBef>
                <a:spcPct val="50000"/>
              </a:spcBef>
              <a:buClrTx/>
              <a:buSzTx/>
              <a:buFont typeface="Wingdings" panose="05000000000000000000" pitchFamily="2" charset="2"/>
              <a:buNone/>
            </a:pPr>
            <a:r>
              <a:rPr lang="zh-CN" altLang="en-US" sz="4000" b="1" dirty="0">
                <a:solidFill>
                  <a:schemeClr val="tx2"/>
                </a:solidFill>
                <a:ea typeface="隶书" panose="02010509060101010101" pitchFamily="49" charset="-122"/>
              </a:rPr>
              <a:t>司母戊鼎</a:t>
            </a:r>
            <a:endParaRPr lang="zh-CN" altLang="en-US" sz="4000" b="1" dirty="0">
              <a:solidFill>
                <a:schemeClr val="folHlink"/>
              </a:solidFill>
              <a:ea typeface="隶书" panose="02010509060101010101" pitchFamily="49" charset="-122"/>
            </a:endParaRPr>
          </a:p>
          <a:p>
            <a:pPr eaLnBrk="1" hangingPunct="1">
              <a:lnSpc>
                <a:spcPct val="125000"/>
              </a:lnSpc>
              <a:spcBef>
                <a:spcPct val="50000"/>
              </a:spcBef>
              <a:buClrTx/>
              <a:buSzTx/>
              <a:buFont typeface="Wingdings" panose="05000000000000000000" pitchFamily="2" charset="2"/>
              <a:buNone/>
            </a:pPr>
            <a:r>
              <a:rPr lang="zh-CN" altLang="en-US" sz="2800" b="1" dirty="0">
                <a:solidFill>
                  <a:srgbClr val="CCFF33"/>
                </a:solidFill>
                <a:ea typeface="华文中宋" panose="02010600040101010101" pitchFamily="2" charset="-122"/>
              </a:rPr>
              <a:t>河南安阳晚商遗址出土</a:t>
            </a:r>
          </a:p>
          <a:p>
            <a:pPr eaLnBrk="1" hangingPunct="1">
              <a:lnSpc>
                <a:spcPct val="125000"/>
              </a:lnSpc>
              <a:spcBef>
                <a:spcPct val="50000"/>
              </a:spcBef>
              <a:buClrTx/>
              <a:buSzTx/>
              <a:buFont typeface="Wingdings" panose="05000000000000000000" pitchFamily="2" charset="2"/>
              <a:buNone/>
            </a:pPr>
            <a:r>
              <a:rPr lang="zh-CN" altLang="en-US" sz="2800" b="1" dirty="0">
                <a:solidFill>
                  <a:srgbClr val="CCFF33"/>
                </a:solidFill>
                <a:ea typeface="华文中宋" panose="02010600040101010101" pitchFamily="2" charset="-122"/>
              </a:rPr>
              <a:t>青铜铸造</a:t>
            </a:r>
          </a:p>
          <a:p>
            <a:pPr eaLnBrk="1" hangingPunct="1">
              <a:lnSpc>
                <a:spcPct val="125000"/>
              </a:lnSpc>
              <a:spcBef>
                <a:spcPct val="50000"/>
              </a:spcBef>
              <a:buClrTx/>
              <a:buSzTx/>
              <a:buFont typeface="Wingdings" panose="05000000000000000000" pitchFamily="2" charset="2"/>
              <a:buNone/>
            </a:pPr>
            <a:r>
              <a:rPr lang="zh-CN" altLang="en-US" sz="2800" b="1" dirty="0">
                <a:solidFill>
                  <a:srgbClr val="CCFF33"/>
                </a:solidFill>
                <a:ea typeface="华文中宋" panose="02010600040101010101" pitchFamily="2" charset="-122"/>
              </a:rPr>
              <a:t>高</a:t>
            </a:r>
            <a:r>
              <a:rPr lang="zh-CN" altLang="zh-CN" sz="2800" b="1" dirty="0">
                <a:solidFill>
                  <a:srgbClr val="CCFF33"/>
                </a:solidFill>
                <a:ea typeface="华文中宋" panose="02010600040101010101" pitchFamily="2" charset="-122"/>
              </a:rPr>
              <a:t>133</a:t>
            </a:r>
            <a:r>
              <a:rPr lang="zh-CN" altLang="en-US" sz="2800" b="1" dirty="0">
                <a:solidFill>
                  <a:srgbClr val="CCFF33"/>
                </a:solidFill>
                <a:ea typeface="华文中宋" panose="02010600040101010101" pitchFamily="2" charset="-122"/>
              </a:rPr>
              <a:t>厘米 </a:t>
            </a:r>
          </a:p>
          <a:p>
            <a:pPr eaLnBrk="1" hangingPunct="1">
              <a:lnSpc>
                <a:spcPct val="125000"/>
              </a:lnSpc>
              <a:spcBef>
                <a:spcPct val="50000"/>
              </a:spcBef>
              <a:buClrTx/>
              <a:buSzTx/>
              <a:buFont typeface="Wingdings" panose="05000000000000000000" pitchFamily="2" charset="2"/>
              <a:buNone/>
            </a:pPr>
            <a:r>
              <a:rPr lang="zh-CN" altLang="en-US" sz="2800" b="1" dirty="0">
                <a:solidFill>
                  <a:srgbClr val="CCFF33"/>
                </a:solidFill>
                <a:ea typeface="华文中宋" panose="02010600040101010101" pitchFamily="2" charset="-122"/>
              </a:rPr>
              <a:t>重</a:t>
            </a:r>
            <a:r>
              <a:rPr lang="zh-CN" altLang="zh-CN" sz="2800" b="1" dirty="0">
                <a:solidFill>
                  <a:srgbClr val="CCFF33"/>
                </a:solidFill>
                <a:ea typeface="华文中宋" panose="02010600040101010101" pitchFamily="2" charset="-122"/>
              </a:rPr>
              <a:t>875kg</a:t>
            </a:r>
          </a:p>
          <a:p>
            <a:pPr eaLnBrk="1" hangingPunct="1">
              <a:lnSpc>
                <a:spcPct val="125000"/>
              </a:lnSpc>
              <a:spcBef>
                <a:spcPct val="50000"/>
              </a:spcBef>
              <a:buClrTx/>
              <a:buSzTx/>
              <a:buFont typeface="Wingdings" panose="05000000000000000000" pitchFamily="2" charset="2"/>
              <a:buNone/>
            </a:pPr>
            <a:r>
              <a:rPr lang="zh-CN" altLang="en-US" sz="2800" b="1" dirty="0">
                <a:solidFill>
                  <a:srgbClr val="CCFF33"/>
                </a:solidFill>
                <a:ea typeface="华文中宋" panose="02010600040101010101" pitchFamily="2" charset="-122"/>
              </a:rPr>
              <a:t>饰纹优美</a:t>
            </a:r>
          </a:p>
        </p:txBody>
      </p:sp>
      <p:pic>
        <p:nvPicPr>
          <p:cNvPr id="18436" name="Picture 4" descr="司母戊鼎"/>
          <p:cNvPicPr>
            <a:picLocks noGrp="1" noChangeAspect="1"/>
          </p:cNvPicPr>
          <p:nvPr>
            <p:ph type="clipArt" sz="half" idx="2"/>
          </p:nvPr>
        </p:nvPicPr>
        <p:blipFill>
          <a:blip r:embed="rId2"/>
          <a:stretch>
            <a:fillRect/>
          </a:stretch>
        </p:blipFill>
        <p:spPr>
          <a:xfrm>
            <a:off x="4648200" y="2057400"/>
            <a:ext cx="3810000" cy="3995738"/>
          </a:xfrm>
          <a:ln w="38100">
            <a:solidFill>
              <a:srgbClr val="FF6600"/>
            </a:solidFill>
            <a:miter/>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35">
                                            <p:txEl>
                                              <p:pRg st="0" end="0"/>
                                            </p:txEl>
                                          </p:spTgt>
                                        </p:tgtEl>
                                        <p:attrNameLst>
                                          <p:attrName>style.visibility</p:attrName>
                                        </p:attrNameLst>
                                      </p:cBhvr>
                                      <p:to>
                                        <p:strVal val="visible"/>
                                      </p:to>
                                    </p:set>
                                    <p:animEffect transition="in" filter="wipe(left)">
                                      <p:cBhvr>
                                        <p:cTn id="11" dur="500"/>
                                        <p:tgtEl>
                                          <p:spTgt spid="18435">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435">
                                            <p:txEl>
                                              <p:pRg st="1" end="1"/>
                                            </p:txEl>
                                          </p:spTgt>
                                        </p:tgtEl>
                                        <p:attrNameLst>
                                          <p:attrName>style.visibility</p:attrName>
                                        </p:attrNameLst>
                                      </p:cBhvr>
                                      <p:to>
                                        <p:strVal val="visible"/>
                                      </p:to>
                                    </p:set>
                                    <p:animEffect transition="in" filter="wipe(left)">
                                      <p:cBhvr>
                                        <p:cTn id="15" dur="500"/>
                                        <p:tgtEl>
                                          <p:spTgt spid="18435">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Effect transition="in" filter="wipe(left)">
                                      <p:cBhvr>
                                        <p:cTn id="19" dur="500"/>
                                        <p:tgtEl>
                                          <p:spTgt spid="18435">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8435">
                                            <p:txEl>
                                              <p:pRg st="3" end="3"/>
                                            </p:txEl>
                                          </p:spTgt>
                                        </p:tgtEl>
                                        <p:attrNameLst>
                                          <p:attrName>style.visibility</p:attrName>
                                        </p:attrNameLst>
                                      </p:cBhvr>
                                      <p:to>
                                        <p:strVal val="visible"/>
                                      </p:to>
                                    </p:set>
                                    <p:animEffect transition="in" filter="wipe(left)">
                                      <p:cBhvr>
                                        <p:cTn id="23" dur="500"/>
                                        <p:tgtEl>
                                          <p:spTgt spid="18435">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wipe(left)">
                                      <p:cBhvr>
                                        <p:cTn id="27" dur="500"/>
                                        <p:tgtEl>
                                          <p:spTgt spid="18435">
                                            <p:txEl>
                                              <p:pRg st="4" end="4"/>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8435">
                                            <p:txEl>
                                              <p:pRg st="5" end="5"/>
                                            </p:txEl>
                                          </p:spTgt>
                                        </p:tgtEl>
                                        <p:attrNameLst>
                                          <p:attrName>style.visibility</p:attrName>
                                        </p:attrNameLst>
                                      </p:cBhvr>
                                      <p:to>
                                        <p:strVal val="visible"/>
                                      </p:to>
                                    </p:set>
                                    <p:animEffect transition="in" filter="wipe(left)">
                                      <p:cBhvr>
                                        <p:cTn id="31" dur="500"/>
                                        <p:tgtEl>
                                          <p:spTgt spid="18435">
                                            <p:txEl>
                                              <p:pRg st="5" end="5"/>
                                            </p:txEl>
                                          </p:spTgt>
                                        </p:tgtEl>
                                      </p:cBhvr>
                                    </p:animEffect>
                                  </p:childTnLst>
                                </p:cTn>
                              </p:par>
                            </p:childTnLst>
                          </p:cTn>
                        </p:par>
                        <p:par>
                          <p:cTn id="32" fill="hold">
                            <p:stCondLst>
                              <p:cond delay="3500"/>
                            </p:stCondLst>
                            <p:childTnLst>
                              <p:par>
                                <p:cTn id="33" presetID="23" presetClass="entr" presetSubtype="16" fill="hold" nodeType="afterEffect">
                                  <p:stCondLst>
                                    <p:cond delay="0"/>
                                  </p:stCondLst>
                                  <p:childTnLst>
                                    <p:set>
                                      <p:cBhvr>
                                        <p:cTn id="34" dur="1" fill="hold">
                                          <p:stCondLst>
                                            <p:cond delay="0"/>
                                          </p:stCondLst>
                                        </p:cTn>
                                        <p:tgtEl>
                                          <p:spTgt spid="18436"/>
                                        </p:tgtEl>
                                        <p:attrNameLst>
                                          <p:attrName>style.visibility</p:attrName>
                                        </p:attrNameLst>
                                      </p:cBhvr>
                                      <p:to>
                                        <p:strVal val="visible"/>
                                      </p:to>
                                    </p:set>
                                    <p:anim calcmode="lin" valueType="num">
                                      <p:cBhvr>
                                        <p:cTn id="35" dur="500" fill="hold"/>
                                        <p:tgtEl>
                                          <p:spTgt spid="18436"/>
                                        </p:tgtEl>
                                        <p:attrNameLst>
                                          <p:attrName>ppt_w</p:attrName>
                                        </p:attrNameLst>
                                      </p:cBhvr>
                                      <p:tavLst>
                                        <p:tav tm="0">
                                          <p:val>
                                            <p:fltVal val="0"/>
                                          </p:val>
                                        </p:tav>
                                        <p:tav tm="100000">
                                          <p:val>
                                            <p:strVal val="#ppt_w"/>
                                          </p:val>
                                        </p:tav>
                                      </p:tavLst>
                                    </p:anim>
                                    <p:anim calcmode="lin" valueType="num">
                                      <p:cBhvr>
                                        <p:cTn id="36" dur="500" fill="hold"/>
                                        <p:tgtEl>
                                          <p:spTgt spid="184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ldLvl="0" animBg="1"/>
      <p:bldP spid="18435" grpId="0" build="p" advAuto="100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000CC"/>
            </a:gs>
          </a:gsLst>
          <a:lin ang="0" scaled="1"/>
          <a:tileRect/>
        </a:gra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62000" y="609600"/>
            <a:ext cx="4114800" cy="11430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40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隶书" panose="02010509060101010101" pitchFamily="49" charset="-122"/>
                <a:cs typeface="+mj-cs"/>
              </a:rPr>
              <a:t>越王勾践剑</a:t>
            </a:r>
          </a:p>
        </p:txBody>
      </p:sp>
      <p:sp>
        <p:nvSpPr>
          <p:cNvPr id="19459" name="Text Box 3"/>
          <p:cNvSpPr txBox="1"/>
          <p:nvPr/>
        </p:nvSpPr>
        <p:spPr>
          <a:xfrm>
            <a:off x="762000" y="1676400"/>
            <a:ext cx="3962400" cy="4362450"/>
          </a:xfrm>
          <a:prstGeom prst="rect">
            <a:avLst/>
          </a:prstGeom>
          <a:noFill/>
          <a:ln w="9525">
            <a:noFill/>
          </a:ln>
        </p:spPr>
        <p:txBody>
          <a:bodyPr anchor="t">
            <a:spAutoFit/>
          </a:bodyPr>
          <a:lstStyle/>
          <a:p>
            <a:pPr>
              <a:lnSpc>
                <a:spcPct val="160000"/>
              </a:lnSpc>
              <a:spcBef>
                <a:spcPct val="50000"/>
              </a:spcBef>
            </a:pPr>
            <a:r>
              <a:rPr lang="zh-CN" altLang="en-US" sz="2800" b="1" dirty="0">
                <a:solidFill>
                  <a:schemeClr val="folHlink"/>
                </a:solidFill>
                <a:latin typeface="Times New Roman" panose="02020603050405020304" pitchFamily="18" charset="0"/>
                <a:ea typeface="华文中宋" panose="02010600040101010101" pitchFamily="2" charset="-122"/>
              </a:rPr>
              <a:t>春秋晚期越国青铜兵器</a:t>
            </a:r>
          </a:p>
          <a:p>
            <a:pPr>
              <a:lnSpc>
                <a:spcPct val="160000"/>
              </a:lnSpc>
              <a:spcBef>
                <a:spcPct val="50000"/>
              </a:spcBef>
            </a:pPr>
            <a:r>
              <a:rPr lang="zh-CN" altLang="en-US" sz="2800" b="1" dirty="0">
                <a:solidFill>
                  <a:schemeClr val="folHlink"/>
                </a:solidFill>
                <a:latin typeface="Times New Roman" panose="02020603050405020304" pitchFamily="18" charset="0"/>
                <a:ea typeface="华文中宋" panose="02010600040101010101" pitchFamily="2" charset="-122"/>
              </a:rPr>
              <a:t>出土于湖北江陵楚墓 </a:t>
            </a:r>
          </a:p>
          <a:p>
            <a:pPr>
              <a:lnSpc>
                <a:spcPct val="160000"/>
              </a:lnSpc>
              <a:spcBef>
                <a:spcPct val="50000"/>
              </a:spcBef>
            </a:pPr>
            <a:r>
              <a:rPr lang="zh-CN" altLang="en-US" sz="2800" b="1" dirty="0">
                <a:solidFill>
                  <a:schemeClr val="folHlink"/>
                </a:solidFill>
                <a:latin typeface="Times New Roman" panose="02020603050405020304" pitchFamily="18" charset="0"/>
                <a:ea typeface="华文中宋" panose="02010600040101010101" pitchFamily="2" charset="-122"/>
              </a:rPr>
              <a:t>长</a:t>
            </a:r>
            <a:r>
              <a:rPr lang="zh-CN" altLang="zh-CN" sz="2800" b="1" dirty="0">
                <a:solidFill>
                  <a:schemeClr val="folHlink"/>
                </a:solidFill>
                <a:latin typeface="Times New Roman" panose="02020603050405020304" pitchFamily="18" charset="0"/>
                <a:ea typeface="华文中宋" panose="02010600040101010101" pitchFamily="2" charset="-122"/>
              </a:rPr>
              <a:t>55.7</a:t>
            </a:r>
            <a:r>
              <a:rPr lang="zh-CN" altLang="en-US" sz="2800" b="1" dirty="0">
                <a:solidFill>
                  <a:schemeClr val="folHlink"/>
                </a:solidFill>
                <a:latin typeface="Times New Roman" panose="02020603050405020304" pitchFamily="18" charset="0"/>
                <a:ea typeface="华文中宋" panose="02010600040101010101" pitchFamily="2" charset="-122"/>
              </a:rPr>
              <a:t>厘米 </a:t>
            </a:r>
          </a:p>
          <a:p>
            <a:pPr>
              <a:lnSpc>
                <a:spcPct val="160000"/>
              </a:lnSpc>
              <a:spcBef>
                <a:spcPct val="50000"/>
              </a:spcBef>
            </a:pPr>
            <a:r>
              <a:rPr lang="zh-CN" altLang="en-US" sz="2800" b="1" dirty="0">
                <a:solidFill>
                  <a:schemeClr val="folHlink"/>
                </a:solidFill>
                <a:latin typeface="Times New Roman" panose="02020603050405020304" pitchFamily="18" charset="0"/>
                <a:ea typeface="华文中宋" panose="02010600040101010101" pitchFamily="2" charset="-122"/>
              </a:rPr>
              <a:t>剑锷锋芒犀利</a:t>
            </a:r>
          </a:p>
          <a:p>
            <a:pPr>
              <a:lnSpc>
                <a:spcPct val="160000"/>
              </a:lnSpc>
              <a:spcBef>
                <a:spcPct val="50000"/>
              </a:spcBef>
            </a:pPr>
            <a:r>
              <a:rPr lang="zh-CN" altLang="en-US" sz="2800" b="1" dirty="0">
                <a:solidFill>
                  <a:schemeClr val="folHlink"/>
                </a:solidFill>
                <a:latin typeface="Times New Roman" panose="02020603050405020304" pitchFamily="18" charset="0"/>
                <a:ea typeface="华文中宋" panose="02010600040101010101" pitchFamily="2" charset="-122"/>
              </a:rPr>
              <a:t>锋能割断头发 </a:t>
            </a:r>
          </a:p>
        </p:txBody>
      </p:sp>
      <p:pic>
        <p:nvPicPr>
          <p:cNvPr id="19460" name="Picture 4" descr="勾践剑1"/>
          <p:cNvPicPr>
            <a:picLocks noChangeAspect="1"/>
          </p:cNvPicPr>
          <p:nvPr/>
        </p:nvPicPr>
        <p:blipFill>
          <a:blip r:embed="rId2"/>
          <a:stretch>
            <a:fillRect/>
          </a:stretch>
        </p:blipFill>
        <p:spPr>
          <a:xfrm>
            <a:off x="5029200" y="381000"/>
            <a:ext cx="3505200" cy="6115050"/>
          </a:xfrm>
          <a:prstGeom prst="rect">
            <a:avLst/>
          </a:prstGeom>
          <a:noFill/>
          <a:ln w="38100" cap="flat" cmpd="sng">
            <a:solidFill>
              <a:srgbClr val="FF6600"/>
            </a:solidFill>
            <a:prstDash val="solid"/>
            <a:miter/>
            <a:headEnd type="none" w="med" len="med"/>
            <a:tailEnd type="none" w="med" len="me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wipe(left)">
                                      <p:cBhvr>
                                        <p:cTn id="7" dur="500"/>
                                        <p:tgtEl>
                                          <p:spTgt spid="1945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9459"/>
                                        </p:tgtEl>
                                        <p:attrNameLst>
                                          <p:attrName>style.visibility</p:attrName>
                                        </p:attrNameLst>
                                      </p:cBhvr>
                                      <p:to>
                                        <p:strVal val="visible"/>
                                      </p:to>
                                    </p:set>
                                    <p:animEffect transition="in" filter="wipe(left)">
                                      <p:cBhvr>
                                        <p:cTn id="11" dur="500"/>
                                        <p:tgtEl>
                                          <p:spTgt spid="1945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9460"/>
                                        </p:tgtEl>
                                        <p:attrNameLst>
                                          <p:attrName>style.visibility</p:attrName>
                                        </p:attrNameLst>
                                      </p:cBhvr>
                                      <p:to>
                                        <p:strVal val="visible"/>
                                      </p:to>
                                    </p:set>
                                    <p:animEffect transition="in" filter="wipe(up)">
                                      <p:cBhvr>
                                        <p:cTn id="15"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ldLvl="0" animBg="1"/>
      <p:bldP spid="194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85800" y="381000"/>
            <a:ext cx="7772400" cy="8382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古代剑刃制造中的特殊技术</a:t>
            </a:r>
          </a:p>
        </p:txBody>
      </p:sp>
      <p:grpSp>
        <p:nvGrpSpPr>
          <p:cNvPr id="2" name="Group 3"/>
          <p:cNvGrpSpPr/>
          <p:nvPr/>
        </p:nvGrpSpPr>
        <p:grpSpPr>
          <a:xfrm>
            <a:off x="533400" y="1524000"/>
            <a:ext cx="8123238" cy="5064125"/>
            <a:chOff x="0" y="0"/>
            <a:chExt cx="5117" cy="3190"/>
          </a:xfrm>
        </p:grpSpPr>
        <p:grpSp>
          <p:nvGrpSpPr>
            <p:cNvPr id="20483" name="Group 4"/>
            <p:cNvGrpSpPr/>
            <p:nvPr/>
          </p:nvGrpSpPr>
          <p:grpSpPr>
            <a:xfrm>
              <a:off x="0" y="0"/>
              <a:ext cx="3711" cy="3187"/>
              <a:chOff x="0" y="0"/>
              <a:chExt cx="3711" cy="3187"/>
            </a:xfrm>
          </p:grpSpPr>
          <p:pic>
            <p:nvPicPr>
              <p:cNvPr id="20484" name="Picture 5" descr="525a"/>
              <p:cNvPicPr>
                <a:picLocks noChangeAspect="1"/>
              </p:cNvPicPr>
              <p:nvPr/>
            </p:nvPicPr>
            <p:blipFill>
              <a:blip r:embed="rId2"/>
              <a:stretch>
                <a:fillRect/>
              </a:stretch>
            </p:blipFill>
            <p:spPr>
              <a:xfrm>
                <a:off x="0" y="0"/>
                <a:ext cx="3711" cy="3187"/>
              </a:xfrm>
              <a:prstGeom prst="rect">
                <a:avLst/>
              </a:prstGeom>
              <a:noFill/>
              <a:ln w="38100" cap="flat" cmpd="sng">
                <a:solidFill>
                  <a:srgbClr val="FF00FF"/>
                </a:solidFill>
                <a:prstDash val="solid"/>
                <a:miter/>
                <a:headEnd type="none" w="med" len="med"/>
                <a:tailEnd type="none" w="med" len="med"/>
              </a:ln>
            </p:spPr>
          </p:pic>
          <p:sp>
            <p:nvSpPr>
              <p:cNvPr id="20486" name="Rectangle 6"/>
              <p:cNvSpPr>
                <a:spLocks noChangeArrowheads="1"/>
              </p:cNvSpPr>
              <p:nvPr/>
            </p:nvSpPr>
            <p:spPr bwMode="auto">
              <a:xfrm>
                <a:off x="2016" y="576"/>
                <a:ext cx="1584" cy="2256"/>
              </a:xfrm>
              <a:prstGeom prst="rect">
                <a:avLst/>
              </a:prstGeom>
              <a:solidFill>
                <a:schemeClr val="tx1"/>
              </a:solidFill>
              <a:ln w="9525" cmpd="sng">
                <a:solidFill>
                  <a:schemeClr val="tx1"/>
                </a:solidFill>
                <a:miter lim="800000"/>
              </a:ln>
              <a:effectLst/>
            </p:spPr>
            <p:txBody>
              <a:bodyPr wrap="none" anchor="ct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sz="24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春秋战国时代的</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sz="24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青铜剑，剑身及</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sz="24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剑锋由不同成分</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sz="24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的青铜组成，是</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sz="24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复合材料很好的</a:t>
                </a:r>
              </a:p>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sz="24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例子</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grpSp>
          <p:nvGrpSpPr>
            <p:cNvPr id="3" name="Group 7"/>
            <p:cNvGrpSpPr/>
            <p:nvPr/>
          </p:nvGrpSpPr>
          <p:grpSpPr>
            <a:xfrm>
              <a:off x="3916" y="0"/>
              <a:ext cx="1201" cy="3190"/>
              <a:chOff x="0" y="0"/>
              <a:chExt cx="1201" cy="3190"/>
            </a:xfrm>
          </p:grpSpPr>
          <p:pic>
            <p:nvPicPr>
              <p:cNvPr id="20487" name="Picture 8" descr="旋转 古代剑刃截面图"/>
              <p:cNvPicPr>
                <a:picLocks noChangeAspect="1"/>
              </p:cNvPicPr>
              <p:nvPr/>
            </p:nvPicPr>
            <p:blipFill>
              <a:blip r:embed="rId3"/>
              <a:stretch>
                <a:fillRect/>
              </a:stretch>
            </p:blipFill>
            <p:spPr>
              <a:xfrm>
                <a:off x="20" y="0"/>
                <a:ext cx="1181" cy="3190"/>
              </a:xfrm>
              <a:prstGeom prst="rect">
                <a:avLst/>
              </a:prstGeom>
              <a:noFill/>
              <a:ln w="38100" cap="flat" cmpd="sng">
                <a:solidFill>
                  <a:srgbClr val="FF00FF"/>
                </a:solidFill>
                <a:prstDash val="solid"/>
                <a:miter/>
                <a:headEnd type="none" w="med" len="med"/>
                <a:tailEnd type="none" w="med" len="med"/>
              </a:ln>
            </p:spPr>
          </p:pic>
          <p:sp>
            <p:nvSpPr>
              <p:cNvPr id="20488" name="Text Box 9"/>
              <p:cNvSpPr txBox="1"/>
              <p:nvPr/>
            </p:nvSpPr>
            <p:spPr>
              <a:xfrm>
                <a:off x="0" y="48"/>
                <a:ext cx="308" cy="1392"/>
              </a:xfrm>
              <a:prstGeom prst="rect">
                <a:avLst/>
              </a:prstGeom>
              <a:noFill/>
              <a:ln w="9525">
                <a:noFill/>
              </a:ln>
            </p:spPr>
            <p:txBody>
              <a:bodyPr vert="eaVert" anchor="t">
                <a:spAutoFit/>
              </a:bodyPr>
              <a:lstStyle/>
              <a:p>
                <a:pP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梯度材料古已有之</a:t>
                </a:r>
              </a:p>
            </p:txBody>
          </p:sp>
          <p:sp>
            <p:nvSpPr>
              <p:cNvPr id="20489" name="Text Box 10"/>
              <p:cNvSpPr txBox="1"/>
              <p:nvPr/>
            </p:nvSpPr>
            <p:spPr>
              <a:xfrm>
                <a:off x="884" y="96"/>
                <a:ext cx="308" cy="1584"/>
              </a:xfrm>
              <a:prstGeom prst="rect">
                <a:avLst/>
              </a:prstGeom>
              <a:noFill/>
              <a:ln w="9525">
                <a:noFill/>
              </a:ln>
            </p:spPr>
            <p:txBody>
              <a:bodyPr vert="eaVert" anchor="t">
                <a:spAutoFit/>
              </a:bodyPr>
              <a:lstStyle/>
              <a:p>
                <a:pP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这是古代剑刃截面图</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wipe(left)">
                                      <p:cBhvr>
                                        <p:cTn id="7" dur="500"/>
                                        <p:tgtEl>
                                          <p:spTgt spid="2048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52450" y="228600"/>
            <a:ext cx="8077200" cy="2590800"/>
          </a:xfrm>
        </p:spPr>
        <p:txBody>
          <a:bodyPr vert="horz" wrap="square" lIns="92075" tIns="46038" rIns="92075" bIns="46038" numCol="1" anchor="ctr"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我国从春秋战国时期便开始大量使用铁器，明朝科学家宋应星在</a:t>
            </a:r>
            <a:r>
              <a:rPr kumimoji="0" lang="zh-CN" alt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a:t>
            </a:r>
            <a:r>
              <a:rPr kumimoji="0" 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天工开物</a:t>
            </a:r>
            <a:r>
              <a:rPr kumimoji="0" lang="zh-CN" alt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a:t>
            </a:r>
            <a:r>
              <a:rPr kumimoji="0" 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一书中就记载了古代的渗碳热处理等工艺。这说明早在欧洲工业革命之前</a:t>
            </a:r>
            <a:r>
              <a:rPr kumimoji="0" lang="zh-CN" alt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a:t>
            </a:r>
            <a:r>
              <a:rPr kumimoji="0" 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我国在金属材料及热处</a:t>
            </a:r>
            <a:r>
              <a:rPr kumimoji="0" lang="zh-CN" sz="2800" b="1" i="0" u="none" strike="noStrike" kern="0" cap="none" spc="0" normalizeH="0" baseline="0" noProof="0">
                <a:ln>
                  <a:noFill/>
                </a:ln>
                <a:solidFill>
                  <a:schemeClr val="folHlink"/>
                </a:solidFill>
                <a:effectLst/>
                <a:uLnTx/>
                <a:uFillTx/>
                <a:latin typeface="宋体" panose="02010600030101010101" pitchFamily="2" charset="-122"/>
                <a:ea typeface="华文中宋" panose="02010600040101010101" pitchFamily="2" charset="-122"/>
                <a:cs typeface="+mj-cs"/>
              </a:rPr>
              <a:t>理方面就已经有了较高成就</a:t>
            </a:r>
            <a:r>
              <a:rPr kumimoji="0" lang="zh-CN" altLang="zh-CN" sz="2800" b="1" i="0" u="none" strike="noStrike" kern="0" cap="none" spc="0" normalizeH="0" baseline="0" noProof="0">
                <a:ln>
                  <a:noFill/>
                </a:ln>
                <a:solidFill>
                  <a:schemeClr val="folHlink"/>
                </a:solidFill>
                <a:effectLst/>
                <a:uLnTx/>
                <a:uFillTx/>
                <a:latin typeface="宋体" panose="02010600030101010101" pitchFamily="2" charset="-122"/>
                <a:ea typeface="华文中宋" panose="02010600040101010101" pitchFamily="2" charset="-122"/>
                <a:cs typeface="+mj-cs"/>
              </a:rPr>
              <a:t>.</a:t>
            </a:r>
            <a:r>
              <a:rPr kumimoji="0" lang="zh-CN" altLang="zh-CN" sz="28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行楷" panose="02010800040101010101" pitchFamily="2" charset="-122"/>
                <a:cs typeface="+mj-cs"/>
              </a:rPr>
              <a:t> </a:t>
            </a:r>
          </a:p>
        </p:txBody>
      </p:sp>
      <p:grpSp>
        <p:nvGrpSpPr>
          <p:cNvPr id="2" name="Group 3"/>
          <p:cNvGrpSpPr>
            <a:grpSpLocks noChangeAspect="1"/>
          </p:cNvGrpSpPr>
          <p:nvPr/>
        </p:nvGrpSpPr>
        <p:grpSpPr>
          <a:xfrm>
            <a:off x="762000" y="3105150"/>
            <a:ext cx="7723188" cy="3454400"/>
            <a:chOff x="0" y="0"/>
            <a:chExt cx="4865" cy="2176"/>
          </a:xfrm>
        </p:grpSpPr>
        <p:grpSp>
          <p:nvGrpSpPr>
            <p:cNvPr id="22531" name="Group 4"/>
            <p:cNvGrpSpPr>
              <a:grpSpLocks noChangeAspect="1"/>
            </p:cNvGrpSpPr>
            <p:nvPr/>
          </p:nvGrpSpPr>
          <p:grpSpPr>
            <a:xfrm>
              <a:off x="2448" y="17"/>
              <a:ext cx="2417" cy="2155"/>
              <a:chOff x="0" y="0"/>
              <a:chExt cx="2417" cy="2155"/>
            </a:xfrm>
          </p:grpSpPr>
          <p:pic>
            <p:nvPicPr>
              <p:cNvPr id="22532" name="Picture 5" descr="《天工开物》生铁炒熟铁图"/>
              <p:cNvPicPr>
                <a:picLocks noChangeAspect="1"/>
              </p:cNvPicPr>
              <p:nvPr/>
            </p:nvPicPr>
            <p:blipFill>
              <a:blip r:embed="rId2"/>
              <a:stretch>
                <a:fillRect/>
              </a:stretch>
            </p:blipFill>
            <p:spPr>
              <a:xfrm>
                <a:off x="0" y="0"/>
                <a:ext cx="2417" cy="2155"/>
              </a:xfrm>
              <a:prstGeom prst="rect">
                <a:avLst/>
              </a:prstGeom>
              <a:noFill/>
              <a:ln w="57150" cap="flat" cmpd="sng">
                <a:solidFill>
                  <a:srgbClr val="FFCC00"/>
                </a:solidFill>
                <a:prstDash val="solid"/>
                <a:miter/>
                <a:headEnd type="none" w="med" len="med"/>
                <a:tailEnd type="none" w="med" len="med"/>
              </a:ln>
            </p:spPr>
          </p:pic>
          <p:sp>
            <p:nvSpPr>
              <p:cNvPr id="22533" name="Rectangle 6"/>
              <p:cNvSpPr>
                <a:spLocks noChangeAspect="1"/>
              </p:cNvSpPr>
              <p:nvPr/>
            </p:nvSpPr>
            <p:spPr>
              <a:xfrm>
                <a:off x="74" y="1892"/>
                <a:ext cx="2292" cy="22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lgn="ctr"/>
                <a:r>
                  <a:rPr lang="zh-CN" altLang="en-US" sz="2000" b="1" dirty="0">
                    <a:solidFill>
                      <a:schemeClr val="bg2"/>
                    </a:solidFill>
                    <a:latin typeface="Times New Roman" panose="02020603050405020304" pitchFamily="18" charset="0"/>
                    <a:ea typeface="宋体" panose="02010600030101010101" pitchFamily="2" charset="-122"/>
                  </a:rPr>
                  <a:t>生铁炒熟铁图</a:t>
                </a:r>
              </a:p>
            </p:txBody>
          </p:sp>
        </p:grpSp>
        <p:grpSp>
          <p:nvGrpSpPr>
            <p:cNvPr id="22534" name="Group 7"/>
            <p:cNvGrpSpPr>
              <a:grpSpLocks noChangeAspect="1"/>
            </p:cNvGrpSpPr>
            <p:nvPr/>
          </p:nvGrpSpPr>
          <p:grpSpPr>
            <a:xfrm>
              <a:off x="0" y="0"/>
              <a:ext cx="1657" cy="2176"/>
              <a:chOff x="0" y="0"/>
              <a:chExt cx="1657" cy="2176"/>
            </a:xfrm>
          </p:grpSpPr>
          <p:pic>
            <p:nvPicPr>
              <p:cNvPr id="22535" name="Picture 8" descr="宋应星1"/>
              <p:cNvPicPr>
                <a:picLocks noChangeAspect="1"/>
              </p:cNvPicPr>
              <p:nvPr/>
            </p:nvPicPr>
            <p:blipFill>
              <a:blip r:embed="rId3"/>
              <a:stretch>
                <a:fillRect/>
              </a:stretch>
            </p:blipFill>
            <p:spPr>
              <a:xfrm>
                <a:off x="0" y="0"/>
                <a:ext cx="1657" cy="2154"/>
              </a:xfrm>
              <a:prstGeom prst="rect">
                <a:avLst/>
              </a:prstGeom>
              <a:noFill/>
              <a:ln w="57150" cap="flat" cmpd="sng">
                <a:solidFill>
                  <a:srgbClr val="FFCC99"/>
                </a:solidFill>
                <a:prstDash val="solid"/>
                <a:miter/>
                <a:headEnd type="none" w="med" len="med"/>
                <a:tailEnd type="none" w="med" len="med"/>
              </a:ln>
            </p:spPr>
          </p:pic>
          <p:sp>
            <p:nvSpPr>
              <p:cNvPr id="22536" name="Text Box 9"/>
              <p:cNvSpPr txBox="1">
                <a:spLocks noChangeAspect="1"/>
              </p:cNvSpPr>
              <p:nvPr/>
            </p:nvSpPr>
            <p:spPr>
              <a:xfrm>
                <a:off x="353" y="1926"/>
                <a:ext cx="1054" cy="250"/>
              </a:xfrm>
              <a:prstGeom prst="rect">
                <a:avLst/>
              </a:prstGeom>
              <a:noFill/>
              <a:ln w="9525">
                <a:noFill/>
              </a:ln>
            </p:spPr>
            <p:txBody>
              <a:bodyPr anchor="t">
                <a:spAutoFit/>
              </a:bodyPr>
              <a:lstStyle/>
              <a:p>
                <a:pPr algn="ct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宋应星</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ipe(left)">
                                      <p:cBhvr>
                                        <p:cTn id="7" dur="500"/>
                                        <p:tgtEl>
                                          <p:spTgt spid="2253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2" name="Group 2"/>
          <p:cNvGrpSpPr/>
          <p:nvPr/>
        </p:nvGrpSpPr>
        <p:grpSpPr>
          <a:xfrm>
            <a:off x="0" y="1143000"/>
            <a:ext cx="9144000" cy="5514975"/>
            <a:chOff x="0" y="0"/>
            <a:chExt cx="5760" cy="3474"/>
          </a:xfrm>
        </p:grpSpPr>
        <p:pic>
          <p:nvPicPr>
            <p:cNvPr id="23555" name="Picture 3" descr="宝钢"/>
            <p:cNvPicPr>
              <a:picLocks noChangeAspect="1"/>
            </p:cNvPicPr>
            <p:nvPr/>
          </p:nvPicPr>
          <p:blipFill>
            <a:blip r:embed="rId2"/>
            <a:stretch>
              <a:fillRect/>
            </a:stretch>
          </p:blipFill>
          <p:spPr>
            <a:xfrm>
              <a:off x="1242" y="0"/>
              <a:ext cx="4518" cy="1781"/>
            </a:xfrm>
            <a:prstGeom prst="rect">
              <a:avLst/>
            </a:prstGeom>
            <a:noFill/>
            <a:ln w="9525">
              <a:noFill/>
            </a:ln>
          </p:spPr>
        </p:pic>
        <p:grpSp>
          <p:nvGrpSpPr>
            <p:cNvPr id="23556" name="Group 4"/>
            <p:cNvGrpSpPr/>
            <p:nvPr/>
          </p:nvGrpSpPr>
          <p:grpSpPr>
            <a:xfrm>
              <a:off x="1636" y="1776"/>
              <a:ext cx="4124" cy="1698"/>
              <a:chOff x="0" y="0"/>
              <a:chExt cx="4124" cy="1698"/>
            </a:xfrm>
          </p:grpSpPr>
          <p:pic>
            <p:nvPicPr>
              <p:cNvPr id="23557" name="Picture 5" descr="鞍钢"/>
              <p:cNvPicPr>
                <a:picLocks noChangeAspect="1"/>
              </p:cNvPicPr>
              <p:nvPr/>
            </p:nvPicPr>
            <p:blipFill>
              <a:blip r:embed="rId3"/>
              <a:stretch>
                <a:fillRect/>
              </a:stretch>
            </p:blipFill>
            <p:spPr>
              <a:xfrm>
                <a:off x="0" y="0"/>
                <a:ext cx="4124" cy="1698"/>
              </a:xfrm>
              <a:prstGeom prst="rect">
                <a:avLst/>
              </a:prstGeom>
              <a:noFill/>
              <a:ln w="9525">
                <a:noFill/>
              </a:ln>
            </p:spPr>
          </p:pic>
          <p:sp>
            <p:nvSpPr>
              <p:cNvPr id="23558" name="Text Box 6"/>
              <p:cNvSpPr txBox="1"/>
              <p:nvPr/>
            </p:nvSpPr>
            <p:spPr>
              <a:xfrm>
                <a:off x="2324" y="96"/>
                <a:ext cx="624" cy="327"/>
              </a:xfrm>
              <a:prstGeom prst="rect">
                <a:avLst/>
              </a:prstGeom>
              <a:noFill/>
              <a:ln w="9525">
                <a:noFill/>
              </a:ln>
            </p:spPr>
            <p:txBody>
              <a:bodyPr anchor="t">
                <a:spAutoFit/>
              </a:bodyPr>
              <a:lstStyle/>
              <a:p>
                <a:pPr algn="ctr">
                  <a:spcBef>
                    <a:spcPct val="50000"/>
                  </a:spcBef>
                </a:pPr>
                <a:r>
                  <a:rPr lang="zh-CN" altLang="en-US" sz="2800" dirty="0">
                    <a:solidFill>
                      <a:schemeClr val="hlink"/>
                    </a:solidFill>
                    <a:latin typeface="Times New Roman" panose="02020603050405020304" pitchFamily="18" charset="0"/>
                    <a:ea typeface="华文行楷" panose="02010800040101010101" pitchFamily="2" charset="-122"/>
                  </a:rPr>
                  <a:t>鞍钢</a:t>
                </a:r>
              </a:p>
            </p:txBody>
          </p:sp>
        </p:grpSp>
        <p:grpSp>
          <p:nvGrpSpPr>
            <p:cNvPr id="23559" name="Group 7"/>
            <p:cNvGrpSpPr/>
            <p:nvPr/>
          </p:nvGrpSpPr>
          <p:grpSpPr>
            <a:xfrm>
              <a:off x="0" y="1056"/>
              <a:ext cx="2791" cy="1611"/>
              <a:chOff x="0" y="0"/>
              <a:chExt cx="2791" cy="1611"/>
            </a:xfrm>
          </p:grpSpPr>
          <p:pic>
            <p:nvPicPr>
              <p:cNvPr id="23560" name="Picture 8" descr="攀钢"/>
              <p:cNvPicPr>
                <a:picLocks noChangeAspect="1"/>
              </p:cNvPicPr>
              <p:nvPr/>
            </p:nvPicPr>
            <p:blipFill>
              <a:blip r:embed="rId4"/>
              <a:stretch>
                <a:fillRect/>
              </a:stretch>
            </p:blipFill>
            <p:spPr>
              <a:xfrm>
                <a:off x="0" y="0"/>
                <a:ext cx="2791" cy="1611"/>
              </a:xfrm>
              <a:prstGeom prst="rect">
                <a:avLst/>
              </a:prstGeom>
              <a:noFill/>
              <a:ln w="9525">
                <a:noFill/>
              </a:ln>
            </p:spPr>
          </p:pic>
          <p:sp>
            <p:nvSpPr>
              <p:cNvPr id="23561" name="Text Box 9"/>
              <p:cNvSpPr txBox="1"/>
              <p:nvPr/>
            </p:nvSpPr>
            <p:spPr>
              <a:xfrm>
                <a:off x="1776" y="1296"/>
                <a:ext cx="960" cy="288"/>
              </a:xfrm>
              <a:prstGeom prst="rect">
                <a:avLst/>
              </a:prstGeom>
              <a:noFill/>
              <a:ln w="9525">
                <a:noFill/>
              </a:ln>
            </p:spPr>
            <p:txBody>
              <a:bodyPr anchor="t">
                <a:spAutoFit/>
              </a:bodyPr>
              <a:lstStyle/>
              <a:p>
                <a:pPr algn="ctr">
                  <a:spcBef>
                    <a:spcPct val="50000"/>
                  </a:spcBef>
                </a:pPr>
                <a:r>
                  <a:rPr lang="zh-CN" altLang="en-US" sz="2400" dirty="0">
                    <a:solidFill>
                      <a:schemeClr val="accent1"/>
                    </a:solidFill>
                    <a:latin typeface="Times New Roman" panose="02020603050405020304" pitchFamily="18" charset="0"/>
                    <a:ea typeface="华文行楷" panose="02010800040101010101" pitchFamily="2" charset="-122"/>
                  </a:rPr>
                  <a:t>攀钢夜景</a:t>
                </a:r>
              </a:p>
            </p:txBody>
          </p:sp>
        </p:grpSp>
      </p:grpSp>
      <p:sp>
        <p:nvSpPr>
          <p:cNvPr id="23562" name="Rectangle 10"/>
          <p:cNvSpPr>
            <a:spLocks noGrp="1" noChangeArrowheads="1"/>
          </p:cNvSpPr>
          <p:nvPr>
            <p:ph type="title"/>
          </p:nvPr>
        </p:nvSpPr>
        <p:spPr>
          <a:xfrm>
            <a:off x="381000" y="228600"/>
            <a:ext cx="8458200" cy="1676400"/>
          </a:xfrm>
        </p:spPr>
        <p:txBody>
          <a:bodyPr vert="horz" wrap="square" lIns="92075" tIns="46038" rIns="92075" bIns="46038" numCol="1" anchor="ctr" anchorCtr="0" compatLnSpc="1"/>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sz="2800" b="1" i="0" u="none" strike="noStrike" kern="0" cap="none" spc="0" normalizeH="0" baseline="0" noProof="0">
                <a:ln>
                  <a:noFill/>
                </a:ln>
                <a:solidFill>
                  <a:schemeClr val="hlink"/>
                </a:solidFill>
                <a:effectLst/>
                <a:uLnTx/>
                <a:uFillTx/>
                <a:latin typeface="Times New Roman" panose="02020603050405020304" pitchFamily="18" charset="0"/>
                <a:ea typeface="华文中宋" panose="02010600040101010101" pitchFamily="2" charset="-122"/>
                <a:cs typeface="+mj-cs"/>
              </a:rPr>
              <a:t>新中国成立后，先后建起了鞍山、攀枝花、宝钢等大型钢铁基地。钢产量由</a:t>
            </a:r>
            <a:r>
              <a:rPr kumimoji="0" lang="zh-CN" altLang="zh-CN" sz="2800" b="1" i="0" u="none" strike="noStrike" kern="0" cap="none" spc="0" normalizeH="0" baseline="0" noProof="0">
                <a:ln>
                  <a:noFill/>
                </a:ln>
                <a:solidFill>
                  <a:schemeClr val="hlink"/>
                </a:solidFill>
                <a:effectLst/>
                <a:uLnTx/>
                <a:uFillTx/>
                <a:latin typeface="Times New Roman" panose="02020603050405020304" pitchFamily="18" charset="0"/>
                <a:ea typeface="华文中宋" panose="02010600040101010101" pitchFamily="2" charset="-122"/>
                <a:cs typeface="+mj-cs"/>
              </a:rPr>
              <a:t>49</a:t>
            </a:r>
            <a:r>
              <a:rPr kumimoji="0" lang="zh-CN" sz="2800" b="1" i="0" u="none" strike="noStrike" kern="0" cap="none" spc="0" normalizeH="0" baseline="0" noProof="0">
                <a:ln>
                  <a:noFill/>
                </a:ln>
                <a:solidFill>
                  <a:schemeClr val="hlink"/>
                </a:solidFill>
                <a:effectLst/>
                <a:uLnTx/>
                <a:uFillTx/>
                <a:latin typeface="Times New Roman" panose="02020603050405020304" pitchFamily="18" charset="0"/>
                <a:ea typeface="华文中宋" panose="02010600040101010101" pitchFamily="2" charset="-122"/>
                <a:cs typeface="+mj-cs"/>
              </a:rPr>
              <a:t>年的</a:t>
            </a:r>
            <a:r>
              <a:rPr kumimoji="0" lang="zh-CN" altLang="zh-CN" sz="2800" b="1" i="0" u="none" strike="noStrike" kern="0" cap="none" spc="0" normalizeH="0" baseline="0" noProof="0">
                <a:ln>
                  <a:noFill/>
                </a:ln>
                <a:solidFill>
                  <a:schemeClr val="hlink"/>
                </a:solidFill>
                <a:effectLst/>
                <a:uLnTx/>
                <a:uFillTx/>
                <a:latin typeface="Times New Roman" panose="02020603050405020304" pitchFamily="18" charset="0"/>
                <a:ea typeface="华文中宋" panose="02010600040101010101" pitchFamily="2" charset="-122"/>
                <a:cs typeface="+mj-cs"/>
              </a:rPr>
              <a:t>15.8</a:t>
            </a:r>
            <a:r>
              <a:rPr kumimoji="0" lang="zh-CN" sz="2800" b="1" i="0" u="none" strike="noStrike" kern="0" cap="none" spc="0" normalizeH="0" baseline="0" noProof="0">
                <a:ln>
                  <a:noFill/>
                </a:ln>
                <a:solidFill>
                  <a:schemeClr val="hlink"/>
                </a:solidFill>
                <a:effectLst/>
                <a:uLnTx/>
                <a:uFillTx/>
                <a:latin typeface="Times New Roman" panose="02020603050405020304" pitchFamily="18" charset="0"/>
                <a:ea typeface="华文中宋" panose="02010600040101010101" pitchFamily="2" charset="-122"/>
                <a:cs typeface="+mj-cs"/>
              </a:rPr>
              <a:t>万吨上升到现在的一亿吨。 </a:t>
            </a:r>
            <a:r>
              <a:rPr kumimoji="0" lang="zh-CN" sz="2800" b="1" i="0" u="none" strike="noStrike" kern="0" cap="none" spc="0" normalizeH="0" baseline="0" noProof="0">
                <a:ln>
                  <a:noFill/>
                </a:ln>
                <a:solidFill>
                  <a:schemeClr val="hlink"/>
                </a:solidFill>
                <a:effectLst>
                  <a:outerShdw blurRad="38100" dist="38100" dir="2700000" algn="tl">
                    <a:srgbClr val="C0C0C0"/>
                  </a:outerShdw>
                </a:effectLst>
                <a:uLnTx/>
                <a:uFillTx/>
                <a:latin typeface="+mj-lt"/>
                <a:ea typeface="隶书" panose="02010509060101010101" pitchFamily="49" charset="-122"/>
                <a:cs typeface="+mj-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562"/>
                                        </p:tgtEl>
                                        <p:attrNameLst>
                                          <p:attrName>style.visibility</p:attrName>
                                        </p:attrNameLst>
                                      </p:cBhvr>
                                      <p:to>
                                        <p:strVal val="visible"/>
                                      </p:to>
                                    </p:set>
                                    <p:animEffect transition="in" filter="wipe(left)">
                                      <p:cBhvr>
                                        <p:cTn id="7" dur="500"/>
                                        <p:tgtEl>
                                          <p:spTgt spid="2356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2" name="Group 2"/>
          <p:cNvGrpSpPr/>
          <p:nvPr/>
        </p:nvGrpSpPr>
        <p:grpSpPr>
          <a:xfrm>
            <a:off x="2286000" y="400050"/>
            <a:ext cx="6854825" cy="6000750"/>
            <a:chOff x="0" y="0"/>
            <a:chExt cx="4318" cy="3780"/>
          </a:xfrm>
        </p:grpSpPr>
        <p:pic>
          <p:nvPicPr>
            <p:cNvPr id="24579" name="Picture 3" descr="卫星原子弹"/>
            <p:cNvPicPr>
              <a:picLocks noChangeAspect="1"/>
            </p:cNvPicPr>
            <p:nvPr/>
          </p:nvPicPr>
          <p:blipFill>
            <a:blip r:embed="rId2"/>
            <a:stretch>
              <a:fillRect/>
            </a:stretch>
          </p:blipFill>
          <p:spPr>
            <a:xfrm>
              <a:off x="0" y="144"/>
              <a:ext cx="3999" cy="3547"/>
            </a:xfrm>
            <a:prstGeom prst="rect">
              <a:avLst/>
            </a:prstGeom>
            <a:noFill/>
            <a:ln w="9525">
              <a:noFill/>
            </a:ln>
          </p:spPr>
        </p:pic>
        <p:sp>
          <p:nvSpPr>
            <p:cNvPr id="24580" name="Text Box 4"/>
            <p:cNvSpPr txBox="1"/>
            <p:nvPr/>
          </p:nvSpPr>
          <p:spPr>
            <a:xfrm>
              <a:off x="1380" y="144"/>
              <a:ext cx="576" cy="1392"/>
            </a:xfrm>
            <a:prstGeom prst="rect">
              <a:avLst/>
            </a:prstGeom>
            <a:noFill/>
            <a:ln w="9525">
              <a:noFill/>
            </a:ln>
          </p:spPr>
          <p:txBody>
            <a:bodyPr vert="eaVert" anchor="t">
              <a:spAutoFit/>
            </a:bodyPr>
            <a:lstStyle/>
            <a:p>
              <a:pPr algn="ctr">
                <a:spcBef>
                  <a:spcPct val="50000"/>
                </a:spcBef>
              </a:pPr>
              <a:r>
                <a:rPr lang="zh-CN" altLang="en-US" sz="2400" b="1" dirty="0">
                  <a:solidFill>
                    <a:schemeClr val="hlink"/>
                  </a:solidFill>
                  <a:latin typeface="华文行楷" panose="02010800040101010101" pitchFamily="2" charset="-122"/>
                  <a:ea typeface="华文行楷" panose="02010800040101010101" pitchFamily="2" charset="-122"/>
                </a:rPr>
                <a:t>中国第一颗人造卫星</a:t>
              </a:r>
            </a:p>
          </p:txBody>
        </p:sp>
        <p:sp>
          <p:nvSpPr>
            <p:cNvPr id="24581" name="Text Box 5"/>
            <p:cNvSpPr txBox="1"/>
            <p:nvPr/>
          </p:nvSpPr>
          <p:spPr>
            <a:xfrm>
              <a:off x="3972" y="0"/>
              <a:ext cx="346" cy="1728"/>
            </a:xfrm>
            <a:prstGeom prst="rect">
              <a:avLst/>
            </a:prstGeom>
            <a:noFill/>
            <a:ln w="9525">
              <a:noFill/>
            </a:ln>
          </p:spPr>
          <p:txBody>
            <a:bodyPr vert="eaVert" anchor="t">
              <a:spAutoFit/>
            </a:bodyPr>
            <a:lstStyle/>
            <a:p>
              <a:pPr algn="ctr">
                <a:spcBef>
                  <a:spcPct val="50000"/>
                </a:spcBef>
              </a:pPr>
              <a:r>
                <a:rPr lang="zh-CN" altLang="en-US" sz="2400" b="1" dirty="0">
                  <a:solidFill>
                    <a:schemeClr val="hlink"/>
                  </a:solidFill>
                  <a:latin typeface="华文行楷" panose="02010800040101010101" pitchFamily="2" charset="-122"/>
                  <a:ea typeface="华文行楷" panose="02010800040101010101" pitchFamily="2" charset="-122"/>
                </a:rPr>
                <a:t>长征火箭大家族</a:t>
              </a:r>
            </a:p>
          </p:txBody>
        </p:sp>
        <p:sp>
          <p:nvSpPr>
            <p:cNvPr id="24582" name="Text Box 6"/>
            <p:cNvSpPr txBox="1"/>
            <p:nvPr/>
          </p:nvSpPr>
          <p:spPr>
            <a:xfrm>
              <a:off x="1416" y="1620"/>
              <a:ext cx="346" cy="2160"/>
            </a:xfrm>
            <a:prstGeom prst="rect">
              <a:avLst/>
            </a:prstGeom>
            <a:noFill/>
            <a:ln w="9525">
              <a:noFill/>
            </a:ln>
          </p:spPr>
          <p:txBody>
            <a:bodyPr vert="eaVert" anchor="t">
              <a:spAutoFit/>
            </a:bodyPr>
            <a:lstStyle/>
            <a:p>
              <a:pPr>
                <a:spcBef>
                  <a:spcPct val="50000"/>
                </a:spcBef>
              </a:pPr>
              <a:r>
                <a:rPr lang="zh-CN" altLang="en-US" sz="2400" b="1" dirty="0">
                  <a:solidFill>
                    <a:schemeClr val="hlink"/>
                  </a:solidFill>
                  <a:latin typeface="Times New Roman" panose="02020603050405020304" pitchFamily="18" charset="0"/>
                  <a:ea typeface="华文行楷" panose="02010800040101010101" pitchFamily="2" charset="-122"/>
                </a:rPr>
                <a:t>中国第一颗原子弹爆炸</a:t>
              </a:r>
            </a:p>
          </p:txBody>
        </p:sp>
        <p:sp>
          <p:nvSpPr>
            <p:cNvPr id="24583" name="Text Box 7"/>
            <p:cNvSpPr txBox="1"/>
            <p:nvPr/>
          </p:nvSpPr>
          <p:spPr>
            <a:xfrm>
              <a:off x="3636" y="1680"/>
              <a:ext cx="346" cy="2016"/>
            </a:xfrm>
            <a:prstGeom prst="rect">
              <a:avLst/>
            </a:prstGeom>
            <a:noFill/>
            <a:ln w="9525">
              <a:noFill/>
            </a:ln>
          </p:spPr>
          <p:txBody>
            <a:bodyPr vert="eaVert" anchor="t">
              <a:spAutoFit/>
            </a:bodyPr>
            <a:lstStyle/>
            <a:p>
              <a:pPr>
                <a:spcBef>
                  <a:spcPct val="50000"/>
                </a:spcBef>
              </a:pPr>
              <a:r>
                <a:rPr lang="zh-CN" altLang="en-US" sz="2400" b="1" dirty="0">
                  <a:solidFill>
                    <a:schemeClr val="hlink"/>
                  </a:solidFill>
                  <a:latin typeface="Times New Roman" panose="02020603050405020304" pitchFamily="18" charset="0"/>
                  <a:ea typeface="华文行楷" panose="02010800040101010101" pitchFamily="2" charset="-122"/>
                </a:rPr>
                <a:t>中国第一颗氢弹爆炸</a:t>
              </a:r>
            </a:p>
          </p:txBody>
        </p:sp>
      </p:grpSp>
      <p:sp>
        <p:nvSpPr>
          <p:cNvPr id="24584" name="Text Box 8"/>
          <p:cNvSpPr txBox="1"/>
          <p:nvPr/>
        </p:nvSpPr>
        <p:spPr>
          <a:xfrm>
            <a:off x="228600" y="600075"/>
            <a:ext cx="1981200" cy="5648325"/>
          </a:xfrm>
          <a:prstGeom prst="rect">
            <a:avLst/>
          </a:prstGeom>
          <a:noFill/>
          <a:ln w="9525">
            <a:noFill/>
          </a:ln>
        </p:spPr>
        <p:txBody>
          <a:bodyPr anchor="t">
            <a:spAutoFit/>
          </a:bodyPr>
          <a:lstStyle/>
          <a:p>
            <a:pPr>
              <a:lnSpc>
                <a:spcPct val="130000"/>
              </a:lnSpc>
              <a:spcBef>
                <a:spcPct val="50000"/>
              </a:spcBef>
            </a:pPr>
            <a:r>
              <a:rPr lang="zh-CN" altLang="en-US" sz="2800" b="1" dirty="0">
                <a:solidFill>
                  <a:srgbClr val="3333CC"/>
                </a:solidFill>
                <a:latin typeface="Times New Roman" panose="02020603050405020304" pitchFamily="18" charset="0"/>
                <a:ea typeface="华文中宋" panose="02010600040101010101" pitchFamily="2" charset="-122"/>
              </a:rPr>
              <a:t>原子弹、氢弹的爆炸，卫星、飞船的上天等都说明了我国在材料的开发、研究及应用等方面有了飞跃的发展。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4584"/>
                                        </p:tgtEl>
                                        <p:attrNameLst>
                                          <p:attrName>style.visibility</p:attrName>
                                        </p:attrNameLst>
                                      </p:cBhvr>
                                      <p:to>
                                        <p:strVal val="visible"/>
                                      </p:to>
                                    </p:set>
                                    <p:animEffect transition="in" filter="wipe(up)">
                                      <p:cBhvr>
                                        <p:cTn id="7" dur="500"/>
                                        <p:tgtEl>
                                          <p:spTgt spid="2458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28600" y="0"/>
            <a:ext cx="8915400" cy="9144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4400" b="1" i="0" u="none" strike="noStrike" kern="0" cap="none" spc="0" normalizeH="0" baseline="0" noProof="0">
                <a:ln>
                  <a:noFill/>
                </a:ln>
                <a:solidFill>
                  <a:schemeClr val="hlink"/>
                </a:solidFill>
                <a:effectLst>
                  <a:outerShdw blurRad="38100" dist="38100" dir="2700000" algn="tl">
                    <a:srgbClr val="C0C0C0"/>
                  </a:outerShdw>
                </a:effectLst>
                <a:uLnTx/>
                <a:uFillTx/>
                <a:latin typeface="+mj-lt"/>
                <a:ea typeface="隶书" panose="02010509060101010101" pitchFamily="49" charset="-122"/>
                <a:cs typeface="+mj-cs"/>
              </a:rPr>
              <a:t>中国的航天事业</a:t>
            </a:r>
            <a:r>
              <a:rPr kumimoji="0" lang="zh-CN" altLang="zh-CN" sz="4400" b="1" i="0" u="none" strike="noStrike" kern="0" cap="none" spc="0" normalizeH="0" baseline="0" noProof="0">
                <a:ln>
                  <a:noFill/>
                </a:ln>
                <a:solidFill>
                  <a:schemeClr val="hlink"/>
                </a:solidFill>
                <a:effectLst>
                  <a:outerShdw blurRad="38100" dist="38100" dir="2700000" algn="tl">
                    <a:srgbClr val="C0C0C0"/>
                  </a:outerShdw>
                </a:effectLst>
                <a:uLnTx/>
                <a:uFillTx/>
                <a:latin typeface="+mj-lt"/>
                <a:ea typeface="隶书" panose="02010509060101010101" pitchFamily="49" charset="-122"/>
                <a:cs typeface="+mj-cs"/>
              </a:rPr>
              <a:t>-“</a:t>
            </a:r>
            <a:r>
              <a:rPr kumimoji="0" lang="zh-CN" sz="4400" b="1" i="0" u="none" strike="noStrike" kern="0" cap="none" spc="0" normalizeH="0" baseline="0" noProof="0">
                <a:ln>
                  <a:noFill/>
                </a:ln>
                <a:solidFill>
                  <a:schemeClr val="hlink"/>
                </a:solidFill>
                <a:effectLst>
                  <a:outerShdw blurRad="38100" dist="38100" dir="2700000" algn="tl">
                    <a:srgbClr val="C0C0C0"/>
                  </a:outerShdw>
                </a:effectLst>
                <a:uLnTx/>
                <a:uFillTx/>
                <a:latin typeface="+mj-lt"/>
                <a:ea typeface="隶书" panose="02010509060101010101" pitchFamily="49" charset="-122"/>
                <a:cs typeface="+mj-cs"/>
              </a:rPr>
              <a:t>神舟”号飞船</a:t>
            </a:r>
          </a:p>
        </p:txBody>
      </p:sp>
      <p:grpSp>
        <p:nvGrpSpPr>
          <p:cNvPr id="2" name="Group 3"/>
          <p:cNvGrpSpPr/>
          <p:nvPr/>
        </p:nvGrpSpPr>
        <p:grpSpPr>
          <a:xfrm>
            <a:off x="1066800" y="1030288"/>
            <a:ext cx="7340600" cy="5678487"/>
            <a:chOff x="0" y="0"/>
            <a:chExt cx="4624" cy="3577"/>
          </a:xfrm>
        </p:grpSpPr>
        <p:sp>
          <p:nvSpPr>
            <p:cNvPr id="25604" name="Text Box 4"/>
            <p:cNvSpPr txBox="1"/>
            <p:nvPr/>
          </p:nvSpPr>
          <p:spPr>
            <a:xfrm>
              <a:off x="1680" y="1847"/>
              <a:ext cx="500" cy="1632"/>
            </a:xfrm>
            <a:prstGeom prst="rect">
              <a:avLst/>
            </a:prstGeom>
            <a:noFill/>
            <a:ln w="9525">
              <a:noFill/>
            </a:ln>
          </p:spPr>
          <p:txBody>
            <a:bodyPr vert="eaVert" anchor="t">
              <a:spAutoFit/>
            </a:bodyPr>
            <a:lstStyle/>
            <a:p>
              <a:pPr algn="ctr">
                <a:spcBef>
                  <a:spcPct val="50000"/>
                </a:spcBef>
              </a:pPr>
              <a:r>
                <a:rPr lang="zh-CN" altLang="zh-CN" sz="2000" b="1" dirty="0">
                  <a:solidFill>
                    <a:schemeClr val="hlink"/>
                  </a:solidFill>
                  <a:latin typeface="Times New Roman" panose="02020603050405020304" pitchFamily="18" charset="0"/>
                  <a:ea typeface="宋体" panose="02010600030101010101" pitchFamily="2" charset="-122"/>
                </a:rPr>
                <a:t>“</a:t>
              </a:r>
              <a:r>
                <a:rPr lang="zh-CN" altLang="en-US" sz="2000" b="1" dirty="0">
                  <a:solidFill>
                    <a:schemeClr val="hlink"/>
                  </a:solidFill>
                  <a:latin typeface="宋体" panose="02010600030101010101" pitchFamily="2" charset="-122"/>
                  <a:ea typeface="宋体" panose="02010600030101010101" pitchFamily="2" charset="-122"/>
                </a:rPr>
                <a:t>神舟二号</a:t>
              </a:r>
              <a:r>
                <a:rPr lang="zh-CN" altLang="en-US" sz="2000" b="1" dirty="0">
                  <a:solidFill>
                    <a:schemeClr val="hlink"/>
                  </a:solidFill>
                  <a:latin typeface="Times New Roman" panose="02020603050405020304" pitchFamily="18" charset="0"/>
                  <a:ea typeface="宋体" panose="02010600030101010101" pitchFamily="2" charset="-122"/>
                </a:rPr>
                <a:t>”</a:t>
              </a:r>
              <a:r>
                <a:rPr lang="zh-CN" altLang="en-US" sz="2000" b="1" dirty="0">
                  <a:solidFill>
                    <a:schemeClr val="hlink"/>
                  </a:solidFill>
                  <a:latin typeface="宋体" panose="02010600030101010101" pitchFamily="2" charset="-122"/>
                  <a:ea typeface="宋体" panose="02010600030101010101" pitchFamily="2" charset="-122"/>
                </a:rPr>
                <a:t>飞船运往发射工位 </a:t>
              </a:r>
            </a:p>
          </p:txBody>
        </p:sp>
        <p:sp>
          <p:nvSpPr>
            <p:cNvPr id="25605" name="Text Box 5"/>
            <p:cNvSpPr txBox="1"/>
            <p:nvPr/>
          </p:nvSpPr>
          <p:spPr>
            <a:xfrm>
              <a:off x="4176" y="119"/>
              <a:ext cx="308" cy="1680"/>
            </a:xfrm>
            <a:prstGeom prst="rect">
              <a:avLst/>
            </a:prstGeom>
            <a:noFill/>
            <a:ln w="9525">
              <a:noFill/>
            </a:ln>
          </p:spPr>
          <p:txBody>
            <a:bodyPr vert="eaVert" anchor="t">
              <a:spAutoFit/>
            </a:bodyPr>
            <a:lstStyle/>
            <a:p>
              <a:pPr algn="ctr">
                <a:spcBef>
                  <a:spcPct val="50000"/>
                </a:spcBef>
              </a:pPr>
              <a:r>
                <a:rPr lang="zh-CN" altLang="zh-CN" sz="2000" b="1" dirty="0">
                  <a:solidFill>
                    <a:schemeClr val="hlink"/>
                  </a:solidFill>
                  <a:latin typeface="Times New Roman" panose="02020603050405020304" pitchFamily="18" charset="0"/>
                  <a:ea typeface="宋体" panose="02010600030101010101" pitchFamily="2" charset="-122"/>
                </a:rPr>
                <a:t>“</a:t>
              </a:r>
              <a:r>
                <a:rPr lang="zh-CN" altLang="en-US" sz="2000" b="1" dirty="0">
                  <a:solidFill>
                    <a:schemeClr val="hlink"/>
                  </a:solidFill>
                  <a:latin typeface="宋体" panose="02010600030101010101" pitchFamily="2" charset="-122"/>
                  <a:ea typeface="宋体" panose="02010600030101010101" pitchFamily="2" charset="-122"/>
                </a:rPr>
                <a:t>神舟</a:t>
              </a:r>
              <a:r>
                <a:rPr lang="zh-CN" altLang="en-US" sz="2000" b="1" dirty="0">
                  <a:solidFill>
                    <a:schemeClr val="hlink"/>
                  </a:solidFill>
                  <a:latin typeface="Times New Roman" panose="02020603050405020304" pitchFamily="18" charset="0"/>
                  <a:ea typeface="宋体" panose="02010600030101010101" pitchFamily="2" charset="-122"/>
                </a:rPr>
                <a:t>”</a:t>
              </a:r>
              <a:r>
                <a:rPr lang="zh-CN" altLang="en-US" sz="2000" b="1" dirty="0">
                  <a:solidFill>
                    <a:schemeClr val="hlink"/>
                  </a:solidFill>
                  <a:latin typeface="宋体" panose="02010600030101010101" pitchFamily="2" charset="-122"/>
                  <a:ea typeface="宋体" panose="02010600030101010101" pitchFamily="2" charset="-122"/>
                </a:rPr>
                <a:t>一号飞船</a:t>
              </a:r>
              <a:r>
                <a:rPr lang="zh-CN" altLang="en-US" sz="2000" dirty="0">
                  <a:solidFill>
                    <a:schemeClr val="hlink"/>
                  </a:solidFill>
                  <a:latin typeface="楷体_GB2312" pitchFamily="1" charset="-122"/>
                  <a:ea typeface="楷体_GB2312" pitchFamily="1" charset="-122"/>
                </a:rPr>
                <a:t> </a:t>
              </a:r>
            </a:p>
          </p:txBody>
        </p:sp>
        <p:pic>
          <p:nvPicPr>
            <p:cNvPr id="25606" name="Picture 6" descr="神舟一号发射成功"/>
            <p:cNvPicPr>
              <a:picLocks noChangeAspect="1"/>
            </p:cNvPicPr>
            <p:nvPr/>
          </p:nvPicPr>
          <p:blipFill>
            <a:blip r:embed="rId2"/>
            <a:stretch>
              <a:fillRect/>
            </a:stretch>
          </p:blipFill>
          <p:spPr>
            <a:xfrm>
              <a:off x="0" y="0"/>
              <a:ext cx="2065" cy="1607"/>
            </a:xfrm>
            <a:prstGeom prst="rect">
              <a:avLst/>
            </a:prstGeom>
            <a:noFill/>
            <a:ln w="38100" cap="flat" cmpd="sng">
              <a:solidFill>
                <a:srgbClr val="FF6600"/>
              </a:solidFill>
              <a:prstDash val="solid"/>
              <a:miter/>
              <a:headEnd type="none" w="med" len="med"/>
              <a:tailEnd type="none" w="med" len="med"/>
            </a:ln>
          </p:spPr>
        </p:pic>
        <p:sp>
          <p:nvSpPr>
            <p:cNvPr id="25607" name="Text Box 7"/>
            <p:cNvSpPr txBox="1"/>
            <p:nvPr/>
          </p:nvSpPr>
          <p:spPr>
            <a:xfrm>
              <a:off x="912" y="23"/>
              <a:ext cx="1152" cy="442"/>
            </a:xfrm>
            <a:prstGeom prst="rect">
              <a:avLst/>
            </a:prstGeom>
            <a:noFill/>
            <a:ln w="9525">
              <a:noFill/>
            </a:ln>
          </p:spPr>
          <p:txBody>
            <a:bodyPr anchor="t">
              <a:spAutoFit/>
            </a:bodyPr>
            <a:lstStyle/>
            <a:p>
              <a:pPr algn="ctr">
                <a:spcBef>
                  <a:spcPct val="50000"/>
                </a:spcBef>
              </a:pPr>
              <a:r>
                <a:rPr lang="zh-CN" altLang="zh-CN" sz="2000" b="1" dirty="0">
                  <a:solidFill>
                    <a:schemeClr val="folHlink"/>
                  </a:solidFill>
                  <a:latin typeface="Times New Roman" panose="02020603050405020304" pitchFamily="18" charset="0"/>
                  <a:ea typeface="华文行楷" panose="02010800040101010101" pitchFamily="2" charset="-122"/>
                </a:rPr>
                <a:t>“</a:t>
              </a:r>
              <a:r>
                <a:rPr lang="zh-CN" altLang="en-US" sz="2000" b="1" dirty="0">
                  <a:solidFill>
                    <a:schemeClr val="folHlink"/>
                  </a:solidFill>
                  <a:latin typeface="Times New Roman" panose="02020603050405020304" pitchFamily="18" charset="0"/>
                  <a:ea typeface="华文行楷" panose="02010800040101010101" pitchFamily="2" charset="-122"/>
                </a:rPr>
                <a:t>神舟”一号发射成功</a:t>
              </a:r>
            </a:p>
          </p:txBody>
        </p:sp>
        <p:pic>
          <p:nvPicPr>
            <p:cNvPr id="25608" name="Picture 8" descr="神州一号"/>
            <p:cNvPicPr>
              <a:picLocks noChangeAspect="1"/>
            </p:cNvPicPr>
            <p:nvPr/>
          </p:nvPicPr>
          <p:blipFill>
            <a:blip r:embed="rId3"/>
            <a:stretch>
              <a:fillRect/>
            </a:stretch>
          </p:blipFill>
          <p:spPr>
            <a:xfrm>
              <a:off x="3072" y="23"/>
              <a:ext cx="1087" cy="1858"/>
            </a:xfrm>
            <a:prstGeom prst="rect">
              <a:avLst/>
            </a:prstGeom>
            <a:noFill/>
            <a:ln w="38100" cap="flat" cmpd="sng">
              <a:solidFill>
                <a:srgbClr val="FF6600"/>
              </a:solidFill>
              <a:prstDash val="solid"/>
              <a:miter/>
              <a:headEnd type="none" w="med" len="med"/>
              <a:tailEnd type="none" w="med" len="med"/>
            </a:ln>
          </p:spPr>
        </p:pic>
        <p:pic>
          <p:nvPicPr>
            <p:cNvPr id="25609" name="Picture 9" descr="神舟二号发射成功"/>
            <p:cNvPicPr>
              <a:picLocks noChangeAspect="1"/>
            </p:cNvPicPr>
            <p:nvPr/>
          </p:nvPicPr>
          <p:blipFill>
            <a:blip r:embed="rId4"/>
            <a:stretch>
              <a:fillRect/>
            </a:stretch>
          </p:blipFill>
          <p:spPr>
            <a:xfrm>
              <a:off x="2640" y="2039"/>
              <a:ext cx="1984" cy="1363"/>
            </a:xfrm>
            <a:prstGeom prst="rect">
              <a:avLst/>
            </a:prstGeom>
            <a:noFill/>
            <a:ln w="38100" cap="flat" cmpd="sng">
              <a:solidFill>
                <a:srgbClr val="FF6600"/>
              </a:solidFill>
              <a:prstDash val="solid"/>
              <a:miter/>
              <a:headEnd type="none" w="med" len="med"/>
              <a:tailEnd type="none" w="med" len="med"/>
            </a:ln>
          </p:spPr>
        </p:pic>
        <p:sp>
          <p:nvSpPr>
            <p:cNvPr id="25610" name="Text Box 10"/>
            <p:cNvSpPr txBox="1"/>
            <p:nvPr/>
          </p:nvSpPr>
          <p:spPr>
            <a:xfrm>
              <a:off x="2784" y="2039"/>
              <a:ext cx="1584" cy="250"/>
            </a:xfrm>
            <a:prstGeom prst="rect">
              <a:avLst/>
            </a:prstGeom>
            <a:noFill/>
            <a:ln w="9525">
              <a:noFill/>
            </a:ln>
          </p:spPr>
          <p:txBody>
            <a:bodyPr anchor="t">
              <a:spAutoFit/>
            </a:bodyPr>
            <a:lstStyle/>
            <a:p>
              <a:pPr>
                <a:spcBef>
                  <a:spcPct val="50000"/>
                </a:spcBef>
              </a:pPr>
              <a:r>
                <a:rPr lang="zh-CN" altLang="zh-CN" sz="2000" b="1" dirty="0">
                  <a:solidFill>
                    <a:schemeClr val="folHlink"/>
                  </a:solidFill>
                  <a:latin typeface="Times New Roman" panose="02020603050405020304" pitchFamily="18" charset="0"/>
                  <a:ea typeface="华文行楷" panose="02010800040101010101" pitchFamily="2" charset="-122"/>
                </a:rPr>
                <a:t>“</a:t>
              </a:r>
              <a:r>
                <a:rPr lang="zh-CN" altLang="en-US" sz="2000" b="1" dirty="0">
                  <a:solidFill>
                    <a:schemeClr val="folHlink"/>
                  </a:solidFill>
                  <a:latin typeface="Times New Roman" panose="02020603050405020304" pitchFamily="18" charset="0"/>
                  <a:ea typeface="华文行楷" panose="02010800040101010101" pitchFamily="2" charset="-122"/>
                </a:rPr>
                <a:t>神舟”二号发射成功</a:t>
              </a:r>
            </a:p>
          </p:txBody>
        </p:sp>
        <p:pic>
          <p:nvPicPr>
            <p:cNvPr id="25611" name="Picture 11" descr="神舟二号运往发射工位"/>
            <p:cNvPicPr>
              <a:picLocks noChangeAspect="1"/>
            </p:cNvPicPr>
            <p:nvPr/>
          </p:nvPicPr>
          <p:blipFill>
            <a:blip r:embed="rId5"/>
            <a:stretch>
              <a:fillRect/>
            </a:stretch>
          </p:blipFill>
          <p:spPr>
            <a:xfrm>
              <a:off x="480" y="1751"/>
              <a:ext cx="1197" cy="1826"/>
            </a:xfrm>
            <a:prstGeom prst="rect">
              <a:avLst/>
            </a:prstGeom>
            <a:noFill/>
            <a:ln w="38100" cap="flat" cmpd="sng">
              <a:solidFill>
                <a:srgbClr val="FF6600"/>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wipe(left)">
                                      <p:cBhvr>
                                        <p:cTn id="7" dur="500"/>
                                        <p:tgtEl>
                                          <p:spTgt spid="2560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body" sz="half" idx="1"/>
          </p:nvPr>
        </p:nvSpPr>
        <p:spPr>
          <a:xfrm>
            <a:off x="266700" y="1143000"/>
            <a:ext cx="5638800" cy="3048000"/>
          </a:xfrm>
        </p:spPr>
        <p:txBody>
          <a:bodyPr vert="horz" wrap="square" lIns="91440" tIns="45720" rIns="91440" bIns="45720" anchor="t"/>
          <a:lstStyle/>
          <a:p>
            <a:pPr eaLnBrk="1" hangingPunct="1">
              <a:lnSpc>
                <a:spcPct val="140000"/>
              </a:lnSpc>
              <a:buClr>
                <a:schemeClr val="accent2"/>
              </a:buClr>
              <a:buSzPct val="80000"/>
              <a:buFont typeface="Wingdings" panose="05000000000000000000" pitchFamily="2" charset="2"/>
            </a:pPr>
            <a:r>
              <a:rPr lang="zh-CN" altLang="zh-CN" sz="2800" b="1" dirty="0">
                <a:solidFill>
                  <a:schemeClr val="folHlink"/>
                </a:solidFill>
                <a:ea typeface="华文中宋" panose="02010600040101010101" pitchFamily="2" charset="-122"/>
              </a:rPr>
              <a:t>1863</a:t>
            </a:r>
            <a:r>
              <a:rPr lang="zh-CN" altLang="en-US" sz="2800" b="1" dirty="0">
                <a:solidFill>
                  <a:schemeClr val="folHlink"/>
                </a:solidFill>
                <a:latin typeface="华文中宋" panose="02010600040101010101" pitchFamily="2" charset="-122"/>
                <a:ea typeface="华文中宋" panose="02010600040101010101" pitchFamily="2" charset="-122"/>
              </a:rPr>
              <a:t>年，光学显微镜首次应用于金属研究，诞生了金相学，使人们能够将材料的宏观性能与微观组织联系起来。</a:t>
            </a:r>
          </a:p>
        </p:txBody>
      </p:sp>
      <p:grpSp>
        <p:nvGrpSpPr>
          <p:cNvPr id="2" name="Group 3"/>
          <p:cNvGrpSpPr/>
          <p:nvPr/>
        </p:nvGrpSpPr>
        <p:grpSpPr>
          <a:xfrm>
            <a:off x="800100" y="3905250"/>
            <a:ext cx="4519613" cy="2520950"/>
            <a:chOff x="0" y="0"/>
            <a:chExt cx="2847" cy="1588"/>
          </a:xfrm>
        </p:grpSpPr>
        <p:pic>
          <p:nvPicPr>
            <p:cNvPr id="28675" name="Picture 4" descr="灰铸铁的显微组织"/>
            <p:cNvPicPr>
              <a:picLocks noChangeAspect="1"/>
            </p:cNvPicPr>
            <p:nvPr/>
          </p:nvPicPr>
          <p:blipFill>
            <a:blip r:embed="rId2"/>
            <a:stretch>
              <a:fillRect/>
            </a:stretch>
          </p:blipFill>
          <p:spPr>
            <a:xfrm>
              <a:off x="0" y="0"/>
              <a:ext cx="2847" cy="1588"/>
            </a:xfrm>
            <a:prstGeom prst="rect">
              <a:avLst/>
            </a:prstGeom>
            <a:noFill/>
            <a:ln w="38100" cap="flat" cmpd="sng">
              <a:solidFill>
                <a:srgbClr val="FF9900"/>
              </a:solidFill>
              <a:prstDash val="solid"/>
              <a:miter/>
              <a:headEnd type="none" w="med" len="med"/>
              <a:tailEnd type="none" w="med" len="med"/>
            </a:ln>
          </p:spPr>
        </p:pic>
        <p:sp>
          <p:nvSpPr>
            <p:cNvPr id="28676" name="Rectangle 5"/>
            <p:cNvSpPr/>
            <p:nvPr/>
          </p:nvSpPr>
          <p:spPr>
            <a:xfrm>
              <a:off x="1392" y="1392"/>
              <a:ext cx="1440" cy="192"/>
            </a:xfrm>
            <a:prstGeom prst="rect">
              <a:avLst/>
            </a:prstGeom>
            <a:solidFill>
              <a:schemeClr val="tx1"/>
            </a:solidFill>
            <a:ln w="38100" cap="flat" cmpd="sng">
              <a:solidFill>
                <a:schemeClr val="tx1"/>
              </a:solidFill>
              <a:prstDash val="solid"/>
              <a:miter/>
              <a:headEnd type="none" w="med" len="med"/>
              <a:tailEnd type="none" w="med" len="med"/>
            </a:ln>
          </p:spPr>
          <p:txBody>
            <a:bodyPr wrap="none" anchor="ctr"/>
            <a:lstStyle/>
            <a:p>
              <a:pPr algn="ctr"/>
              <a:r>
                <a:rPr lang="zh-CN" altLang="en-US" sz="2000" b="1" dirty="0">
                  <a:solidFill>
                    <a:srgbClr val="A50021"/>
                  </a:solidFill>
                  <a:latin typeface="Times New Roman" panose="02020603050405020304" pitchFamily="18" charset="0"/>
                  <a:ea typeface="宋体" panose="02010600030101010101" pitchFamily="2" charset="-122"/>
                </a:rPr>
                <a:t>灰铸铁的显微组织</a:t>
              </a:r>
            </a:p>
          </p:txBody>
        </p:sp>
      </p:grpSp>
      <p:pic>
        <p:nvPicPr>
          <p:cNvPr id="28679" name="Picture 8" descr="金相显微镜"/>
          <p:cNvPicPr>
            <a:picLocks noChangeAspect="1"/>
          </p:cNvPicPr>
          <p:nvPr/>
        </p:nvPicPr>
        <p:blipFill>
          <a:blip r:embed="rId3"/>
          <a:stretch>
            <a:fillRect/>
          </a:stretch>
        </p:blipFill>
        <p:spPr>
          <a:xfrm>
            <a:off x="6119293" y="1556792"/>
            <a:ext cx="2823091" cy="4282380"/>
          </a:xfrm>
          <a:prstGeom prst="rect">
            <a:avLst/>
          </a:prstGeom>
          <a:noFill/>
          <a:ln w="38100" cap="flat" cmpd="sng">
            <a:solidFill>
              <a:srgbClr val="FFCC00"/>
            </a:solidFill>
            <a:prstDash val="solid"/>
            <a:miter/>
            <a:headEnd type="none" w="med" len="med"/>
            <a:tailEnd type="none" w="med" len="med"/>
          </a:ln>
        </p:spPr>
      </p:pic>
      <p:sp>
        <p:nvSpPr>
          <p:cNvPr id="28680" name="Text Box 9"/>
          <p:cNvSpPr txBox="1"/>
          <p:nvPr/>
        </p:nvSpPr>
        <p:spPr>
          <a:xfrm>
            <a:off x="6081571" y="1556792"/>
            <a:ext cx="1676400" cy="396875"/>
          </a:xfrm>
          <a:prstGeom prst="rect">
            <a:avLst/>
          </a:prstGeom>
          <a:noFill/>
          <a:ln w="9525">
            <a:noFill/>
          </a:ln>
        </p:spPr>
        <p:txBody>
          <a:bodyPr anchor="t">
            <a:spAutoFit/>
          </a:bodyPr>
          <a:lstStyle/>
          <a:p>
            <a:pPr algn="ct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光学显微镜</a:t>
            </a:r>
          </a:p>
        </p:txBody>
      </p:sp>
      <p:sp>
        <p:nvSpPr>
          <p:cNvPr id="28681" name="Rectangle 10"/>
          <p:cNvSpPr/>
          <p:nvPr/>
        </p:nvSpPr>
        <p:spPr>
          <a:xfrm>
            <a:off x="6214921" y="7081292"/>
            <a:ext cx="1619250" cy="30480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r>
              <a:rPr lang="zh-CN" altLang="zh-CN" b="1" dirty="0">
                <a:solidFill>
                  <a:srgbClr val="800000"/>
                </a:solidFill>
                <a:latin typeface="Times New Roman" panose="02020603050405020304" pitchFamily="18" charset="0"/>
                <a:ea typeface="宋体" panose="02010600030101010101" pitchFamily="2" charset="-122"/>
              </a:rPr>
              <a:t>Pb-Sn</a:t>
            </a:r>
            <a:r>
              <a:rPr lang="zh-CN" altLang="en-US" b="1" dirty="0">
                <a:solidFill>
                  <a:srgbClr val="800000"/>
                </a:solidFill>
                <a:latin typeface="Times New Roman" panose="02020603050405020304" pitchFamily="18" charset="0"/>
                <a:ea typeface="宋体" panose="02010600030101010101" pitchFamily="2" charset="-122"/>
              </a:rPr>
              <a:t>共晶组织</a:t>
            </a:r>
          </a:p>
        </p:txBody>
      </p:sp>
      <p:sp>
        <p:nvSpPr>
          <p:cNvPr id="28683" name="Text Box 11"/>
          <p:cNvSpPr txBox="1"/>
          <p:nvPr/>
        </p:nvSpPr>
        <p:spPr>
          <a:xfrm>
            <a:off x="762000" y="547688"/>
            <a:ext cx="5181600" cy="519112"/>
          </a:xfrm>
          <a:prstGeom prst="rect">
            <a:avLst/>
          </a:prstGeom>
          <a:solidFill>
            <a:srgbClr val="CCFF33"/>
          </a:solidFill>
          <a:ln w="9525">
            <a:noFill/>
          </a:ln>
        </p:spPr>
        <p:txBody>
          <a:bodyPr anchor="t">
            <a:spAutoFit/>
          </a:bodyPr>
          <a:lstStyle/>
          <a:p>
            <a:pPr>
              <a:spcBef>
                <a:spcPct val="50000"/>
              </a:spcBef>
            </a:pPr>
            <a:r>
              <a:rPr lang="zh-CN" altLang="en-US" sz="2800" b="1" dirty="0">
                <a:solidFill>
                  <a:srgbClr val="800000"/>
                </a:solidFill>
                <a:latin typeface="华文中宋" panose="02010600040101010101" pitchFamily="2" charset="-122"/>
                <a:ea typeface="华文中宋" panose="02010600040101010101" pitchFamily="2" charset="-122"/>
              </a:rPr>
              <a:t>人类对材料的认识是逐步深入的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8683"/>
                                        </p:tgtEl>
                                        <p:attrNameLst>
                                          <p:attrName>style.visibility</p:attrName>
                                        </p:attrNameLst>
                                      </p:cBhvr>
                                      <p:to>
                                        <p:strVal val="visible"/>
                                      </p:to>
                                    </p:set>
                                    <p:anim calcmode="lin" valueType="num">
                                      <p:cBhvr additive="base">
                                        <p:cTn id="7" dur="500" fill="hold"/>
                                        <p:tgtEl>
                                          <p:spTgt spid="28683"/>
                                        </p:tgtEl>
                                        <p:attrNameLst>
                                          <p:attrName>ppt_x</p:attrName>
                                        </p:attrNameLst>
                                      </p:cBhvr>
                                      <p:tavLst>
                                        <p:tav tm="0">
                                          <p:val>
                                            <p:strVal val="0-#ppt_w/2"/>
                                          </p:val>
                                        </p:tav>
                                        <p:tav tm="100000">
                                          <p:val>
                                            <p:strVal val="#ppt_x"/>
                                          </p:val>
                                        </p:tav>
                                      </p:tavLst>
                                    </p:anim>
                                    <p:anim calcmode="lin" valueType="num">
                                      <p:cBhvr additive="base">
                                        <p:cTn id="8" dur="500" fill="hold"/>
                                        <p:tgtEl>
                                          <p:spTgt spid="2868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8674">
                                            <p:txEl>
                                              <p:pRg st="0" end="0"/>
                                            </p:txEl>
                                          </p:spTgt>
                                        </p:tgtEl>
                                        <p:attrNameLst>
                                          <p:attrName>style.visibility</p:attrName>
                                        </p:attrNameLst>
                                      </p:cBhvr>
                                      <p:to>
                                        <p:strVal val="visible"/>
                                      </p:to>
                                    </p:set>
                                    <p:animEffect transition="in" filter="wipe(left)">
                                      <p:cBhvr>
                                        <p:cTn id="12" dur="500"/>
                                        <p:tgtEl>
                                          <p:spTgt spid="28674">
                                            <p:txEl>
                                              <p:pRg st="0" end="0"/>
                                            </p:txEl>
                                          </p:spTgt>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advAuto="1000"/>
      <p:bldP spid="2868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33400" y="381000"/>
            <a:ext cx="8305800" cy="1828800"/>
          </a:xfrm>
        </p:spPr>
        <p:txBody>
          <a:bodyPr vert="horz" wrap="square" lIns="92075" tIns="46038" rIns="92075" bIns="46038" numCol="1" anchor="ctr"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1912</a:t>
            </a:r>
            <a:r>
              <a:rPr kumimoji="0" 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年发现了</a:t>
            </a:r>
            <a:r>
              <a:rPr kumimoji="0" lang="zh-CN" alt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X-</a:t>
            </a:r>
            <a:r>
              <a:rPr kumimoji="0" lang="zh-CN" sz="2800" b="1" i="0" u="none" strike="noStrike" kern="0" cap="none" spc="0" normalizeH="0" baseline="0" noProof="0">
                <a:ln>
                  <a:noFill/>
                </a:ln>
                <a:solidFill>
                  <a:schemeClr val="folHlink"/>
                </a:solidFill>
                <a:effectLst/>
                <a:uLnTx/>
                <a:uFillTx/>
                <a:latin typeface="Times New Roman" panose="02020603050405020304" pitchFamily="18" charset="0"/>
                <a:ea typeface="华文中宋" panose="02010600040101010101" pitchFamily="2" charset="-122"/>
                <a:cs typeface="+mj-cs"/>
              </a:rPr>
              <a:t>射线对晶体的作用并在随后被用于晶体衍射分析，使人们对固体材料微观结构的认识从最初的假想到科学的现实。</a:t>
            </a:r>
            <a:r>
              <a:rPr kumimoji="0" lang="zh-CN" sz="28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p>
        </p:txBody>
      </p:sp>
      <p:grpSp>
        <p:nvGrpSpPr>
          <p:cNvPr id="2" name="Group 3"/>
          <p:cNvGrpSpPr/>
          <p:nvPr/>
        </p:nvGrpSpPr>
        <p:grpSpPr>
          <a:xfrm>
            <a:off x="685800" y="2819400"/>
            <a:ext cx="4648200" cy="3446463"/>
            <a:chOff x="0" y="0"/>
            <a:chExt cx="2928" cy="2171"/>
          </a:xfrm>
        </p:grpSpPr>
        <p:pic>
          <p:nvPicPr>
            <p:cNvPr id="29699" name="Picture 4" descr="Si表面的重构图象"/>
            <p:cNvPicPr>
              <a:picLocks noChangeAspect="1"/>
            </p:cNvPicPr>
            <p:nvPr/>
          </p:nvPicPr>
          <p:blipFill>
            <a:blip r:embed="rId2"/>
            <a:stretch>
              <a:fillRect/>
            </a:stretch>
          </p:blipFill>
          <p:spPr>
            <a:xfrm>
              <a:off x="0" y="0"/>
              <a:ext cx="2920" cy="2171"/>
            </a:xfrm>
            <a:prstGeom prst="rect">
              <a:avLst/>
            </a:prstGeom>
            <a:noFill/>
            <a:ln w="38100" cap="flat" cmpd="sng">
              <a:solidFill>
                <a:srgbClr val="00FF00"/>
              </a:solidFill>
              <a:prstDash val="solid"/>
              <a:miter/>
              <a:headEnd type="none" w="med" len="med"/>
              <a:tailEnd type="none" w="med" len="med"/>
            </a:ln>
          </p:spPr>
        </p:pic>
        <p:sp>
          <p:nvSpPr>
            <p:cNvPr id="29700" name="Text Box 5"/>
            <p:cNvSpPr txBox="1"/>
            <p:nvPr/>
          </p:nvSpPr>
          <p:spPr>
            <a:xfrm>
              <a:off x="1536" y="1920"/>
              <a:ext cx="1392" cy="250"/>
            </a:xfrm>
            <a:prstGeom prst="rect">
              <a:avLst/>
            </a:prstGeom>
            <a:solidFill>
              <a:srgbClr val="FF6600">
                <a:alpha val="50195"/>
              </a:srgbClr>
            </a:solidFill>
            <a:ln w="9525">
              <a:noFill/>
            </a:ln>
          </p:spPr>
          <p:txBody>
            <a:bodyPr anchor="t">
              <a:spAutoFit/>
            </a:bodyPr>
            <a:lstStyle/>
            <a:p>
              <a:pPr algn="ctr">
                <a:spcBef>
                  <a:spcPct val="50000"/>
                </a:spcBef>
              </a:pPr>
              <a:r>
                <a:rPr lang="zh-CN" altLang="zh-CN" sz="2000" b="1" dirty="0">
                  <a:solidFill>
                    <a:schemeClr val="folHlink"/>
                  </a:solidFill>
                  <a:latin typeface="Times New Roman" panose="02020603050405020304" pitchFamily="18" charset="0"/>
                  <a:ea typeface="宋体" panose="02010600030101010101" pitchFamily="2" charset="-122"/>
                </a:rPr>
                <a:t>Si</a:t>
              </a:r>
              <a:r>
                <a:rPr lang="zh-CN" altLang="en-US" sz="2000" b="1" dirty="0">
                  <a:solidFill>
                    <a:schemeClr val="folHlink"/>
                  </a:solidFill>
                  <a:latin typeface="Times New Roman" panose="02020603050405020304" pitchFamily="18" charset="0"/>
                  <a:ea typeface="宋体" panose="02010600030101010101" pitchFamily="2" charset="-122"/>
                </a:rPr>
                <a:t>表面的重构图象</a:t>
              </a:r>
            </a:p>
          </p:txBody>
        </p:sp>
      </p:grpSp>
      <p:grpSp>
        <p:nvGrpSpPr>
          <p:cNvPr id="3" name="Group 6"/>
          <p:cNvGrpSpPr/>
          <p:nvPr/>
        </p:nvGrpSpPr>
        <p:grpSpPr>
          <a:xfrm>
            <a:off x="5715000" y="1943100"/>
            <a:ext cx="2762250" cy="4343400"/>
            <a:chOff x="0" y="0"/>
            <a:chExt cx="1740" cy="2736"/>
          </a:xfrm>
        </p:grpSpPr>
        <p:grpSp>
          <p:nvGrpSpPr>
            <p:cNvPr id="29702" name="Group 7"/>
            <p:cNvGrpSpPr/>
            <p:nvPr/>
          </p:nvGrpSpPr>
          <p:grpSpPr>
            <a:xfrm>
              <a:off x="0" y="0"/>
              <a:ext cx="1740" cy="2722"/>
              <a:chOff x="0" y="0"/>
              <a:chExt cx="1740" cy="2722"/>
            </a:xfrm>
          </p:grpSpPr>
          <p:pic>
            <p:nvPicPr>
              <p:cNvPr id="29703" name="Picture 8" descr="X-射线衍射仪"/>
              <p:cNvPicPr>
                <a:picLocks noChangeAspect="1"/>
              </p:cNvPicPr>
              <p:nvPr/>
            </p:nvPicPr>
            <p:blipFill>
              <a:blip r:embed="rId3"/>
              <a:stretch>
                <a:fillRect/>
              </a:stretch>
            </p:blipFill>
            <p:spPr>
              <a:xfrm>
                <a:off x="0" y="0"/>
                <a:ext cx="1737" cy="2484"/>
              </a:xfrm>
              <a:prstGeom prst="rect">
                <a:avLst/>
              </a:prstGeom>
              <a:noFill/>
              <a:ln w="38100">
                <a:noFill/>
              </a:ln>
            </p:spPr>
          </p:pic>
          <p:sp>
            <p:nvSpPr>
              <p:cNvPr id="29704" name="Text Box 9"/>
              <p:cNvSpPr txBox="1"/>
              <p:nvPr/>
            </p:nvSpPr>
            <p:spPr>
              <a:xfrm>
                <a:off x="0" y="2472"/>
                <a:ext cx="1740" cy="250"/>
              </a:xfrm>
              <a:prstGeom prst="rect">
                <a:avLst/>
              </a:prstGeom>
              <a:solidFill>
                <a:schemeClr val="tx1"/>
              </a:solidFill>
              <a:ln w="9525">
                <a:noFill/>
              </a:ln>
            </p:spPr>
            <p:txBody>
              <a:bodyPr anchor="t">
                <a:spAutoFit/>
              </a:bodyPr>
              <a:lstStyle/>
              <a:p>
                <a:pPr algn="ctr">
                  <a:spcBef>
                    <a:spcPct val="50000"/>
                  </a:spcBef>
                </a:pPr>
                <a:r>
                  <a:rPr lang="zh-CN" altLang="zh-CN" sz="2000" b="1" dirty="0">
                    <a:solidFill>
                      <a:schemeClr val="hlink"/>
                    </a:solidFill>
                    <a:latin typeface="Times New Roman" panose="02020603050405020304" pitchFamily="18" charset="0"/>
                    <a:ea typeface="宋体" panose="02010600030101010101" pitchFamily="2" charset="-122"/>
                  </a:rPr>
                  <a:t>X-</a:t>
                </a:r>
                <a:r>
                  <a:rPr lang="zh-CN" altLang="en-US" sz="2000" b="1" dirty="0">
                    <a:solidFill>
                      <a:schemeClr val="hlink"/>
                    </a:solidFill>
                    <a:latin typeface="Times New Roman" panose="02020603050405020304" pitchFamily="18" charset="0"/>
                    <a:ea typeface="宋体" panose="02010600030101010101" pitchFamily="2" charset="-122"/>
                  </a:rPr>
                  <a:t>射线衍射仪</a:t>
                </a:r>
              </a:p>
            </p:txBody>
          </p:sp>
        </p:grpSp>
        <p:sp>
          <p:nvSpPr>
            <p:cNvPr id="29705" name="Rectangle 10"/>
            <p:cNvSpPr/>
            <p:nvPr/>
          </p:nvSpPr>
          <p:spPr>
            <a:xfrm>
              <a:off x="0" y="0"/>
              <a:ext cx="1728" cy="2736"/>
            </a:xfrm>
            <a:prstGeom prst="rect">
              <a:avLst/>
            </a:prstGeom>
            <a:noFill/>
            <a:ln w="38100" cap="flat" cmpd="sng">
              <a:solidFill>
                <a:srgbClr val="FF990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wipe(left)">
                                      <p:cBhvr>
                                        <p:cTn id="7" dur="500"/>
                                        <p:tgtEl>
                                          <p:spTgt spid="2969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62000" y="304800"/>
            <a:ext cx="3124200" cy="2667000"/>
          </a:xfrm>
        </p:spPr>
        <p:txBody>
          <a:bodyPr vert="horz" wrap="square" lIns="92075" tIns="46038" rIns="92075" bIns="46038" numCol="1" anchor="ctr"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1932</a:t>
            </a:r>
            <a:r>
              <a:rPr kumimoji="0" 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年发明了电子显微镜，把人们带到了微观世界的更深层次（</a:t>
            </a:r>
            <a:r>
              <a:rPr kumimoji="0" lang="zh-CN" alt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10</a:t>
            </a:r>
            <a:r>
              <a:rPr kumimoji="0" lang="zh-CN" altLang="zh-CN" sz="2800" b="1" i="0" u="none" strike="noStrike" kern="0" cap="none" spc="0" normalizeH="0" baseline="30000" noProof="0">
                <a:ln>
                  <a:noFill/>
                </a:ln>
                <a:solidFill>
                  <a:srgbClr val="800000"/>
                </a:solidFill>
                <a:effectLst/>
                <a:uLnTx/>
                <a:uFillTx/>
                <a:latin typeface="Times New Roman" panose="02020603050405020304" pitchFamily="18" charset="0"/>
                <a:ea typeface="华文中宋" panose="02010600040101010101" pitchFamily="2" charset="-122"/>
                <a:cs typeface="+mj-cs"/>
              </a:rPr>
              <a:t>-7</a:t>
            </a:r>
            <a:r>
              <a:rPr kumimoji="0" lang="zh-CN" alt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m</a:t>
            </a:r>
            <a:r>
              <a:rPr kumimoji="0" 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a:t>
            </a:r>
            <a:r>
              <a:rPr kumimoji="0" lang="zh-CN" alt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a:t>
            </a:r>
            <a:r>
              <a:rPr kumimoji="0" lang="zh-CN" altLang="zh-CN" sz="2800" b="0" i="0" u="none" strike="noStrike" kern="0" cap="none" spc="0" normalizeH="0" baseline="0" noProof="0">
                <a:ln>
                  <a:noFill/>
                </a:ln>
                <a:solidFill>
                  <a:schemeClr val="hlink"/>
                </a:solidFill>
                <a:effectLst>
                  <a:outerShdw blurRad="38100" dist="38100" dir="2700000" algn="tl">
                    <a:srgbClr val="C0C0C0"/>
                  </a:outerShdw>
                </a:effectLst>
                <a:uLnTx/>
                <a:uFillTx/>
                <a:latin typeface="+mj-lt"/>
                <a:ea typeface="华文行楷" panose="02010800040101010101" pitchFamily="2" charset="-122"/>
                <a:cs typeface="+mj-cs"/>
              </a:rPr>
              <a:t> </a:t>
            </a:r>
          </a:p>
        </p:txBody>
      </p:sp>
      <p:grpSp>
        <p:nvGrpSpPr>
          <p:cNvPr id="2" name="Group 3"/>
          <p:cNvGrpSpPr/>
          <p:nvPr/>
        </p:nvGrpSpPr>
        <p:grpSpPr>
          <a:xfrm>
            <a:off x="838200" y="3470275"/>
            <a:ext cx="7697788" cy="3082925"/>
            <a:chOff x="0" y="0"/>
            <a:chExt cx="4849" cy="1942"/>
          </a:xfrm>
        </p:grpSpPr>
        <p:sp>
          <p:nvSpPr>
            <p:cNvPr id="30724" name="Text Box 4"/>
            <p:cNvSpPr txBox="1"/>
            <p:nvPr/>
          </p:nvSpPr>
          <p:spPr>
            <a:xfrm>
              <a:off x="384" y="1654"/>
              <a:ext cx="1776" cy="288"/>
            </a:xfrm>
            <a:prstGeom prst="rect">
              <a:avLst/>
            </a:prstGeom>
            <a:noFill/>
            <a:ln w="9525">
              <a:noFill/>
            </a:ln>
          </p:spPr>
          <p:txBody>
            <a:bodyPr anchor="t">
              <a:spAutoFit/>
            </a:bodyPr>
            <a:lstStyle/>
            <a:p>
              <a:pPr algn="ctr">
                <a:spcBef>
                  <a:spcPct val="50000"/>
                </a:spcBef>
              </a:pPr>
              <a:r>
                <a:rPr lang="zh-CN" altLang="en-US" sz="2000" b="1" dirty="0">
                  <a:solidFill>
                    <a:srgbClr val="FF0000"/>
                  </a:solidFill>
                  <a:latin typeface="Times New Roman" panose="02020603050405020304" pitchFamily="18" charset="0"/>
                  <a:ea typeface="宋体" panose="02010600030101010101" pitchFamily="2" charset="-122"/>
                </a:rPr>
                <a:t>透射电子显微镜</a:t>
              </a:r>
              <a:r>
                <a:rPr lang="zh-CN" altLang="en-US" sz="2400" dirty="0">
                  <a:latin typeface="Times New Roman" panose="02020603050405020304" pitchFamily="18" charset="0"/>
                  <a:ea typeface="宋体" panose="02010600030101010101" pitchFamily="2" charset="-122"/>
                </a:rPr>
                <a:t> </a:t>
              </a:r>
            </a:p>
          </p:txBody>
        </p:sp>
        <p:pic>
          <p:nvPicPr>
            <p:cNvPr id="30725" name="Picture 5" descr="透射电镜"/>
            <p:cNvPicPr>
              <a:picLocks noChangeAspect="1"/>
            </p:cNvPicPr>
            <p:nvPr/>
          </p:nvPicPr>
          <p:blipFill>
            <a:blip r:embed="rId2"/>
            <a:stretch>
              <a:fillRect/>
            </a:stretch>
          </p:blipFill>
          <p:spPr>
            <a:xfrm>
              <a:off x="0" y="0"/>
              <a:ext cx="2376" cy="1604"/>
            </a:xfrm>
            <a:prstGeom prst="rect">
              <a:avLst/>
            </a:prstGeom>
            <a:noFill/>
            <a:ln w="57150" cap="flat" cmpd="sng">
              <a:solidFill>
                <a:srgbClr val="00FFFF"/>
              </a:solidFill>
              <a:prstDash val="solid"/>
              <a:miter/>
              <a:headEnd type="none" w="med" len="med"/>
              <a:tailEnd type="none" w="med" len="med"/>
            </a:ln>
          </p:spPr>
        </p:pic>
        <p:sp>
          <p:nvSpPr>
            <p:cNvPr id="30726" name="Text Box 6"/>
            <p:cNvSpPr txBox="1"/>
            <p:nvPr/>
          </p:nvSpPr>
          <p:spPr>
            <a:xfrm>
              <a:off x="2832" y="1642"/>
              <a:ext cx="1728" cy="288"/>
            </a:xfrm>
            <a:prstGeom prst="rect">
              <a:avLst/>
            </a:prstGeom>
            <a:noFill/>
            <a:ln w="9525">
              <a:noFill/>
            </a:ln>
          </p:spPr>
          <p:txBody>
            <a:bodyPr anchor="t">
              <a:spAutoFit/>
            </a:bodyPr>
            <a:lstStyle/>
            <a:p>
              <a:pPr algn="ctr">
                <a:spcBef>
                  <a:spcPct val="50000"/>
                </a:spcBef>
              </a:pPr>
              <a:r>
                <a:rPr lang="zh-CN" altLang="en-US" sz="2000" b="1" dirty="0">
                  <a:solidFill>
                    <a:schemeClr val="hlink"/>
                  </a:solidFill>
                  <a:latin typeface="Times New Roman" panose="02020603050405020304" pitchFamily="18" charset="0"/>
                  <a:ea typeface="宋体" panose="02010600030101010101" pitchFamily="2" charset="-122"/>
                </a:rPr>
                <a:t>扫描电子显微镜</a:t>
              </a:r>
              <a:r>
                <a:rPr lang="zh-CN" altLang="en-US" sz="2400" dirty="0">
                  <a:latin typeface="Times New Roman" panose="02020603050405020304" pitchFamily="18" charset="0"/>
                  <a:ea typeface="宋体" panose="02010600030101010101" pitchFamily="2" charset="-122"/>
                </a:rPr>
                <a:t> </a:t>
              </a:r>
            </a:p>
          </p:txBody>
        </p:sp>
        <p:pic>
          <p:nvPicPr>
            <p:cNvPr id="30727" name="Picture 7" descr="扫描电镜"/>
            <p:cNvPicPr>
              <a:picLocks noChangeAspect="1"/>
            </p:cNvPicPr>
            <p:nvPr/>
          </p:nvPicPr>
          <p:blipFill>
            <a:blip r:embed="rId3"/>
            <a:stretch>
              <a:fillRect/>
            </a:stretch>
          </p:blipFill>
          <p:spPr>
            <a:xfrm>
              <a:off x="2496" y="0"/>
              <a:ext cx="2353" cy="1606"/>
            </a:xfrm>
            <a:prstGeom prst="rect">
              <a:avLst/>
            </a:prstGeom>
            <a:noFill/>
            <a:ln w="57150" cap="flat" cmpd="sng">
              <a:solidFill>
                <a:srgbClr val="00FFFF"/>
              </a:solidFill>
              <a:prstDash val="solid"/>
              <a:miter/>
              <a:headEnd type="none" w="med" len="med"/>
              <a:tailEnd type="none" w="med" len="med"/>
            </a:ln>
          </p:spPr>
        </p:pic>
      </p:grpSp>
      <p:grpSp>
        <p:nvGrpSpPr>
          <p:cNvPr id="3" name="Group 8"/>
          <p:cNvGrpSpPr/>
          <p:nvPr/>
        </p:nvGrpSpPr>
        <p:grpSpPr>
          <a:xfrm>
            <a:off x="4876800" y="533400"/>
            <a:ext cx="3536950" cy="2847975"/>
            <a:chOff x="0" y="0"/>
            <a:chExt cx="2228" cy="1794"/>
          </a:xfrm>
        </p:grpSpPr>
        <p:pic>
          <p:nvPicPr>
            <p:cNvPr id="30729" name="Picture 9" descr="旋转 板条M"/>
            <p:cNvPicPr>
              <a:picLocks noChangeAspect="1"/>
            </p:cNvPicPr>
            <p:nvPr/>
          </p:nvPicPr>
          <p:blipFill>
            <a:blip r:embed="rId4"/>
            <a:stretch>
              <a:fillRect/>
            </a:stretch>
          </p:blipFill>
          <p:spPr>
            <a:xfrm>
              <a:off x="1104" y="0"/>
              <a:ext cx="1124" cy="1588"/>
            </a:xfrm>
            <a:prstGeom prst="rect">
              <a:avLst/>
            </a:prstGeom>
            <a:noFill/>
            <a:ln w="9525">
              <a:noFill/>
            </a:ln>
          </p:spPr>
        </p:pic>
        <p:pic>
          <p:nvPicPr>
            <p:cNvPr id="30730" name="Picture 10" descr="旋转 板条M1"/>
            <p:cNvPicPr>
              <a:picLocks noChangeAspect="1"/>
            </p:cNvPicPr>
            <p:nvPr/>
          </p:nvPicPr>
          <p:blipFill>
            <a:blip r:embed="rId5"/>
            <a:stretch>
              <a:fillRect/>
            </a:stretch>
          </p:blipFill>
          <p:spPr>
            <a:xfrm>
              <a:off x="0" y="0"/>
              <a:ext cx="982" cy="1587"/>
            </a:xfrm>
            <a:prstGeom prst="rect">
              <a:avLst/>
            </a:prstGeom>
            <a:noFill/>
            <a:ln w="9525">
              <a:noFill/>
            </a:ln>
          </p:spPr>
        </p:pic>
        <p:sp>
          <p:nvSpPr>
            <p:cNvPr id="30731" name="Text Box 11"/>
            <p:cNvSpPr txBox="1"/>
            <p:nvPr/>
          </p:nvSpPr>
          <p:spPr>
            <a:xfrm>
              <a:off x="240" y="1563"/>
              <a:ext cx="672" cy="231"/>
            </a:xfrm>
            <a:prstGeom prst="rect">
              <a:avLst/>
            </a:prstGeom>
            <a:noFill/>
            <a:ln w="9525">
              <a:noFill/>
            </a:ln>
          </p:spPr>
          <p:txBody>
            <a:bodyPr anchor="t">
              <a:spAutoFit/>
            </a:bodyPr>
            <a:lstStyle/>
            <a:p>
              <a:pPr>
                <a:spcBef>
                  <a:spcPct val="50000"/>
                </a:spcBef>
              </a:pPr>
              <a:r>
                <a:rPr lang="zh-CN" altLang="en-US" b="1" dirty="0">
                  <a:solidFill>
                    <a:srgbClr val="A50021"/>
                  </a:solidFill>
                  <a:latin typeface="Times New Roman" panose="02020603050405020304" pitchFamily="18" charset="0"/>
                  <a:ea typeface="宋体" panose="02010600030101010101" pitchFamily="2" charset="-122"/>
                </a:rPr>
                <a:t>光镜下</a:t>
              </a:r>
            </a:p>
          </p:txBody>
        </p:sp>
        <p:sp>
          <p:nvSpPr>
            <p:cNvPr id="30732" name="Text Box 12"/>
            <p:cNvSpPr txBox="1"/>
            <p:nvPr/>
          </p:nvSpPr>
          <p:spPr>
            <a:xfrm>
              <a:off x="1449" y="1563"/>
              <a:ext cx="672" cy="231"/>
            </a:xfrm>
            <a:prstGeom prst="rect">
              <a:avLst/>
            </a:prstGeom>
            <a:noFill/>
            <a:ln w="9525">
              <a:noFill/>
            </a:ln>
          </p:spPr>
          <p:txBody>
            <a:bodyPr anchor="t">
              <a:spAutoFit/>
            </a:bodyPr>
            <a:lstStyle/>
            <a:p>
              <a:pPr>
                <a:spcBef>
                  <a:spcPct val="50000"/>
                </a:spcBef>
              </a:pPr>
              <a:r>
                <a:rPr lang="zh-CN" altLang="en-US" b="1" dirty="0">
                  <a:solidFill>
                    <a:srgbClr val="A50021"/>
                  </a:solidFill>
                  <a:latin typeface="Times New Roman" panose="02020603050405020304" pitchFamily="18" charset="0"/>
                  <a:ea typeface="宋体" panose="02010600030101010101" pitchFamily="2" charset="-122"/>
                </a:rPr>
                <a:t>电镜下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ipe(left)">
                                      <p:cBhvr>
                                        <p:cTn id="7" dur="500"/>
                                        <p:tgtEl>
                                          <p:spTgt spid="3072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body" sz="half" idx="1"/>
          </p:nvPr>
        </p:nvSpPr>
        <p:spPr>
          <a:xfrm>
            <a:off x="304800" y="571500"/>
            <a:ext cx="3886200" cy="5715000"/>
          </a:xfrm>
        </p:spPr>
        <p:txBody>
          <a:bodyPr vert="horz" wrap="square" lIns="91440" tIns="45720" rIns="91440" bIns="45720" anchor="t"/>
          <a:lstStyle/>
          <a:p>
            <a:pPr eaLnBrk="1" hangingPunct="1">
              <a:lnSpc>
                <a:spcPct val="140000"/>
              </a:lnSpc>
              <a:buClr>
                <a:schemeClr val="accent2"/>
              </a:buClr>
              <a:buSzPct val="80000"/>
              <a:buFont typeface="Wingdings" panose="05000000000000000000" pitchFamily="2" charset="2"/>
            </a:pPr>
            <a:r>
              <a:rPr lang="zh-CN" altLang="zh-CN" sz="2800" b="1" dirty="0">
                <a:solidFill>
                  <a:schemeClr val="folHlink"/>
                </a:solidFill>
                <a:ea typeface="华文中宋" panose="02010600040101010101" pitchFamily="2" charset="-122"/>
              </a:rPr>
              <a:t>1934</a:t>
            </a:r>
            <a:r>
              <a:rPr lang="zh-CN" altLang="en-US" sz="2800" b="1" dirty="0">
                <a:solidFill>
                  <a:schemeClr val="folHlink"/>
                </a:solidFill>
                <a:ea typeface="华文中宋" panose="02010600040101010101" pitchFamily="2" charset="-122"/>
              </a:rPr>
              <a:t>年位错理论的提出，解决了晶体理论计算强度与实验测得的实际强度之间存在的巨大差别的矛盾，对于人们认识材料的力学性能及设计高强度材料具有划时代的意义。例如锻造，材料原子排列发生变化。</a:t>
            </a:r>
          </a:p>
        </p:txBody>
      </p:sp>
      <p:grpSp>
        <p:nvGrpSpPr>
          <p:cNvPr id="2" name="Group 3"/>
          <p:cNvGrpSpPr/>
          <p:nvPr/>
        </p:nvGrpSpPr>
        <p:grpSpPr>
          <a:xfrm>
            <a:off x="4495800" y="838200"/>
            <a:ext cx="4121150" cy="5038725"/>
            <a:chOff x="0" y="0"/>
            <a:chExt cx="2596" cy="3174"/>
          </a:xfrm>
        </p:grpSpPr>
        <p:pic>
          <p:nvPicPr>
            <p:cNvPr id="31747" name="Picture 4" descr="位错"/>
            <p:cNvPicPr>
              <a:picLocks noChangeAspect="1"/>
            </p:cNvPicPr>
            <p:nvPr/>
          </p:nvPicPr>
          <p:blipFill>
            <a:blip r:embed="rId2"/>
            <a:stretch>
              <a:fillRect/>
            </a:stretch>
          </p:blipFill>
          <p:spPr>
            <a:xfrm>
              <a:off x="0" y="0"/>
              <a:ext cx="2596" cy="3174"/>
            </a:xfrm>
            <a:prstGeom prst="rect">
              <a:avLst/>
            </a:prstGeom>
            <a:noFill/>
            <a:ln w="38100" cap="flat" cmpd="sng">
              <a:solidFill>
                <a:srgbClr val="CC99FF"/>
              </a:solidFill>
              <a:prstDash val="solid"/>
              <a:miter/>
              <a:headEnd type="none" w="med" len="med"/>
              <a:tailEnd type="none" w="med" len="med"/>
            </a:ln>
          </p:spPr>
        </p:pic>
        <p:sp>
          <p:nvSpPr>
            <p:cNvPr id="31748" name="Text Box 5"/>
            <p:cNvSpPr txBox="1"/>
            <p:nvPr/>
          </p:nvSpPr>
          <p:spPr>
            <a:xfrm>
              <a:off x="1092" y="2880"/>
              <a:ext cx="1488" cy="288"/>
            </a:xfrm>
            <a:prstGeom prst="rect">
              <a:avLst/>
            </a:prstGeom>
            <a:solidFill>
              <a:schemeClr val="bg2">
                <a:alpha val="50195"/>
              </a:schemeClr>
            </a:solidFill>
            <a:ln w="9525">
              <a:noFill/>
            </a:ln>
          </p:spPr>
          <p:txBody>
            <a:bodyPr anchor="t">
              <a:spAutoFit/>
            </a:bodyPr>
            <a:lstStyle/>
            <a:p>
              <a:pPr algn="ctr">
                <a:spcBef>
                  <a:spcPct val="50000"/>
                </a:spcBef>
              </a:pPr>
              <a:r>
                <a:rPr lang="zh-CN" altLang="en-US" sz="2400" b="1" dirty="0">
                  <a:solidFill>
                    <a:schemeClr val="folHlink"/>
                  </a:solidFill>
                  <a:latin typeface="Times New Roman" panose="02020603050405020304" pitchFamily="18" charset="0"/>
                  <a:ea typeface="华文中宋" panose="02010600040101010101" pitchFamily="2" charset="-122"/>
                </a:rPr>
                <a:t>金属钛中的位错</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animEffect transition="in" filter="wipe(left)">
                                      <p:cBhvr>
                                        <p:cTn id="7" dur="500"/>
                                        <p:tgtEl>
                                          <p:spTgt spid="31746">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advAuto="100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idx="1"/>
          </p:nvPr>
        </p:nvSpPr>
        <p:spPr>
          <a:xfrm>
            <a:off x="685800" y="649288"/>
            <a:ext cx="7848600" cy="6019800"/>
          </a:xfrm>
        </p:spPr>
        <p:txBody>
          <a:bodyPr vert="horz" wrap="square" lIns="91440" tIns="45720" rIns="91440" bIns="45720" anchor="t"/>
          <a:lstStyle/>
          <a:p>
            <a:pPr eaLnBrk="1" hangingPunct="1">
              <a:lnSpc>
                <a:spcPct val="140000"/>
              </a:lnSpc>
              <a:buNone/>
            </a:pPr>
            <a:r>
              <a:rPr lang="zh-CN" altLang="zh-CN" sz="2800" b="1" dirty="0">
                <a:solidFill>
                  <a:schemeClr val="accent1"/>
                </a:solidFill>
                <a:ea typeface="华文中宋" panose="02010600040101010101" pitchFamily="2" charset="-122"/>
              </a:rPr>
              <a:t>①</a:t>
            </a:r>
            <a:r>
              <a:rPr lang="zh-CN" altLang="zh-CN" sz="2800" b="1" dirty="0">
                <a:solidFill>
                  <a:schemeClr val="tx2"/>
                </a:solidFill>
                <a:ea typeface="华文中宋" panose="02010600040101010101" pitchFamily="2" charset="-122"/>
              </a:rPr>
              <a:t> </a:t>
            </a:r>
            <a:r>
              <a:rPr lang="zh-CN" altLang="en-US" sz="2800" b="1" dirty="0">
                <a:solidFill>
                  <a:schemeClr val="tx2"/>
                </a:solidFill>
                <a:ea typeface="华文中宋" panose="02010600040101010101" pitchFamily="2" charset="-122"/>
              </a:rPr>
              <a:t>化学成分</a:t>
            </a:r>
            <a:r>
              <a:rPr lang="zh-CN" altLang="zh-CN" sz="2800" b="1" dirty="0">
                <a:solidFill>
                  <a:schemeClr val="tx2"/>
                </a:solidFill>
                <a:ea typeface="华文中宋" panose="02010600040101010101" pitchFamily="2" charset="-122"/>
              </a:rPr>
              <a:t>(</a:t>
            </a:r>
            <a:r>
              <a:rPr lang="zh-CN" altLang="en-US" sz="2800" b="1" dirty="0">
                <a:solidFill>
                  <a:schemeClr val="tx2"/>
                </a:solidFill>
                <a:ea typeface="华文中宋" panose="02010600040101010101" pitchFamily="2" charset="-122"/>
              </a:rPr>
              <a:t>成分</a:t>
            </a:r>
            <a:r>
              <a:rPr lang="zh-CN" altLang="zh-CN" sz="2800" b="1" dirty="0">
                <a:solidFill>
                  <a:schemeClr val="tx2"/>
                </a:solidFill>
                <a:ea typeface="华文中宋" panose="02010600040101010101" pitchFamily="2" charset="-122"/>
              </a:rPr>
              <a:t>)</a:t>
            </a:r>
            <a:r>
              <a:rPr lang="zh-CN" altLang="en-US" sz="2800" b="1" dirty="0">
                <a:solidFill>
                  <a:schemeClr val="tx2"/>
                </a:solidFill>
                <a:ea typeface="华文中宋" panose="02010600040101010101" pitchFamily="2" charset="-122"/>
              </a:rPr>
              <a:t>：</a:t>
            </a:r>
            <a:r>
              <a:rPr lang="zh-CN" altLang="en-US" sz="2800" b="1" dirty="0">
                <a:solidFill>
                  <a:schemeClr val="folHlink"/>
                </a:solidFill>
                <a:ea typeface="华文中宋" panose="02010600040101010101" pitchFamily="2" charset="-122"/>
              </a:rPr>
              <a:t>组成材料各元素在材料中的浓度。</a:t>
            </a:r>
          </a:p>
          <a:p>
            <a:pPr eaLnBrk="1" hangingPunct="1">
              <a:lnSpc>
                <a:spcPct val="140000"/>
              </a:lnSpc>
              <a:buNone/>
            </a:pPr>
            <a:r>
              <a:rPr lang="en-US" altLang="zh-CN" sz="2800" b="1" dirty="0">
                <a:solidFill>
                  <a:schemeClr val="accent1"/>
                </a:solidFill>
                <a:ea typeface="华文中宋" panose="02010600040101010101" pitchFamily="2" charset="-122"/>
              </a:rPr>
              <a:t>②</a:t>
            </a:r>
            <a:r>
              <a:rPr lang="en-US" altLang="zh-CN" sz="2800" b="1" dirty="0">
                <a:solidFill>
                  <a:schemeClr val="tx2"/>
                </a:solidFill>
                <a:ea typeface="华文中宋" panose="02010600040101010101" pitchFamily="2" charset="-122"/>
              </a:rPr>
              <a:t> </a:t>
            </a:r>
            <a:r>
              <a:rPr lang="zh-CN" altLang="en-US" sz="2800" b="1" dirty="0">
                <a:solidFill>
                  <a:schemeClr val="tx2"/>
                </a:solidFill>
                <a:ea typeface="华文中宋" panose="02010600040101010101" pitchFamily="2" charset="-122"/>
              </a:rPr>
              <a:t>组织：</a:t>
            </a:r>
            <a:r>
              <a:rPr lang="zh-CN" altLang="en-US" sz="2800" b="1" dirty="0">
                <a:solidFill>
                  <a:schemeClr val="folHlink"/>
                </a:solidFill>
                <a:ea typeface="华文中宋" panose="02010600040101010101" pitchFamily="2" charset="-122"/>
              </a:rPr>
              <a:t>用肉眼或借助于不同放大倍数的显微镜所观察到的金属内部的情景。</a:t>
            </a:r>
          </a:p>
          <a:p>
            <a:pPr eaLnBrk="1" hangingPunct="1">
              <a:lnSpc>
                <a:spcPct val="140000"/>
              </a:lnSpc>
            </a:pPr>
            <a:r>
              <a:rPr lang="zh-CN" altLang="en-US" sz="2800" b="1" dirty="0">
                <a:ea typeface="华文中宋" panose="02010600040101010101" pitchFamily="2" charset="-122"/>
              </a:rPr>
              <a:t>习惯上把用肉眼或几十倍放大镜观察到的组织</a:t>
            </a:r>
            <a:r>
              <a:rPr lang="zh-CN" altLang="en-US" sz="2800" b="1" dirty="0">
                <a:solidFill>
                  <a:srgbClr val="CCFF33"/>
                </a:solidFill>
                <a:ea typeface="华文中宋" panose="02010600040101010101" pitchFamily="2" charset="-122"/>
              </a:rPr>
              <a:t>称低倍组织</a:t>
            </a:r>
            <a:r>
              <a:rPr lang="zh-CN" altLang="en-US" sz="2800" b="1" dirty="0">
                <a:ea typeface="华文中宋" panose="02010600040101010101" pitchFamily="2" charset="-122"/>
              </a:rPr>
              <a:t>或</a:t>
            </a:r>
            <a:r>
              <a:rPr lang="zh-CN" altLang="en-US" sz="2800" b="1" dirty="0">
                <a:solidFill>
                  <a:srgbClr val="CCFF33"/>
                </a:solidFill>
                <a:ea typeface="华文中宋" panose="02010600040101010101" pitchFamily="2" charset="-122"/>
              </a:rPr>
              <a:t>宏观组织</a:t>
            </a:r>
            <a:r>
              <a:rPr lang="zh-CN" altLang="en-US" sz="2800" b="1" dirty="0">
                <a:ea typeface="华文中宋" panose="02010600040101010101" pitchFamily="2" charset="-122"/>
              </a:rPr>
              <a:t>。</a:t>
            </a:r>
          </a:p>
          <a:p>
            <a:pPr eaLnBrk="1" hangingPunct="1">
              <a:lnSpc>
                <a:spcPct val="140000"/>
              </a:lnSpc>
            </a:pPr>
            <a:r>
              <a:rPr lang="zh-CN" altLang="en-US" sz="2800" b="1" dirty="0">
                <a:ea typeface="华文中宋" panose="02010600040101010101" pitchFamily="2" charset="-122"/>
              </a:rPr>
              <a:t>放大</a:t>
            </a:r>
            <a:r>
              <a:rPr lang="zh-CN" altLang="zh-CN" sz="2800" b="1" dirty="0">
                <a:ea typeface="华文中宋" panose="02010600040101010101" pitchFamily="2" charset="-122"/>
              </a:rPr>
              <a:t>100∼2000</a:t>
            </a:r>
            <a:r>
              <a:rPr lang="zh-CN" altLang="en-US" sz="2800" b="1" dirty="0">
                <a:ea typeface="华文中宋" panose="02010600040101010101" pitchFamily="2" charset="-122"/>
              </a:rPr>
              <a:t>倍的组织称</a:t>
            </a:r>
            <a:r>
              <a:rPr lang="zh-CN" altLang="en-US" sz="2800" b="1" dirty="0">
                <a:solidFill>
                  <a:srgbClr val="CCFF33"/>
                </a:solidFill>
                <a:ea typeface="华文中宋" panose="02010600040101010101" pitchFamily="2" charset="-122"/>
              </a:rPr>
              <a:t>高倍组织</a:t>
            </a:r>
            <a:r>
              <a:rPr lang="zh-CN" altLang="en-US" sz="2800" b="1" dirty="0">
                <a:ea typeface="华文中宋" panose="02010600040101010101" pitchFamily="2" charset="-122"/>
              </a:rPr>
              <a:t>或</a:t>
            </a:r>
            <a:r>
              <a:rPr lang="zh-CN" altLang="en-US" sz="2800" b="1" dirty="0">
                <a:solidFill>
                  <a:srgbClr val="CCFF33"/>
                </a:solidFill>
                <a:ea typeface="华文中宋" panose="02010600040101010101" pitchFamily="2" charset="-122"/>
              </a:rPr>
              <a:t>显微组织</a:t>
            </a:r>
            <a:r>
              <a:rPr lang="zh-CN" altLang="zh-CN" sz="2800" b="1" dirty="0">
                <a:ea typeface="华文中宋" panose="02010600040101010101" pitchFamily="2" charset="-122"/>
              </a:rPr>
              <a:t>.</a:t>
            </a:r>
          </a:p>
          <a:p>
            <a:pPr eaLnBrk="1" hangingPunct="1">
              <a:lnSpc>
                <a:spcPct val="140000"/>
              </a:lnSpc>
            </a:pPr>
            <a:r>
              <a:rPr lang="zh-CN" altLang="en-US" sz="2800" b="1" dirty="0">
                <a:ea typeface="华文中宋" panose="02010600040101010101" pitchFamily="2" charset="-122"/>
              </a:rPr>
              <a:t>在电子显微镜下放大几千</a:t>
            </a:r>
            <a:r>
              <a:rPr lang="en-US" altLang="zh-CN" sz="2800" b="1" dirty="0">
                <a:ea typeface="华文中宋" panose="02010600040101010101" pitchFamily="2" charset="-122"/>
              </a:rPr>
              <a:t>∼</a:t>
            </a:r>
            <a:r>
              <a:rPr lang="zh-CN" altLang="en-US" sz="2800" b="1" dirty="0">
                <a:ea typeface="华文中宋" panose="02010600040101010101" pitchFamily="2" charset="-122"/>
              </a:rPr>
              <a:t>几十万倍的组织称</a:t>
            </a:r>
            <a:r>
              <a:rPr lang="zh-CN" altLang="en-US" sz="2800" b="1" dirty="0">
                <a:solidFill>
                  <a:srgbClr val="CCFF33"/>
                </a:solidFill>
                <a:ea typeface="华文中宋" panose="02010600040101010101" pitchFamily="2" charset="-122"/>
              </a:rPr>
              <a:t>精细组织</a:t>
            </a:r>
            <a:r>
              <a:rPr lang="zh-CN" altLang="en-US" sz="2800" b="1" dirty="0">
                <a:ea typeface="华文中宋" panose="02010600040101010101" pitchFamily="2" charset="-122"/>
              </a:rPr>
              <a:t>或</a:t>
            </a:r>
            <a:r>
              <a:rPr lang="zh-CN" altLang="en-US" sz="2800" b="1" dirty="0">
                <a:solidFill>
                  <a:srgbClr val="CCFF33"/>
                </a:solidFill>
                <a:ea typeface="华文中宋" panose="02010600040101010101" pitchFamily="2" charset="-122"/>
              </a:rPr>
              <a:t>电镜组织</a:t>
            </a:r>
            <a:r>
              <a:rPr lang="zh-CN" altLang="en-US" sz="2800" b="1" dirty="0">
                <a:ea typeface="华文中宋" panose="02010600040101010101" pitchFamily="2" charset="-122"/>
              </a:rPr>
              <a:t>。</a:t>
            </a:r>
          </a:p>
        </p:txBody>
      </p:sp>
      <p:sp>
        <p:nvSpPr>
          <p:cNvPr id="33795" name="Rectangle 3"/>
          <p:cNvSpPr>
            <a:spLocks noGrp="1"/>
          </p:cNvSpPr>
          <p:nvPr>
            <p:ph type="title"/>
          </p:nvPr>
        </p:nvSpPr>
        <p:spPr>
          <a:xfrm>
            <a:off x="685800" y="115888"/>
            <a:ext cx="6765925" cy="649287"/>
          </a:xfrm>
        </p:spPr>
        <p:txBody>
          <a:bodyPr vert="horz" wrap="square" lIns="92075" tIns="46038" rIns="92075" bIns="46038" anchor="ctr"/>
          <a:lstStyle/>
          <a:p>
            <a:pPr eaLnBrk="1" hangingPunct="1"/>
            <a:r>
              <a:rPr lang="zh-CN" altLang="en-US" sz="3200" b="1" dirty="0">
                <a:effectLst/>
              </a:rPr>
              <a:t>基本术语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animEffect transition="in" filter="wipe(left)">
                                      <p:cBhvr>
                                        <p:cTn id="7" dur="500"/>
                                        <p:tgtEl>
                                          <p:spTgt spid="3379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794">
                                            <p:txEl>
                                              <p:pRg st="1" end="1"/>
                                            </p:txEl>
                                          </p:spTgt>
                                        </p:tgtEl>
                                        <p:attrNameLst>
                                          <p:attrName>style.visibility</p:attrName>
                                        </p:attrNameLst>
                                      </p:cBhvr>
                                      <p:to>
                                        <p:strVal val="visible"/>
                                      </p:to>
                                    </p:set>
                                    <p:animEffect transition="in" filter="wipe(left)">
                                      <p:cBhvr>
                                        <p:cTn id="11" dur="500"/>
                                        <p:tgtEl>
                                          <p:spTgt spid="33794">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794">
                                            <p:txEl>
                                              <p:pRg st="2" end="2"/>
                                            </p:txEl>
                                          </p:spTgt>
                                        </p:tgtEl>
                                        <p:attrNameLst>
                                          <p:attrName>style.visibility</p:attrName>
                                        </p:attrNameLst>
                                      </p:cBhvr>
                                      <p:to>
                                        <p:strVal val="visible"/>
                                      </p:to>
                                    </p:set>
                                    <p:animEffect transition="in" filter="wipe(left)">
                                      <p:cBhvr>
                                        <p:cTn id="15" dur="500"/>
                                        <p:tgtEl>
                                          <p:spTgt spid="33794">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3794">
                                            <p:txEl>
                                              <p:pRg st="3" end="3"/>
                                            </p:txEl>
                                          </p:spTgt>
                                        </p:tgtEl>
                                        <p:attrNameLst>
                                          <p:attrName>style.visibility</p:attrName>
                                        </p:attrNameLst>
                                      </p:cBhvr>
                                      <p:to>
                                        <p:strVal val="visible"/>
                                      </p:to>
                                    </p:set>
                                    <p:animEffect transition="in" filter="wipe(left)">
                                      <p:cBhvr>
                                        <p:cTn id="19" dur="500"/>
                                        <p:tgtEl>
                                          <p:spTgt spid="33794">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3794">
                                            <p:txEl>
                                              <p:pRg st="4" end="4"/>
                                            </p:txEl>
                                          </p:spTgt>
                                        </p:tgtEl>
                                        <p:attrNameLst>
                                          <p:attrName>style.visibility</p:attrName>
                                        </p:attrNameLst>
                                      </p:cBhvr>
                                      <p:to>
                                        <p:strVal val="visible"/>
                                      </p:to>
                                    </p:set>
                                    <p:animEffect transition="in" filter="wipe(left)">
                                      <p:cBhvr>
                                        <p:cTn id="23" dur="500"/>
                                        <p:tgtEl>
                                          <p:spTgt spid="33794">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3795"/>
                                        </p:tgtEl>
                                        <p:attrNameLst>
                                          <p:attrName>style.visibility</p:attrName>
                                        </p:attrNameLst>
                                      </p:cBhvr>
                                      <p:to>
                                        <p:strVal val="visible"/>
                                      </p:to>
                                    </p:set>
                                    <p:animEffect transition="in" filter="wipe(left)">
                                      <p:cBhvr>
                                        <p:cTn id="2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build="p" advAuto="1000"/>
      <p:bldP spid="33795"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228600"/>
            <a:ext cx="3810000" cy="1524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钢的宏观组织、显微组织和电镜组织</a:t>
            </a:r>
          </a:p>
        </p:txBody>
      </p:sp>
      <p:grpSp>
        <p:nvGrpSpPr>
          <p:cNvPr id="2" name="Group 3"/>
          <p:cNvGrpSpPr/>
          <p:nvPr/>
        </p:nvGrpSpPr>
        <p:grpSpPr>
          <a:xfrm>
            <a:off x="838200" y="609600"/>
            <a:ext cx="8096250" cy="5924550"/>
            <a:chOff x="0" y="0"/>
            <a:chExt cx="5100" cy="3732"/>
          </a:xfrm>
        </p:grpSpPr>
        <p:pic>
          <p:nvPicPr>
            <p:cNvPr id="34819" name="Picture 4" descr="板条M"/>
            <p:cNvPicPr>
              <a:picLocks noChangeAspect="1"/>
            </p:cNvPicPr>
            <p:nvPr/>
          </p:nvPicPr>
          <p:blipFill>
            <a:blip r:embed="rId2"/>
            <a:stretch>
              <a:fillRect/>
            </a:stretch>
          </p:blipFill>
          <p:spPr>
            <a:xfrm>
              <a:off x="2256" y="1872"/>
              <a:ext cx="2494" cy="1786"/>
            </a:xfrm>
            <a:prstGeom prst="rect">
              <a:avLst/>
            </a:prstGeom>
            <a:noFill/>
            <a:ln w="57150" cap="flat" cmpd="sng">
              <a:solidFill>
                <a:srgbClr val="CCFFFF"/>
              </a:solidFill>
              <a:prstDash val="solid"/>
              <a:miter/>
              <a:headEnd type="none" w="med" len="med"/>
              <a:tailEnd type="none" w="med" len="med"/>
            </a:ln>
          </p:spPr>
        </p:pic>
        <p:pic>
          <p:nvPicPr>
            <p:cNvPr id="34820" name="Picture 5" descr="板条M1"/>
            <p:cNvPicPr>
              <a:picLocks noChangeAspect="1"/>
            </p:cNvPicPr>
            <p:nvPr/>
          </p:nvPicPr>
          <p:blipFill>
            <a:blip r:embed="rId3"/>
            <a:stretch>
              <a:fillRect/>
            </a:stretch>
          </p:blipFill>
          <p:spPr>
            <a:xfrm>
              <a:off x="2256" y="0"/>
              <a:ext cx="2494" cy="1613"/>
            </a:xfrm>
            <a:prstGeom prst="rect">
              <a:avLst/>
            </a:prstGeom>
            <a:noFill/>
            <a:ln w="57150" cap="flat" cmpd="sng">
              <a:solidFill>
                <a:srgbClr val="CCFFFF"/>
              </a:solidFill>
              <a:prstDash val="solid"/>
              <a:miter/>
              <a:headEnd type="none" w="med" len="med"/>
              <a:tailEnd type="none" w="med" len="med"/>
            </a:ln>
          </p:spPr>
        </p:pic>
        <p:grpSp>
          <p:nvGrpSpPr>
            <p:cNvPr id="34821" name="Group 6"/>
            <p:cNvGrpSpPr/>
            <p:nvPr/>
          </p:nvGrpSpPr>
          <p:grpSpPr>
            <a:xfrm>
              <a:off x="0" y="816"/>
              <a:ext cx="1848" cy="2916"/>
              <a:chOff x="0" y="0"/>
              <a:chExt cx="1848" cy="2916"/>
            </a:xfrm>
          </p:grpSpPr>
          <p:pic>
            <p:nvPicPr>
              <p:cNvPr id="34822" name="Picture 7" descr="铸锭宏观组织"/>
              <p:cNvPicPr>
                <a:picLocks noChangeAspect="1"/>
              </p:cNvPicPr>
              <p:nvPr/>
            </p:nvPicPr>
            <p:blipFill>
              <a:blip r:embed="rId4"/>
              <a:stretch>
                <a:fillRect/>
              </a:stretch>
            </p:blipFill>
            <p:spPr>
              <a:xfrm>
                <a:off x="0" y="0"/>
                <a:ext cx="1498" cy="2916"/>
              </a:xfrm>
              <a:prstGeom prst="rect">
                <a:avLst/>
              </a:prstGeom>
              <a:noFill/>
              <a:ln w="57150" cap="flat" cmpd="sng">
                <a:solidFill>
                  <a:srgbClr val="CCFFFF"/>
                </a:solidFill>
                <a:prstDash val="solid"/>
                <a:miter/>
                <a:headEnd type="none" w="med" len="med"/>
                <a:tailEnd type="none" w="med" len="med"/>
              </a:ln>
            </p:spPr>
          </p:pic>
          <p:sp>
            <p:nvSpPr>
              <p:cNvPr id="34823" name="Text Box 8"/>
              <p:cNvSpPr txBox="1"/>
              <p:nvPr/>
            </p:nvSpPr>
            <p:spPr>
              <a:xfrm>
                <a:off x="1502" y="96"/>
                <a:ext cx="346" cy="2640"/>
              </a:xfrm>
              <a:prstGeom prst="rect">
                <a:avLst/>
              </a:prstGeom>
              <a:noFill/>
              <a:ln w="9525">
                <a:noFill/>
              </a:ln>
            </p:spPr>
            <p:txBody>
              <a:bodyPr vert="eaVert" anchor="t">
                <a:spAutoFit/>
              </a:bodyPr>
              <a:lstStyle/>
              <a:p>
                <a:pPr algn="ctr">
                  <a:spcBef>
                    <a:spcPct val="50000"/>
                  </a:spcBef>
                </a:pPr>
                <a:r>
                  <a:rPr lang="zh-CN" altLang="en-US" sz="2400" b="1" dirty="0">
                    <a:solidFill>
                      <a:schemeClr val="folHlink"/>
                    </a:solidFill>
                    <a:latin typeface="Times New Roman" panose="02020603050405020304" pitchFamily="18" charset="0"/>
                    <a:ea typeface="宋体" panose="02010600030101010101" pitchFamily="2" charset="-122"/>
                  </a:rPr>
                  <a:t>钢锭的宏观组织</a:t>
                </a:r>
              </a:p>
            </p:txBody>
          </p:sp>
        </p:grpSp>
        <p:sp>
          <p:nvSpPr>
            <p:cNvPr id="34824" name="Text Box 9"/>
            <p:cNvSpPr txBox="1"/>
            <p:nvPr/>
          </p:nvSpPr>
          <p:spPr>
            <a:xfrm>
              <a:off x="4754" y="288"/>
              <a:ext cx="346" cy="1152"/>
            </a:xfrm>
            <a:prstGeom prst="rect">
              <a:avLst/>
            </a:prstGeom>
            <a:noFill/>
            <a:ln w="9525">
              <a:noFill/>
            </a:ln>
          </p:spPr>
          <p:txBody>
            <a:bodyPr vert="eaVert" anchor="t">
              <a:spAutoFit/>
            </a:bodyPr>
            <a:lstStyle/>
            <a:p>
              <a:pPr algn="ctr">
                <a:spcBef>
                  <a:spcPct val="50000"/>
                </a:spcBef>
              </a:pPr>
              <a:r>
                <a:rPr lang="zh-CN" altLang="en-US" sz="2400" b="1" dirty="0">
                  <a:solidFill>
                    <a:schemeClr val="folHlink"/>
                  </a:solidFill>
                  <a:latin typeface="Times New Roman" panose="02020603050405020304" pitchFamily="18" charset="0"/>
                  <a:ea typeface="宋体" panose="02010600030101010101" pitchFamily="2" charset="-122"/>
                </a:rPr>
                <a:t>显微组织</a:t>
              </a:r>
            </a:p>
          </p:txBody>
        </p:sp>
        <p:sp>
          <p:nvSpPr>
            <p:cNvPr id="34825" name="Text Box 10"/>
            <p:cNvSpPr txBox="1"/>
            <p:nvPr/>
          </p:nvSpPr>
          <p:spPr>
            <a:xfrm>
              <a:off x="4742" y="2112"/>
              <a:ext cx="346" cy="1296"/>
            </a:xfrm>
            <a:prstGeom prst="rect">
              <a:avLst/>
            </a:prstGeom>
            <a:noFill/>
            <a:ln w="9525">
              <a:noFill/>
            </a:ln>
          </p:spPr>
          <p:txBody>
            <a:bodyPr vert="eaVert" anchor="t">
              <a:spAutoFit/>
            </a:bodyPr>
            <a:lstStyle/>
            <a:p>
              <a:pPr algn="ctr">
                <a:spcBef>
                  <a:spcPct val="50000"/>
                </a:spcBef>
              </a:pPr>
              <a:r>
                <a:rPr lang="zh-CN" altLang="en-US" sz="2400" b="1" dirty="0">
                  <a:solidFill>
                    <a:schemeClr val="folHlink"/>
                  </a:solidFill>
                  <a:latin typeface="Times New Roman" panose="02020603050405020304" pitchFamily="18" charset="0"/>
                  <a:ea typeface="宋体" panose="02010600030101010101" pitchFamily="2" charset="-122"/>
                </a:rPr>
                <a:t>电镜组织</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ipe(left)">
                                      <p:cBhvr>
                                        <p:cTn id="7" dur="500"/>
                                        <p:tgtEl>
                                          <p:spTgt spid="3481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idx="1"/>
          </p:nvPr>
        </p:nvSpPr>
        <p:spPr>
          <a:xfrm>
            <a:off x="685800" y="685800"/>
            <a:ext cx="3581400" cy="2895600"/>
          </a:xfrm>
        </p:spPr>
        <p:txBody>
          <a:bodyPr vert="horz" wrap="square" lIns="91440" tIns="45720" rIns="91440" bIns="45720" anchor="t"/>
          <a:lstStyle/>
          <a:p>
            <a:pPr eaLnBrk="1" hangingPunct="1">
              <a:lnSpc>
                <a:spcPct val="140000"/>
              </a:lnSpc>
              <a:buNone/>
            </a:pPr>
            <a:r>
              <a:rPr lang="zh-CN" altLang="zh-CN" sz="2800" b="1" dirty="0">
                <a:solidFill>
                  <a:schemeClr val="accent1"/>
                </a:solidFill>
                <a:ea typeface="华文中宋" panose="02010600040101010101" pitchFamily="2" charset="-122"/>
              </a:rPr>
              <a:t>③</a:t>
            </a:r>
            <a:r>
              <a:rPr lang="zh-CN" altLang="zh-CN" sz="2800" b="1" dirty="0">
                <a:solidFill>
                  <a:schemeClr val="tx2"/>
                </a:solidFill>
                <a:ea typeface="华文中宋" panose="02010600040101010101" pitchFamily="2" charset="-122"/>
              </a:rPr>
              <a:t> </a:t>
            </a:r>
            <a:r>
              <a:rPr lang="zh-CN" altLang="en-US" sz="2800" b="1" dirty="0">
                <a:solidFill>
                  <a:schemeClr val="tx2"/>
                </a:solidFill>
                <a:ea typeface="华文中宋" panose="02010600040101010101" pitchFamily="2" charset="-122"/>
              </a:rPr>
              <a:t>结构：</a:t>
            </a:r>
            <a:r>
              <a:rPr lang="zh-CN" altLang="en-US" sz="2800" b="1" dirty="0">
                <a:solidFill>
                  <a:schemeClr val="folHlink"/>
                </a:solidFill>
                <a:ea typeface="华文中宋" panose="02010600040101010101" pitchFamily="2" charset="-122"/>
              </a:rPr>
              <a:t>材料中各原子的具体组合状态</a:t>
            </a:r>
            <a:r>
              <a:rPr lang="zh-CN" altLang="zh-CN" sz="2800" b="1" dirty="0">
                <a:solidFill>
                  <a:schemeClr val="folHlink"/>
                </a:solidFill>
                <a:ea typeface="华文中宋" panose="02010600040101010101" pitchFamily="2" charset="-122"/>
              </a:rPr>
              <a:t>.</a:t>
            </a:r>
            <a:r>
              <a:rPr lang="zh-CN" altLang="en-US" sz="2800" b="1" dirty="0">
                <a:ea typeface="华文中宋" panose="02010600040101010101" pitchFamily="2" charset="-122"/>
              </a:rPr>
              <a:t>一般通过</a:t>
            </a:r>
            <a:r>
              <a:rPr lang="zh-CN" altLang="zh-CN" sz="2800" b="1" dirty="0">
                <a:solidFill>
                  <a:srgbClr val="CCFF33"/>
                </a:solidFill>
                <a:ea typeface="华文中宋" panose="02010600040101010101" pitchFamily="2" charset="-122"/>
              </a:rPr>
              <a:t>X-</a:t>
            </a:r>
            <a:r>
              <a:rPr lang="zh-CN" altLang="en-US" sz="2800" b="1" dirty="0">
                <a:solidFill>
                  <a:srgbClr val="CCFF33"/>
                </a:solidFill>
                <a:ea typeface="华文中宋" panose="02010600040101010101" pitchFamily="2" charset="-122"/>
              </a:rPr>
              <a:t>射线衍射</a:t>
            </a:r>
            <a:r>
              <a:rPr lang="zh-CN" altLang="en-US" sz="2800" b="1" dirty="0">
                <a:ea typeface="华文中宋" panose="02010600040101010101" pitchFamily="2" charset="-122"/>
              </a:rPr>
              <a:t>或</a:t>
            </a:r>
            <a:r>
              <a:rPr lang="zh-CN" altLang="en-US" sz="2800" b="1" dirty="0">
                <a:solidFill>
                  <a:srgbClr val="CCFF33"/>
                </a:solidFill>
                <a:ea typeface="华文中宋" panose="02010600040101010101" pitchFamily="2" charset="-122"/>
              </a:rPr>
              <a:t>透射电镜</a:t>
            </a:r>
            <a:r>
              <a:rPr lang="zh-CN" altLang="en-US" sz="2800" b="1" dirty="0">
                <a:ea typeface="华文中宋" panose="02010600040101010101" pitchFamily="2" charset="-122"/>
              </a:rPr>
              <a:t>研究</a:t>
            </a:r>
            <a:r>
              <a:rPr lang="zh-CN" altLang="zh-CN" sz="2800" b="1" dirty="0">
                <a:ea typeface="华文中宋" panose="02010600040101010101" pitchFamily="2" charset="-122"/>
              </a:rPr>
              <a:t>.</a:t>
            </a:r>
          </a:p>
        </p:txBody>
      </p:sp>
      <p:grpSp>
        <p:nvGrpSpPr>
          <p:cNvPr id="2" name="Group 3"/>
          <p:cNvGrpSpPr/>
          <p:nvPr/>
        </p:nvGrpSpPr>
        <p:grpSpPr>
          <a:xfrm>
            <a:off x="4953000" y="496888"/>
            <a:ext cx="3657600" cy="3252787"/>
            <a:chOff x="0" y="0"/>
            <a:chExt cx="2304" cy="2049"/>
          </a:xfrm>
        </p:grpSpPr>
        <p:pic>
          <p:nvPicPr>
            <p:cNvPr id="35843" name="Picture 4" descr="Al的高分辨透射电镜象"/>
            <p:cNvPicPr>
              <a:picLocks noChangeAspect="1"/>
            </p:cNvPicPr>
            <p:nvPr/>
          </p:nvPicPr>
          <p:blipFill>
            <a:blip r:embed="rId2"/>
            <a:stretch>
              <a:fillRect/>
            </a:stretch>
          </p:blipFill>
          <p:spPr>
            <a:xfrm>
              <a:off x="19" y="0"/>
              <a:ext cx="2285" cy="2039"/>
            </a:xfrm>
            <a:prstGeom prst="rect">
              <a:avLst/>
            </a:prstGeom>
            <a:noFill/>
            <a:ln w="38100" cap="flat" cmpd="sng">
              <a:solidFill>
                <a:srgbClr val="00FFFF"/>
              </a:solidFill>
              <a:prstDash val="solid"/>
              <a:miter/>
              <a:headEnd type="none" w="med" len="med"/>
              <a:tailEnd type="none" w="med" len="med"/>
            </a:ln>
          </p:spPr>
        </p:pic>
        <p:sp>
          <p:nvSpPr>
            <p:cNvPr id="35844" name="Text Box 5"/>
            <p:cNvSpPr txBox="1"/>
            <p:nvPr/>
          </p:nvSpPr>
          <p:spPr>
            <a:xfrm>
              <a:off x="0" y="1799"/>
              <a:ext cx="1728" cy="250"/>
            </a:xfrm>
            <a:prstGeom prst="rect">
              <a:avLst/>
            </a:prstGeom>
            <a:solidFill>
              <a:schemeClr val="bg2">
                <a:alpha val="50195"/>
              </a:schemeClr>
            </a:solidFill>
            <a:ln w="9525">
              <a:noFill/>
            </a:ln>
          </p:spPr>
          <p:txBody>
            <a:bodyPr anchor="t">
              <a:spAutoFit/>
            </a:bodyPr>
            <a:lstStyle/>
            <a:p>
              <a:pPr>
                <a:spcBef>
                  <a:spcPct val="50000"/>
                </a:spcBef>
              </a:pPr>
              <a:r>
                <a:rPr lang="zh-CN" altLang="zh-CN" sz="2000" b="1" dirty="0">
                  <a:solidFill>
                    <a:schemeClr val="folHlink"/>
                  </a:solidFill>
                  <a:latin typeface="Times New Roman" panose="02020603050405020304" pitchFamily="18" charset="0"/>
                  <a:ea typeface="宋体" panose="02010600030101010101" pitchFamily="2" charset="-122"/>
                </a:rPr>
                <a:t>Al</a:t>
              </a:r>
              <a:r>
                <a:rPr lang="zh-CN" altLang="en-US" sz="2000" b="1" dirty="0">
                  <a:solidFill>
                    <a:schemeClr val="folHlink"/>
                  </a:solidFill>
                  <a:latin typeface="Times New Roman" panose="02020603050405020304" pitchFamily="18" charset="0"/>
                  <a:ea typeface="宋体" panose="02010600030101010101" pitchFamily="2" charset="-122"/>
                </a:rPr>
                <a:t>的高分辨透射电镜象</a:t>
              </a:r>
            </a:p>
          </p:txBody>
        </p:sp>
      </p:grpSp>
      <p:grpSp>
        <p:nvGrpSpPr>
          <p:cNvPr id="3" name="Group 6"/>
          <p:cNvGrpSpPr/>
          <p:nvPr/>
        </p:nvGrpSpPr>
        <p:grpSpPr>
          <a:xfrm>
            <a:off x="228600" y="3962400"/>
            <a:ext cx="8761413" cy="2667000"/>
            <a:chOff x="0" y="0"/>
            <a:chExt cx="5519" cy="1680"/>
          </a:xfrm>
        </p:grpSpPr>
        <p:pic>
          <p:nvPicPr>
            <p:cNvPr id="35846" name="Picture 7" descr="α-Fe晶体的X-射线衍射谱"/>
            <p:cNvPicPr>
              <a:picLocks noChangeAspect="1"/>
            </p:cNvPicPr>
            <p:nvPr/>
          </p:nvPicPr>
          <p:blipFill>
            <a:blip r:embed="rId3"/>
            <a:stretch>
              <a:fillRect/>
            </a:stretch>
          </p:blipFill>
          <p:spPr>
            <a:xfrm>
              <a:off x="0" y="48"/>
              <a:ext cx="3897" cy="1589"/>
            </a:xfrm>
            <a:prstGeom prst="rect">
              <a:avLst/>
            </a:prstGeom>
            <a:noFill/>
            <a:ln w="38100" cap="flat" cmpd="sng">
              <a:solidFill>
                <a:srgbClr val="CC99FF"/>
              </a:solidFill>
              <a:prstDash val="solid"/>
              <a:miter/>
              <a:headEnd type="none" w="med" len="med"/>
              <a:tailEnd type="none" w="med" len="med"/>
            </a:ln>
          </p:spPr>
        </p:pic>
        <p:sp>
          <p:nvSpPr>
            <p:cNvPr id="35847" name="Text Box 8"/>
            <p:cNvSpPr txBox="1"/>
            <p:nvPr/>
          </p:nvSpPr>
          <p:spPr>
            <a:xfrm>
              <a:off x="1920" y="96"/>
              <a:ext cx="1920" cy="250"/>
            </a:xfrm>
            <a:prstGeom prst="rect">
              <a:avLst/>
            </a:prstGeom>
            <a:noFill/>
            <a:ln w="9525">
              <a:noFill/>
            </a:ln>
          </p:spPr>
          <p:txBody>
            <a:bodyPr anchor="t">
              <a:spAutoFit/>
            </a:bodyPr>
            <a:lstStyle/>
            <a:p>
              <a:pP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纯铁晶体的</a:t>
              </a:r>
              <a:r>
                <a:rPr lang="zh-CN" altLang="zh-CN" sz="2000" b="1" dirty="0">
                  <a:solidFill>
                    <a:srgbClr val="800000"/>
                  </a:solidFill>
                  <a:latin typeface="Times New Roman" panose="02020603050405020304" pitchFamily="18" charset="0"/>
                  <a:ea typeface="宋体" panose="02010600030101010101" pitchFamily="2" charset="-122"/>
                </a:rPr>
                <a:t>X-</a:t>
              </a:r>
              <a:r>
                <a:rPr lang="zh-CN" altLang="en-US" sz="2000" b="1" dirty="0">
                  <a:solidFill>
                    <a:srgbClr val="800000"/>
                  </a:solidFill>
                  <a:latin typeface="Times New Roman" panose="02020603050405020304" pitchFamily="18" charset="0"/>
                  <a:ea typeface="宋体" panose="02010600030101010101" pitchFamily="2" charset="-122"/>
                </a:rPr>
                <a:t>射线衍射谱</a:t>
              </a:r>
            </a:p>
          </p:txBody>
        </p:sp>
        <p:pic>
          <p:nvPicPr>
            <p:cNvPr id="35848" name="Picture 9" descr="透射电镜衍射斑点"/>
            <p:cNvPicPr>
              <a:picLocks noChangeAspect="1"/>
            </p:cNvPicPr>
            <p:nvPr/>
          </p:nvPicPr>
          <p:blipFill>
            <a:blip r:embed="rId4"/>
            <a:stretch>
              <a:fillRect/>
            </a:stretch>
          </p:blipFill>
          <p:spPr>
            <a:xfrm>
              <a:off x="3984" y="0"/>
              <a:ext cx="1535" cy="1363"/>
            </a:xfrm>
            <a:prstGeom prst="rect">
              <a:avLst/>
            </a:prstGeom>
            <a:noFill/>
            <a:ln w="9525">
              <a:noFill/>
            </a:ln>
          </p:spPr>
        </p:pic>
        <p:sp>
          <p:nvSpPr>
            <p:cNvPr id="35850" name="Text Box 10"/>
            <p:cNvSpPr txBox="1">
              <a:spLocks noChangeArrowheads="1"/>
            </p:cNvSpPr>
            <p:nvPr/>
          </p:nvSpPr>
          <p:spPr bwMode="auto">
            <a:xfrm>
              <a:off x="4032" y="1430"/>
              <a:ext cx="1440" cy="250"/>
            </a:xfrm>
            <a:prstGeom prst="rect">
              <a:avLst/>
            </a:prstGeom>
            <a:noFill/>
            <a:ln w="9525">
              <a:noFill/>
              <a:miter lim="800000"/>
            </a:ln>
            <a:effectLst/>
          </p:spPr>
          <p:txBody>
            <a:bodyPr>
              <a:spAutoFit/>
            </a:bodyPr>
            <a:lstStyle/>
            <a:p>
              <a:pPr marR="0" algn="ctr" defTabSz="914400">
                <a:spcBef>
                  <a:spcPct val="50000"/>
                </a:spcBef>
                <a:buClrTx/>
                <a:buSzTx/>
                <a:defRPr/>
              </a:pPr>
              <a:r>
                <a:rPr kumimoji="0" lang="zh-CN" sz="2000" b="1" kern="1200" cap="none" spc="0" normalizeH="0" baseline="0" noProof="0">
                  <a:solidFill>
                    <a:schemeClr val="folHlink"/>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透射电镜衍射斑点</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transition="in" filter="wipe(left)">
                                      <p:cBhvr>
                                        <p:cTn id="7" dur="500"/>
                                        <p:tgtEl>
                                          <p:spTgt spid="35842">
                                            <p:txEl>
                                              <p:pRg st="0" end="0"/>
                                            </p:txEl>
                                          </p:spTgt>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advAuto="100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09600" y="533400"/>
            <a:ext cx="7772400" cy="5334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Times New Roman" panose="02020603050405020304" pitchFamily="18" charset="0"/>
                <a:ea typeface="华文中宋" panose="02010600040101010101" pitchFamily="2" charset="-122"/>
                <a:cs typeface="+mj-cs"/>
              </a:rPr>
              <a:t>2</a:t>
            </a:r>
            <a:r>
              <a:rPr kumimoji="0" 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Times New Roman" panose="02020603050405020304" pitchFamily="18" charset="0"/>
                <a:ea typeface="华文中宋" panose="02010600040101010101" pitchFamily="2" charset="-122"/>
                <a:cs typeface="+mj-cs"/>
              </a:rPr>
              <a:t>、材料科学</a:t>
            </a:r>
          </a:p>
        </p:txBody>
      </p:sp>
      <p:sp>
        <p:nvSpPr>
          <p:cNvPr id="36867" name="Rectangle 3"/>
          <p:cNvSpPr>
            <a:spLocks noGrp="1"/>
          </p:cNvSpPr>
          <p:nvPr>
            <p:ph idx="1"/>
          </p:nvPr>
        </p:nvSpPr>
        <p:spPr>
          <a:xfrm>
            <a:off x="228600" y="2514600"/>
            <a:ext cx="8686800" cy="3962400"/>
          </a:xfrm>
        </p:spPr>
        <p:txBody>
          <a:bodyPr vert="horz" wrap="square" lIns="91440" tIns="45720" rIns="91440" bIns="45720" anchor="t"/>
          <a:lstStyle/>
          <a:p>
            <a:pPr eaLnBrk="1" hangingPunct="1">
              <a:lnSpc>
                <a:spcPct val="130000"/>
              </a:lnSpc>
            </a:pPr>
            <a:r>
              <a:rPr lang="zh-CN" altLang="en-US" sz="2800" b="1" dirty="0">
                <a:solidFill>
                  <a:schemeClr val="folHlink"/>
                </a:solidFill>
                <a:latin typeface="华文中宋" panose="02010600040101010101" pitchFamily="2" charset="-122"/>
                <a:ea typeface="华文中宋" panose="02010600040101010101" pitchFamily="2" charset="-122"/>
              </a:rPr>
              <a:t>主要研究内容：</a:t>
            </a:r>
          </a:p>
          <a:p>
            <a:pPr eaLnBrk="1" hangingPunct="1">
              <a:lnSpc>
                <a:spcPct val="130000"/>
              </a:lnSpc>
            </a:pPr>
            <a:r>
              <a:rPr lang="zh-CN" altLang="zh-CN" sz="2800" b="1" dirty="0">
                <a:latin typeface="华文中宋" panose="02010600040101010101" pitchFamily="2" charset="-122"/>
                <a:ea typeface="华文中宋" panose="02010600040101010101" pitchFamily="2" charset="-122"/>
              </a:rPr>
              <a:t>⑴ </a:t>
            </a:r>
            <a:r>
              <a:rPr lang="zh-CN" altLang="en-US" sz="2800" b="1" dirty="0">
                <a:latin typeface="华文中宋" panose="02010600040101010101" pitchFamily="2" charset="-122"/>
                <a:ea typeface="华文中宋" panose="02010600040101010101" pitchFamily="2" charset="-122"/>
              </a:rPr>
              <a:t>研究材料的化学组成、结构与性能的关系；</a:t>
            </a:r>
          </a:p>
          <a:p>
            <a:pPr eaLnBrk="1" hangingPunct="1">
              <a:lnSpc>
                <a:spcPct val="130000"/>
              </a:lnSpc>
            </a:pPr>
            <a:r>
              <a:rPr lang="zh-CN" altLang="zh-CN" sz="2800" b="1" dirty="0">
                <a:latin typeface="华文中宋" panose="02010600040101010101" pitchFamily="2" charset="-122"/>
                <a:ea typeface="华文中宋" panose="02010600040101010101" pitchFamily="2" charset="-122"/>
              </a:rPr>
              <a:t>⑵ </a:t>
            </a:r>
            <a:r>
              <a:rPr lang="zh-CN" altLang="en-US" sz="2800" b="1" dirty="0">
                <a:latin typeface="华文中宋" panose="02010600040101010101" pitchFamily="2" charset="-122"/>
                <a:ea typeface="华文中宋" panose="02010600040101010101" pitchFamily="2" charset="-122"/>
              </a:rPr>
              <a:t>研究材料的形成机理和制取方法；</a:t>
            </a:r>
          </a:p>
          <a:p>
            <a:pPr eaLnBrk="1" hangingPunct="1">
              <a:lnSpc>
                <a:spcPct val="130000"/>
              </a:lnSpc>
            </a:pPr>
            <a:r>
              <a:rPr lang="zh-CN" altLang="zh-CN" sz="2800" b="1" dirty="0">
                <a:latin typeface="华文中宋" panose="02010600040101010101" pitchFamily="2" charset="-122"/>
                <a:ea typeface="华文中宋" panose="02010600040101010101" pitchFamily="2" charset="-122"/>
              </a:rPr>
              <a:t>⑶ </a:t>
            </a:r>
            <a:r>
              <a:rPr lang="zh-CN" altLang="en-US" sz="2800" b="1" dirty="0">
                <a:latin typeface="华文中宋" panose="02010600040101010101" pitchFamily="2" charset="-122"/>
                <a:ea typeface="华文中宋" panose="02010600040101010101" pitchFamily="2" charset="-122"/>
              </a:rPr>
              <a:t>研究材料物理性能的测试方法和技术；</a:t>
            </a:r>
          </a:p>
          <a:p>
            <a:pPr eaLnBrk="1" hangingPunct="1">
              <a:lnSpc>
                <a:spcPct val="130000"/>
              </a:lnSpc>
            </a:pPr>
            <a:r>
              <a:rPr lang="zh-CN" altLang="zh-CN" sz="2800" b="1" dirty="0">
                <a:latin typeface="华文中宋" panose="02010600040101010101" pitchFamily="2" charset="-122"/>
                <a:ea typeface="华文中宋" panose="02010600040101010101" pitchFamily="2" charset="-122"/>
              </a:rPr>
              <a:t>⑷ </a:t>
            </a:r>
            <a:r>
              <a:rPr lang="zh-CN" altLang="en-US" sz="2800" b="1" dirty="0">
                <a:latin typeface="华文中宋" panose="02010600040101010101" pitchFamily="2" charset="-122"/>
                <a:ea typeface="华文中宋" panose="02010600040101010101" pitchFamily="2" charset="-122"/>
              </a:rPr>
              <a:t>分析材料的损坏机理；</a:t>
            </a:r>
          </a:p>
          <a:p>
            <a:pPr eaLnBrk="1" hangingPunct="1">
              <a:lnSpc>
                <a:spcPct val="130000"/>
              </a:lnSpc>
            </a:pPr>
            <a:r>
              <a:rPr lang="zh-CN" altLang="zh-CN" sz="2800" b="1" dirty="0">
                <a:latin typeface="华文中宋" panose="02010600040101010101" pitchFamily="2" charset="-122"/>
                <a:ea typeface="华文中宋" panose="02010600040101010101" pitchFamily="2" charset="-122"/>
              </a:rPr>
              <a:t>⑸ </a:t>
            </a:r>
            <a:r>
              <a:rPr lang="zh-CN" altLang="en-US" sz="2800" b="1" dirty="0">
                <a:latin typeface="华文中宋" panose="02010600040101010101" pitchFamily="2" charset="-122"/>
                <a:ea typeface="华文中宋" panose="02010600040101010101" pitchFamily="2" charset="-122"/>
              </a:rPr>
              <a:t>研究材料的合理加工方法和最佳使用方案。</a:t>
            </a:r>
            <a:endParaRPr lang="zh-CN" altLang="en-US" sz="2800" dirty="0"/>
          </a:p>
        </p:txBody>
      </p:sp>
      <p:sp>
        <p:nvSpPr>
          <p:cNvPr id="36868" name="Rectangle 4"/>
          <p:cNvSpPr/>
          <p:nvPr/>
        </p:nvSpPr>
        <p:spPr>
          <a:xfrm>
            <a:off x="228600" y="1066800"/>
            <a:ext cx="4038600" cy="1447800"/>
          </a:xfrm>
          <a:prstGeom prst="rect">
            <a:avLst/>
          </a:prstGeom>
          <a:noFill/>
          <a:ln w="9525">
            <a:noFill/>
          </a:ln>
        </p:spPr>
        <p:txBody>
          <a:bodyPr anchor="t"/>
          <a:lstStyle/>
          <a:p>
            <a:pPr marL="342900" indent="-342900">
              <a:lnSpc>
                <a:spcPct val="130000"/>
              </a:lnSpc>
              <a:spcBef>
                <a:spcPct val="20000"/>
              </a:spcBef>
              <a:buClr>
                <a:schemeClr val="accent2"/>
              </a:buClr>
              <a:buSzPct val="80000"/>
              <a:buFont typeface="Wingdings" panose="05000000000000000000" pitchFamily="2" charset="2"/>
              <a:buChar char="l"/>
            </a:pPr>
            <a:r>
              <a:rPr lang="zh-CN" altLang="en-US" sz="2800" b="1" dirty="0">
                <a:solidFill>
                  <a:srgbClr val="CCFF33"/>
                </a:solidFill>
                <a:latin typeface="华文中宋" panose="02010600040101010101" pitchFamily="2" charset="-122"/>
                <a:ea typeface="华文中宋" panose="02010600040101010101" pitchFamily="2" charset="-122"/>
              </a:rPr>
              <a:t>材料科学是以材料为研究对象的一门科学。</a:t>
            </a:r>
          </a:p>
        </p:txBody>
      </p:sp>
      <p:grpSp>
        <p:nvGrpSpPr>
          <p:cNvPr id="2" name="Group 5"/>
          <p:cNvGrpSpPr/>
          <p:nvPr/>
        </p:nvGrpSpPr>
        <p:grpSpPr>
          <a:xfrm>
            <a:off x="4953000" y="685800"/>
            <a:ext cx="3505200" cy="2359025"/>
            <a:chOff x="0" y="0"/>
            <a:chExt cx="2208" cy="1486"/>
          </a:xfrm>
        </p:grpSpPr>
        <p:pic>
          <p:nvPicPr>
            <p:cNvPr id="36869" name="Picture 6" descr="挑战者号爆炸瞬间"/>
            <p:cNvPicPr>
              <a:picLocks noChangeAspect="1"/>
            </p:cNvPicPr>
            <p:nvPr/>
          </p:nvPicPr>
          <p:blipFill>
            <a:blip r:embed="rId2"/>
            <a:stretch>
              <a:fillRect/>
            </a:stretch>
          </p:blipFill>
          <p:spPr>
            <a:xfrm>
              <a:off x="0" y="0"/>
              <a:ext cx="2154" cy="1473"/>
            </a:xfrm>
            <a:prstGeom prst="rect">
              <a:avLst/>
            </a:prstGeom>
            <a:noFill/>
            <a:ln w="38100" cap="flat" cmpd="sng">
              <a:solidFill>
                <a:srgbClr val="993366"/>
              </a:solidFill>
              <a:prstDash val="solid"/>
              <a:miter/>
              <a:headEnd type="none" w="med" len="med"/>
              <a:tailEnd type="none" w="med" len="med"/>
            </a:ln>
          </p:spPr>
        </p:pic>
        <p:sp>
          <p:nvSpPr>
            <p:cNvPr id="36870" name="Text Box 7"/>
            <p:cNvSpPr txBox="1"/>
            <p:nvPr/>
          </p:nvSpPr>
          <p:spPr>
            <a:xfrm>
              <a:off x="768" y="1236"/>
              <a:ext cx="1440"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挑战者号爆炸瞬间</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6868"/>
                                        </p:tgtEl>
                                        <p:attrNameLst>
                                          <p:attrName>style.visibility</p:attrName>
                                        </p:attrNameLst>
                                      </p:cBhvr>
                                      <p:to>
                                        <p:strVal val="visible"/>
                                      </p:to>
                                    </p:set>
                                    <p:animEffect transition="in" filter="wipe(left)">
                                      <p:cBhvr>
                                        <p:cTn id="11" dur="500"/>
                                        <p:tgtEl>
                                          <p:spTgt spid="3686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6867">
                                            <p:txEl>
                                              <p:pRg st="0" end="0"/>
                                            </p:txEl>
                                          </p:spTgt>
                                        </p:tgtEl>
                                        <p:attrNameLst>
                                          <p:attrName>style.visibility</p:attrName>
                                        </p:attrNameLst>
                                      </p:cBhvr>
                                      <p:to>
                                        <p:strVal val="visible"/>
                                      </p:to>
                                    </p:set>
                                    <p:animEffect transition="in" filter="wipe(left)">
                                      <p:cBhvr>
                                        <p:cTn id="15" dur="500"/>
                                        <p:tgtEl>
                                          <p:spTgt spid="36867">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6867">
                                            <p:txEl>
                                              <p:pRg st="1" end="1"/>
                                            </p:txEl>
                                          </p:spTgt>
                                        </p:tgtEl>
                                        <p:attrNameLst>
                                          <p:attrName>style.visibility</p:attrName>
                                        </p:attrNameLst>
                                      </p:cBhvr>
                                      <p:to>
                                        <p:strVal val="visible"/>
                                      </p:to>
                                    </p:set>
                                    <p:animEffect transition="in" filter="wipe(left)">
                                      <p:cBhvr>
                                        <p:cTn id="19" dur="500"/>
                                        <p:tgtEl>
                                          <p:spTgt spid="36867">
                                            <p:txEl>
                                              <p:pRg st="1" end="1"/>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6867">
                                            <p:txEl>
                                              <p:pRg st="2" end="2"/>
                                            </p:txEl>
                                          </p:spTgt>
                                        </p:tgtEl>
                                        <p:attrNameLst>
                                          <p:attrName>style.visibility</p:attrName>
                                        </p:attrNameLst>
                                      </p:cBhvr>
                                      <p:to>
                                        <p:strVal val="visible"/>
                                      </p:to>
                                    </p:set>
                                    <p:animEffect transition="in" filter="wipe(left)">
                                      <p:cBhvr>
                                        <p:cTn id="23" dur="500"/>
                                        <p:tgtEl>
                                          <p:spTgt spid="36867">
                                            <p:txEl>
                                              <p:pRg st="2" end="2"/>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6867">
                                            <p:txEl>
                                              <p:pRg st="3" end="3"/>
                                            </p:txEl>
                                          </p:spTgt>
                                        </p:tgtEl>
                                        <p:attrNameLst>
                                          <p:attrName>style.visibility</p:attrName>
                                        </p:attrNameLst>
                                      </p:cBhvr>
                                      <p:to>
                                        <p:strVal val="visible"/>
                                      </p:to>
                                    </p:set>
                                    <p:animEffect transition="in" filter="wipe(left)">
                                      <p:cBhvr>
                                        <p:cTn id="27" dur="500"/>
                                        <p:tgtEl>
                                          <p:spTgt spid="36867">
                                            <p:txEl>
                                              <p:pRg st="3" end="3"/>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6867">
                                            <p:txEl>
                                              <p:pRg st="4" end="4"/>
                                            </p:txEl>
                                          </p:spTgt>
                                        </p:tgtEl>
                                        <p:attrNameLst>
                                          <p:attrName>style.visibility</p:attrName>
                                        </p:attrNameLst>
                                      </p:cBhvr>
                                      <p:to>
                                        <p:strVal val="visible"/>
                                      </p:to>
                                    </p:set>
                                    <p:animEffect transition="in" filter="wipe(left)">
                                      <p:cBhvr>
                                        <p:cTn id="31" dur="500"/>
                                        <p:tgtEl>
                                          <p:spTgt spid="36867">
                                            <p:txEl>
                                              <p:pRg st="4" end="4"/>
                                            </p:tx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6867">
                                            <p:txEl>
                                              <p:pRg st="5" end="5"/>
                                            </p:txEl>
                                          </p:spTgt>
                                        </p:tgtEl>
                                        <p:attrNameLst>
                                          <p:attrName>style.visibility</p:attrName>
                                        </p:attrNameLst>
                                      </p:cBhvr>
                                      <p:to>
                                        <p:strVal val="visible"/>
                                      </p:to>
                                    </p:set>
                                    <p:animEffect transition="in" filter="wipe(left)">
                                      <p:cBhvr>
                                        <p:cTn id="35" dur="500"/>
                                        <p:tgtEl>
                                          <p:spTgt spid="36867">
                                            <p:txEl>
                                              <p:pRg st="5" end="5"/>
                                            </p:txEl>
                                          </p:spTgt>
                                        </p:tgtEl>
                                      </p:cBhvr>
                                    </p:animEffect>
                                  </p:childTnLst>
                                </p:cTn>
                              </p:par>
                            </p:childTnLst>
                          </p:cTn>
                        </p:par>
                        <p:par>
                          <p:cTn id="36" fill="hold">
                            <p:stCondLst>
                              <p:cond delay="4000"/>
                            </p:stCondLst>
                            <p:childTnLst>
                              <p:par>
                                <p:cTn id="37" presetID="23" presetClass="entr" presetSubtype="16"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500" fill="hold"/>
                                        <p:tgtEl>
                                          <p:spTgt spid="2"/>
                                        </p:tgtEl>
                                        <p:attrNameLst>
                                          <p:attrName>ppt_w</p:attrName>
                                        </p:attrNameLst>
                                      </p:cBhvr>
                                      <p:tavLst>
                                        <p:tav tm="0">
                                          <p:val>
                                            <p:fltVal val="0"/>
                                          </p:val>
                                        </p:tav>
                                        <p:tav tm="100000">
                                          <p:val>
                                            <p:strVal val="#ppt_w"/>
                                          </p:val>
                                        </p:tav>
                                      </p:tavLst>
                                    </p:anim>
                                    <p:anim calcmode="lin" valueType="num">
                                      <p:cBhvr>
                                        <p:cTn id="40"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ldLvl="0" animBg="1"/>
      <p:bldP spid="36867" grpId="0" build="p" advAuto="1000"/>
      <p:bldP spid="3686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idx="1"/>
          </p:nvPr>
        </p:nvSpPr>
        <p:spPr>
          <a:xfrm>
            <a:off x="685800" y="1219200"/>
            <a:ext cx="7772400" cy="5257800"/>
          </a:xfrm>
        </p:spPr>
        <p:txBody>
          <a:bodyPr vert="horz" wrap="square" lIns="91440" tIns="45720" rIns="91440" bIns="45720" anchor="t"/>
          <a:lstStyle/>
          <a:p>
            <a:pPr eaLnBrk="1" hangingPunct="1">
              <a:lnSpc>
                <a:spcPct val="130000"/>
              </a:lnSpc>
            </a:pPr>
            <a:r>
              <a:rPr lang="zh-CN" altLang="en-US" b="1" dirty="0">
                <a:latin typeface="华文中宋" panose="02010600040101010101" pitchFamily="2" charset="-122"/>
                <a:ea typeface="华文中宋" panose="02010600040101010101" pitchFamily="2" charset="-122"/>
              </a:rPr>
              <a:t>工程材料是用于制造工程结构和机械零件并主要要求力学性能的结构材料。</a:t>
            </a:r>
          </a:p>
          <a:p>
            <a:pPr eaLnBrk="1" hangingPunct="1">
              <a:lnSpc>
                <a:spcPct val="130000"/>
              </a:lnSpc>
            </a:pPr>
            <a:r>
              <a:rPr lang="zh-CN" altLang="en-US" b="1" dirty="0">
                <a:solidFill>
                  <a:schemeClr val="folHlink"/>
                </a:solidFill>
                <a:latin typeface="华文中宋" panose="02010600040101010101" pitchFamily="2" charset="-122"/>
                <a:ea typeface="华文中宋" panose="02010600040101010101" pitchFamily="2" charset="-122"/>
              </a:rPr>
              <a:t>按组成与结合键分：</a:t>
            </a:r>
            <a:r>
              <a:rPr lang="zh-CN" altLang="en-US" b="1" dirty="0">
                <a:latin typeface="华文中宋" panose="02010600040101010101" pitchFamily="2" charset="-122"/>
                <a:ea typeface="华文中宋" panose="02010600040101010101" pitchFamily="2" charset="-122"/>
              </a:rPr>
              <a:t> </a:t>
            </a:r>
          </a:p>
          <a:p>
            <a:pPr eaLnBrk="1" hangingPunct="1">
              <a:lnSpc>
                <a:spcPct val="130000"/>
              </a:lnSpc>
            </a:pPr>
            <a:r>
              <a:rPr lang="zh-CN" altLang="en-US" b="1" dirty="0">
                <a:latin typeface="华文中宋" panose="02010600040101010101" pitchFamily="2" charset="-122"/>
                <a:ea typeface="华文中宋" panose="02010600040101010101" pitchFamily="2" charset="-122"/>
              </a:rPr>
              <a:t> </a:t>
            </a:r>
            <a:r>
              <a:rPr lang="zh-CN" altLang="zh-CN" b="1" dirty="0">
                <a:solidFill>
                  <a:srgbClr val="CCFF33"/>
                </a:solidFill>
                <a:ea typeface="华文中宋" panose="02010600040101010101" pitchFamily="2" charset="-122"/>
              </a:rPr>
              <a:t>1</a:t>
            </a:r>
            <a:r>
              <a:rPr lang="zh-CN" altLang="en-US" b="1" dirty="0">
                <a:solidFill>
                  <a:srgbClr val="CCFF33"/>
                </a:solidFill>
                <a:ea typeface="华文中宋" panose="02010600040101010101" pitchFamily="2" charset="-122"/>
              </a:rPr>
              <a:t>、金属材料</a:t>
            </a:r>
          </a:p>
          <a:p>
            <a:pPr eaLnBrk="1" hangingPunct="1">
              <a:lnSpc>
                <a:spcPct val="130000"/>
              </a:lnSpc>
            </a:pPr>
            <a:r>
              <a:rPr lang="zh-CN" altLang="zh-CN" b="1" dirty="0">
                <a:solidFill>
                  <a:srgbClr val="CCFF33"/>
                </a:solidFill>
                <a:ea typeface="华文中宋" panose="02010600040101010101" pitchFamily="2" charset="-122"/>
              </a:rPr>
              <a:t> 2</a:t>
            </a:r>
            <a:r>
              <a:rPr lang="zh-CN" altLang="en-US" b="1" dirty="0">
                <a:solidFill>
                  <a:srgbClr val="CCFF33"/>
                </a:solidFill>
                <a:ea typeface="华文中宋" panose="02010600040101010101" pitchFamily="2" charset="-122"/>
              </a:rPr>
              <a:t>、高分子材料</a:t>
            </a:r>
          </a:p>
          <a:p>
            <a:pPr eaLnBrk="1" hangingPunct="1">
              <a:lnSpc>
                <a:spcPct val="130000"/>
              </a:lnSpc>
            </a:pPr>
            <a:r>
              <a:rPr lang="zh-CN" altLang="zh-CN" b="1" dirty="0">
                <a:solidFill>
                  <a:srgbClr val="CCFF33"/>
                </a:solidFill>
                <a:ea typeface="华文中宋" panose="02010600040101010101" pitchFamily="2" charset="-122"/>
              </a:rPr>
              <a:t> 3</a:t>
            </a:r>
            <a:r>
              <a:rPr lang="zh-CN" altLang="en-US" b="1" dirty="0">
                <a:solidFill>
                  <a:srgbClr val="CCFF33"/>
                </a:solidFill>
                <a:ea typeface="华文中宋" panose="02010600040101010101" pitchFamily="2" charset="-122"/>
              </a:rPr>
              <a:t>、陶瓷材料</a:t>
            </a:r>
          </a:p>
          <a:p>
            <a:pPr eaLnBrk="1" hangingPunct="1">
              <a:lnSpc>
                <a:spcPct val="130000"/>
              </a:lnSpc>
            </a:pPr>
            <a:r>
              <a:rPr lang="zh-CN" altLang="zh-CN" b="1" dirty="0">
                <a:solidFill>
                  <a:srgbClr val="CCFF33"/>
                </a:solidFill>
                <a:ea typeface="华文中宋" panose="02010600040101010101" pitchFamily="2" charset="-122"/>
              </a:rPr>
              <a:t> 4</a:t>
            </a:r>
            <a:r>
              <a:rPr lang="zh-CN" altLang="en-US" b="1" dirty="0">
                <a:solidFill>
                  <a:srgbClr val="CCFF33"/>
                </a:solidFill>
                <a:ea typeface="华文中宋" panose="02010600040101010101" pitchFamily="2" charset="-122"/>
              </a:rPr>
              <a:t>、复合材料</a:t>
            </a:r>
          </a:p>
        </p:txBody>
      </p:sp>
      <p:sp>
        <p:nvSpPr>
          <p:cNvPr id="37891" name="Rectangle 3"/>
          <p:cNvSpPr>
            <a:spLocks noGrp="1" noChangeArrowheads="1"/>
          </p:cNvSpPr>
          <p:nvPr>
            <p:ph type="title"/>
          </p:nvPr>
        </p:nvSpPr>
        <p:spPr>
          <a:xfrm>
            <a:off x="1066800" y="465138"/>
            <a:ext cx="7772400" cy="601663"/>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二、工程材料的分类</a:t>
            </a:r>
          </a:p>
        </p:txBody>
      </p:sp>
      <p:grpSp>
        <p:nvGrpSpPr>
          <p:cNvPr id="2" name="Group 4"/>
          <p:cNvGrpSpPr/>
          <p:nvPr/>
        </p:nvGrpSpPr>
        <p:grpSpPr>
          <a:xfrm>
            <a:off x="4724400" y="3200400"/>
            <a:ext cx="3667125" cy="2886075"/>
            <a:chOff x="0" y="0"/>
            <a:chExt cx="2310" cy="1818"/>
          </a:xfrm>
        </p:grpSpPr>
        <p:pic>
          <p:nvPicPr>
            <p:cNvPr id="37892" name="Picture 5" descr="材料分类"/>
            <p:cNvPicPr>
              <a:picLocks noChangeAspect="1"/>
            </p:cNvPicPr>
            <p:nvPr/>
          </p:nvPicPr>
          <p:blipFill>
            <a:blip r:embed="rId2"/>
            <a:stretch>
              <a:fillRect/>
            </a:stretch>
          </p:blipFill>
          <p:spPr>
            <a:xfrm>
              <a:off x="0" y="0"/>
              <a:ext cx="2310" cy="1818"/>
            </a:xfrm>
            <a:prstGeom prst="rect">
              <a:avLst/>
            </a:prstGeom>
            <a:noFill/>
            <a:ln w="57150" cap="flat" cmpd="sng">
              <a:solidFill>
                <a:srgbClr val="00FF00"/>
              </a:solidFill>
              <a:prstDash val="solid"/>
              <a:miter/>
              <a:headEnd type="none" w="med" len="med"/>
              <a:tailEnd type="none" w="med" len="med"/>
            </a:ln>
          </p:spPr>
        </p:pic>
        <p:sp>
          <p:nvSpPr>
            <p:cNvPr id="37893" name="Text Box 6"/>
            <p:cNvSpPr txBox="1"/>
            <p:nvPr/>
          </p:nvSpPr>
          <p:spPr>
            <a:xfrm>
              <a:off x="902" y="392"/>
              <a:ext cx="635" cy="240"/>
            </a:xfrm>
            <a:prstGeom prst="rect">
              <a:avLst/>
            </a:prstGeom>
            <a:noFill/>
            <a:ln w="9525">
              <a:noFill/>
            </a:ln>
          </p:spPr>
          <p:txBody>
            <a:bodyPr anchor="t">
              <a:spAutoFit/>
            </a:bodyPr>
            <a:lstStyle/>
            <a:p>
              <a:pPr>
                <a:spcBef>
                  <a:spcPct val="50000"/>
                </a:spcBef>
              </a:pPr>
              <a:r>
                <a:rPr lang="zh-CN" altLang="en-US" sz="1900" dirty="0">
                  <a:latin typeface="Times New Roman" panose="02020603050405020304" pitchFamily="18" charset="0"/>
                  <a:ea typeface="宋体" panose="02010600030101010101" pitchFamily="2" charset="-122"/>
                </a:rPr>
                <a:t>金属</a:t>
              </a:r>
            </a:p>
          </p:txBody>
        </p:sp>
        <p:sp>
          <p:nvSpPr>
            <p:cNvPr id="37894" name="Text Box 7"/>
            <p:cNvSpPr txBox="1"/>
            <p:nvPr/>
          </p:nvSpPr>
          <p:spPr>
            <a:xfrm>
              <a:off x="772" y="808"/>
              <a:ext cx="952" cy="240"/>
            </a:xfrm>
            <a:prstGeom prst="rect">
              <a:avLst/>
            </a:prstGeom>
            <a:noFill/>
            <a:ln w="9525">
              <a:noFill/>
            </a:ln>
          </p:spPr>
          <p:txBody>
            <a:bodyPr anchor="t">
              <a:spAutoFit/>
            </a:bodyPr>
            <a:lstStyle/>
            <a:p>
              <a:pPr>
                <a:spcBef>
                  <a:spcPct val="50000"/>
                </a:spcBef>
              </a:pPr>
              <a:r>
                <a:rPr lang="zh-CN" altLang="en-US" sz="1900" dirty="0">
                  <a:solidFill>
                    <a:schemeClr val="bg2"/>
                  </a:solidFill>
                  <a:latin typeface="Times New Roman" panose="02020603050405020304" pitchFamily="18" charset="0"/>
                  <a:ea typeface="宋体" panose="02010600030101010101" pitchFamily="2" charset="-122"/>
                </a:rPr>
                <a:t>复合材料</a:t>
              </a:r>
            </a:p>
          </p:txBody>
        </p:sp>
        <p:sp>
          <p:nvSpPr>
            <p:cNvPr id="37895" name="Text Box 8"/>
            <p:cNvSpPr txBox="1"/>
            <p:nvPr/>
          </p:nvSpPr>
          <p:spPr>
            <a:xfrm>
              <a:off x="448" y="1059"/>
              <a:ext cx="635" cy="240"/>
            </a:xfrm>
            <a:prstGeom prst="rect">
              <a:avLst/>
            </a:prstGeom>
            <a:noFill/>
            <a:ln w="9525">
              <a:noFill/>
            </a:ln>
          </p:spPr>
          <p:txBody>
            <a:bodyPr anchor="t">
              <a:spAutoFit/>
            </a:bodyPr>
            <a:lstStyle/>
            <a:p>
              <a:pPr>
                <a:spcBef>
                  <a:spcPct val="50000"/>
                </a:spcBef>
              </a:pPr>
              <a:r>
                <a:rPr lang="zh-CN" altLang="en-US" sz="1900" dirty="0">
                  <a:solidFill>
                    <a:schemeClr val="bg2"/>
                  </a:solidFill>
                  <a:latin typeface="Times New Roman" panose="02020603050405020304" pitchFamily="18" charset="0"/>
                  <a:ea typeface="宋体" panose="02010600030101010101" pitchFamily="2" charset="-122"/>
                </a:rPr>
                <a:t>高分子</a:t>
              </a:r>
            </a:p>
          </p:txBody>
        </p:sp>
        <p:sp>
          <p:nvSpPr>
            <p:cNvPr id="37896" name="Text Box 9"/>
            <p:cNvSpPr txBox="1"/>
            <p:nvPr/>
          </p:nvSpPr>
          <p:spPr>
            <a:xfrm>
              <a:off x="1385" y="1054"/>
              <a:ext cx="635" cy="240"/>
            </a:xfrm>
            <a:prstGeom prst="rect">
              <a:avLst/>
            </a:prstGeom>
            <a:noFill/>
            <a:ln w="9525">
              <a:noFill/>
            </a:ln>
          </p:spPr>
          <p:txBody>
            <a:bodyPr anchor="t">
              <a:spAutoFit/>
            </a:bodyPr>
            <a:lstStyle/>
            <a:p>
              <a:pPr>
                <a:spcBef>
                  <a:spcPct val="50000"/>
                </a:spcBef>
              </a:pPr>
              <a:r>
                <a:rPr lang="zh-CN" altLang="en-US" sz="1900" dirty="0">
                  <a:solidFill>
                    <a:schemeClr val="bg2"/>
                  </a:solidFill>
                  <a:latin typeface="Times New Roman" panose="02020603050405020304" pitchFamily="18" charset="0"/>
                  <a:ea typeface="宋体" panose="02010600030101010101" pitchFamily="2" charset="-122"/>
                </a:rPr>
                <a:t>陶瓷</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wipe(left)">
                                      <p:cBhvr>
                                        <p:cTn id="7" dur="500"/>
                                        <p:tgtEl>
                                          <p:spTgt spid="3789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7890">
                                            <p:txEl>
                                              <p:pRg st="0" end="0"/>
                                            </p:txEl>
                                          </p:spTgt>
                                        </p:tgtEl>
                                        <p:attrNameLst>
                                          <p:attrName>style.visibility</p:attrName>
                                        </p:attrNameLst>
                                      </p:cBhvr>
                                      <p:to>
                                        <p:strVal val="visible"/>
                                      </p:to>
                                    </p:set>
                                    <p:animEffect transition="in" filter="wipe(left)">
                                      <p:cBhvr>
                                        <p:cTn id="11" dur="500"/>
                                        <p:tgtEl>
                                          <p:spTgt spid="37890">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7890">
                                            <p:txEl>
                                              <p:pRg st="1" end="1"/>
                                            </p:txEl>
                                          </p:spTgt>
                                        </p:tgtEl>
                                        <p:attrNameLst>
                                          <p:attrName>style.visibility</p:attrName>
                                        </p:attrNameLst>
                                      </p:cBhvr>
                                      <p:to>
                                        <p:strVal val="visible"/>
                                      </p:to>
                                    </p:set>
                                    <p:animEffect transition="in" filter="wipe(left)">
                                      <p:cBhvr>
                                        <p:cTn id="15" dur="500"/>
                                        <p:tgtEl>
                                          <p:spTgt spid="37890">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7890">
                                            <p:txEl>
                                              <p:pRg st="2" end="2"/>
                                            </p:txEl>
                                          </p:spTgt>
                                        </p:tgtEl>
                                        <p:attrNameLst>
                                          <p:attrName>style.visibility</p:attrName>
                                        </p:attrNameLst>
                                      </p:cBhvr>
                                      <p:to>
                                        <p:strVal val="visible"/>
                                      </p:to>
                                    </p:set>
                                    <p:animEffect transition="in" filter="wipe(left)">
                                      <p:cBhvr>
                                        <p:cTn id="19" dur="500"/>
                                        <p:tgtEl>
                                          <p:spTgt spid="37890">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7890">
                                            <p:txEl>
                                              <p:pRg st="3" end="3"/>
                                            </p:txEl>
                                          </p:spTgt>
                                        </p:tgtEl>
                                        <p:attrNameLst>
                                          <p:attrName>style.visibility</p:attrName>
                                        </p:attrNameLst>
                                      </p:cBhvr>
                                      <p:to>
                                        <p:strVal val="visible"/>
                                      </p:to>
                                    </p:set>
                                    <p:animEffect transition="in" filter="wipe(left)">
                                      <p:cBhvr>
                                        <p:cTn id="23" dur="500"/>
                                        <p:tgtEl>
                                          <p:spTgt spid="37890">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7890">
                                            <p:txEl>
                                              <p:pRg st="4" end="4"/>
                                            </p:txEl>
                                          </p:spTgt>
                                        </p:tgtEl>
                                        <p:attrNameLst>
                                          <p:attrName>style.visibility</p:attrName>
                                        </p:attrNameLst>
                                      </p:cBhvr>
                                      <p:to>
                                        <p:strVal val="visible"/>
                                      </p:to>
                                    </p:set>
                                    <p:animEffect transition="in" filter="wipe(left)">
                                      <p:cBhvr>
                                        <p:cTn id="27" dur="500"/>
                                        <p:tgtEl>
                                          <p:spTgt spid="37890">
                                            <p:txEl>
                                              <p:pRg st="4" end="4"/>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7890">
                                            <p:txEl>
                                              <p:pRg st="5" end="5"/>
                                            </p:txEl>
                                          </p:spTgt>
                                        </p:tgtEl>
                                        <p:attrNameLst>
                                          <p:attrName>style.visibility</p:attrName>
                                        </p:attrNameLst>
                                      </p:cBhvr>
                                      <p:to>
                                        <p:strVal val="visible"/>
                                      </p:to>
                                    </p:set>
                                    <p:animEffect transition="in" filter="wipe(left)">
                                      <p:cBhvr>
                                        <p:cTn id="31" dur="500"/>
                                        <p:tgtEl>
                                          <p:spTgt spid="3789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advAuto="1000"/>
      <p:bldP spid="3789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p:cNvSpPr>
          <p:nvPr>
            <p:ph type="title"/>
          </p:nvPr>
        </p:nvSpPr>
        <p:spPr>
          <a:xfrm>
            <a:off x="539750" y="549275"/>
            <a:ext cx="719138" cy="4967288"/>
          </a:xfrm>
        </p:spPr>
        <p:txBody>
          <a:bodyPr wrap="square" lIns="92075" tIns="46038" rIns="92075" bIns="46038" anchor="ctr"/>
          <a:lstStyle/>
          <a:p>
            <a:pPr eaLnBrk="1" hangingPunct="1"/>
            <a:r>
              <a:rPr lang="zh-CN" altLang="en-US" sz="3200" b="1" dirty="0">
                <a:solidFill>
                  <a:srgbClr val="A50021"/>
                </a:solidFill>
                <a:effectLst/>
                <a:latin typeface="Times New Roman" panose="02020603050405020304" pitchFamily="18" charset="0"/>
                <a:ea typeface="华文中宋" panose="02010600040101010101" pitchFamily="2" charset="-122"/>
              </a:rPr>
              <a:t>机械工程材料分类图</a:t>
            </a:r>
          </a:p>
        </p:txBody>
      </p:sp>
      <p:pic>
        <p:nvPicPr>
          <p:cNvPr id="38915" name="Picture 3" descr="1"/>
          <p:cNvPicPr>
            <a:picLocks noChangeAspect="1"/>
          </p:cNvPicPr>
          <p:nvPr/>
        </p:nvPicPr>
        <p:blipFill>
          <a:blip r:embed="rId2"/>
          <a:stretch>
            <a:fillRect/>
          </a:stretch>
        </p:blipFill>
        <p:spPr>
          <a:xfrm>
            <a:off x="1893888" y="333375"/>
            <a:ext cx="5991225" cy="60483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wipe(left)">
                                      <p:cBhvr>
                                        <p:cTn id="7" dur="500"/>
                                        <p:tgtEl>
                                          <p:spTgt spid="38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533400" y="666750"/>
            <a:ext cx="7772400" cy="1143000"/>
          </a:xfrm>
        </p:spPr>
        <p:txBody>
          <a:bodyPr vert="horz" wrap="square" lIns="92075" tIns="46038" rIns="92075" bIns="46038" anchor="ctr"/>
          <a:lstStyle/>
          <a:p>
            <a:pPr algn="l" eaLnBrk="1" hangingPunct="1"/>
            <a:r>
              <a:rPr lang="zh-CN" altLang="en-US" sz="3200" b="1" dirty="0">
                <a:effectLst/>
                <a:ea typeface="华文中宋" panose="02010600040101010101" pitchFamily="2" charset="-122"/>
              </a:rPr>
              <a:t>金属材料</a:t>
            </a:r>
          </a:p>
        </p:txBody>
      </p:sp>
      <p:sp>
        <p:nvSpPr>
          <p:cNvPr id="39939" name="Rectangle 3"/>
          <p:cNvSpPr>
            <a:spLocks noGrp="1"/>
          </p:cNvSpPr>
          <p:nvPr>
            <p:ph idx="1"/>
          </p:nvPr>
        </p:nvSpPr>
        <p:spPr>
          <a:xfrm>
            <a:off x="152400" y="2286000"/>
            <a:ext cx="3505200" cy="3962400"/>
          </a:xfrm>
        </p:spPr>
        <p:txBody>
          <a:bodyPr vert="horz" wrap="square" lIns="91440" tIns="45720" rIns="91440" bIns="45720" anchor="t"/>
          <a:lstStyle/>
          <a:p>
            <a:pPr eaLnBrk="1" hangingPunct="1">
              <a:lnSpc>
                <a:spcPct val="135000"/>
              </a:lnSpc>
            </a:pPr>
            <a:r>
              <a:rPr lang="zh-CN" altLang="en-US" sz="2800" b="1" dirty="0">
                <a:solidFill>
                  <a:schemeClr val="folHlink"/>
                </a:solidFill>
                <a:latin typeface="华文中宋" panose="02010600040101010101" pitchFamily="2" charset="-122"/>
                <a:ea typeface="华文中宋" panose="02010600040101010101" pitchFamily="2" charset="-122"/>
              </a:rPr>
              <a:t>良好的导电性、导热性、延展性和金属光泽 </a:t>
            </a:r>
          </a:p>
          <a:p>
            <a:pPr eaLnBrk="1" hangingPunct="1">
              <a:lnSpc>
                <a:spcPct val="135000"/>
              </a:lnSpc>
            </a:pPr>
            <a:r>
              <a:rPr lang="zh-CN" altLang="en-US" sz="2800" b="1" dirty="0">
                <a:solidFill>
                  <a:schemeClr val="folHlink"/>
                </a:solidFill>
                <a:latin typeface="华文中宋" panose="02010600040101010101" pitchFamily="2" charset="-122"/>
                <a:ea typeface="华文中宋" panose="02010600040101010101" pitchFamily="2" charset="-122"/>
              </a:rPr>
              <a:t>用量最大、应用最广泛</a:t>
            </a:r>
          </a:p>
        </p:txBody>
      </p:sp>
      <p:sp>
        <p:nvSpPr>
          <p:cNvPr id="2" name="AutoShape 4"/>
          <p:cNvSpPr/>
          <p:nvPr/>
        </p:nvSpPr>
        <p:spPr>
          <a:xfrm>
            <a:off x="2438400" y="762000"/>
            <a:ext cx="152400" cy="914400"/>
          </a:xfrm>
          <a:prstGeom prst="leftBrace">
            <a:avLst>
              <a:gd name="adj1" fmla="val 50000"/>
              <a:gd name="adj2" fmla="val 50000"/>
            </a:avLst>
          </a:prstGeom>
          <a:noFill/>
          <a:ln w="9525" cap="flat" cmpd="sng">
            <a:solidFill>
              <a:schemeClr val="tx1"/>
            </a:solidFill>
            <a:prstDash val="solid"/>
            <a:round/>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39940" name="Text Box 5"/>
          <p:cNvSpPr txBox="1"/>
          <p:nvPr/>
        </p:nvSpPr>
        <p:spPr>
          <a:xfrm>
            <a:off x="2590800" y="547688"/>
            <a:ext cx="5868988" cy="519112"/>
          </a:xfrm>
          <a:prstGeom prst="rect">
            <a:avLst/>
          </a:prstGeom>
          <a:noFill/>
          <a:ln w="9525">
            <a:noFill/>
          </a:ln>
        </p:spPr>
        <p:txBody>
          <a:bodyPr anchor="t">
            <a:spAutoFit/>
          </a:bodyPr>
          <a:lstStyle/>
          <a:p>
            <a:pPr>
              <a:spcBef>
                <a:spcPct val="50000"/>
              </a:spcBef>
            </a:pPr>
            <a:r>
              <a:rPr lang="zh-CN" altLang="en-US" sz="2800" b="1" dirty="0">
                <a:solidFill>
                  <a:srgbClr val="CCFF33"/>
                </a:solidFill>
                <a:latin typeface="华文中宋" panose="02010600040101010101" pitchFamily="2" charset="-122"/>
                <a:ea typeface="华文中宋" panose="02010600040101010101" pitchFamily="2" charset="-122"/>
              </a:rPr>
              <a:t>黑色金属</a:t>
            </a:r>
            <a:r>
              <a:rPr lang="zh-CN" altLang="zh-CN" sz="2400" b="1" dirty="0">
                <a:latin typeface="Times New Roman" panose="02020603050405020304" pitchFamily="18" charset="0"/>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铁及铁合金</a:t>
            </a:r>
          </a:p>
        </p:txBody>
      </p:sp>
      <p:sp>
        <p:nvSpPr>
          <p:cNvPr id="39941" name="Text Box 6"/>
          <p:cNvSpPr txBox="1"/>
          <p:nvPr/>
        </p:nvSpPr>
        <p:spPr>
          <a:xfrm>
            <a:off x="2590800" y="1295400"/>
            <a:ext cx="6248400" cy="519113"/>
          </a:xfrm>
          <a:prstGeom prst="rect">
            <a:avLst/>
          </a:prstGeom>
          <a:noFill/>
          <a:ln w="9525">
            <a:noFill/>
          </a:ln>
        </p:spPr>
        <p:txBody>
          <a:bodyPr anchor="t">
            <a:spAutoFit/>
          </a:bodyPr>
          <a:lstStyle/>
          <a:p>
            <a:pPr>
              <a:spcBef>
                <a:spcPct val="50000"/>
              </a:spcBef>
            </a:pPr>
            <a:r>
              <a:rPr lang="zh-CN" altLang="en-US" sz="2800" b="1" dirty="0">
                <a:solidFill>
                  <a:srgbClr val="CCFF33"/>
                </a:solidFill>
                <a:latin typeface="华文中宋" panose="02010600040101010101" pitchFamily="2" charset="-122"/>
                <a:ea typeface="华文中宋" panose="02010600040101010101" pitchFamily="2" charset="-122"/>
              </a:rPr>
              <a:t>有色金属</a:t>
            </a:r>
            <a:r>
              <a:rPr lang="zh-CN" altLang="zh-CN" sz="2400" b="1" dirty="0">
                <a:latin typeface="Times New Roman" panose="02020603050405020304" pitchFamily="18" charset="0"/>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轻金属</a:t>
            </a:r>
            <a:r>
              <a:rPr lang="zh-CN" altLang="zh-CN" sz="2400" b="1" dirty="0">
                <a:latin typeface="华文中宋" panose="02010600040101010101" pitchFamily="2" charset="-122"/>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重金属</a:t>
            </a:r>
            <a:r>
              <a:rPr lang="zh-CN" altLang="zh-CN" sz="2400" b="1" dirty="0">
                <a:latin typeface="华文中宋" panose="02010600040101010101" pitchFamily="2" charset="-122"/>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贵金属</a:t>
            </a:r>
            <a:r>
              <a:rPr lang="zh-CN" altLang="zh-CN" sz="2400" b="1" dirty="0">
                <a:latin typeface="华文中宋" panose="02010600040101010101" pitchFamily="2" charset="-122"/>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稀有金属</a:t>
            </a:r>
            <a:r>
              <a:rPr lang="zh-CN" altLang="en-US" sz="2800" b="1" dirty="0">
                <a:latin typeface="宋体" panose="02010600030101010101" pitchFamily="2" charset="-122"/>
                <a:ea typeface="宋体" panose="02010600030101010101" pitchFamily="2" charset="-122"/>
              </a:rPr>
              <a:t> </a:t>
            </a:r>
          </a:p>
        </p:txBody>
      </p:sp>
      <p:pic>
        <p:nvPicPr>
          <p:cNvPr id="3" name="图片 2"/>
          <p:cNvPicPr>
            <a:picLocks noChangeAspect="1"/>
          </p:cNvPicPr>
          <p:nvPr/>
        </p:nvPicPr>
        <p:blipFill>
          <a:blip r:embed="rId3"/>
          <a:stretch>
            <a:fillRect/>
          </a:stretch>
        </p:blipFill>
        <p:spPr>
          <a:xfrm>
            <a:off x="4098290" y="2624455"/>
            <a:ext cx="4621530" cy="35159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wipe(left)">
                                      <p:cBhvr>
                                        <p:cTn id="7" dur="500"/>
                                        <p:tgtEl>
                                          <p:spTgt spid="399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939">
                                            <p:txEl>
                                              <p:pRg st="0" end="0"/>
                                            </p:txEl>
                                          </p:spTgt>
                                        </p:tgtEl>
                                        <p:attrNameLst>
                                          <p:attrName>style.visibility</p:attrName>
                                        </p:attrNameLst>
                                      </p:cBhvr>
                                      <p:to>
                                        <p:strVal val="visible"/>
                                      </p:to>
                                    </p:set>
                                    <p:animEffect transition="in" filter="wipe(left)">
                                      <p:cBhvr>
                                        <p:cTn id="11" dur="500"/>
                                        <p:tgtEl>
                                          <p:spTgt spid="39939">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9939">
                                            <p:txEl>
                                              <p:pRg st="1" end="1"/>
                                            </p:txEl>
                                          </p:spTgt>
                                        </p:tgtEl>
                                        <p:attrNameLst>
                                          <p:attrName>style.visibility</p:attrName>
                                        </p:attrNameLst>
                                      </p:cBhvr>
                                      <p:to>
                                        <p:strVal val="visible"/>
                                      </p:to>
                                    </p:set>
                                    <p:animEffect transition="in" filter="wipe(left)">
                                      <p:cBhvr>
                                        <p:cTn id="15" dur="500"/>
                                        <p:tgtEl>
                                          <p:spTgt spid="399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ldLvl="0" animBg="1"/>
      <p:bldP spid="39939" grpId="0" build="p" advAuto="100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762000" y="304800"/>
            <a:ext cx="7848600" cy="1447800"/>
          </a:xfrm>
        </p:spPr>
        <p:txBody>
          <a:bodyPr vert="horz" wrap="square" lIns="92075" tIns="46038" rIns="92075" bIns="46038" numCol="1" anchor="ctr" anchorCtr="0" compatLnSpc="1"/>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铁及铁合金称为黑色金属，即钢铁材料，其世界年产量已达</a:t>
            </a:r>
            <a:r>
              <a:rPr kumimoji="0" lang="zh-CN" alt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10</a:t>
            </a:r>
            <a:r>
              <a:rPr kumimoji="0" 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亿吨，在机械产品中的用量已占整个用材的</a:t>
            </a:r>
            <a:r>
              <a:rPr kumimoji="0" lang="zh-CN" alt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60%</a:t>
            </a:r>
            <a:r>
              <a:rPr kumimoji="0" lang="zh-CN" sz="2800" b="1" i="0" u="none" strike="noStrike" kern="0" cap="none" spc="0" normalizeH="0" baseline="0" noProof="0">
                <a:ln>
                  <a:noFill/>
                </a:ln>
                <a:solidFill>
                  <a:srgbClr val="800000"/>
                </a:solidFill>
                <a:effectLst/>
                <a:uLnTx/>
                <a:uFillTx/>
                <a:latin typeface="Times New Roman" panose="02020603050405020304" pitchFamily="18" charset="0"/>
                <a:ea typeface="华文中宋" panose="02010600040101010101" pitchFamily="2" charset="-122"/>
                <a:cs typeface="+mj-cs"/>
              </a:rPr>
              <a:t>以上。</a:t>
            </a:r>
            <a:r>
              <a:rPr kumimoji="0" lang="zh-CN" sz="2800" b="0" i="0" u="none" strike="noStrike" kern="0" cap="none" spc="0" normalizeH="0" baseline="0" noProof="0">
                <a:ln>
                  <a:noFill/>
                </a:ln>
                <a:solidFill>
                  <a:schemeClr val="hlink"/>
                </a:solidFill>
                <a:effectLst>
                  <a:outerShdw blurRad="38100" dist="38100" dir="2700000" algn="tl">
                    <a:srgbClr val="C0C0C0"/>
                  </a:outerShdw>
                </a:effectLst>
                <a:uLnTx/>
                <a:uFillTx/>
                <a:latin typeface="+mj-lt"/>
                <a:ea typeface="华文行楷" panose="02010800040101010101" pitchFamily="2" charset="-122"/>
                <a:cs typeface="+mj-cs"/>
              </a:rPr>
              <a:t> </a:t>
            </a:r>
          </a:p>
        </p:txBody>
      </p:sp>
      <p:grpSp>
        <p:nvGrpSpPr>
          <p:cNvPr id="41987" name="Group 3"/>
          <p:cNvGrpSpPr/>
          <p:nvPr/>
        </p:nvGrpSpPr>
        <p:grpSpPr>
          <a:xfrm>
            <a:off x="1066800" y="1773238"/>
            <a:ext cx="7239000" cy="4881562"/>
            <a:chOff x="0" y="0"/>
            <a:chExt cx="4560" cy="3075"/>
          </a:xfrm>
        </p:grpSpPr>
        <p:pic>
          <p:nvPicPr>
            <p:cNvPr id="41988" name="Picture 4" descr="钢材"/>
            <p:cNvPicPr>
              <a:picLocks noChangeAspect="1"/>
            </p:cNvPicPr>
            <p:nvPr/>
          </p:nvPicPr>
          <p:blipFill>
            <a:blip r:embed="rId2"/>
            <a:srcRect r="1094" b="11887"/>
            <a:stretch>
              <a:fillRect/>
            </a:stretch>
          </p:blipFill>
          <p:spPr>
            <a:xfrm>
              <a:off x="0" y="0"/>
              <a:ext cx="4431" cy="3039"/>
            </a:xfrm>
            <a:prstGeom prst="rect">
              <a:avLst/>
            </a:prstGeom>
            <a:noFill/>
            <a:ln w="9525">
              <a:noFill/>
            </a:ln>
          </p:spPr>
        </p:pic>
        <p:sp>
          <p:nvSpPr>
            <p:cNvPr id="41989" name="Rectangle 5"/>
            <p:cNvSpPr/>
            <p:nvPr/>
          </p:nvSpPr>
          <p:spPr>
            <a:xfrm>
              <a:off x="938" y="1438"/>
              <a:ext cx="384" cy="24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41990" name="Text Box 6"/>
            <p:cNvSpPr txBox="1"/>
            <p:nvPr/>
          </p:nvSpPr>
          <p:spPr>
            <a:xfrm>
              <a:off x="1584" y="1183"/>
              <a:ext cx="480"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带材</a:t>
              </a:r>
            </a:p>
          </p:txBody>
        </p:sp>
        <p:sp>
          <p:nvSpPr>
            <p:cNvPr id="41991" name="Text Box 7"/>
            <p:cNvSpPr txBox="1"/>
            <p:nvPr/>
          </p:nvSpPr>
          <p:spPr>
            <a:xfrm>
              <a:off x="3888" y="1135"/>
              <a:ext cx="672"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异形材</a:t>
              </a:r>
            </a:p>
          </p:txBody>
        </p:sp>
        <p:sp>
          <p:nvSpPr>
            <p:cNvPr id="41992" name="Text Box 8"/>
            <p:cNvSpPr txBox="1"/>
            <p:nvPr/>
          </p:nvSpPr>
          <p:spPr>
            <a:xfrm>
              <a:off x="1404" y="2825"/>
              <a:ext cx="480"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板材</a:t>
              </a:r>
            </a:p>
          </p:txBody>
        </p:sp>
        <p:sp>
          <p:nvSpPr>
            <p:cNvPr id="41993" name="Text Box 9"/>
            <p:cNvSpPr txBox="1"/>
            <p:nvPr/>
          </p:nvSpPr>
          <p:spPr>
            <a:xfrm>
              <a:off x="2496" y="2825"/>
              <a:ext cx="528"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管材</a:t>
              </a:r>
            </a:p>
          </p:txBody>
        </p:sp>
        <p:sp>
          <p:nvSpPr>
            <p:cNvPr id="41994" name="Rectangle 10"/>
            <p:cNvSpPr/>
            <p:nvPr/>
          </p:nvSpPr>
          <p:spPr>
            <a:xfrm>
              <a:off x="3120" y="1385"/>
              <a:ext cx="624" cy="24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500"/>
                                        <p:tgtEl>
                                          <p:spTgt spid="41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09600" y="228600"/>
            <a:ext cx="7772400" cy="6858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4400" b="1" i="0" u="none" strike="noStrike" kern="0" cap="none" spc="0" normalizeH="0" baseline="0" noProof="0">
                <a:ln>
                  <a:noFill/>
                </a:ln>
                <a:solidFill>
                  <a:srgbClr val="800000"/>
                </a:solidFill>
                <a:effectLst>
                  <a:outerShdw blurRad="38100" dist="38100" dir="2700000" algn="tl">
                    <a:srgbClr val="C0C0C0"/>
                  </a:outerShdw>
                </a:effectLst>
                <a:uLnTx/>
                <a:uFillTx/>
                <a:latin typeface="+mj-lt"/>
                <a:ea typeface="华文中宋" panose="02010600040101010101" pitchFamily="2" charset="-122"/>
                <a:cs typeface="+mj-cs"/>
              </a:rPr>
              <a:t>金属材料制品</a:t>
            </a:r>
          </a:p>
        </p:txBody>
      </p:sp>
      <p:pic>
        <p:nvPicPr>
          <p:cNvPr id="43011" name="Picture 3" descr="金属制品"/>
          <p:cNvPicPr>
            <a:picLocks noChangeAspect="1"/>
          </p:cNvPicPr>
          <p:nvPr/>
        </p:nvPicPr>
        <p:blipFill>
          <a:blip r:embed="rId2"/>
          <a:stretch>
            <a:fillRect/>
          </a:stretch>
        </p:blipFill>
        <p:spPr>
          <a:xfrm>
            <a:off x="685800" y="1066800"/>
            <a:ext cx="8050213" cy="54721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500"/>
                                        <p:tgtEl>
                                          <p:spTgt spid="430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3011"/>
                                        </p:tgtEl>
                                        <p:attrNameLst>
                                          <p:attrName>style.visibility</p:attrName>
                                        </p:attrNameLst>
                                      </p:cBhvr>
                                      <p:to>
                                        <p:strVal val="visible"/>
                                      </p:to>
                                    </p:set>
                                    <p:animEffect transition="in" filter="wipe(up)">
                                      <p:cBhvr>
                                        <p:cTn id="11" dur="500"/>
                                        <p:tgtEl>
                                          <p:spTgt spid="43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685800" y="306388"/>
            <a:ext cx="2895600" cy="1143000"/>
          </a:xfrm>
        </p:spPr>
        <p:txBody>
          <a:bodyPr vert="horz" wrap="square" lIns="92075" tIns="46038" rIns="92075" bIns="46038" anchor="ctr"/>
          <a:lstStyle/>
          <a:p>
            <a:pPr eaLnBrk="1" hangingPunct="1"/>
            <a:r>
              <a:rPr lang="zh-CN" altLang="en-US" sz="3200" b="1" dirty="0">
                <a:effectLst/>
                <a:ea typeface="华文中宋" panose="02010600040101010101" pitchFamily="2" charset="-122"/>
              </a:rPr>
              <a:t>陶瓷材料</a:t>
            </a:r>
          </a:p>
        </p:txBody>
      </p:sp>
      <p:sp>
        <p:nvSpPr>
          <p:cNvPr id="44035" name="Rectangle 3"/>
          <p:cNvSpPr>
            <a:spLocks noGrp="1"/>
          </p:cNvSpPr>
          <p:nvPr>
            <p:ph type="body" sz="half" idx="1"/>
          </p:nvPr>
        </p:nvSpPr>
        <p:spPr>
          <a:xfrm>
            <a:off x="381000" y="1373188"/>
            <a:ext cx="3505200" cy="4648200"/>
          </a:xfrm>
        </p:spPr>
        <p:txBody>
          <a:bodyPr vert="horz" wrap="square" lIns="91440" tIns="45720" rIns="91440" bIns="45720" anchor="t"/>
          <a:lstStyle/>
          <a:p>
            <a:pPr eaLnBrk="1" hangingPunct="1">
              <a:lnSpc>
                <a:spcPct val="140000"/>
              </a:lnSpc>
              <a:buClr>
                <a:schemeClr val="accent2"/>
              </a:buClr>
              <a:buSzPct val="80000"/>
              <a:buFont typeface="Wingdings" panose="05000000000000000000" pitchFamily="2" charset="2"/>
            </a:pPr>
            <a:r>
              <a:rPr lang="zh-CN" altLang="en-US" sz="2800" b="1" dirty="0">
                <a:solidFill>
                  <a:srgbClr val="FF0000"/>
                </a:solidFill>
                <a:latin typeface="华文中宋" panose="02010600040101010101" pitchFamily="2" charset="-122"/>
                <a:ea typeface="华文中宋" panose="02010600040101010101" pitchFamily="2" charset="-122"/>
              </a:rPr>
              <a:t>熔点高、硬度高、耐腐蚀、脆性大 </a:t>
            </a:r>
          </a:p>
          <a:p>
            <a:pPr eaLnBrk="1" hangingPunct="1">
              <a:lnSpc>
                <a:spcPct val="140000"/>
              </a:lnSpc>
              <a:buClr>
                <a:schemeClr val="accent2"/>
              </a:buClr>
              <a:buSzPct val="80000"/>
              <a:buFont typeface="Wingdings" panose="05000000000000000000" pitchFamily="2" charset="2"/>
            </a:pPr>
            <a:r>
              <a:rPr lang="zh-CN" altLang="en-US" sz="2800" b="1" dirty="0">
                <a:solidFill>
                  <a:srgbClr val="CCFF33"/>
                </a:solidFill>
                <a:latin typeface="华文中宋" panose="02010600040101010101" pitchFamily="2" charset="-122"/>
                <a:ea typeface="华文中宋" panose="02010600040101010101" pitchFamily="2" charset="-122"/>
              </a:rPr>
              <a:t>分为传统陶瓷、特种陶瓷和金属陶瓷三类 </a:t>
            </a:r>
          </a:p>
        </p:txBody>
      </p:sp>
      <p:grpSp>
        <p:nvGrpSpPr>
          <p:cNvPr id="2" name="Group 4"/>
          <p:cNvGrpSpPr>
            <a:grpSpLocks noChangeAspect="1"/>
          </p:cNvGrpSpPr>
          <p:nvPr/>
        </p:nvGrpSpPr>
        <p:grpSpPr>
          <a:xfrm>
            <a:off x="4495800" y="839788"/>
            <a:ext cx="4170363" cy="4881562"/>
            <a:chOff x="0" y="0"/>
            <a:chExt cx="2627" cy="3075"/>
          </a:xfrm>
        </p:grpSpPr>
        <p:pic>
          <p:nvPicPr>
            <p:cNvPr id="44036" name="Picture 5" descr="共价键"/>
            <p:cNvPicPr>
              <a:picLocks noChangeAspect="1"/>
            </p:cNvPicPr>
            <p:nvPr/>
          </p:nvPicPr>
          <p:blipFill>
            <a:blip r:embed="rId3"/>
            <a:stretch>
              <a:fillRect/>
            </a:stretch>
          </p:blipFill>
          <p:spPr>
            <a:xfrm>
              <a:off x="0" y="0"/>
              <a:ext cx="2627" cy="1382"/>
            </a:xfrm>
            <a:prstGeom prst="rect">
              <a:avLst/>
            </a:prstGeom>
            <a:noFill/>
            <a:ln w="38100" cap="flat" cmpd="sng">
              <a:solidFill>
                <a:srgbClr val="FF99CC"/>
              </a:solidFill>
              <a:prstDash val="solid"/>
              <a:miter/>
              <a:headEnd type="none" w="med" len="med"/>
              <a:tailEnd type="none" w="med" len="med"/>
            </a:ln>
          </p:spPr>
        </p:pic>
        <p:pic>
          <p:nvPicPr>
            <p:cNvPr id="44037" name="Picture 6" descr="离子键"/>
            <p:cNvPicPr>
              <a:picLocks noChangeAspect="1"/>
            </p:cNvPicPr>
            <p:nvPr/>
          </p:nvPicPr>
          <p:blipFill>
            <a:blip r:embed="rId4"/>
            <a:stretch>
              <a:fillRect/>
            </a:stretch>
          </p:blipFill>
          <p:spPr>
            <a:xfrm>
              <a:off x="0" y="1632"/>
              <a:ext cx="2627" cy="1443"/>
            </a:xfrm>
            <a:prstGeom prst="rect">
              <a:avLst/>
            </a:prstGeom>
            <a:noFill/>
            <a:ln w="38100" cap="flat" cmpd="sng">
              <a:solidFill>
                <a:srgbClr val="FF99CC"/>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wipe(left)">
                                      <p:cBhvr>
                                        <p:cTn id="7" dur="500"/>
                                        <p:tgtEl>
                                          <p:spTgt spid="4403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4035">
                                            <p:txEl>
                                              <p:pRg st="0" end="0"/>
                                            </p:txEl>
                                          </p:spTgt>
                                        </p:tgtEl>
                                        <p:attrNameLst>
                                          <p:attrName>style.visibility</p:attrName>
                                        </p:attrNameLst>
                                      </p:cBhvr>
                                      <p:to>
                                        <p:strVal val="visible"/>
                                      </p:to>
                                    </p:set>
                                    <p:animEffect transition="in" filter="wipe(left)">
                                      <p:cBhvr>
                                        <p:cTn id="11" dur="500"/>
                                        <p:tgtEl>
                                          <p:spTgt spid="44035">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4035">
                                            <p:txEl>
                                              <p:pRg st="1" end="1"/>
                                            </p:txEl>
                                          </p:spTgt>
                                        </p:tgtEl>
                                        <p:attrNameLst>
                                          <p:attrName>style.visibility</p:attrName>
                                        </p:attrNameLst>
                                      </p:cBhvr>
                                      <p:to>
                                        <p:strVal val="visible"/>
                                      </p:to>
                                    </p:set>
                                    <p:animEffect transition="in" filter="wipe(left)">
                                      <p:cBhvr>
                                        <p:cTn id="15" dur="500"/>
                                        <p:tgtEl>
                                          <p:spTgt spid="44035">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ldLvl="0" animBg="1"/>
      <p:bldP spid="44035" grpId="0" build="p" advAuto="100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FF"/>
            </a:gs>
            <a:gs pos="100000">
              <a:srgbClr val="000000"/>
            </a:gs>
          </a:gsLst>
          <a:lin ang="0" scaled="1"/>
          <a:tileRect/>
        </a:gra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304800"/>
            <a:ext cx="8229600" cy="2438400"/>
          </a:xfrm>
        </p:spPr>
        <p:txBody>
          <a:bodyPr vert="horz" wrap="square" lIns="92075" tIns="46038" rIns="92075" bIns="46038" numCol="1" anchor="ctr"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sz="2800" b="1" i="0" u="none" strike="noStrike" kern="0" cap="none" spc="0" normalizeH="0" baseline="0" noProof="0">
                <a:ln>
                  <a:noFill/>
                </a:ln>
                <a:solidFill>
                  <a:schemeClr val="tx2"/>
                </a:solidFill>
                <a:effectLst/>
                <a:uLnTx/>
                <a:uFillTx/>
                <a:latin typeface="华文中宋" panose="02010600040101010101" pitchFamily="2" charset="-122"/>
                <a:ea typeface="华文中宋" panose="02010600040101010101" pitchFamily="2" charset="-122"/>
                <a:cs typeface="+mj-cs"/>
              </a:rPr>
              <a:t>传统陶瓷</a:t>
            </a:r>
            <a:r>
              <a:rPr kumimoji="0" 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又称普通陶瓷</a:t>
            </a:r>
            <a:r>
              <a:rPr kumimoji="0" lang="zh-CN" alt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 </a:t>
            </a:r>
            <a:r>
              <a:rPr kumimoji="0" 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是以天然材料</a:t>
            </a:r>
            <a:r>
              <a:rPr kumimoji="0" lang="zh-CN" alt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a:t>
            </a:r>
            <a:r>
              <a:rPr kumimoji="0" 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如黏土、石英、长石等</a:t>
            </a:r>
            <a:r>
              <a:rPr kumimoji="0" lang="zh-CN" alt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a:t>
            </a:r>
            <a:r>
              <a:rPr kumimoji="0" 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为原料的陶瓷</a:t>
            </a:r>
            <a:r>
              <a:rPr kumimoji="0" lang="zh-CN" alt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 </a:t>
            </a:r>
            <a:r>
              <a:rPr kumimoji="0" 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主要用作建筑材料使用</a:t>
            </a:r>
            <a:r>
              <a:rPr kumimoji="0" lang="zh-CN" altLang="zh-CN" sz="2800" b="1" i="0" u="none" strike="noStrike" kern="0" cap="none" spc="0" normalizeH="0" baseline="0" noProof="0">
                <a:ln>
                  <a:noFill/>
                </a:ln>
                <a:solidFill>
                  <a:srgbClr val="CCFF33"/>
                </a:solidFill>
                <a:effectLst/>
                <a:uLnTx/>
                <a:uFillTx/>
                <a:latin typeface="华文中宋" panose="02010600040101010101" pitchFamily="2" charset="-122"/>
                <a:ea typeface="华文中宋" panose="02010600040101010101" pitchFamily="2" charset="-122"/>
                <a:cs typeface="+mj-cs"/>
              </a:rPr>
              <a:t>.</a:t>
            </a:r>
            <a:br>
              <a:rPr kumimoji="0" lang="zh-CN" altLang="zh-CN" sz="2800" b="1" i="0" u="none" strike="noStrike" kern="0" cap="none" spc="0" normalizeH="0" baseline="0" noProof="0">
                <a:ln>
                  <a:noFill/>
                </a:ln>
                <a:solidFill>
                  <a:srgbClr val="800000"/>
                </a:solidFill>
                <a:effectLst/>
                <a:uLnTx/>
                <a:uFillTx/>
                <a:latin typeface="华文中宋" panose="02010600040101010101" pitchFamily="2" charset="-122"/>
                <a:ea typeface="华文中宋" panose="02010600040101010101" pitchFamily="2" charset="-122"/>
                <a:cs typeface="+mj-cs"/>
              </a:rPr>
            </a:br>
            <a:r>
              <a:rPr kumimoji="0" lang="zh-CN" sz="2800" b="1" i="0" u="none" strike="noStrike" kern="0" cap="none" spc="0" normalizeH="0" baseline="0" noProof="0">
                <a:ln>
                  <a:noFill/>
                </a:ln>
                <a:solidFill>
                  <a:schemeClr val="tx2"/>
                </a:solidFill>
                <a:effectLst/>
                <a:uLnTx/>
                <a:uFillTx/>
                <a:latin typeface="华文中宋" panose="02010600040101010101" pitchFamily="2" charset="-122"/>
                <a:ea typeface="华文中宋" panose="02010600040101010101" pitchFamily="2" charset="-122"/>
                <a:cs typeface="+mj-cs"/>
              </a:rPr>
              <a:t>特种陶瓷</a:t>
            </a:r>
            <a:r>
              <a:rPr kumimoji="0" lang="zh-CN" sz="2800" b="1" i="0" u="none" strike="noStrike" kern="0" cap="none" spc="0" normalizeH="0" baseline="0" noProof="0">
                <a:ln>
                  <a:noFill/>
                </a:ln>
                <a:solidFill>
                  <a:schemeClr val="folHlink"/>
                </a:solidFill>
                <a:effectLst/>
                <a:uLnTx/>
                <a:uFillTx/>
                <a:latin typeface="华文中宋" panose="02010600040101010101" pitchFamily="2" charset="-122"/>
                <a:ea typeface="华文中宋" panose="02010600040101010101" pitchFamily="2" charset="-122"/>
                <a:cs typeface="+mj-cs"/>
              </a:rPr>
              <a:t>又称精细陶瓷，是以人工合成材料为原料的陶瓷，常用作工程上的耐热、耐蚀、耐磨零件。</a:t>
            </a:r>
            <a:r>
              <a:rPr kumimoji="0" lang="zh-CN" sz="2800" b="0" i="0" u="none" strike="noStrike" kern="0" cap="none" spc="0" normalizeH="0" baseline="0" noProof="0">
                <a:ln>
                  <a:noFill/>
                </a:ln>
                <a:solidFill>
                  <a:schemeClr val="hlink"/>
                </a:solidFill>
                <a:effectLst>
                  <a:outerShdw blurRad="38100" dist="38100" dir="2700000" algn="tl">
                    <a:srgbClr val="FFFFFF"/>
                  </a:outerShdw>
                </a:effectLst>
                <a:uLnTx/>
                <a:uFillTx/>
                <a:latin typeface="+mj-lt"/>
                <a:ea typeface="华文行楷" panose="02010800040101010101" pitchFamily="2" charset="-122"/>
                <a:cs typeface="+mj-cs"/>
              </a:rPr>
              <a:t> </a:t>
            </a:r>
          </a:p>
        </p:txBody>
      </p:sp>
      <p:grpSp>
        <p:nvGrpSpPr>
          <p:cNvPr id="2" name="Group 3"/>
          <p:cNvGrpSpPr/>
          <p:nvPr/>
        </p:nvGrpSpPr>
        <p:grpSpPr>
          <a:xfrm>
            <a:off x="609600" y="2936875"/>
            <a:ext cx="7772400" cy="3479800"/>
            <a:chOff x="0" y="0"/>
            <a:chExt cx="4896" cy="2192"/>
          </a:xfrm>
        </p:grpSpPr>
        <p:pic>
          <p:nvPicPr>
            <p:cNvPr id="46084" name="Picture 4" descr="陶瓷件"/>
            <p:cNvPicPr>
              <a:picLocks noChangeAspect="1"/>
            </p:cNvPicPr>
            <p:nvPr/>
          </p:nvPicPr>
          <p:blipFill>
            <a:blip r:embed="rId2"/>
            <a:stretch>
              <a:fillRect/>
            </a:stretch>
          </p:blipFill>
          <p:spPr>
            <a:xfrm>
              <a:off x="0" y="22"/>
              <a:ext cx="1795" cy="2150"/>
            </a:xfrm>
            <a:prstGeom prst="rect">
              <a:avLst/>
            </a:prstGeom>
            <a:noFill/>
            <a:ln w="38100" cap="flat" cmpd="sng">
              <a:solidFill>
                <a:srgbClr val="FF00FF"/>
              </a:solidFill>
              <a:prstDash val="solid"/>
              <a:miter/>
              <a:headEnd type="none" w="med" len="med"/>
              <a:tailEnd type="none" w="med" len="med"/>
            </a:ln>
          </p:spPr>
        </p:pic>
        <p:sp>
          <p:nvSpPr>
            <p:cNvPr id="46085" name="Text Box 5"/>
            <p:cNvSpPr txBox="1"/>
            <p:nvPr/>
          </p:nvSpPr>
          <p:spPr>
            <a:xfrm>
              <a:off x="1056" y="0"/>
              <a:ext cx="816"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陶瓷制品</a:t>
              </a:r>
            </a:p>
          </p:txBody>
        </p:sp>
        <p:pic>
          <p:nvPicPr>
            <p:cNvPr id="46086" name="Picture 6" descr="陶瓷发动机"/>
            <p:cNvPicPr>
              <a:picLocks noChangeAspect="1"/>
            </p:cNvPicPr>
            <p:nvPr/>
          </p:nvPicPr>
          <p:blipFill>
            <a:blip r:embed="rId3"/>
            <a:stretch>
              <a:fillRect/>
            </a:stretch>
          </p:blipFill>
          <p:spPr>
            <a:xfrm>
              <a:off x="2448" y="22"/>
              <a:ext cx="2385" cy="2154"/>
            </a:xfrm>
            <a:prstGeom prst="rect">
              <a:avLst/>
            </a:prstGeom>
            <a:noFill/>
            <a:ln w="38100" cap="flat" cmpd="sng">
              <a:solidFill>
                <a:srgbClr val="FF00FF"/>
              </a:solidFill>
              <a:prstDash val="solid"/>
              <a:miter/>
              <a:headEnd type="none" w="med" len="med"/>
              <a:tailEnd type="none" w="med" len="med"/>
            </a:ln>
          </p:spPr>
        </p:pic>
        <p:sp>
          <p:nvSpPr>
            <p:cNvPr id="46087" name="Text Box 7"/>
            <p:cNvSpPr txBox="1"/>
            <p:nvPr/>
          </p:nvSpPr>
          <p:spPr>
            <a:xfrm>
              <a:off x="3936" y="1942"/>
              <a:ext cx="960" cy="250"/>
            </a:xfrm>
            <a:prstGeom prst="rect">
              <a:avLst/>
            </a:prstGeom>
            <a:noFill/>
            <a:ln w="9525">
              <a:noFill/>
            </a:ln>
          </p:spPr>
          <p:txBody>
            <a:bodyPr anchor="t">
              <a:spAutoFit/>
            </a:bodyPr>
            <a:lstStyle/>
            <a:p>
              <a:pPr>
                <a:spcBef>
                  <a:spcPct val="50000"/>
                </a:spcBef>
              </a:pPr>
              <a:r>
                <a:rPr lang="zh-CN" altLang="en-US" sz="2000" b="1" dirty="0">
                  <a:solidFill>
                    <a:srgbClr val="A50021"/>
                  </a:solidFill>
                  <a:latin typeface="Times New Roman" panose="02020603050405020304" pitchFamily="18" charset="0"/>
                  <a:ea typeface="宋体" panose="02010600030101010101" pitchFamily="2" charset="-122"/>
                </a:rPr>
                <a:t>陶瓷发动机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wipe(left)">
                                      <p:cBhvr>
                                        <p:cTn id="7" dur="500"/>
                                        <p:tgtEl>
                                          <p:spTgt spid="4608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3400" y="228600"/>
            <a:ext cx="32766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高分子材料</a:t>
            </a:r>
            <a:r>
              <a:rPr kumimoji="0" 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p>
        </p:txBody>
      </p:sp>
      <p:sp>
        <p:nvSpPr>
          <p:cNvPr id="47107" name="Rectangle 3"/>
          <p:cNvSpPr>
            <a:spLocks noGrp="1"/>
          </p:cNvSpPr>
          <p:nvPr>
            <p:ph type="body" sz="half" idx="1"/>
          </p:nvPr>
        </p:nvSpPr>
        <p:spPr>
          <a:xfrm>
            <a:off x="381000" y="1600200"/>
            <a:ext cx="3429000" cy="4495800"/>
          </a:xfrm>
        </p:spPr>
        <p:txBody>
          <a:bodyPr vert="horz" wrap="square" lIns="91440" tIns="45720" rIns="91440" bIns="45720" anchor="t"/>
          <a:lstStyle/>
          <a:p>
            <a:pPr eaLnBrk="1" hangingPunct="1">
              <a:lnSpc>
                <a:spcPct val="140000"/>
              </a:lnSpc>
              <a:buClr>
                <a:schemeClr val="accent2"/>
              </a:buClr>
              <a:buSzPct val="80000"/>
              <a:buFont typeface="Wingdings" panose="05000000000000000000" pitchFamily="2" charset="2"/>
            </a:pPr>
            <a:r>
              <a:rPr lang="zh-CN" altLang="en-US" sz="2800" b="1" dirty="0">
                <a:solidFill>
                  <a:srgbClr val="FF0000"/>
                </a:solidFill>
                <a:latin typeface="华文中宋" panose="02010600040101010101" pitchFamily="2" charset="-122"/>
                <a:ea typeface="华文中宋" panose="02010600040101010101" pitchFamily="2" charset="-122"/>
              </a:rPr>
              <a:t>塑性、耐蚀性、电绝缘性、减振性好，密度小</a:t>
            </a:r>
            <a:r>
              <a:rPr lang="zh-CN" altLang="en-US" sz="2800" b="1" dirty="0">
                <a:solidFill>
                  <a:srgbClr val="CCFF33"/>
                </a:solidFill>
                <a:latin typeface="华文中宋" panose="02010600040101010101" pitchFamily="2" charset="-122"/>
                <a:ea typeface="华文中宋" panose="02010600040101010101" pitchFamily="2" charset="-122"/>
              </a:rPr>
              <a:t> </a:t>
            </a:r>
          </a:p>
          <a:p>
            <a:pPr eaLnBrk="1" hangingPunct="1">
              <a:lnSpc>
                <a:spcPct val="140000"/>
              </a:lnSpc>
              <a:buClr>
                <a:schemeClr val="accent2"/>
              </a:buClr>
              <a:buSzPct val="80000"/>
              <a:buFont typeface="Wingdings" panose="05000000000000000000" pitchFamily="2" charset="2"/>
            </a:pPr>
            <a:r>
              <a:rPr lang="zh-CN" altLang="en-US" sz="2800" b="1" dirty="0">
                <a:solidFill>
                  <a:srgbClr val="CCFF33"/>
                </a:solidFill>
                <a:latin typeface="华文中宋" panose="02010600040101010101" pitchFamily="2" charset="-122"/>
                <a:ea typeface="华文中宋" panose="02010600040101010101" pitchFamily="2" charset="-122"/>
              </a:rPr>
              <a:t>包括塑料、橡胶及合成纤维等</a:t>
            </a:r>
            <a:r>
              <a:rPr lang="zh-CN" altLang="en-US" sz="2800" dirty="0">
                <a:solidFill>
                  <a:srgbClr val="CCFF33"/>
                </a:solidFill>
              </a:rPr>
              <a:t> </a:t>
            </a:r>
          </a:p>
        </p:txBody>
      </p:sp>
      <p:grpSp>
        <p:nvGrpSpPr>
          <p:cNvPr id="2" name="Group 5"/>
          <p:cNvGrpSpPr/>
          <p:nvPr/>
        </p:nvGrpSpPr>
        <p:grpSpPr>
          <a:xfrm>
            <a:off x="4406900" y="581025"/>
            <a:ext cx="4371975" cy="4981575"/>
            <a:chOff x="0" y="0"/>
            <a:chExt cx="2754" cy="3138"/>
          </a:xfrm>
        </p:grpSpPr>
        <p:pic>
          <p:nvPicPr>
            <p:cNvPr id="47109" name="Picture 6" descr="共价键1"/>
            <p:cNvPicPr>
              <a:picLocks noChangeAspect="1"/>
            </p:cNvPicPr>
            <p:nvPr/>
          </p:nvPicPr>
          <p:blipFill>
            <a:blip r:embed="rId2"/>
            <a:stretch>
              <a:fillRect/>
            </a:stretch>
          </p:blipFill>
          <p:spPr>
            <a:xfrm>
              <a:off x="0" y="0"/>
              <a:ext cx="2426" cy="1650"/>
            </a:xfrm>
            <a:prstGeom prst="rect">
              <a:avLst/>
            </a:prstGeom>
            <a:noFill/>
            <a:ln w="57150" cap="flat" cmpd="sng">
              <a:solidFill>
                <a:srgbClr val="CC99FF"/>
              </a:solidFill>
              <a:prstDash val="solid"/>
              <a:miter/>
              <a:headEnd type="none" w="med" len="med"/>
              <a:tailEnd type="none" w="med" len="med"/>
            </a:ln>
          </p:spPr>
        </p:pic>
        <p:sp>
          <p:nvSpPr>
            <p:cNvPr id="47110" name="Text Box 7"/>
            <p:cNvSpPr txBox="1"/>
            <p:nvPr/>
          </p:nvSpPr>
          <p:spPr>
            <a:xfrm>
              <a:off x="2436" y="2082"/>
              <a:ext cx="308" cy="1056"/>
            </a:xfrm>
            <a:prstGeom prst="rect">
              <a:avLst/>
            </a:prstGeom>
            <a:noFill/>
            <a:ln w="9525">
              <a:noFill/>
            </a:ln>
          </p:spPr>
          <p:txBody>
            <a:bodyPr vert="eaVert" anchor="t">
              <a:spAutoFit/>
            </a:bodyPr>
            <a:lstStyle/>
            <a:p>
              <a:pPr algn="ctr"/>
              <a:r>
                <a:rPr lang="zh-CN" altLang="en-US" sz="2000" b="1" dirty="0">
                  <a:solidFill>
                    <a:schemeClr val="folHlink"/>
                  </a:solidFill>
                  <a:latin typeface="Times New Roman" panose="02020603050405020304" pitchFamily="18" charset="0"/>
                  <a:ea typeface="华文中宋" panose="02010600040101010101" pitchFamily="2" charset="-122"/>
                </a:rPr>
                <a:t>分子键</a:t>
              </a:r>
              <a:endParaRPr lang="zh-CN" altLang="en-US" sz="2400" dirty="0">
                <a:solidFill>
                  <a:schemeClr val="folHlink"/>
                </a:solidFill>
                <a:latin typeface="Times New Roman" panose="02020603050405020304" pitchFamily="18" charset="0"/>
                <a:ea typeface="华文中宋" panose="02010600040101010101" pitchFamily="2" charset="-122"/>
              </a:endParaRPr>
            </a:p>
          </p:txBody>
        </p:sp>
        <p:sp>
          <p:nvSpPr>
            <p:cNvPr id="47111" name="Text Box 8"/>
            <p:cNvSpPr txBox="1"/>
            <p:nvPr/>
          </p:nvSpPr>
          <p:spPr>
            <a:xfrm>
              <a:off x="2446" y="450"/>
              <a:ext cx="308" cy="768"/>
            </a:xfrm>
            <a:prstGeom prst="rect">
              <a:avLst/>
            </a:prstGeom>
            <a:noFill/>
            <a:ln w="9525">
              <a:noFill/>
            </a:ln>
          </p:spPr>
          <p:txBody>
            <a:bodyPr vert="eaVert" anchor="t">
              <a:spAutoFit/>
            </a:bodyPr>
            <a:lstStyle/>
            <a:p>
              <a:pPr>
                <a:spcBef>
                  <a:spcPct val="50000"/>
                </a:spcBef>
              </a:pPr>
              <a:r>
                <a:rPr lang="zh-CN" altLang="en-US" sz="2000" b="1" dirty="0">
                  <a:solidFill>
                    <a:schemeClr val="folHlink"/>
                  </a:solidFill>
                  <a:latin typeface="Times New Roman" panose="02020603050405020304" pitchFamily="18" charset="0"/>
                  <a:ea typeface="华文中宋" panose="02010600040101010101" pitchFamily="2" charset="-122"/>
                </a:rPr>
                <a:t>共价键</a:t>
              </a:r>
            </a:p>
          </p:txBody>
        </p:sp>
      </p:grpSp>
      <p:pic>
        <p:nvPicPr>
          <p:cNvPr id="3" name="图片 2"/>
          <p:cNvPicPr>
            <a:picLocks noChangeAspect="1"/>
          </p:cNvPicPr>
          <p:nvPr/>
        </p:nvPicPr>
        <p:blipFill>
          <a:blip r:embed="rId3"/>
          <a:stretch>
            <a:fillRect/>
          </a:stretch>
        </p:blipFill>
        <p:spPr>
          <a:xfrm>
            <a:off x="4406900" y="3594100"/>
            <a:ext cx="3667760" cy="28028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500"/>
                                        <p:tgtEl>
                                          <p:spTgt spid="4710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107">
                                            <p:txEl>
                                              <p:pRg st="0" end="0"/>
                                            </p:txEl>
                                          </p:spTgt>
                                        </p:tgtEl>
                                        <p:attrNameLst>
                                          <p:attrName>style.visibility</p:attrName>
                                        </p:attrNameLst>
                                      </p:cBhvr>
                                      <p:to>
                                        <p:strVal val="visible"/>
                                      </p:to>
                                    </p:set>
                                    <p:animEffect transition="in" filter="wipe(left)">
                                      <p:cBhvr>
                                        <p:cTn id="11" dur="500"/>
                                        <p:tgtEl>
                                          <p:spTgt spid="4710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7107">
                                            <p:txEl>
                                              <p:pRg st="1" end="1"/>
                                            </p:txEl>
                                          </p:spTgt>
                                        </p:tgtEl>
                                        <p:attrNameLst>
                                          <p:attrName>style.visibility</p:attrName>
                                        </p:attrNameLst>
                                      </p:cBhvr>
                                      <p:to>
                                        <p:strVal val="visible"/>
                                      </p:to>
                                    </p:set>
                                    <p:animEffect transition="in" filter="wipe(left)">
                                      <p:cBhvr>
                                        <p:cTn id="15" dur="500"/>
                                        <p:tgtEl>
                                          <p:spTgt spid="47107">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ldLvl="0" animBg="1"/>
      <p:bldP spid="47107" grpId="0" build="p" advAuto="100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8130" name="Rectangle 2"/>
          <p:cNvSpPr>
            <a:spLocks noGrp="1"/>
          </p:cNvSpPr>
          <p:nvPr>
            <p:ph type="title"/>
          </p:nvPr>
        </p:nvSpPr>
        <p:spPr>
          <a:xfrm>
            <a:off x="533400" y="457200"/>
            <a:ext cx="8305800" cy="1905000"/>
          </a:xfrm>
        </p:spPr>
        <p:txBody>
          <a:bodyPr vert="horz" wrap="square" lIns="92075" tIns="46038" rIns="92075" bIns="46038" anchor="ctr"/>
          <a:lstStyle/>
          <a:p>
            <a:pPr algn="l" eaLnBrk="1" hangingPunct="1">
              <a:lnSpc>
                <a:spcPct val="140000"/>
              </a:lnSpc>
            </a:pPr>
            <a:r>
              <a:rPr lang="zh-CN" altLang="en-US" sz="2800" b="1" dirty="0">
                <a:solidFill>
                  <a:schemeClr val="hlink"/>
                </a:solidFill>
                <a:effectLst/>
                <a:latin typeface="Times New Roman" panose="02020603050405020304" pitchFamily="18" charset="0"/>
                <a:ea typeface="华文中宋" panose="02010600040101010101" pitchFamily="2" charset="-122"/>
              </a:rPr>
              <a:t>高分子材料</a:t>
            </a:r>
            <a:r>
              <a:rPr lang="zh-CN" altLang="en-US" sz="2800" b="1" dirty="0">
                <a:solidFill>
                  <a:srgbClr val="800000"/>
                </a:solidFill>
                <a:effectLst/>
                <a:latin typeface="宋体" panose="02010600030101010101" pitchFamily="2" charset="-122"/>
                <a:ea typeface="华文中宋" panose="02010600040101010101" pitchFamily="2" charset="-122"/>
              </a:rPr>
              <a:t>在机械、电气、纺织、汽车、飞机、轮船等制造工业和化学、交通运输、航空航天等工业中被广泛应用。</a:t>
            </a:r>
            <a:r>
              <a:rPr lang="zh-CN" altLang="en-US" sz="2800" dirty="0">
                <a:solidFill>
                  <a:schemeClr val="hlink"/>
                </a:solidFill>
                <a:effectLst/>
                <a:latin typeface="Times New Roman" panose="02020603050405020304" pitchFamily="18" charset="0"/>
                <a:ea typeface="华文行楷" panose="02010800040101010101" pitchFamily="2" charset="-122"/>
              </a:rPr>
              <a:t> </a:t>
            </a:r>
          </a:p>
        </p:txBody>
      </p:sp>
      <p:grpSp>
        <p:nvGrpSpPr>
          <p:cNvPr id="2" name="Group 4"/>
          <p:cNvGrpSpPr/>
          <p:nvPr/>
        </p:nvGrpSpPr>
        <p:grpSpPr>
          <a:xfrm>
            <a:off x="2571750" y="2571750"/>
            <a:ext cx="3571875" cy="3571875"/>
            <a:chOff x="0" y="0"/>
            <a:chExt cx="1392" cy="1575"/>
          </a:xfrm>
        </p:grpSpPr>
        <p:pic>
          <p:nvPicPr>
            <p:cNvPr id="48132" name="Picture 5" descr="烯丙酰氯-苯乙烯"/>
            <p:cNvPicPr>
              <a:picLocks noChangeAspect="1"/>
            </p:cNvPicPr>
            <p:nvPr/>
          </p:nvPicPr>
          <p:blipFill>
            <a:blip r:embed="rId2"/>
            <a:stretch>
              <a:fillRect/>
            </a:stretch>
          </p:blipFill>
          <p:spPr>
            <a:xfrm>
              <a:off x="0" y="0"/>
              <a:ext cx="1378" cy="1335"/>
            </a:xfrm>
            <a:prstGeom prst="rect">
              <a:avLst/>
            </a:prstGeom>
            <a:noFill/>
            <a:ln w="38100" cap="flat" cmpd="sng">
              <a:solidFill>
                <a:srgbClr val="FF00FF"/>
              </a:solidFill>
              <a:prstDash val="solid"/>
              <a:miter/>
              <a:headEnd type="none" w="med" len="med"/>
              <a:tailEnd type="none" w="med" len="med"/>
            </a:ln>
          </p:spPr>
        </p:pic>
        <p:sp>
          <p:nvSpPr>
            <p:cNvPr id="48133" name="Text Box 6"/>
            <p:cNvSpPr txBox="1"/>
            <p:nvPr/>
          </p:nvSpPr>
          <p:spPr>
            <a:xfrm>
              <a:off x="48" y="1344"/>
              <a:ext cx="1344" cy="231"/>
            </a:xfrm>
            <a:prstGeom prst="rect">
              <a:avLst/>
            </a:prstGeom>
            <a:noFill/>
            <a:ln w="9525">
              <a:noFill/>
            </a:ln>
          </p:spPr>
          <p:txBody>
            <a:bodyPr anchor="t">
              <a:spAutoFit/>
            </a:bodyPr>
            <a:lstStyle/>
            <a:p>
              <a:pPr algn="ctr">
                <a:spcBef>
                  <a:spcPct val="50000"/>
                </a:spcBef>
              </a:pPr>
              <a:r>
                <a:rPr lang="zh-CN" altLang="en-US" b="1" dirty="0">
                  <a:solidFill>
                    <a:srgbClr val="A50021"/>
                  </a:solidFill>
                  <a:latin typeface="华文中宋" panose="02010600040101010101" pitchFamily="2" charset="-122"/>
                  <a:ea typeface="华文中宋" panose="02010600040101010101" pitchFamily="2" charset="-122"/>
                </a:rPr>
                <a:t>烯丙酰氯</a:t>
              </a:r>
              <a:r>
                <a:rPr lang="zh-CN" altLang="zh-CN" b="1" dirty="0">
                  <a:solidFill>
                    <a:srgbClr val="A50021"/>
                  </a:solidFill>
                  <a:latin typeface="华文中宋" panose="02010600040101010101" pitchFamily="2" charset="-122"/>
                  <a:ea typeface="华文中宋" panose="02010600040101010101" pitchFamily="2" charset="-122"/>
                </a:rPr>
                <a:t>-</a:t>
              </a:r>
              <a:r>
                <a:rPr lang="zh-CN" altLang="en-US" b="1" dirty="0">
                  <a:solidFill>
                    <a:srgbClr val="A50021"/>
                  </a:solidFill>
                  <a:latin typeface="华文中宋" panose="02010600040101010101" pitchFamily="2" charset="-122"/>
                  <a:ea typeface="华文中宋" panose="02010600040101010101" pitchFamily="2" charset="-122"/>
                </a:rPr>
                <a:t>苯乙烯</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wipe(left)">
                                      <p:cBhvr>
                                        <p:cTn id="7" dur="500"/>
                                        <p:tgtEl>
                                          <p:spTgt spid="4813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914400" y="304800"/>
            <a:ext cx="6019800" cy="7620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复合材料 </a:t>
            </a:r>
          </a:p>
        </p:txBody>
      </p:sp>
      <p:sp>
        <p:nvSpPr>
          <p:cNvPr id="49155" name="Rectangle 3"/>
          <p:cNvSpPr>
            <a:spLocks noGrp="1"/>
          </p:cNvSpPr>
          <p:nvPr>
            <p:ph type="body" sz="half" idx="1"/>
          </p:nvPr>
        </p:nvSpPr>
        <p:spPr>
          <a:xfrm>
            <a:off x="685800" y="2667000"/>
            <a:ext cx="3352800" cy="3581400"/>
          </a:xfrm>
        </p:spPr>
        <p:txBody>
          <a:bodyPr vert="horz" wrap="square" lIns="91440" tIns="45720" rIns="91440" bIns="45720" anchor="t"/>
          <a:lstStyle/>
          <a:p>
            <a:pPr eaLnBrk="1" hangingPunct="1">
              <a:lnSpc>
                <a:spcPct val="170000"/>
              </a:lnSpc>
              <a:buClr>
                <a:schemeClr val="accent2"/>
              </a:buClr>
              <a:buSzPct val="80000"/>
              <a:buFont typeface="Wingdings" panose="05000000000000000000" pitchFamily="2" charset="2"/>
            </a:pPr>
            <a:r>
              <a:rPr lang="zh-CN" altLang="en-US" sz="2800" b="1" dirty="0">
                <a:latin typeface="华文中宋" panose="02010600040101010101" pitchFamily="2" charset="-122"/>
                <a:ea typeface="华文中宋" panose="02010600040101010101" pitchFamily="2" charset="-122"/>
              </a:rPr>
              <a:t>包括：</a:t>
            </a:r>
          </a:p>
          <a:p>
            <a:pPr eaLnBrk="1" hangingPunct="1">
              <a:lnSpc>
                <a:spcPct val="170000"/>
              </a:lnSpc>
              <a:buClr>
                <a:schemeClr val="accent2"/>
              </a:buClr>
              <a:buSzPct val="80000"/>
              <a:buFont typeface="Wingdings" panose="05000000000000000000" pitchFamily="2" charset="2"/>
            </a:pPr>
            <a:r>
              <a:rPr lang="zh-CN" altLang="en-US" sz="2800" b="1" dirty="0">
                <a:solidFill>
                  <a:srgbClr val="CCFF33"/>
                </a:solidFill>
                <a:latin typeface="华文中宋" panose="02010600040101010101" pitchFamily="2" charset="-122"/>
                <a:ea typeface="华文中宋" panose="02010600040101010101" pitchFamily="2" charset="-122"/>
              </a:rPr>
              <a:t>金属基复合材料</a:t>
            </a:r>
          </a:p>
          <a:p>
            <a:pPr eaLnBrk="1" hangingPunct="1">
              <a:lnSpc>
                <a:spcPct val="170000"/>
              </a:lnSpc>
              <a:buClr>
                <a:schemeClr val="accent2"/>
              </a:buClr>
              <a:buSzPct val="80000"/>
              <a:buFont typeface="Wingdings" panose="05000000000000000000" pitchFamily="2" charset="2"/>
            </a:pPr>
            <a:r>
              <a:rPr lang="zh-CN" altLang="en-US" sz="2800" b="1" dirty="0">
                <a:solidFill>
                  <a:srgbClr val="CCFF33"/>
                </a:solidFill>
                <a:latin typeface="华文中宋" panose="02010600040101010101" pitchFamily="2" charset="-122"/>
                <a:ea typeface="华文中宋" panose="02010600040101010101" pitchFamily="2" charset="-122"/>
              </a:rPr>
              <a:t>陶瓷基复合材料</a:t>
            </a:r>
          </a:p>
          <a:p>
            <a:pPr eaLnBrk="1" hangingPunct="1">
              <a:lnSpc>
                <a:spcPct val="170000"/>
              </a:lnSpc>
              <a:buClr>
                <a:schemeClr val="accent2"/>
              </a:buClr>
              <a:buSzPct val="80000"/>
              <a:buFont typeface="Wingdings" panose="05000000000000000000" pitchFamily="2" charset="2"/>
            </a:pPr>
            <a:r>
              <a:rPr lang="zh-CN" altLang="en-US" sz="2800" b="1" dirty="0">
                <a:solidFill>
                  <a:srgbClr val="CCFF33"/>
                </a:solidFill>
                <a:latin typeface="华文中宋" panose="02010600040101010101" pitchFamily="2" charset="-122"/>
                <a:ea typeface="华文中宋" panose="02010600040101010101" pitchFamily="2" charset="-122"/>
              </a:rPr>
              <a:t>高分子复合材料 </a:t>
            </a:r>
            <a:endParaRPr lang="zh-CN" altLang="en-US" sz="2800" b="1" dirty="0">
              <a:solidFill>
                <a:schemeClr val="folHlink"/>
              </a:solidFill>
              <a:latin typeface="华文中宋" panose="02010600040101010101" pitchFamily="2" charset="-122"/>
              <a:ea typeface="华文中宋" panose="02010600040101010101" pitchFamily="2" charset="-122"/>
            </a:endParaRPr>
          </a:p>
        </p:txBody>
      </p:sp>
      <p:sp>
        <p:nvSpPr>
          <p:cNvPr id="49156" name="Rectangle 4"/>
          <p:cNvSpPr/>
          <p:nvPr/>
        </p:nvSpPr>
        <p:spPr>
          <a:xfrm>
            <a:off x="609600" y="1219200"/>
            <a:ext cx="8001000" cy="1143000"/>
          </a:xfrm>
          <a:prstGeom prst="rect">
            <a:avLst/>
          </a:prstGeom>
          <a:solidFill>
            <a:srgbClr val="CCFF33"/>
          </a:solidFill>
          <a:ln w="9525">
            <a:noFill/>
          </a:ln>
        </p:spPr>
        <p:txBody>
          <a:bodyPr anchor="t"/>
          <a:lstStyle/>
          <a:p>
            <a:pPr marL="342900" indent="-342900">
              <a:lnSpc>
                <a:spcPct val="120000"/>
              </a:lnSpc>
              <a:spcBef>
                <a:spcPct val="20000"/>
              </a:spcBef>
              <a:buClr>
                <a:schemeClr val="accent2"/>
              </a:buClr>
              <a:buSzPct val="80000"/>
              <a:buFont typeface="Wingdings" panose="05000000000000000000" pitchFamily="2" charset="2"/>
              <a:buChar char="l"/>
            </a:pPr>
            <a:r>
              <a:rPr lang="zh-CN" altLang="en-US" sz="2800" b="1" dirty="0">
                <a:solidFill>
                  <a:srgbClr val="800000"/>
                </a:solidFill>
                <a:latin typeface="华文中宋" panose="02010600040101010101" pitchFamily="2" charset="-122"/>
                <a:ea typeface="华文中宋" panose="02010600040101010101" pitchFamily="2" charset="-122"/>
              </a:rPr>
              <a:t>是把两种或两种以上不同性质或不同结构的材料以微观或宏观的形式组合在一起而形成的材料。</a:t>
            </a:r>
          </a:p>
        </p:txBody>
      </p:sp>
      <p:grpSp>
        <p:nvGrpSpPr>
          <p:cNvPr id="2" name="Group 5"/>
          <p:cNvGrpSpPr/>
          <p:nvPr/>
        </p:nvGrpSpPr>
        <p:grpSpPr>
          <a:xfrm>
            <a:off x="4819650" y="2590800"/>
            <a:ext cx="3581400" cy="3598863"/>
            <a:chOff x="0" y="0"/>
            <a:chExt cx="2256" cy="2267"/>
          </a:xfrm>
        </p:grpSpPr>
        <p:pic>
          <p:nvPicPr>
            <p:cNvPr id="49157" name="Picture 6" descr="玻璃纤维增强高分子材料"/>
            <p:cNvPicPr>
              <a:picLocks noChangeAspect="1"/>
            </p:cNvPicPr>
            <p:nvPr/>
          </p:nvPicPr>
          <p:blipFill>
            <a:blip r:embed="rId2"/>
            <a:stretch>
              <a:fillRect/>
            </a:stretch>
          </p:blipFill>
          <p:spPr>
            <a:xfrm>
              <a:off x="36" y="0"/>
              <a:ext cx="2204" cy="2267"/>
            </a:xfrm>
            <a:prstGeom prst="rect">
              <a:avLst/>
            </a:prstGeom>
            <a:noFill/>
            <a:ln w="38100" cap="flat" cmpd="sng">
              <a:solidFill>
                <a:srgbClr val="CCFFCC"/>
              </a:solidFill>
              <a:prstDash val="solid"/>
              <a:miter/>
              <a:headEnd type="none" w="med" len="med"/>
              <a:tailEnd type="none" w="med" len="med"/>
            </a:ln>
          </p:spPr>
        </p:pic>
        <p:sp>
          <p:nvSpPr>
            <p:cNvPr id="49158" name="Text Box 7"/>
            <p:cNvSpPr txBox="1"/>
            <p:nvPr/>
          </p:nvSpPr>
          <p:spPr>
            <a:xfrm>
              <a:off x="0" y="2016"/>
              <a:ext cx="2256" cy="250"/>
            </a:xfrm>
            <a:prstGeom prst="rect">
              <a:avLst/>
            </a:prstGeom>
            <a:solidFill>
              <a:schemeClr val="bg2">
                <a:alpha val="50195"/>
              </a:schemeClr>
            </a:solidFill>
            <a:ln w="9525">
              <a:noFill/>
            </a:ln>
          </p:spPr>
          <p:txBody>
            <a:bodyPr anchor="t">
              <a:spAutoFit/>
            </a:bodyPr>
            <a:lstStyle/>
            <a:p>
              <a:pPr algn="ct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玻璃纤维增强高分子复合材料</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wipe(left)">
                                      <p:cBhvr>
                                        <p:cTn id="7" dur="500"/>
                                        <p:tgtEl>
                                          <p:spTgt spid="4915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49156"/>
                                        </p:tgtEl>
                                        <p:attrNameLst>
                                          <p:attrName>style.visibility</p:attrName>
                                        </p:attrNameLst>
                                      </p:cBhvr>
                                      <p:to>
                                        <p:strVal val="visible"/>
                                      </p:to>
                                    </p:set>
                                    <p:anim calcmode="lin" valueType="num">
                                      <p:cBhvr additive="base">
                                        <p:cTn id="11" dur="500" fill="hold"/>
                                        <p:tgtEl>
                                          <p:spTgt spid="49156"/>
                                        </p:tgtEl>
                                        <p:attrNameLst>
                                          <p:attrName>ppt_x</p:attrName>
                                        </p:attrNameLst>
                                      </p:cBhvr>
                                      <p:tavLst>
                                        <p:tav tm="0">
                                          <p:val>
                                            <p:strVal val="0-#ppt_w/2"/>
                                          </p:val>
                                        </p:tav>
                                        <p:tav tm="100000">
                                          <p:val>
                                            <p:strVal val="#ppt_x"/>
                                          </p:val>
                                        </p:tav>
                                      </p:tavLst>
                                    </p:anim>
                                    <p:anim calcmode="lin" valueType="num">
                                      <p:cBhvr additive="base">
                                        <p:cTn id="12" dur="500" fill="hold"/>
                                        <p:tgtEl>
                                          <p:spTgt spid="4915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49155">
                                            <p:txEl>
                                              <p:pRg st="0" end="0"/>
                                            </p:txEl>
                                          </p:spTgt>
                                        </p:tgtEl>
                                        <p:attrNameLst>
                                          <p:attrName>style.visibility</p:attrName>
                                        </p:attrNameLst>
                                      </p:cBhvr>
                                      <p:to>
                                        <p:strVal val="visible"/>
                                      </p:to>
                                    </p:set>
                                    <p:animEffect transition="in" filter="wipe(left)">
                                      <p:cBhvr>
                                        <p:cTn id="16" dur="500"/>
                                        <p:tgtEl>
                                          <p:spTgt spid="49155">
                                            <p:txEl>
                                              <p:pRg st="0" end="0"/>
                                            </p:txEl>
                                          </p:spTgt>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49155">
                                            <p:txEl>
                                              <p:pRg st="1" end="1"/>
                                            </p:txEl>
                                          </p:spTgt>
                                        </p:tgtEl>
                                        <p:attrNameLst>
                                          <p:attrName>style.visibility</p:attrName>
                                        </p:attrNameLst>
                                      </p:cBhvr>
                                      <p:to>
                                        <p:strVal val="visible"/>
                                      </p:to>
                                    </p:set>
                                    <p:animEffect transition="in" filter="wipe(left)">
                                      <p:cBhvr>
                                        <p:cTn id="20" dur="500"/>
                                        <p:tgtEl>
                                          <p:spTgt spid="49155">
                                            <p:txEl>
                                              <p:pRg st="1" end="1"/>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49155">
                                            <p:txEl>
                                              <p:pRg st="2" end="2"/>
                                            </p:txEl>
                                          </p:spTgt>
                                        </p:tgtEl>
                                        <p:attrNameLst>
                                          <p:attrName>style.visibility</p:attrName>
                                        </p:attrNameLst>
                                      </p:cBhvr>
                                      <p:to>
                                        <p:strVal val="visible"/>
                                      </p:to>
                                    </p:set>
                                    <p:animEffect transition="in" filter="wipe(left)">
                                      <p:cBhvr>
                                        <p:cTn id="24" dur="500"/>
                                        <p:tgtEl>
                                          <p:spTgt spid="49155">
                                            <p:txEl>
                                              <p:pRg st="2" end="2"/>
                                            </p:txEl>
                                          </p:spTgt>
                                        </p:tgtEl>
                                      </p:cBhvr>
                                    </p:animEffect>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49155">
                                            <p:txEl>
                                              <p:pRg st="3" end="3"/>
                                            </p:txEl>
                                          </p:spTgt>
                                        </p:tgtEl>
                                        <p:attrNameLst>
                                          <p:attrName>style.visibility</p:attrName>
                                        </p:attrNameLst>
                                      </p:cBhvr>
                                      <p:to>
                                        <p:strVal val="visible"/>
                                      </p:to>
                                    </p:set>
                                    <p:animEffect transition="in" filter="wipe(left)">
                                      <p:cBhvr>
                                        <p:cTn id="28" dur="500"/>
                                        <p:tgtEl>
                                          <p:spTgt spid="49155">
                                            <p:txEl>
                                              <p:pRg st="3" end="3"/>
                                            </p:txEl>
                                          </p:spTgt>
                                        </p:tgtEl>
                                      </p:cBhvr>
                                    </p:animEffect>
                                  </p:childTnLst>
                                </p:cTn>
                              </p:par>
                            </p:childTnLst>
                          </p:cTn>
                        </p:par>
                        <p:par>
                          <p:cTn id="29" fill="hold">
                            <p:stCondLst>
                              <p:cond delay="3000"/>
                            </p:stCondLst>
                            <p:childTnLst>
                              <p:par>
                                <p:cTn id="30" presetID="23" presetClass="entr" presetSubtype="16"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ldLvl="0" animBg="1"/>
      <p:bldP spid="49155" grpId="0" build="p" advAuto="1000"/>
      <p:bldP spid="4915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body" sz="half" idx="1"/>
          </p:nvPr>
        </p:nvSpPr>
        <p:spPr>
          <a:xfrm>
            <a:off x="152400" y="533400"/>
            <a:ext cx="4191000" cy="5791200"/>
          </a:xfrm>
        </p:spPr>
        <p:txBody>
          <a:bodyPr vert="horz" wrap="square" lIns="91440" tIns="45720" rIns="91440" bIns="45720" anchor="t"/>
          <a:lstStyle/>
          <a:p>
            <a:pPr eaLnBrk="1" hangingPunct="1">
              <a:lnSpc>
                <a:spcPct val="130000"/>
              </a:lnSpc>
              <a:buClr>
                <a:schemeClr val="accent2"/>
              </a:buClr>
              <a:buSzPct val="80000"/>
              <a:buFont typeface="Wingdings" panose="05000000000000000000" pitchFamily="2" charset="2"/>
            </a:pPr>
            <a:r>
              <a:rPr lang="zh-CN" altLang="en-US" sz="2800" b="1" dirty="0">
                <a:solidFill>
                  <a:schemeClr val="folHlink"/>
                </a:solidFill>
                <a:ea typeface="华文中宋" panose="02010600040101010101" pitchFamily="2" charset="-122"/>
              </a:rPr>
              <a:t>现代航空发动机燃烧室温度最高的材料就是通过粉末冶金法制备的</a:t>
            </a:r>
            <a:r>
              <a:rPr lang="zh-CN" altLang="en-US" sz="2800" b="1" dirty="0">
                <a:solidFill>
                  <a:schemeClr val="hlink"/>
                </a:solidFill>
                <a:ea typeface="华文中宋" panose="02010600040101010101" pitchFamily="2" charset="-122"/>
              </a:rPr>
              <a:t>氧化物粒子弥散强化的镍基合金复合材料</a:t>
            </a:r>
            <a:r>
              <a:rPr lang="zh-CN" altLang="en-US" sz="2800" b="1" dirty="0">
                <a:solidFill>
                  <a:schemeClr val="folHlink"/>
                </a:solidFill>
                <a:ea typeface="华文中宋" panose="02010600040101010101" pitchFamily="2" charset="-122"/>
              </a:rPr>
              <a:t>。很多高级游艇、赛艇及体育器械等是由碳纤维复合材料制成的，它们具有重量轻，弹性好，强度高等优点。 </a:t>
            </a:r>
          </a:p>
        </p:txBody>
      </p:sp>
      <p:grpSp>
        <p:nvGrpSpPr>
          <p:cNvPr id="2" name="Group 3"/>
          <p:cNvGrpSpPr/>
          <p:nvPr/>
        </p:nvGrpSpPr>
        <p:grpSpPr>
          <a:xfrm>
            <a:off x="4724400" y="2016125"/>
            <a:ext cx="4038600" cy="1700213"/>
            <a:chOff x="0" y="0"/>
            <a:chExt cx="2544" cy="1071"/>
          </a:xfrm>
        </p:grpSpPr>
        <p:pic>
          <p:nvPicPr>
            <p:cNvPr id="50179" name="Picture 4" descr="涡轮喷气发动机1"/>
            <p:cNvPicPr>
              <a:picLocks noChangeAspect="1"/>
            </p:cNvPicPr>
            <p:nvPr/>
          </p:nvPicPr>
          <p:blipFill>
            <a:blip r:embed="rId2"/>
            <a:stretch>
              <a:fillRect/>
            </a:stretch>
          </p:blipFill>
          <p:spPr>
            <a:xfrm>
              <a:off x="0" y="0"/>
              <a:ext cx="2494" cy="1069"/>
            </a:xfrm>
            <a:prstGeom prst="rect">
              <a:avLst/>
            </a:prstGeom>
            <a:noFill/>
            <a:ln w="9525">
              <a:noFill/>
            </a:ln>
          </p:spPr>
        </p:pic>
        <p:sp>
          <p:nvSpPr>
            <p:cNvPr id="50180" name="Rectangle 5"/>
            <p:cNvSpPr/>
            <p:nvPr/>
          </p:nvSpPr>
          <p:spPr>
            <a:xfrm>
              <a:off x="0" y="0"/>
              <a:ext cx="2496" cy="1056"/>
            </a:xfrm>
            <a:prstGeom prst="rect">
              <a:avLst/>
            </a:prstGeom>
            <a:noFill/>
            <a:ln w="38100" cap="flat" cmpd="sng">
              <a:solidFill>
                <a:srgbClr val="CC99FF"/>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50181" name="Text Box 6"/>
            <p:cNvSpPr txBox="1"/>
            <p:nvPr/>
          </p:nvSpPr>
          <p:spPr>
            <a:xfrm>
              <a:off x="1680" y="840"/>
              <a:ext cx="864" cy="231"/>
            </a:xfrm>
            <a:prstGeom prst="rect">
              <a:avLst/>
            </a:prstGeom>
            <a:noFill/>
            <a:ln w="9525">
              <a:noFill/>
            </a:ln>
          </p:spPr>
          <p:txBody>
            <a:bodyPr anchor="t">
              <a:spAutoFit/>
            </a:bodyPr>
            <a:lstStyle/>
            <a:p>
              <a:pPr algn="r">
                <a:spcBef>
                  <a:spcPct val="50000"/>
                </a:spcBef>
              </a:pPr>
              <a:r>
                <a:rPr lang="zh-CN" altLang="en-US" b="1" dirty="0">
                  <a:solidFill>
                    <a:srgbClr val="800000"/>
                  </a:solidFill>
                  <a:latin typeface="Times New Roman" panose="02020603050405020304" pitchFamily="18" charset="0"/>
                  <a:ea typeface="宋体" panose="02010600030101010101" pitchFamily="2" charset="-122"/>
                </a:rPr>
                <a:t>航空发动机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animEffect transition="in" filter="wipe(left)">
                                      <p:cBhvr>
                                        <p:cTn id="7" dur="500"/>
                                        <p:tgtEl>
                                          <p:spTgt spid="501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build="p" advAuto="100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0">
          <a:gsLst>
            <a:gs pos="0">
              <a:srgbClr val="3333FF"/>
            </a:gs>
            <a:gs pos="100000">
              <a:srgbClr val="000000"/>
            </a:gs>
          </a:gsLst>
          <a:lin ang="0" scaled="1"/>
          <a:tileRect/>
        </a:gradFill>
        <a:effectLst/>
      </p:bgPr>
    </p:bg>
    <p:spTree>
      <p:nvGrpSpPr>
        <p:cNvPr id="1" name=""/>
        <p:cNvGrpSpPr/>
        <p:nvPr/>
      </p:nvGrpSpPr>
      <p:grpSpPr>
        <a:xfrm>
          <a:off x="0" y="0"/>
          <a:ext cx="0" cy="0"/>
          <a:chOff x="0" y="0"/>
          <a:chExt cx="0" cy="0"/>
        </a:xfrm>
      </p:grpSpPr>
      <p:sp>
        <p:nvSpPr>
          <p:cNvPr id="51202" name="Rectangle 2"/>
          <p:cNvSpPr>
            <a:spLocks noGrp="1"/>
          </p:cNvSpPr>
          <p:nvPr>
            <p:ph type="title"/>
          </p:nvPr>
        </p:nvSpPr>
        <p:spPr>
          <a:xfrm>
            <a:off x="685800" y="609600"/>
            <a:ext cx="7772400" cy="685800"/>
          </a:xfrm>
        </p:spPr>
        <p:txBody>
          <a:bodyPr vert="horz" wrap="square" lIns="92075" tIns="46038" rIns="92075" bIns="46038" anchor="ctr"/>
          <a:lstStyle/>
          <a:p>
            <a:pPr algn="l" eaLnBrk="1" hangingPunct="1"/>
            <a:r>
              <a:rPr lang="zh-CN" altLang="en-US" sz="3200" b="1" dirty="0">
                <a:solidFill>
                  <a:schemeClr val="folHlink"/>
                </a:solidFill>
                <a:effectLst/>
                <a:ea typeface="华文中宋" panose="02010600040101010101" pitchFamily="2" charset="-122"/>
              </a:rPr>
              <a:t>三、工程材料的应用和发展</a:t>
            </a:r>
          </a:p>
        </p:txBody>
      </p:sp>
      <p:pic>
        <p:nvPicPr>
          <p:cNvPr id="51203" name="Picture 3" descr="航天飞机"/>
          <p:cNvPicPr>
            <a:picLocks noChangeAspect="1"/>
          </p:cNvPicPr>
          <p:nvPr/>
        </p:nvPicPr>
        <p:blipFill>
          <a:blip r:embed="rId2"/>
          <a:stretch>
            <a:fillRect/>
          </a:stretch>
        </p:blipFill>
        <p:spPr>
          <a:xfrm>
            <a:off x="1219200" y="1676400"/>
            <a:ext cx="6656388" cy="4581525"/>
          </a:xfrm>
          <a:prstGeom prst="rect">
            <a:avLst/>
          </a:prstGeom>
          <a:noFill/>
          <a:ln w="57150" cap="flat" cmpd="sng">
            <a:solidFill>
              <a:srgbClr val="FF9900"/>
            </a:solidFill>
            <a:prstDash val="solid"/>
            <a:miter/>
            <a:headEnd type="none" w="med" len="med"/>
            <a:tailEnd type="none" w="med" len="me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500"/>
                                        <p:tgtEl>
                                          <p:spTgt spid="51202"/>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51203"/>
                                        </p:tgtEl>
                                        <p:attrNameLst>
                                          <p:attrName>style.visibility</p:attrName>
                                        </p:attrNameLst>
                                      </p:cBhvr>
                                      <p:to>
                                        <p:strVal val="visible"/>
                                      </p:to>
                                    </p:set>
                                    <p:anim calcmode="lin" valueType="num">
                                      <p:cBhvr>
                                        <p:cTn id="11" dur="500" fill="hold"/>
                                        <p:tgtEl>
                                          <p:spTgt spid="51203"/>
                                        </p:tgtEl>
                                        <p:attrNameLst>
                                          <p:attrName>ppt_w</p:attrName>
                                        </p:attrNameLst>
                                      </p:cBhvr>
                                      <p:tavLst>
                                        <p:tav tm="0">
                                          <p:val>
                                            <p:fltVal val="0"/>
                                          </p:val>
                                        </p:tav>
                                        <p:tav tm="100000">
                                          <p:val>
                                            <p:strVal val="#ppt_w"/>
                                          </p:val>
                                        </p:tav>
                                      </p:tavLst>
                                    </p:anim>
                                    <p:anim calcmode="lin" valueType="num">
                                      <p:cBhvr>
                                        <p:cTn id="12" dur="500" fill="hold"/>
                                        <p:tgtEl>
                                          <p:spTgt spid="5120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2226" name="Rectangle 2"/>
          <p:cNvSpPr>
            <a:spLocks noGrp="1"/>
          </p:cNvSpPr>
          <p:nvPr>
            <p:ph type="title"/>
          </p:nvPr>
        </p:nvSpPr>
        <p:spPr>
          <a:xfrm>
            <a:off x="533400" y="533400"/>
            <a:ext cx="8229600" cy="2133600"/>
          </a:xfrm>
        </p:spPr>
        <p:txBody>
          <a:bodyPr vert="horz" wrap="square" lIns="92075" tIns="46038" rIns="92075" bIns="46038" anchor="ctr"/>
          <a:lstStyle/>
          <a:p>
            <a:pPr algn="l" eaLnBrk="1" hangingPunct="1">
              <a:lnSpc>
                <a:spcPct val="140000"/>
              </a:lnSpc>
            </a:pPr>
            <a:r>
              <a:rPr lang="zh-CN" altLang="en-US" sz="2800" b="1" dirty="0">
                <a:solidFill>
                  <a:srgbClr val="800000"/>
                </a:solidFill>
                <a:effectLst/>
                <a:latin typeface="华文中宋" panose="02010600040101010101" pitchFamily="2" charset="-122"/>
                <a:ea typeface="华文中宋" panose="02010600040101010101" pitchFamily="2" charset="-122"/>
              </a:rPr>
              <a:t>随着经济的飞速发展和科学技术的进步，对材料的要求越来越苛刻，结构材料向高比强、高刚度、高韧性、耐高温、耐腐蚀、抗辐照和多功能方向发展</a:t>
            </a:r>
            <a:r>
              <a:rPr lang="zh-CN" altLang="zh-CN" sz="2800" b="1" dirty="0">
                <a:solidFill>
                  <a:srgbClr val="800000"/>
                </a:solidFill>
                <a:effectLst/>
                <a:latin typeface="华文中宋" panose="02010600040101010101" pitchFamily="2" charset="-122"/>
                <a:ea typeface="华文中宋" panose="02010600040101010101" pitchFamily="2" charset="-122"/>
              </a:rPr>
              <a:t>.</a:t>
            </a:r>
            <a:r>
              <a:rPr lang="zh-CN" altLang="zh-CN" sz="2800" dirty="0">
                <a:solidFill>
                  <a:schemeClr val="hlink"/>
                </a:solidFill>
                <a:effectLst/>
                <a:latin typeface="Times New Roman" panose="02020603050405020304" pitchFamily="18" charset="0"/>
                <a:ea typeface="华文行楷" panose="02010800040101010101" pitchFamily="2" charset="-122"/>
              </a:rPr>
              <a:t> </a:t>
            </a:r>
          </a:p>
        </p:txBody>
      </p:sp>
      <p:grpSp>
        <p:nvGrpSpPr>
          <p:cNvPr id="2" name="Group 3"/>
          <p:cNvGrpSpPr/>
          <p:nvPr/>
        </p:nvGrpSpPr>
        <p:grpSpPr>
          <a:xfrm>
            <a:off x="381000" y="2819400"/>
            <a:ext cx="8229600" cy="3657600"/>
            <a:chOff x="0" y="0"/>
            <a:chExt cx="5184" cy="2304"/>
          </a:xfrm>
        </p:grpSpPr>
        <p:pic>
          <p:nvPicPr>
            <p:cNvPr id="52228" name="Picture 4" descr="材料应用"/>
            <p:cNvPicPr>
              <a:picLocks noChangeAspect="1"/>
            </p:cNvPicPr>
            <p:nvPr/>
          </p:nvPicPr>
          <p:blipFill>
            <a:blip r:embed="rId2"/>
            <a:stretch>
              <a:fillRect/>
            </a:stretch>
          </p:blipFill>
          <p:spPr>
            <a:xfrm>
              <a:off x="149" y="0"/>
              <a:ext cx="4987" cy="2293"/>
            </a:xfrm>
            <a:prstGeom prst="rect">
              <a:avLst/>
            </a:prstGeom>
            <a:noFill/>
            <a:ln w="9525">
              <a:noFill/>
            </a:ln>
          </p:spPr>
        </p:pic>
        <p:sp>
          <p:nvSpPr>
            <p:cNvPr id="52229" name="Rectangle 5"/>
            <p:cNvSpPr/>
            <p:nvPr/>
          </p:nvSpPr>
          <p:spPr>
            <a:xfrm>
              <a:off x="0" y="1968"/>
              <a:ext cx="5184" cy="33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52230" name="Text Box 6"/>
            <p:cNvSpPr txBox="1"/>
            <p:nvPr/>
          </p:nvSpPr>
          <p:spPr>
            <a:xfrm>
              <a:off x="132" y="1776"/>
              <a:ext cx="2640" cy="250"/>
            </a:xfrm>
            <a:prstGeom prst="rect">
              <a:avLst/>
            </a:prstGeom>
            <a:noFill/>
            <a:ln w="9525">
              <a:noFill/>
            </a:ln>
          </p:spPr>
          <p:txBody>
            <a:bodyPr anchor="t">
              <a:spAutoFit/>
            </a:bodyPr>
            <a:lstStyle/>
            <a:p>
              <a:pPr algn="ctr">
                <a:spcBef>
                  <a:spcPct val="50000"/>
                </a:spcBef>
              </a:pPr>
              <a:r>
                <a:rPr lang="zh-CN" altLang="en-US" sz="2000" b="1" dirty="0">
                  <a:solidFill>
                    <a:schemeClr val="hlink"/>
                  </a:solidFill>
                  <a:latin typeface="Times New Roman" panose="02020603050405020304" pitchFamily="18" charset="0"/>
                  <a:ea typeface="华文中宋" panose="02010600040101010101" pitchFamily="2" charset="-122"/>
                </a:rPr>
                <a:t>国产东风</a:t>
              </a:r>
              <a:r>
                <a:rPr lang="zh-CN" altLang="zh-CN" sz="2000" b="1" dirty="0">
                  <a:solidFill>
                    <a:schemeClr val="hlink"/>
                  </a:solidFill>
                  <a:latin typeface="Times New Roman" panose="02020603050405020304" pitchFamily="18" charset="0"/>
                  <a:ea typeface="华文中宋" panose="02010600040101010101" pitchFamily="2" charset="-122"/>
                </a:rPr>
                <a:t>4D-0088</a:t>
              </a:r>
              <a:r>
                <a:rPr lang="zh-CN" altLang="en-US" sz="2000" b="1" dirty="0">
                  <a:solidFill>
                    <a:schemeClr val="hlink"/>
                  </a:solidFill>
                  <a:latin typeface="Times New Roman" panose="02020603050405020304" pitchFamily="18" charset="0"/>
                  <a:ea typeface="华文中宋" panose="02010600040101010101" pitchFamily="2" charset="-122"/>
                </a:rPr>
                <a:t>内燃机车</a:t>
              </a:r>
            </a:p>
          </p:txBody>
        </p:sp>
        <p:sp>
          <p:nvSpPr>
            <p:cNvPr id="52231" name="Text Box 7"/>
            <p:cNvSpPr txBox="1"/>
            <p:nvPr/>
          </p:nvSpPr>
          <p:spPr>
            <a:xfrm>
              <a:off x="2976" y="1776"/>
              <a:ext cx="2160" cy="250"/>
            </a:xfrm>
            <a:prstGeom prst="rect">
              <a:avLst/>
            </a:prstGeom>
            <a:noFill/>
            <a:ln w="9525">
              <a:noFill/>
            </a:ln>
          </p:spPr>
          <p:txBody>
            <a:bodyPr anchor="t">
              <a:spAutoFit/>
            </a:bodyPr>
            <a:lstStyle/>
            <a:p>
              <a:pPr algn="ctr">
                <a:spcBef>
                  <a:spcPct val="50000"/>
                </a:spcBef>
              </a:pPr>
              <a:r>
                <a:rPr lang="zh-CN" altLang="en-US" sz="2000" b="1" dirty="0">
                  <a:solidFill>
                    <a:schemeClr val="bg2"/>
                  </a:solidFill>
                  <a:latin typeface="Times New Roman" panose="02020603050405020304" pitchFamily="18" charset="0"/>
                  <a:ea typeface="华文中宋" panose="02010600040101010101" pitchFamily="2" charset="-122"/>
                </a:rPr>
                <a:t>美国</a:t>
              </a:r>
              <a:r>
                <a:rPr lang="zh-CN" altLang="zh-CN" sz="2000" b="1" dirty="0">
                  <a:solidFill>
                    <a:schemeClr val="bg2"/>
                  </a:solidFill>
                  <a:latin typeface="Times New Roman" panose="02020603050405020304" pitchFamily="18" charset="0"/>
                  <a:ea typeface="华文中宋" panose="02010600040101010101" pitchFamily="2" charset="-122"/>
                </a:rPr>
                <a:t>F-117</a:t>
              </a:r>
              <a:r>
                <a:rPr lang="zh-CN" altLang="en-US" sz="2000" b="1" dirty="0">
                  <a:solidFill>
                    <a:schemeClr val="bg2"/>
                  </a:solidFill>
                  <a:latin typeface="Times New Roman" panose="02020603050405020304" pitchFamily="18" charset="0"/>
                  <a:ea typeface="华文中宋" panose="02010600040101010101" pitchFamily="2" charset="-122"/>
                </a:rPr>
                <a:t>隐身飞机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3250" name="Rectangle 2"/>
          <p:cNvSpPr>
            <a:spLocks noGrp="1"/>
          </p:cNvSpPr>
          <p:nvPr>
            <p:ph type="title"/>
          </p:nvPr>
        </p:nvSpPr>
        <p:spPr>
          <a:xfrm>
            <a:off x="609600" y="381000"/>
            <a:ext cx="4683125" cy="838200"/>
          </a:xfrm>
        </p:spPr>
        <p:txBody>
          <a:bodyPr vert="horz" wrap="square" lIns="92075" tIns="46038" rIns="92075" bIns="46038" anchor="ctr"/>
          <a:lstStyle/>
          <a:p>
            <a:pPr algn="l" eaLnBrk="1" hangingPunct="1"/>
            <a:r>
              <a:rPr lang="zh-CN" altLang="en-US" sz="2800" b="1" dirty="0">
                <a:solidFill>
                  <a:srgbClr val="800000"/>
                </a:solidFill>
                <a:effectLst/>
                <a:latin typeface="华文中宋" panose="02010600040101010101" pitchFamily="2" charset="-122"/>
                <a:ea typeface="华文中宋" panose="02010600040101010101" pitchFamily="2" charset="-122"/>
              </a:rPr>
              <a:t>新材料在不断地涌现。</a:t>
            </a:r>
          </a:p>
        </p:txBody>
      </p:sp>
      <p:pic>
        <p:nvPicPr>
          <p:cNvPr id="53251" name="Picture 3" descr="新型材料"/>
          <p:cNvPicPr>
            <a:picLocks noChangeAspect="1"/>
          </p:cNvPicPr>
          <p:nvPr/>
        </p:nvPicPr>
        <p:blipFill>
          <a:blip r:embed="rId2"/>
          <a:stretch>
            <a:fillRect/>
          </a:stretch>
        </p:blipFill>
        <p:spPr>
          <a:xfrm>
            <a:off x="381000" y="1295400"/>
            <a:ext cx="7916863" cy="50212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wipe(left)">
                                      <p:cBhvr>
                                        <p:cTn id="7" dur="500"/>
                                        <p:tgtEl>
                                          <p:spTgt spid="5325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3251"/>
                                        </p:tgtEl>
                                        <p:attrNameLst>
                                          <p:attrName>style.visibility</p:attrName>
                                        </p:attrNameLst>
                                      </p:cBhvr>
                                      <p:to>
                                        <p:strVal val="visible"/>
                                      </p:to>
                                    </p:set>
                                    <p:animEffect transition="in" filter="wipe(up)">
                                      <p:cBhvr>
                                        <p:cTn id="11" dur="500"/>
                                        <p:tgtEl>
                                          <p:spTgt spid="53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762000" y="381000"/>
            <a:ext cx="7772400" cy="7620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2800" b="1" i="0" u="none" strike="noStrike" kern="0" cap="none" spc="0" normalizeH="0" baseline="0" noProof="0">
                <a:ln>
                  <a:noFill/>
                </a:ln>
                <a:solidFill>
                  <a:srgbClr val="800000"/>
                </a:solidFill>
                <a:effectLst/>
                <a:uLnTx/>
                <a:uFillTx/>
                <a:latin typeface="华文中宋" panose="02010600040101010101" pitchFamily="2" charset="-122"/>
                <a:ea typeface="华文中宋" panose="02010600040101010101" pitchFamily="2" charset="-122"/>
                <a:cs typeface="+mj-cs"/>
              </a:rPr>
              <a:t>机械工业是材料应用的重要领域。</a:t>
            </a:r>
            <a:r>
              <a:rPr kumimoji="0" lang="zh-CN" sz="2800" b="0" i="0" u="none" strike="noStrike" kern="0" cap="none" spc="0" normalizeH="0" baseline="0" noProof="0">
                <a:ln>
                  <a:noFill/>
                </a:ln>
                <a:solidFill>
                  <a:schemeClr val="hlink"/>
                </a:solidFill>
                <a:effectLst>
                  <a:outerShdw blurRad="38100" dist="38100" dir="2700000" algn="tl">
                    <a:srgbClr val="C0C0C0"/>
                  </a:outerShdw>
                </a:effectLst>
                <a:uLnTx/>
                <a:uFillTx/>
                <a:latin typeface="+mj-lt"/>
                <a:ea typeface="华文行楷" panose="02010800040101010101" pitchFamily="2" charset="-122"/>
                <a:cs typeface="+mj-cs"/>
              </a:rPr>
              <a:t> </a:t>
            </a:r>
          </a:p>
        </p:txBody>
      </p:sp>
      <p:pic>
        <p:nvPicPr>
          <p:cNvPr id="54275" name="Picture 3" descr="材料应用2"/>
          <p:cNvPicPr>
            <a:picLocks noGrp="1" noChangeAspect="1"/>
          </p:cNvPicPr>
          <p:nvPr>
            <p:ph type="clipArt" sz="half" idx="2"/>
          </p:nvPr>
        </p:nvPicPr>
        <p:blipFill>
          <a:blip r:embed="rId2"/>
          <a:stretch>
            <a:fillRect/>
          </a:stretch>
        </p:blipFill>
        <p:spPr>
          <a:xfrm>
            <a:off x="838200" y="1295400"/>
            <a:ext cx="7197725" cy="4992688"/>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left)">
                                      <p:cBhvr>
                                        <p:cTn id="7" dur="500"/>
                                        <p:tgtEl>
                                          <p:spTgt spid="5427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4275"/>
                                        </p:tgtEl>
                                        <p:attrNameLst>
                                          <p:attrName>style.visibility</p:attrName>
                                        </p:attrNameLst>
                                      </p:cBhvr>
                                      <p:to>
                                        <p:strVal val="visible"/>
                                      </p:to>
                                    </p:set>
                                    <p:animEffect transition="in" filter="wipe(up)">
                                      <p:cBhvr>
                                        <p:cTn id="11" dur="500"/>
                                        <p:tgtEl>
                                          <p:spTgt spid="54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body" sz="half" idx="1"/>
          </p:nvPr>
        </p:nvSpPr>
        <p:spPr>
          <a:xfrm>
            <a:off x="304800" y="457200"/>
            <a:ext cx="8534400" cy="3810000"/>
          </a:xfrm>
        </p:spPr>
        <p:txBody>
          <a:bodyPr vert="horz" wrap="square" lIns="91440" tIns="45720" rIns="91440" bIns="45720" anchor="t"/>
          <a:lstStyle/>
          <a:p>
            <a:pPr eaLnBrk="1" hangingPunct="1">
              <a:buClr>
                <a:schemeClr val="accent2"/>
              </a:buClr>
              <a:buSzPct val="80000"/>
              <a:buFont typeface="Wingdings" panose="05000000000000000000" pitchFamily="2" charset="2"/>
            </a:pPr>
            <a:r>
              <a:rPr lang="zh-CN" altLang="en-US" sz="2800" b="1" dirty="0">
                <a:solidFill>
                  <a:srgbClr val="CCFF33"/>
                </a:solidFill>
                <a:latin typeface="华文中宋" panose="02010600040101010101" pitchFamily="2" charset="-122"/>
                <a:ea typeface="华文中宋" panose="02010600040101010101" pitchFamily="2" charset="-122"/>
              </a:rPr>
              <a:t>随着机械工业的发展，对产品的要求越来越高。 </a:t>
            </a:r>
          </a:p>
          <a:p>
            <a:pPr eaLnBrk="1" hangingPunct="1">
              <a:lnSpc>
                <a:spcPct val="130000"/>
              </a:lnSpc>
              <a:buClr>
                <a:schemeClr val="accent2"/>
              </a:buClr>
              <a:buSzPct val="80000"/>
              <a:buFont typeface="Wingdings" panose="05000000000000000000" pitchFamily="2" charset="2"/>
            </a:pPr>
            <a:r>
              <a:rPr lang="zh-CN" altLang="en-US" sz="2800" b="1" dirty="0">
                <a:latin typeface="华文中宋" panose="02010600040101010101" pitchFamily="2" charset="-122"/>
                <a:ea typeface="华文中宋" panose="02010600040101010101" pitchFamily="2" charset="-122"/>
              </a:rPr>
              <a:t>在产品设计与制造过程中，会遇到越来越多的材料及材料加工方面的问题。 </a:t>
            </a:r>
          </a:p>
          <a:p>
            <a:pPr eaLnBrk="1" hangingPunct="1">
              <a:lnSpc>
                <a:spcPct val="130000"/>
              </a:lnSpc>
              <a:buClr>
                <a:schemeClr val="accent2"/>
              </a:buClr>
              <a:buSzPct val="80000"/>
              <a:buFont typeface="Wingdings" panose="05000000000000000000" pitchFamily="2" charset="2"/>
            </a:pPr>
            <a:r>
              <a:rPr lang="zh-CN" altLang="en-US" sz="2800" b="1" dirty="0">
                <a:solidFill>
                  <a:schemeClr val="folHlink"/>
                </a:solidFill>
                <a:latin typeface="华文中宋" panose="02010600040101010101" pitchFamily="2" charset="-122"/>
                <a:ea typeface="华文中宋" panose="02010600040101010101" pitchFamily="2" charset="-122"/>
              </a:rPr>
              <a:t>要求机械工程技术人员掌握必要的材料科学与材料工程知识，具备正确选择材料和加工方法、合理安排加工工艺路线的能力。 </a:t>
            </a:r>
          </a:p>
        </p:txBody>
      </p:sp>
      <p:grpSp>
        <p:nvGrpSpPr>
          <p:cNvPr id="2" name="Group 3"/>
          <p:cNvGrpSpPr/>
          <p:nvPr/>
        </p:nvGrpSpPr>
        <p:grpSpPr>
          <a:xfrm>
            <a:off x="762000" y="4191000"/>
            <a:ext cx="7702550" cy="2168525"/>
            <a:chOff x="0" y="0"/>
            <a:chExt cx="4852" cy="1366"/>
          </a:xfrm>
        </p:grpSpPr>
        <p:pic>
          <p:nvPicPr>
            <p:cNvPr id="55299" name="Picture 4" descr="船3"/>
            <p:cNvPicPr>
              <a:picLocks noChangeAspect="1"/>
            </p:cNvPicPr>
            <p:nvPr/>
          </p:nvPicPr>
          <p:blipFill>
            <a:blip r:embed="rId2"/>
            <a:stretch>
              <a:fillRect/>
            </a:stretch>
          </p:blipFill>
          <p:spPr>
            <a:xfrm>
              <a:off x="0" y="0"/>
              <a:ext cx="2555" cy="1359"/>
            </a:xfrm>
            <a:prstGeom prst="rect">
              <a:avLst/>
            </a:prstGeom>
            <a:noFill/>
            <a:ln w="9525">
              <a:noFill/>
            </a:ln>
          </p:spPr>
        </p:pic>
        <p:pic>
          <p:nvPicPr>
            <p:cNvPr id="55300" name="Picture 5" descr="铸造一级涡轮盘（MAR M 247合金）"/>
            <p:cNvPicPr>
              <a:picLocks noChangeAspect="1"/>
            </p:cNvPicPr>
            <p:nvPr/>
          </p:nvPicPr>
          <p:blipFill>
            <a:blip r:embed="rId3"/>
            <a:stretch>
              <a:fillRect/>
            </a:stretch>
          </p:blipFill>
          <p:spPr>
            <a:xfrm>
              <a:off x="2880" y="0"/>
              <a:ext cx="1972" cy="1360"/>
            </a:xfrm>
            <a:prstGeom prst="rect">
              <a:avLst/>
            </a:prstGeom>
            <a:noFill/>
            <a:ln w="9525">
              <a:noFill/>
            </a:ln>
          </p:spPr>
        </p:pic>
        <p:sp>
          <p:nvSpPr>
            <p:cNvPr id="55301" name="Text Box 6"/>
            <p:cNvSpPr txBox="1"/>
            <p:nvPr/>
          </p:nvSpPr>
          <p:spPr>
            <a:xfrm>
              <a:off x="2868" y="1116"/>
              <a:ext cx="1296"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华文中宋" panose="02010600040101010101" pitchFamily="2" charset="-122"/>
                </a:rPr>
                <a:t>铸造一级涡轮盘</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animEffect transition="in" filter="wipe(left)">
                                      <p:cBhvr>
                                        <p:cTn id="7" dur="500"/>
                                        <p:tgtEl>
                                          <p:spTgt spid="5529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5298">
                                            <p:txEl>
                                              <p:pRg st="1" end="1"/>
                                            </p:txEl>
                                          </p:spTgt>
                                        </p:tgtEl>
                                        <p:attrNameLst>
                                          <p:attrName>style.visibility</p:attrName>
                                        </p:attrNameLst>
                                      </p:cBhvr>
                                      <p:to>
                                        <p:strVal val="visible"/>
                                      </p:to>
                                    </p:set>
                                    <p:animEffect transition="in" filter="wipe(left)">
                                      <p:cBhvr>
                                        <p:cTn id="11" dur="500"/>
                                        <p:tgtEl>
                                          <p:spTgt spid="55298">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5298">
                                            <p:txEl>
                                              <p:pRg st="2" end="2"/>
                                            </p:txEl>
                                          </p:spTgt>
                                        </p:tgtEl>
                                        <p:attrNameLst>
                                          <p:attrName>style.visibility</p:attrName>
                                        </p:attrNameLst>
                                      </p:cBhvr>
                                      <p:to>
                                        <p:strVal val="visible"/>
                                      </p:to>
                                    </p:set>
                                    <p:animEffect transition="in" filter="wipe(left)">
                                      <p:cBhvr>
                                        <p:cTn id="15" dur="500"/>
                                        <p:tgtEl>
                                          <p:spTgt spid="55298">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advAuto="100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FF"/>
            </a:gs>
            <a:gs pos="100000">
              <a:srgbClr val="000000"/>
            </a:gs>
          </a:gsLst>
          <a:lin ang="0" scaled="1"/>
          <a:tileRect/>
        </a:gradFill>
        <a:effectLst/>
      </p:bgPr>
    </p:bg>
    <p:spTree>
      <p:nvGrpSpPr>
        <p:cNvPr id="1" name=""/>
        <p:cNvGrpSpPr/>
        <p:nvPr/>
      </p:nvGrpSpPr>
      <p:grpSpPr>
        <a:xfrm>
          <a:off x="0" y="0"/>
          <a:ext cx="0" cy="0"/>
          <a:chOff x="0" y="0"/>
          <a:chExt cx="0" cy="0"/>
        </a:xfrm>
      </p:grpSpPr>
      <p:sp>
        <p:nvSpPr>
          <p:cNvPr id="56322" name="Rectangle 2"/>
          <p:cNvSpPr>
            <a:spLocks noGrp="1"/>
          </p:cNvSpPr>
          <p:nvPr>
            <p:ph type="title"/>
          </p:nvPr>
        </p:nvSpPr>
        <p:spPr>
          <a:xfrm>
            <a:off x="762000" y="228600"/>
            <a:ext cx="8077200" cy="838200"/>
          </a:xfrm>
        </p:spPr>
        <p:txBody>
          <a:bodyPr vert="horz" wrap="square" lIns="92075" tIns="46038" rIns="92075" bIns="46038" anchor="ctr"/>
          <a:lstStyle/>
          <a:p>
            <a:pPr algn="l" eaLnBrk="1" hangingPunct="1"/>
            <a:r>
              <a:rPr lang="zh-CN" altLang="en-US" sz="3200" b="1" dirty="0">
                <a:effectLst/>
                <a:latin typeface="Times New Roman" panose="02020603050405020304" pitchFamily="18" charset="0"/>
                <a:ea typeface="华文中宋" panose="02010600040101010101" pitchFamily="2" charset="-122"/>
              </a:rPr>
              <a:t>四、机械工程材料课程的性质和任务</a:t>
            </a:r>
          </a:p>
        </p:txBody>
      </p:sp>
      <p:sp>
        <p:nvSpPr>
          <p:cNvPr id="56323" name="Rectangle 3"/>
          <p:cNvSpPr>
            <a:spLocks noGrp="1"/>
          </p:cNvSpPr>
          <p:nvPr>
            <p:ph idx="1"/>
          </p:nvPr>
        </p:nvSpPr>
        <p:spPr>
          <a:xfrm>
            <a:off x="381000" y="1219200"/>
            <a:ext cx="8458200" cy="3276600"/>
          </a:xfrm>
        </p:spPr>
        <p:txBody>
          <a:bodyPr vert="horz" wrap="square" lIns="91440" tIns="45720" rIns="91440" bIns="45720" anchor="t"/>
          <a:lstStyle/>
          <a:p>
            <a:pPr eaLnBrk="1" hangingPunct="1"/>
            <a:r>
              <a:rPr lang="zh-CN" altLang="en-US" sz="2800" b="1" dirty="0">
                <a:solidFill>
                  <a:srgbClr val="CCFF33"/>
                </a:solidFill>
                <a:latin typeface="华文中宋" panose="02010600040101010101" pitchFamily="2" charset="-122"/>
                <a:ea typeface="华文中宋" panose="02010600040101010101" pitchFamily="2" charset="-122"/>
              </a:rPr>
              <a:t>课程性质：</a:t>
            </a:r>
            <a:r>
              <a:rPr lang="zh-CN" altLang="en-US" sz="2800" b="1" dirty="0">
                <a:latin typeface="华文中宋" panose="02010600040101010101" pitchFamily="2" charset="-122"/>
                <a:ea typeface="华文中宋" panose="02010600040101010101" pitchFamily="2" charset="-122"/>
              </a:rPr>
              <a:t>是机械类和近机类各专业的技术基础课</a:t>
            </a:r>
          </a:p>
          <a:p>
            <a:pPr eaLnBrk="1" hangingPunct="1">
              <a:lnSpc>
                <a:spcPct val="120000"/>
              </a:lnSpc>
            </a:pPr>
            <a:r>
              <a:rPr lang="zh-CN" altLang="en-US" sz="2800" b="1" dirty="0">
                <a:solidFill>
                  <a:srgbClr val="CCFF33"/>
                </a:solidFill>
                <a:latin typeface="华文中宋" panose="02010600040101010101" pitchFamily="2" charset="-122"/>
                <a:ea typeface="华文中宋" panose="02010600040101010101" pitchFamily="2" charset="-122"/>
              </a:rPr>
              <a:t>课程任务：</a:t>
            </a:r>
          </a:p>
          <a:p>
            <a:pPr eaLnBrk="1" hangingPunct="1">
              <a:lnSpc>
                <a:spcPct val="120000"/>
              </a:lnSpc>
              <a:buNone/>
            </a:pPr>
            <a:r>
              <a:rPr lang="zh-CN" altLang="en-US" sz="2800" b="1" dirty="0">
                <a:solidFill>
                  <a:schemeClr val="bg1"/>
                </a:solidFill>
                <a:latin typeface="华文中宋" panose="02010600040101010101" pitchFamily="2" charset="-122"/>
                <a:ea typeface="华文中宋" panose="02010600040101010101" pitchFamily="2" charset="-122"/>
              </a:rPr>
              <a:t>   </a:t>
            </a:r>
            <a:r>
              <a:rPr lang="zh-CN" altLang="en-US" sz="2800" b="1" dirty="0">
                <a:solidFill>
                  <a:srgbClr val="66FF33"/>
                </a:solidFill>
                <a:latin typeface="华文中宋" panose="02010600040101010101" pitchFamily="2" charset="-122"/>
                <a:ea typeface="华文中宋" panose="02010600040101010101" pitchFamily="2" charset="-122"/>
              </a:rPr>
              <a:t> </a:t>
            </a:r>
            <a:r>
              <a:rPr lang="en-US" altLang="zh-CN" sz="2800" b="1" dirty="0">
                <a:solidFill>
                  <a:srgbClr val="66FF33"/>
                </a:solidFill>
                <a:latin typeface="华文中宋" panose="02010600040101010101" pitchFamily="2" charset="-122"/>
                <a:ea typeface="华文中宋" panose="02010600040101010101" pitchFamily="2" charset="-122"/>
              </a:rPr>
              <a:t>⑴</a:t>
            </a:r>
            <a:r>
              <a:rPr lang="en-US" altLang="zh-CN" sz="2800" b="1" dirty="0">
                <a:solidFill>
                  <a:schemeClr val="accent1"/>
                </a:solidFill>
                <a:latin typeface="华文中宋" panose="02010600040101010101" pitchFamily="2" charset="-122"/>
                <a:ea typeface="华文中宋" panose="02010600040101010101" pitchFamily="2" charset="-122"/>
              </a:rPr>
              <a:t> </a:t>
            </a:r>
            <a:r>
              <a:rPr lang="zh-CN" altLang="en-US" sz="2800" b="1" dirty="0">
                <a:latin typeface="华文中宋" panose="02010600040101010101" pitchFamily="2" charset="-122"/>
                <a:ea typeface="华文中宋" panose="02010600040101010101" pitchFamily="2" charset="-122"/>
              </a:rPr>
              <a:t>了解工程材料的一般知识；</a:t>
            </a:r>
          </a:p>
          <a:p>
            <a:pPr eaLnBrk="1" hangingPunct="1">
              <a:lnSpc>
                <a:spcPct val="120000"/>
              </a:lnSpc>
              <a:buNone/>
            </a:pPr>
            <a:r>
              <a:rPr lang="zh-CN" altLang="en-US" sz="2800" b="1" dirty="0">
                <a:latin typeface="华文中宋" panose="02010600040101010101" pitchFamily="2" charset="-122"/>
                <a:ea typeface="华文中宋" panose="02010600040101010101" pitchFamily="2" charset="-122"/>
              </a:rPr>
              <a:t>   </a:t>
            </a:r>
            <a:r>
              <a:rPr lang="zh-CN" altLang="en-US" sz="2800" b="1" dirty="0">
                <a:solidFill>
                  <a:schemeClr val="accent1"/>
                </a:solidFill>
                <a:latin typeface="华文中宋" panose="02010600040101010101" pitchFamily="2" charset="-122"/>
                <a:ea typeface="华文中宋" panose="02010600040101010101" pitchFamily="2" charset="-122"/>
              </a:rPr>
              <a:t> </a:t>
            </a:r>
            <a:r>
              <a:rPr lang="en-US" altLang="zh-CN" sz="2800" b="1" dirty="0">
                <a:solidFill>
                  <a:srgbClr val="66FF33"/>
                </a:solidFill>
                <a:latin typeface="华文中宋" panose="02010600040101010101" pitchFamily="2" charset="-122"/>
                <a:ea typeface="华文中宋" panose="02010600040101010101" pitchFamily="2" charset="-122"/>
              </a:rPr>
              <a:t>⑵</a:t>
            </a:r>
            <a:r>
              <a:rPr lang="en-US" altLang="zh-CN" sz="2800" b="1" dirty="0">
                <a:latin typeface="华文中宋" panose="02010600040101010101" pitchFamily="2" charset="-122"/>
                <a:ea typeface="华文中宋" panose="02010600040101010101" pitchFamily="2" charset="-122"/>
              </a:rPr>
              <a:t>  </a:t>
            </a:r>
            <a:r>
              <a:rPr lang="zh-CN" altLang="en-US" sz="2800" b="1" dirty="0">
                <a:latin typeface="华文中宋" panose="02010600040101010101" pitchFamily="2" charset="-122"/>
                <a:ea typeface="华文中宋" panose="02010600040101010101" pitchFamily="2" charset="-122"/>
              </a:rPr>
              <a:t>建立化学成分、组织结构、加工工艺与性能之间的关系：</a:t>
            </a:r>
          </a:p>
        </p:txBody>
      </p:sp>
      <p:grpSp>
        <p:nvGrpSpPr>
          <p:cNvPr id="2" name="Group 4"/>
          <p:cNvGrpSpPr>
            <a:grpSpLocks noChangeAspect="1"/>
          </p:cNvGrpSpPr>
          <p:nvPr/>
        </p:nvGrpSpPr>
        <p:grpSpPr>
          <a:xfrm>
            <a:off x="1600200" y="4191000"/>
            <a:ext cx="6056313" cy="1979613"/>
            <a:chOff x="0" y="0"/>
            <a:chExt cx="3815" cy="1247"/>
          </a:xfrm>
        </p:grpSpPr>
        <p:pic>
          <p:nvPicPr>
            <p:cNvPr id="56325" name="Picture 5" descr="框图"/>
            <p:cNvPicPr>
              <a:picLocks noChangeAspect="1"/>
            </p:cNvPicPr>
            <p:nvPr/>
          </p:nvPicPr>
          <p:blipFill>
            <a:blip r:embed="rId2"/>
            <a:stretch>
              <a:fillRect/>
            </a:stretch>
          </p:blipFill>
          <p:spPr>
            <a:xfrm>
              <a:off x="0" y="0"/>
              <a:ext cx="3815" cy="1247"/>
            </a:xfrm>
            <a:prstGeom prst="rect">
              <a:avLst/>
            </a:prstGeom>
            <a:noFill/>
            <a:ln w="12700" cap="flat" cmpd="sng">
              <a:solidFill>
                <a:srgbClr val="FF00FF"/>
              </a:solidFill>
              <a:prstDash val="solid"/>
              <a:miter/>
              <a:headEnd type="none" w="med" len="med"/>
              <a:tailEnd type="none" w="med" len="med"/>
            </a:ln>
          </p:spPr>
        </p:pic>
        <p:pic>
          <p:nvPicPr>
            <p:cNvPr id="56326" name="Picture 6" descr="箭头"/>
            <p:cNvPicPr>
              <a:picLocks noChangeAspect="1"/>
            </p:cNvPicPr>
            <p:nvPr/>
          </p:nvPicPr>
          <p:blipFill>
            <a:blip r:embed="rId3"/>
            <a:stretch>
              <a:fillRect/>
            </a:stretch>
          </p:blipFill>
          <p:spPr>
            <a:xfrm>
              <a:off x="1824" y="396"/>
              <a:ext cx="165" cy="343"/>
            </a:xfrm>
            <a:prstGeom prst="rect">
              <a:avLst/>
            </a:prstGeom>
            <a:noFill/>
            <a:ln w="12700">
              <a:noFill/>
            </a:ln>
          </p:spPr>
        </p:pic>
        <p:pic>
          <p:nvPicPr>
            <p:cNvPr id="56327" name="Picture 7" descr="横箭头"/>
            <p:cNvPicPr>
              <a:picLocks noChangeAspect="1"/>
            </p:cNvPicPr>
            <p:nvPr/>
          </p:nvPicPr>
          <p:blipFill>
            <a:blip r:embed="rId4"/>
            <a:stretch>
              <a:fillRect/>
            </a:stretch>
          </p:blipFill>
          <p:spPr>
            <a:xfrm>
              <a:off x="2412" y="828"/>
              <a:ext cx="417" cy="206"/>
            </a:xfrm>
            <a:prstGeom prst="rect">
              <a:avLst/>
            </a:prstGeom>
            <a:noFill/>
            <a:ln w="12700">
              <a:noFill/>
            </a:ln>
          </p:spPr>
        </p:pic>
        <p:pic>
          <p:nvPicPr>
            <p:cNvPr id="56328" name="Picture 8" descr="横箭头"/>
            <p:cNvPicPr>
              <a:picLocks noChangeAspect="1"/>
            </p:cNvPicPr>
            <p:nvPr/>
          </p:nvPicPr>
          <p:blipFill>
            <a:blip r:embed="rId4"/>
            <a:stretch>
              <a:fillRect/>
            </a:stretch>
          </p:blipFill>
          <p:spPr>
            <a:xfrm>
              <a:off x="927" y="828"/>
              <a:ext cx="417" cy="206"/>
            </a:xfrm>
            <a:prstGeom prst="rect">
              <a:avLst/>
            </a:prstGeom>
            <a:noFill/>
            <a:ln w="12700">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wipe(left)">
                                      <p:cBhvr>
                                        <p:cTn id="7" dur="500"/>
                                        <p:tgtEl>
                                          <p:spTgt spid="563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6323">
                                            <p:txEl>
                                              <p:pRg st="0" end="0"/>
                                            </p:txEl>
                                          </p:spTgt>
                                        </p:tgtEl>
                                        <p:attrNameLst>
                                          <p:attrName>style.visibility</p:attrName>
                                        </p:attrNameLst>
                                      </p:cBhvr>
                                      <p:to>
                                        <p:strVal val="visible"/>
                                      </p:to>
                                    </p:set>
                                    <p:animEffect transition="in" filter="wipe(left)">
                                      <p:cBhvr>
                                        <p:cTn id="11" dur="500"/>
                                        <p:tgtEl>
                                          <p:spTgt spid="5632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6323">
                                            <p:txEl>
                                              <p:pRg st="1" end="1"/>
                                            </p:txEl>
                                          </p:spTgt>
                                        </p:tgtEl>
                                        <p:attrNameLst>
                                          <p:attrName>style.visibility</p:attrName>
                                        </p:attrNameLst>
                                      </p:cBhvr>
                                      <p:to>
                                        <p:strVal val="visible"/>
                                      </p:to>
                                    </p:set>
                                    <p:animEffect transition="in" filter="wipe(left)">
                                      <p:cBhvr>
                                        <p:cTn id="15" dur="500"/>
                                        <p:tgtEl>
                                          <p:spTgt spid="5632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6323">
                                            <p:txEl>
                                              <p:pRg st="2" end="2"/>
                                            </p:txEl>
                                          </p:spTgt>
                                        </p:tgtEl>
                                        <p:attrNameLst>
                                          <p:attrName>style.visibility</p:attrName>
                                        </p:attrNameLst>
                                      </p:cBhvr>
                                      <p:to>
                                        <p:strVal val="visible"/>
                                      </p:to>
                                    </p:set>
                                    <p:animEffect transition="in" filter="wipe(left)">
                                      <p:cBhvr>
                                        <p:cTn id="19" dur="500"/>
                                        <p:tgtEl>
                                          <p:spTgt spid="56323">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6323">
                                            <p:txEl>
                                              <p:pRg st="3" end="3"/>
                                            </p:txEl>
                                          </p:spTgt>
                                        </p:tgtEl>
                                        <p:attrNameLst>
                                          <p:attrName>style.visibility</p:attrName>
                                        </p:attrNameLst>
                                      </p:cBhvr>
                                      <p:to>
                                        <p:strVal val="visible"/>
                                      </p:to>
                                    </p:set>
                                    <p:animEffect transition="in" filter="wipe(left)">
                                      <p:cBhvr>
                                        <p:cTn id="23" dur="500"/>
                                        <p:tgtEl>
                                          <p:spTgt spid="56323">
                                            <p:txEl>
                                              <p:pRg st="3" end="3"/>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bldLvl="0" animBg="1"/>
      <p:bldP spid="56323" grpId="0" build="p" advAuto="100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idx="1"/>
          </p:nvPr>
        </p:nvSpPr>
        <p:spPr>
          <a:xfrm>
            <a:off x="381000" y="457200"/>
            <a:ext cx="8295456" cy="5791200"/>
          </a:xfrm>
        </p:spPr>
        <p:txBody>
          <a:bodyPr vert="horz" wrap="square" lIns="91440" tIns="45720" rIns="91440" bIns="45720" anchor="t"/>
          <a:lstStyle/>
          <a:p>
            <a:pPr eaLnBrk="1" hangingPunct="1">
              <a:lnSpc>
                <a:spcPct val="140000"/>
              </a:lnSpc>
              <a:buNone/>
            </a:pPr>
            <a:r>
              <a:rPr lang="zh-CN" altLang="zh-CN" sz="2800" b="1" dirty="0">
                <a:solidFill>
                  <a:srgbClr val="66FF33"/>
                </a:solidFill>
                <a:ea typeface="华文中宋" panose="02010600040101010101" pitchFamily="2" charset="-122"/>
              </a:rPr>
              <a:t>⑶</a:t>
            </a:r>
            <a:r>
              <a:rPr lang="zh-CN" altLang="zh-CN" sz="2800" b="1" dirty="0">
                <a:ea typeface="华文中宋" panose="02010600040101010101" pitchFamily="2" charset="-122"/>
              </a:rPr>
              <a:t> </a:t>
            </a:r>
            <a:r>
              <a:rPr lang="zh-CN" altLang="en-US" sz="2800" b="1" dirty="0">
                <a:ea typeface="华文中宋" panose="02010600040101010101" pitchFamily="2" charset="-122"/>
              </a:rPr>
              <a:t>了解常用材料的用途和加工工艺。</a:t>
            </a:r>
          </a:p>
          <a:p>
            <a:pPr eaLnBrk="1" hangingPunct="1">
              <a:lnSpc>
                <a:spcPct val="140000"/>
              </a:lnSpc>
              <a:buNone/>
            </a:pPr>
            <a:r>
              <a:rPr lang="zh-CN" altLang="zh-CN" sz="2800" b="1" dirty="0">
                <a:solidFill>
                  <a:srgbClr val="66FF33"/>
                </a:solidFill>
                <a:ea typeface="华文中宋" panose="02010600040101010101" pitchFamily="2" charset="-122"/>
              </a:rPr>
              <a:t>⑷ </a:t>
            </a:r>
            <a:r>
              <a:rPr lang="zh-CN" altLang="en-US" sz="2800" b="1" dirty="0">
                <a:ea typeface="华文中宋" panose="02010600040101010101" pitchFamily="2" charset="-122"/>
              </a:rPr>
              <a:t>初步具备合理选材、正确确定加工方法、妥善安排工艺路线的能力。</a:t>
            </a:r>
          </a:p>
          <a:p>
            <a:pPr eaLnBrk="1" hangingPunct="1">
              <a:lnSpc>
                <a:spcPct val="140000"/>
              </a:lnSpc>
              <a:buNone/>
            </a:pPr>
            <a:r>
              <a:rPr lang="zh-CN" altLang="zh-CN" sz="2800" b="1" dirty="0">
                <a:solidFill>
                  <a:schemeClr val="folHlink"/>
                </a:solidFill>
                <a:ea typeface="华文中宋" panose="02010600040101010101" pitchFamily="2" charset="-122"/>
                <a:sym typeface="Symbol" panose="05050102010706020507" pitchFamily="18" charset="2"/>
              </a:rPr>
              <a:t>  </a:t>
            </a:r>
            <a:r>
              <a:rPr lang="zh-CN" altLang="en-US" sz="2800" b="1" dirty="0">
                <a:solidFill>
                  <a:schemeClr val="tx2"/>
                </a:solidFill>
                <a:ea typeface="华文中宋" panose="02010600040101010101" pitchFamily="2" charset="-122"/>
              </a:rPr>
              <a:t>课程特点：</a:t>
            </a:r>
            <a:r>
              <a:rPr lang="zh-CN" altLang="en-US" sz="2800" b="1" dirty="0">
                <a:solidFill>
                  <a:schemeClr val="folHlink"/>
                </a:solidFill>
                <a:ea typeface="华文中宋" panose="02010600040101010101" pitchFamily="2" charset="-122"/>
              </a:rPr>
              <a:t>基本概念多，与实际联系紧密</a:t>
            </a:r>
            <a:r>
              <a:rPr lang="zh-CN" altLang="zh-CN" sz="2800" b="1" dirty="0">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是一门应用科学。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animEffect transition="in" filter="wipe(left)">
                                      <p:cBhvr>
                                        <p:cTn id="7" dur="500"/>
                                        <p:tgtEl>
                                          <p:spTgt spid="5734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7346">
                                            <p:txEl>
                                              <p:pRg st="1" end="1"/>
                                            </p:txEl>
                                          </p:spTgt>
                                        </p:tgtEl>
                                        <p:attrNameLst>
                                          <p:attrName>style.visibility</p:attrName>
                                        </p:attrNameLst>
                                      </p:cBhvr>
                                      <p:to>
                                        <p:strVal val="visible"/>
                                      </p:to>
                                    </p:set>
                                    <p:animEffect transition="in" filter="wipe(left)">
                                      <p:cBhvr>
                                        <p:cTn id="11" dur="500"/>
                                        <p:tgtEl>
                                          <p:spTgt spid="5734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7346">
                                            <p:txEl>
                                              <p:pRg st="2" end="2"/>
                                            </p:txEl>
                                          </p:spTgt>
                                        </p:tgtEl>
                                        <p:attrNameLst>
                                          <p:attrName>style.visibility</p:attrName>
                                        </p:attrNameLst>
                                      </p:cBhvr>
                                      <p:to>
                                        <p:strVal val="visible"/>
                                      </p:to>
                                    </p:set>
                                    <p:animEffect transition="in" filter="wipe(left)">
                                      <p:cBhvr>
                                        <p:cTn id="15" dur="500"/>
                                        <p:tgtEl>
                                          <p:spTgt spid="5734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advAuto="100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idx="1"/>
          </p:nvPr>
        </p:nvSpPr>
        <p:spPr>
          <a:xfrm>
            <a:off x="1219200" y="2057400"/>
            <a:ext cx="7239000" cy="4191000"/>
          </a:xfrm>
        </p:spPr>
        <p:txBody>
          <a:bodyPr vert="horz" wrap="square" lIns="91440" tIns="45720" rIns="91440" bIns="45720" anchor="t"/>
          <a:lstStyle/>
          <a:p>
            <a:pPr eaLnBrk="1" hangingPunct="1">
              <a:lnSpc>
                <a:spcPct val="140000"/>
              </a:lnSpc>
            </a:pPr>
            <a:r>
              <a:rPr lang="zh-CN" altLang="en-US" sz="2800" b="1" dirty="0">
                <a:ea typeface="华文中宋" panose="02010600040101010101" pitchFamily="2" charset="-122"/>
              </a:rPr>
              <a:t>一、弹性和刚度</a:t>
            </a:r>
          </a:p>
          <a:p>
            <a:pPr eaLnBrk="1" hangingPunct="1">
              <a:lnSpc>
                <a:spcPct val="140000"/>
              </a:lnSpc>
            </a:pPr>
            <a:r>
              <a:rPr lang="zh-CN" altLang="en-US" sz="2800" b="1" dirty="0">
                <a:ea typeface="华文中宋" panose="02010600040101010101" pitchFamily="2" charset="-122"/>
              </a:rPr>
              <a:t>二、强度与塑性</a:t>
            </a:r>
          </a:p>
          <a:p>
            <a:pPr eaLnBrk="1" hangingPunct="1">
              <a:lnSpc>
                <a:spcPct val="140000"/>
              </a:lnSpc>
            </a:pPr>
            <a:r>
              <a:rPr lang="zh-CN" altLang="en-US" sz="2800" b="1" dirty="0">
                <a:ea typeface="华文中宋" panose="02010600040101010101" pitchFamily="2" charset="-122"/>
              </a:rPr>
              <a:t>三、冲击韧性</a:t>
            </a:r>
          </a:p>
          <a:p>
            <a:pPr eaLnBrk="1" hangingPunct="1">
              <a:lnSpc>
                <a:spcPct val="140000"/>
              </a:lnSpc>
            </a:pPr>
            <a:r>
              <a:rPr lang="zh-CN" altLang="en-US" sz="2800" b="1" dirty="0">
                <a:ea typeface="华文中宋" panose="02010600040101010101" pitchFamily="2" charset="-122"/>
              </a:rPr>
              <a:t>四、疲劳</a:t>
            </a:r>
          </a:p>
          <a:p>
            <a:pPr eaLnBrk="1" hangingPunct="1">
              <a:lnSpc>
                <a:spcPct val="140000"/>
              </a:lnSpc>
            </a:pPr>
            <a:r>
              <a:rPr lang="zh-CN" altLang="en-US" sz="2800" b="1" dirty="0">
                <a:ea typeface="华文中宋" panose="02010600040101010101" pitchFamily="2" charset="-122"/>
              </a:rPr>
              <a:t>五、硬度</a:t>
            </a:r>
          </a:p>
          <a:p>
            <a:pPr eaLnBrk="1" hangingPunct="1">
              <a:lnSpc>
                <a:spcPct val="140000"/>
              </a:lnSpc>
            </a:pPr>
            <a:r>
              <a:rPr lang="zh-CN" altLang="en-US" sz="2800" b="1" dirty="0">
                <a:ea typeface="华文中宋" panose="02010600040101010101" pitchFamily="2" charset="-122"/>
              </a:rPr>
              <a:t>六、断裂韧性</a:t>
            </a:r>
          </a:p>
        </p:txBody>
      </p:sp>
      <p:sp>
        <p:nvSpPr>
          <p:cNvPr id="58371" name="Rectangle 3"/>
          <p:cNvSpPr>
            <a:spLocks noGrp="1" noChangeArrowheads="1"/>
          </p:cNvSpPr>
          <p:nvPr>
            <p:ph type="title"/>
          </p:nvPr>
        </p:nvSpPr>
        <p:spPr>
          <a:xfrm>
            <a:off x="609600" y="457200"/>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5400" b="1" i="0" u="none" strike="noStrike" kern="0" cap="none" spc="0" normalizeH="0" baseline="0" noProof="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第一章  材料的性能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wipe(left)">
                                      <p:cBhvr>
                                        <p:cTn id="7" dur="500"/>
                                        <p:tgtEl>
                                          <p:spTgt spid="58371"/>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8370">
                                            <p:txEl>
                                              <p:pRg st="0" end="0"/>
                                            </p:txEl>
                                          </p:spTgt>
                                        </p:tgtEl>
                                        <p:attrNameLst>
                                          <p:attrName>style.visibility</p:attrName>
                                        </p:attrNameLst>
                                      </p:cBhvr>
                                      <p:to>
                                        <p:strVal val="visible"/>
                                      </p:to>
                                    </p:set>
                                    <p:anim calcmode="lin" valueType="num">
                                      <p:cBhvr additive="base">
                                        <p:cTn id="11" dur="500" fill="hold"/>
                                        <p:tgtEl>
                                          <p:spTgt spid="58370">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370">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58370">
                                            <p:txEl>
                                              <p:pRg st="1" end="1"/>
                                            </p:txEl>
                                          </p:spTgt>
                                        </p:tgtEl>
                                        <p:attrNameLst>
                                          <p:attrName>style.visibility</p:attrName>
                                        </p:attrNameLst>
                                      </p:cBhvr>
                                      <p:to>
                                        <p:strVal val="visible"/>
                                      </p:to>
                                    </p:set>
                                    <p:anim calcmode="lin" valueType="num">
                                      <p:cBhvr additive="base">
                                        <p:cTn id="16" dur="500" fill="hold"/>
                                        <p:tgtEl>
                                          <p:spTgt spid="58370">
                                            <p:txEl>
                                              <p:pRg st="1" end="1"/>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58370">
                                            <p:txEl>
                                              <p:pRg st="1" end="1"/>
                                            </p:txEl>
                                          </p:spTgt>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58370">
                                            <p:txEl>
                                              <p:pRg st="2" end="2"/>
                                            </p:txEl>
                                          </p:spTgt>
                                        </p:tgtEl>
                                        <p:attrNameLst>
                                          <p:attrName>style.visibility</p:attrName>
                                        </p:attrNameLst>
                                      </p:cBhvr>
                                      <p:to>
                                        <p:strVal val="visible"/>
                                      </p:to>
                                    </p:set>
                                    <p:anim calcmode="lin" valueType="num">
                                      <p:cBhvr additive="base">
                                        <p:cTn id="21" dur="500" fill="hold"/>
                                        <p:tgtEl>
                                          <p:spTgt spid="58370">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8370">
                                            <p:txEl>
                                              <p:pRg st="2" end="2"/>
                                            </p:txEl>
                                          </p:spTgt>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8" fill="hold" grpId="0" nodeType="afterEffect">
                                  <p:stCondLst>
                                    <p:cond delay="0"/>
                                  </p:stCondLst>
                                  <p:childTnLst>
                                    <p:set>
                                      <p:cBhvr>
                                        <p:cTn id="25" dur="1" fill="hold">
                                          <p:stCondLst>
                                            <p:cond delay="0"/>
                                          </p:stCondLst>
                                        </p:cTn>
                                        <p:tgtEl>
                                          <p:spTgt spid="58370">
                                            <p:txEl>
                                              <p:pRg st="3" end="3"/>
                                            </p:txEl>
                                          </p:spTgt>
                                        </p:tgtEl>
                                        <p:attrNameLst>
                                          <p:attrName>style.visibility</p:attrName>
                                        </p:attrNameLst>
                                      </p:cBhvr>
                                      <p:to>
                                        <p:strVal val="visible"/>
                                      </p:to>
                                    </p:set>
                                    <p:anim calcmode="lin" valueType="num">
                                      <p:cBhvr additive="base">
                                        <p:cTn id="26" dur="500" fill="hold"/>
                                        <p:tgtEl>
                                          <p:spTgt spid="58370">
                                            <p:txEl>
                                              <p:pRg st="3" end="3"/>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58370">
                                            <p:txEl>
                                              <p:pRg st="3" end="3"/>
                                            </p:txEl>
                                          </p:spTgt>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8" fill="hold" grpId="0" nodeType="afterEffect">
                                  <p:stCondLst>
                                    <p:cond delay="0"/>
                                  </p:stCondLst>
                                  <p:childTnLst>
                                    <p:set>
                                      <p:cBhvr>
                                        <p:cTn id="30" dur="1" fill="hold">
                                          <p:stCondLst>
                                            <p:cond delay="0"/>
                                          </p:stCondLst>
                                        </p:cTn>
                                        <p:tgtEl>
                                          <p:spTgt spid="58370">
                                            <p:txEl>
                                              <p:pRg st="4" end="4"/>
                                            </p:txEl>
                                          </p:spTgt>
                                        </p:tgtEl>
                                        <p:attrNameLst>
                                          <p:attrName>style.visibility</p:attrName>
                                        </p:attrNameLst>
                                      </p:cBhvr>
                                      <p:to>
                                        <p:strVal val="visible"/>
                                      </p:to>
                                    </p:set>
                                    <p:anim calcmode="lin" valueType="num">
                                      <p:cBhvr additive="base">
                                        <p:cTn id="31" dur="500" fill="hold"/>
                                        <p:tgtEl>
                                          <p:spTgt spid="5837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8370">
                                            <p:txEl>
                                              <p:pRg st="4" end="4"/>
                                            </p:txEl>
                                          </p:spTgt>
                                        </p:tgtEl>
                                        <p:attrNameLst>
                                          <p:attrName>ppt_y</p:attrName>
                                        </p:attrNameLst>
                                      </p:cBhvr>
                                      <p:tavLst>
                                        <p:tav tm="0">
                                          <p:val>
                                            <p:strVal val="#ppt_y"/>
                                          </p:val>
                                        </p:tav>
                                        <p:tav tm="100000">
                                          <p:val>
                                            <p:strVal val="#ppt_y"/>
                                          </p:val>
                                        </p:tav>
                                      </p:tavLst>
                                    </p:anim>
                                  </p:childTnLst>
                                </p:cTn>
                              </p:par>
                            </p:childTnLst>
                          </p:cTn>
                        </p:par>
                        <p:par>
                          <p:cTn id="33" fill="hold">
                            <p:stCondLst>
                              <p:cond delay="3000"/>
                            </p:stCondLst>
                            <p:childTnLst>
                              <p:par>
                                <p:cTn id="34" presetID="2" presetClass="entr" presetSubtype="8" fill="hold" grpId="0" nodeType="afterEffect">
                                  <p:stCondLst>
                                    <p:cond delay="0"/>
                                  </p:stCondLst>
                                  <p:childTnLst>
                                    <p:set>
                                      <p:cBhvr>
                                        <p:cTn id="35" dur="1" fill="hold">
                                          <p:stCondLst>
                                            <p:cond delay="0"/>
                                          </p:stCondLst>
                                        </p:cTn>
                                        <p:tgtEl>
                                          <p:spTgt spid="58370">
                                            <p:txEl>
                                              <p:pRg st="5" end="5"/>
                                            </p:txEl>
                                          </p:spTgt>
                                        </p:tgtEl>
                                        <p:attrNameLst>
                                          <p:attrName>style.visibility</p:attrName>
                                        </p:attrNameLst>
                                      </p:cBhvr>
                                      <p:to>
                                        <p:strVal val="visible"/>
                                      </p:to>
                                    </p:set>
                                    <p:anim calcmode="lin" valueType="num">
                                      <p:cBhvr additive="base">
                                        <p:cTn id="36" dur="500" fill="hold"/>
                                        <p:tgtEl>
                                          <p:spTgt spid="58370">
                                            <p:txEl>
                                              <p:pRg st="5" end="5"/>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58370">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advAuto="1000"/>
      <p:bldP spid="58371"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idx="1"/>
          </p:nvPr>
        </p:nvSpPr>
        <p:spPr>
          <a:xfrm>
            <a:off x="533400" y="914400"/>
            <a:ext cx="4343400" cy="5562600"/>
          </a:xfrm>
        </p:spPr>
        <p:txBody>
          <a:bodyPr vert="horz" wrap="square" lIns="91440" tIns="45720" rIns="91440" bIns="45720" anchor="t"/>
          <a:lstStyle/>
          <a:p>
            <a:pPr eaLnBrk="1" hangingPunct="1">
              <a:lnSpc>
                <a:spcPct val="140000"/>
              </a:lnSpc>
            </a:pPr>
            <a:r>
              <a:rPr lang="zh-CN" altLang="en-US" sz="2800" b="1" dirty="0">
                <a:solidFill>
                  <a:schemeClr val="tx2"/>
                </a:solidFill>
                <a:ea typeface="华文中宋" panose="02010600040101010101" pitchFamily="2" charset="-122"/>
              </a:rPr>
              <a:t>使用性能：</a:t>
            </a:r>
            <a:r>
              <a:rPr lang="zh-CN" altLang="en-US" sz="2800" b="1" dirty="0">
                <a:ea typeface="华文中宋" panose="02010600040101010101" pitchFamily="2" charset="-122"/>
              </a:rPr>
              <a:t>材料在使用过程中所表现的性能。</a:t>
            </a:r>
            <a:r>
              <a:rPr lang="zh-CN" altLang="en-US" sz="2800" b="1" dirty="0">
                <a:solidFill>
                  <a:srgbClr val="CCFF33"/>
                </a:solidFill>
                <a:ea typeface="华文中宋" panose="02010600040101010101" pitchFamily="2" charset="-122"/>
              </a:rPr>
              <a:t>包括</a:t>
            </a:r>
            <a:r>
              <a:rPr lang="zh-CN" altLang="en-US" sz="2800" b="1" dirty="0">
                <a:solidFill>
                  <a:schemeClr val="accent1"/>
                </a:solidFill>
                <a:ea typeface="华文中宋" panose="02010600040101010101" pitchFamily="2" charset="-122"/>
              </a:rPr>
              <a:t>力学性能、物理性能</a:t>
            </a:r>
            <a:r>
              <a:rPr lang="zh-CN" altLang="en-US" sz="2800" b="1" dirty="0">
                <a:solidFill>
                  <a:srgbClr val="CCFF33"/>
                </a:solidFill>
                <a:ea typeface="华文中宋" panose="02010600040101010101" pitchFamily="2" charset="-122"/>
              </a:rPr>
              <a:t>和</a:t>
            </a:r>
            <a:r>
              <a:rPr lang="zh-CN" altLang="en-US" sz="2800" b="1" dirty="0">
                <a:solidFill>
                  <a:schemeClr val="accent1"/>
                </a:solidFill>
                <a:ea typeface="华文中宋" panose="02010600040101010101" pitchFamily="2" charset="-122"/>
              </a:rPr>
              <a:t>化学性能。</a:t>
            </a:r>
          </a:p>
          <a:p>
            <a:pPr eaLnBrk="1" hangingPunct="1">
              <a:lnSpc>
                <a:spcPct val="140000"/>
              </a:lnSpc>
            </a:pPr>
            <a:r>
              <a:rPr lang="zh-CN" altLang="en-US" sz="2800" b="1" dirty="0">
                <a:solidFill>
                  <a:schemeClr val="tx2"/>
                </a:solidFill>
                <a:ea typeface="华文中宋" panose="02010600040101010101" pitchFamily="2" charset="-122"/>
              </a:rPr>
              <a:t>工艺性能：</a:t>
            </a:r>
            <a:r>
              <a:rPr lang="zh-CN" altLang="en-US" sz="2800" b="1" dirty="0">
                <a:ea typeface="华文中宋" panose="02010600040101010101" pitchFamily="2" charset="-122"/>
              </a:rPr>
              <a:t>材料在加工过程中所表现的性能。</a:t>
            </a:r>
            <a:r>
              <a:rPr lang="zh-CN" altLang="en-US" sz="2800" b="1" dirty="0">
                <a:solidFill>
                  <a:srgbClr val="CCFF33"/>
                </a:solidFill>
                <a:ea typeface="华文中宋" panose="02010600040101010101" pitchFamily="2" charset="-122"/>
              </a:rPr>
              <a:t>包括</a:t>
            </a:r>
            <a:r>
              <a:rPr lang="zh-CN" altLang="en-US" sz="2800" b="1" dirty="0">
                <a:solidFill>
                  <a:schemeClr val="accent1"/>
                </a:solidFill>
                <a:ea typeface="华文中宋" panose="02010600040101010101" pitchFamily="2" charset="-122"/>
              </a:rPr>
              <a:t>铸造</a:t>
            </a:r>
            <a:r>
              <a:rPr lang="zh-CN" altLang="en-US" sz="1400" b="1" dirty="0">
                <a:solidFill>
                  <a:schemeClr val="accent1"/>
                </a:solidFill>
                <a:ea typeface="华文中宋" panose="02010600040101010101" pitchFamily="2" charset="-122"/>
              </a:rPr>
              <a:t>、</a:t>
            </a:r>
            <a:r>
              <a:rPr lang="zh-CN" altLang="en-US" sz="2800" b="1" dirty="0">
                <a:solidFill>
                  <a:schemeClr val="accent1"/>
                </a:solidFill>
                <a:ea typeface="华文中宋" panose="02010600040101010101" pitchFamily="2" charset="-122"/>
              </a:rPr>
              <a:t>锻压、焊接、热处理</a:t>
            </a:r>
            <a:r>
              <a:rPr lang="zh-CN" altLang="en-US" sz="2800" b="1" dirty="0">
                <a:solidFill>
                  <a:srgbClr val="CCFF33"/>
                </a:solidFill>
                <a:ea typeface="华文中宋" panose="02010600040101010101" pitchFamily="2" charset="-122"/>
              </a:rPr>
              <a:t>和</a:t>
            </a:r>
            <a:r>
              <a:rPr lang="zh-CN" altLang="en-US" sz="2800" b="1" dirty="0">
                <a:solidFill>
                  <a:schemeClr val="accent1"/>
                </a:solidFill>
                <a:ea typeface="华文中宋" panose="02010600040101010101" pitchFamily="2" charset="-122"/>
              </a:rPr>
              <a:t>切削性能等</a:t>
            </a:r>
            <a:r>
              <a:rPr lang="zh-CN" altLang="en-US" sz="2800" b="1" dirty="0">
                <a:ea typeface="华文中宋" panose="02010600040101010101" pitchFamily="2" charset="-122"/>
              </a:rPr>
              <a:t>。</a:t>
            </a:r>
          </a:p>
        </p:txBody>
      </p:sp>
      <p:grpSp>
        <p:nvGrpSpPr>
          <p:cNvPr id="2" name="Group 3"/>
          <p:cNvGrpSpPr/>
          <p:nvPr/>
        </p:nvGrpSpPr>
        <p:grpSpPr>
          <a:xfrm>
            <a:off x="5486400" y="1295400"/>
            <a:ext cx="2895600" cy="4137025"/>
            <a:chOff x="0" y="0"/>
            <a:chExt cx="1824" cy="2606"/>
          </a:xfrm>
        </p:grpSpPr>
        <p:pic>
          <p:nvPicPr>
            <p:cNvPr id="59395" name="Picture 4" descr="神州飞船2"/>
            <p:cNvPicPr>
              <a:picLocks noChangeAspect="1"/>
            </p:cNvPicPr>
            <p:nvPr/>
          </p:nvPicPr>
          <p:blipFill>
            <a:blip r:embed="rId2"/>
            <a:stretch>
              <a:fillRect/>
            </a:stretch>
          </p:blipFill>
          <p:spPr>
            <a:xfrm>
              <a:off x="0" y="0"/>
              <a:ext cx="1800" cy="2606"/>
            </a:xfrm>
            <a:prstGeom prst="rect">
              <a:avLst/>
            </a:prstGeom>
            <a:noFill/>
            <a:ln w="38100" cap="flat" cmpd="sng">
              <a:solidFill>
                <a:srgbClr val="FF6600"/>
              </a:solidFill>
              <a:prstDash val="solid"/>
              <a:miter/>
              <a:headEnd type="none" w="med" len="med"/>
              <a:tailEnd type="none" w="med" len="med"/>
            </a:ln>
          </p:spPr>
        </p:pic>
        <p:sp>
          <p:nvSpPr>
            <p:cNvPr id="59396" name="Text Box 5"/>
            <p:cNvSpPr txBox="1"/>
            <p:nvPr/>
          </p:nvSpPr>
          <p:spPr>
            <a:xfrm>
              <a:off x="1478" y="48"/>
              <a:ext cx="346" cy="1344"/>
            </a:xfrm>
            <a:prstGeom prst="rect">
              <a:avLst/>
            </a:prstGeom>
            <a:noFill/>
            <a:ln w="9525">
              <a:noFill/>
            </a:ln>
          </p:spPr>
          <p:txBody>
            <a:bodyPr vert="eaVert" anchor="t">
              <a:spAutoFit/>
            </a:bodyPr>
            <a:lstStyle/>
            <a:p>
              <a:pPr>
                <a:spcBef>
                  <a:spcPct val="50000"/>
                </a:spcBef>
              </a:pPr>
              <a:r>
                <a:rPr lang="zh-CN" altLang="en-US" sz="2400" dirty="0">
                  <a:solidFill>
                    <a:srgbClr val="FFFF66"/>
                  </a:solidFill>
                  <a:latin typeface="Times New Roman" panose="02020603050405020304" pitchFamily="18" charset="0"/>
                  <a:ea typeface="华文行楷" panose="02010800040101010101" pitchFamily="2" charset="-122"/>
                </a:rPr>
                <a:t>神舟一号飞船</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394">
                                            <p:txEl>
                                              <p:pRg st="0" end="0"/>
                                            </p:txEl>
                                          </p:spTgt>
                                        </p:tgtEl>
                                        <p:attrNameLst>
                                          <p:attrName>style.visibility</p:attrName>
                                        </p:attrNameLst>
                                      </p:cBhvr>
                                      <p:to>
                                        <p:strVal val="visible"/>
                                      </p:to>
                                    </p:set>
                                    <p:animEffect transition="in" filter="wipe(left)">
                                      <p:cBhvr>
                                        <p:cTn id="7" dur="500"/>
                                        <p:tgtEl>
                                          <p:spTgt spid="5939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9394">
                                            <p:txEl>
                                              <p:pRg st="1" end="1"/>
                                            </p:txEl>
                                          </p:spTgt>
                                        </p:tgtEl>
                                        <p:attrNameLst>
                                          <p:attrName>style.visibility</p:attrName>
                                        </p:attrNameLst>
                                      </p:cBhvr>
                                      <p:to>
                                        <p:strVal val="visible"/>
                                      </p:to>
                                    </p:set>
                                    <p:animEffect transition="in" filter="wipe(left)">
                                      <p:cBhvr>
                                        <p:cTn id="11" dur="500"/>
                                        <p:tgtEl>
                                          <p:spTgt spid="59394">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advAuto="100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idx="1"/>
          </p:nvPr>
        </p:nvSpPr>
        <p:spPr>
          <a:xfrm>
            <a:off x="533400" y="152400"/>
            <a:ext cx="8229600" cy="6096000"/>
          </a:xfrm>
        </p:spPr>
        <p:txBody>
          <a:bodyPr vert="horz" wrap="square" lIns="91440" tIns="45720" rIns="91440" bIns="45720" anchor="t"/>
          <a:lstStyle/>
          <a:p>
            <a:pPr eaLnBrk="1" hangingPunct="1">
              <a:lnSpc>
                <a:spcPct val="140000"/>
              </a:lnSpc>
            </a:pPr>
            <a:r>
              <a:rPr lang="zh-CN" altLang="en-US" sz="2800" b="1" dirty="0">
                <a:solidFill>
                  <a:schemeClr val="folHlink"/>
                </a:solidFill>
                <a:latin typeface="华文中宋" panose="02010600040101010101" pitchFamily="2" charset="-122"/>
                <a:ea typeface="华文中宋" panose="02010600040101010101" pitchFamily="2" charset="-122"/>
              </a:rPr>
              <a:t>材料在外力的作用下将发生形状和尺寸变化，称为</a:t>
            </a:r>
            <a:r>
              <a:rPr lang="zh-CN" altLang="en-US" sz="2800" b="1" dirty="0">
                <a:solidFill>
                  <a:schemeClr val="tx2"/>
                </a:solidFill>
                <a:latin typeface="华文中宋" panose="02010600040101010101" pitchFamily="2" charset="-122"/>
                <a:ea typeface="华文中宋" panose="02010600040101010101" pitchFamily="2" charset="-122"/>
              </a:rPr>
              <a:t>变形</a:t>
            </a:r>
            <a:r>
              <a:rPr lang="zh-CN" altLang="en-US" sz="2800" b="1" dirty="0">
                <a:latin typeface="华文中宋" panose="02010600040101010101" pitchFamily="2" charset="-122"/>
                <a:ea typeface="华文中宋" panose="02010600040101010101" pitchFamily="2" charset="-122"/>
              </a:rPr>
              <a:t>。</a:t>
            </a:r>
          </a:p>
          <a:p>
            <a:pPr eaLnBrk="1" hangingPunct="1">
              <a:lnSpc>
                <a:spcPct val="140000"/>
              </a:lnSpc>
            </a:pPr>
            <a:r>
              <a:rPr lang="zh-CN" altLang="en-US" sz="2800" b="1" dirty="0">
                <a:solidFill>
                  <a:srgbClr val="CCFF33"/>
                </a:solidFill>
                <a:latin typeface="华文中宋" panose="02010600040101010101" pitchFamily="2" charset="-122"/>
                <a:ea typeface="华文中宋" panose="02010600040101010101" pitchFamily="2" charset="-122"/>
              </a:rPr>
              <a:t>外力去除后能够恢复的变形称为</a:t>
            </a:r>
            <a:r>
              <a:rPr lang="zh-CN" altLang="en-US" sz="2800" b="1" dirty="0">
                <a:solidFill>
                  <a:schemeClr val="tx2"/>
                </a:solidFill>
                <a:latin typeface="华文中宋" panose="02010600040101010101" pitchFamily="2" charset="-122"/>
                <a:ea typeface="华文中宋" panose="02010600040101010101" pitchFamily="2" charset="-122"/>
              </a:rPr>
              <a:t>弹性变形</a:t>
            </a:r>
            <a:r>
              <a:rPr lang="zh-CN" altLang="en-US" sz="2800" b="1" dirty="0">
                <a:latin typeface="华文中宋" panose="02010600040101010101" pitchFamily="2" charset="-122"/>
                <a:ea typeface="华文中宋" panose="02010600040101010101" pitchFamily="2" charset="-122"/>
              </a:rPr>
              <a:t>。</a:t>
            </a:r>
          </a:p>
          <a:p>
            <a:pPr eaLnBrk="1" hangingPunct="1">
              <a:lnSpc>
                <a:spcPct val="140000"/>
              </a:lnSpc>
            </a:pPr>
            <a:r>
              <a:rPr lang="zh-CN" altLang="en-US" sz="2800" b="1" dirty="0">
                <a:solidFill>
                  <a:srgbClr val="CCFF33"/>
                </a:solidFill>
                <a:latin typeface="华文中宋" panose="02010600040101010101" pitchFamily="2" charset="-122"/>
                <a:ea typeface="华文中宋" panose="02010600040101010101" pitchFamily="2" charset="-122"/>
              </a:rPr>
              <a:t>外力去除后不能恢复的变形称为</a:t>
            </a:r>
            <a:r>
              <a:rPr lang="zh-CN" altLang="en-US" sz="2800" b="1" dirty="0">
                <a:solidFill>
                  <a:schemeClr val="tx2"/>
                </a:solidFill>
                <a:latin typeface="华文中宋" panose="02010600040101010101" pitchFamily="2" charset="-122"/>
                <a:ea typeface="华文中宋" panose="02010600040101010101" pitchFamily="2" charset="-122"/>
              </a:rPr>
              <a:t>塑性变形</a:t>
            </a:r>
            <a:r>
              <a:rPr lang="zh-CN" altLang="en-US" sz="2800" b="1" dirty="0">
                <a:latin typeface="华文中宋" panose="02010600040101010101" pitchFamily="2" charset="-122"/>
                <a:ea typeface="华文中宋" panose="02010600040101010101" pitchFamily="2" charset="-122"/>
              </a:rPr>
              <a:t>。 </a:t>
            </a:r>
          </a:p>
        </p:txBody>
      </p:sp>
      <p:grpSp>
        <p:nvGrpSpPr>
          <p:cNvPr id="2" name="Group 3"/>
          <p:cNvGrpSpPr/>
          <p:nvPr/>
        </p:nvGrpSpPr>
        <p:grpSpPr>
          <a:xfrm>
            <a:off x="838200" y="3200400"/>
            <a:ext cx="7615238" cy="3236913"/>
            <a:chOff x="0" y="0"/>
            <a:chExt cx="4797" cy="2039"/>
          </a:xfrm>
        </p:grpSpPr>
        <p:pic>
          <p:nvPicPr>
            <p:cNvPr id="60419" name="Picture 4" descr="变形"/>
            <p:cNvPicPr>
              <a:picLocks noChangeAspect="1"/>
            </p:cNvPicPr>
            <p:nvPr/>
          </p:nvPicPr>
          <p:blipFill>
            <a:blip r:embed="rId2"/>
            <a:stretch>
              <a:fillRect/>
            </a:stretch>
          </p:blipFill>
          <p:spPr>
            <a:xfrm>
              <a:off x="0" y="0"/>
              <a:ext cx="2614" cy="2039"/>
            </a:xfrm>
            <a:prstGeom prst="rect">
              <a:avLst/>
            </a:prstGeom>
            <a:noFill/>
            <a:ln w="38100" cap="flat" cmpd="sng">
              <a:solidFill>
                <a:srgbClr val="FF9900"/>
              </a:solidFill>
              <a:prstDash val="solid"/>
              <a:miter/>
              <a:headEnd type="none" w="med" len="med"/>
              <a:tailEnd type="none" w="med" len="med"/>
            </a:ln>
          </p:spPr>
        </p:pic>
        <p:grpSp>
          <p:nvGrpSpPr>
            <p:cNvPr id="60420" name="Group 5"/>
            <p:cNvGrpSpPr/>
            <p:nvPr/>
          </p:nvGrpSpPr>
          <p:grpSpPr>
            <a:xfrm>
              <a:off x="2688" y="0"/>
              <a:ext cx="2109" cy="2038"/>
              <a:chOff x="0" y="0"/>
              <a:chExt cx="2109" cy="2038"/>
            </a:xfrm>
          </p:grpSpPr>
          <p:pic>
            <p:nvPicPr>
              <p:cNvPr id="60421" name="Picture 6" descr="image025"/>
              <p:cNvPicPr>
                <a:picLocks noChangeAspect="1"/>
              </p:cNvPicPr>
              <p:nvPr/>
            </p:nvPicPr>
            <p:blipFill>
              <a:blip r:embed="rId3"/>
              <a:stretch>
                <a:fillRect/>
              </a:stretch>
            </p:blipFill>
            <p:spPr>
              <a:xfrm>
                <a:off x="48" y="0"/>
                <a:ext cx="2061" cy="2038"/>
              </a:xfrm>
              <a:prstGeom prst="rect">
                <a:avLst/>
              </a:prstGeom>
              <a:noFill/>
              <a:ln w="38100" cap="flat" cmpd="sng">
                <a:solidFill>
                  <a:srgbClr val="FF9900"/>
                </a:solidFill>
                <a:prstDash val="solid"/>
                <a:miter/>
                <a:headEnd type="none" w="med" len="med"/>
                <a:tailEnd type="none" w="med" len="med"/>
              </a:ln>
            </p:spPr>
          </p:pic>
          <p:sp>
            <p:nvSpPr>
              <p:cNvPr id="60422" name="Text Box 7"/>
              <p:cNvSpPr txBox="1"/>
              <p:nvPr/>
            </p:nvSpPr>
            <p:spPr>
              <a:xfrm>
                <a:off x="0" y="1776"/>
                <a:ext cx="1152" cy="250"/>
              </a:xfrm>
              <a:prstGeom prst="rect">
                <a:avLst/>
              </a:prstGeom>
              <a:solidFill>
                <a:schemeClr val="bg2">
                  <a:alpha val="50195"/>
                </a:schemeClr>
              </a:solidFill>
              <a:ln w="9525">
                <a:noFill/>
              </a:ln>
            </p:spPr>
            <p:txBody>
              <a:bodyPr anchor="t">
                <a:spAutoFit/>
              </a:bodyPr>
              <a:lstStyle/>
              <a:p>
                <a:pPr algn="ct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五万吨水压机</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418">
                                            <p:txEl>
                                              <p:pRg st="0" end="0"/>
                                            </p:txEl>
                                          </p:spTgt>
                                        </p:tgtEl>
                                        <p:attrNameLst>
                                          <p:attrName>style.visibility</p:attrName>
                                        </p:attrNameLst>
                                      </p:cBhvr>
                                      <p:to>
                                        <p:strVal val="visible"/>
                                      </p:to>
                                    </p:set>
                                    <p:animEffect transition="in" filter="wipe(left)">
                                      <p:cBhvr>
                                        <p:cTn id="7" dur="500"/>
                                        <p:tgtEl>
                                          <p:spTgt spid="6041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0418">
                                            <p:txEl>
                                              <p:pRg st="1" end="1"/>
                                            </p:txEl>
                                          </p:spTgt>
                                        </p:tgtEl>
                                        <p:attrNameLst>
                                          <p:attrName>style.visibility</p:attrName>
                                        </p:attrNameLst>
                                      </p:cBhvr>
                                      <p:to>
                                        <p:strVal val="visible"/>
                                      </p:to>
                                    </p:set>
                                    <p:animEffect transition="in" filter="wipe(left)">
                                      <p:cBhvr>
                                        <p:cTn id="11" dur="500"/>
                                        <p:tgtEl>
                                          <p:spTgt spid="60418">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0418">
                                            <p:txEl>
                                              <p:pRg st="2" end="2"/>
                                            </p:txEl>
                                          </p:spTgt>
                                        </p:tgtEl>
                                        <p:attrNameLst>
                                          <p:attrName>style.visibility</p:attrName>
                                        </p:attrNameLst>
                                      </p:cBhvr>
                                      <p:to>
                                        <p:strVal val="visible"/>
                                      </p:to>
                                    </p:set>
                                    <p:animEffect transition="in" filter="wipe(left)">
                                      <p:cBhvr>
                                        <p:cTn id="15" dur="500"/>
                                        <p:tgtEl>
                                          <p:spTgt spid="60418">
                                            <p:txEl>
                                              <p:pRg st="2" end="2"/>
                                            </p:txEl>
                                          </p:spTgt>
                                        </p:tgtEl>
                                      </p:cBhvr>
                                    </p:animEffect>
                                  </p:childTnLst>
                                </p:cTn>
                              </p:par>
                            </p:childTnLst>
                          </p:cTn>
                        </p:par>
                        <p:par>
                          <p:cTn id="16" fill="hold">
                            <p:stCondLst>
                              <p:cond delay="1500"/>
                            </p:stCondLst>
                            <p:childTnLst>
                              <p:par>
                                <p:cTn id="17" presetID="16" presetClass="entr" presetSubtype="37"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out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uild="p" advAuto="100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193925" y="477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pic>
        <p:nvPicPr>
          <p:cNvPr id="15363" name="Picture 4" descr="gc00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1428750"/>
            <a:ext cx="5076825"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 Box 5"/>
          <p:cNvSpPr txBox="1">
            <a:spLocks noChangeArrowheads="1"/>
          </p:cNvSpPr>
          <p:nvPr/>
        </p:nvSpPr>
        <p:spPr bwMode="auto">
          <a:xfrm>
            <a:off x="377837" y="1952957"/>
            <a:ext cx="3491929" cy="175432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mn-cs"/>
              </a:rPr>
              <a:t>标准形状样品：去除样品尺寸和形状的影响</a:t>
            </a:r>
          </a:p>
        </p:txBody>
      </p:sp>
      <p:sp>
        <p:nvSpPr>
          <p:cNvPr id="15366" name="TextBox 1"/>
          <p:cNvSpPr txBox="1">
            <a:spLocks noChangeArrowheads="1"/>
          </p:cNvSpPr>
          <p:nvPr/>
        </p:nvSpPr>
        <p:spPr bwMode="auto">
          <a:xfrm>
            <a:off x="503237" y="910461"/>
            <a:ext cx="673305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eaLnBrk="0" hangingPunct="0">
              <a:spcBef>
                <a:spcPct val="0"/>
              </a:spcBef>
              <a:buNone/>
              <a:defRPr/>
            </a:pPr>
            <a:r>
              <a:rPr lang="zh-CN" altLang="en-US" sz="3600" b="1" dirty="0">
                <a:latin typeface="黑体" panose="02010609060101010101" pitchFamily="49" charset="-122"/>
                <a:ea typeface="黑体" panose="02010609060101010101" pitchFamily="49" charset="-122"/>
              </a:rPr>
              <a:t>拉伸试验</a:t>
            </a:r>
            <a:endParaRPr kumimoji="1" lang="zh-CN" altLang="en-US" sz="3600" b="1" i="0" u="none" strike="noStrike" kern="1200" cap="none" spc="0" normalizeH="0" baseline="0" noProof="0" dirty="0">
              <a:ln>
                <a:noFill/>
              </a:ln>
              <a:effectLst/>
              <a:uLnTx/>
              <a:uFillTx/>
              <a:latin typeface="黑体" panose="02010609060101010101" pitchFamily="49" charset="-122"/>
              <a:ea typeface="黑体" panose="02010609060101010101" pitchFamily="49" charset="-122"/>
              <a:cs typeface="+mn-cs"/>
            </a:endParaRPr>
          </a:p>
        </p:txBody>
      </p:sp>
      <p:sp>
        <p:nvSpPr>
          <p:cNvPr id="15367" name="矩形 1"/>
          <p:cNvSpPr>
            <a:spLocks noChangeArrowheads="1"/>
          </p:cNvSpPr>
          <p:nvPr/>
        </p:nvSpPr>
        <p:spPr bwMode="auto">
          <a:xfrm>
            <a:off x="539552" y="95250"/>
            <a:ext cx="5544616" cy="70788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None/>
              <a:defRPr/>
            </a:pPr>
            <a:r>
              <a:rPr kumimoji="1" lang="zh-CN" altLang="en-US" sz="4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一、</a:t>
            </a:r>
            <a:r>
              <a:rPr lang="zh-CN" altLang="en-US" sz="4000" b="1" dirty="0">
                <a:solidFill>
                  <a:srgbClr val="000000"/>
                </a:solidFill>
                <a:ea typeface="黑体" panose="02010609060101010101" pitchFamily="49" charset="-122"/>
              </a:rPr>
              <a:t>弹性和刚度</a:t>
            </a:r>
            <a:endParaRPr kumimoji="1" lang="zh-CN" altLang="en-US" sz="4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pic>
        <p:nvPicPr>
          <p:cNvPr id="8" name="图片 2"/>
          <p:cNvPicPr/>
          <p:nvPr/>
        </p:nvPicPr>
        <p:blipFill>
          <a:blip r:embed="rId3" cstate="print">
            <a:extLst>
              <a:ext uri="{28A0092B-C50C-407E-A947-70E740481C1C}">
                <a14:useLocalDpi xmlns:a14="http://schemas.microsoft.com/office/drawing/2010/main" val="0"/>
              </a:ext>
            </a:extLst>
          </a:blip>
          <a:stretch>
            <a:fillRect/>
          </a:stretch>
        </p:blipFill>
        <p:spPr>
          <a:xfrm>
            <a:off x="35496" y="4254676"/>
            <a:ext cx="3959670" cy="2270668"/>
          </a:xfrm>
          <a:prstGeom prst="rect">
            <a:avLst/>
          </a:prstGeom>
        </p:spPr>
      </p:pic>
    </p:spTree>
    <p:extLst>
      <p:ext uri="{BB962C8B-B14F-4D97-AF65-F5344CB8AC3E}">
        <p14:creationId xmlns:p14="http://schemas.microsoft.com/office/powerpoint/2010/main" val="17087836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
          <p:cNvPicPr/>
          <p:nvPr/>
        </p:nvPicPr>
        <p:blipFill>
          <a:blip r:embed="rId2" cstate="print">
            <a:extLst>
              <a:ext uri="{28A0092B-C50C-407E-A947-70E740481C1C}">
                <a14:useLocalDpi xmlns:a14="http://schemas.microsoft.com/office/drawing/2010/main" val="0"/>
              </a:ext>
            </a:extLst>
          </a:blip>
          <a:stretch>
            <a:fillRect/>
          </a:stretch>
        </p:blipFill>
        <p:spPr>
          <a:xfrm>
            <a:off x="36266" y="1772816"/>
            <a:ext cx="5112567" cy="3888432"/>
          </a:xfrm>
          <a:prstGeom prst="rect">
            <a:avLst/>
          </a:prstGeom>
        </p:spPr>
      </p:pic>
      <p:sp>
        <p:nvSpPr>
          <p:cNvPr id="3" name="TextBox 2"/>
          <p:cNvSpPr txBox="1"/>
          <p:nvPr/>
        </p:nvSpPr>
        <p:spPr>
          <a:xfrm>
            <a:off x="2069721" y="230858"/>
            <a:ext cx="4932547" cy="584775"/>
          </a:xfrm>
          <a:prstGeom prst="rect">
            <a:avLst/>
          </a:prstGeom>
          <a:solidFill>
            <a:srgbClr val="66FFFF"/>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低碳钢的应力</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应变曲线</a:t>
            </a:r>
          </a:p>
        </p:txBody>
      </p:sp>
      <mc:AlternateContent xmlns:mc="http://schemas.openxmlformats.org/markup-compatibility/2006" xmlns:a14="http://schemas.microsoft.com/office/drawing/2010/main">
        <mc:Choice Requires="a14">
          <p:sp>
            <p:nvSpPr>
              <p:cNvPr id="4" name="TextBox 3"/>
              <p:cNvSpPr txBox="1"/>
              <p:nvPr/>
            </p:nvSpPr>
            <p:spPr>
              <a:xfrm>
                <a:off x="1673294" y="875921"/>
                <a:ext cx="5454604" cy="712631"/>
              </a:xfrm>
              <a:prstGeom prst="rect">
                <a:avLst/>
              </a:prstGeom>
              <a:solidFill>
                <a:srgbClr val="FFFF00"/>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14:m>
                  <m:oMath xmlns:m="http://schemas.openxmlformats.org/officeDocument/2006/math">
                    <m:f>
                      <m:fPr>
                        <m:ctrlPr>
                          <a:rPr kumimoji="1" lang="en-US" altLang="zh-CN" sz="2800" b="1"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m:rPr>
                            <m:sty m:val="p"/>
                          </m:rPr>
                          <a:rPr kumimoji="1" lang="en-US" altLang="zh-CN" sz="2800" b="1" i="1" u="none" strike="noStrike" kern="1200" cap="none" spc="0" normalizeH="0" baseline="0" noProof="0">
                            <a:ln>
                              <a:noFill/>
                            </a:ln>
                            <a:solidFill>
                              <a:srgbClr val="000000"/>
                            </a:solidFill>
                            <a:effectLst/>
                            <a:uLnTx/>
                            <a:uFillTx/>
                            <a:latin typeface="Cambria Math" panose="02040503050406030204" pitchFamily="18" charset="0"/>
                            <a:cs typeface="+mn-cs"/>
                          </a:rPr>
                          <m:t>F</m:t>
                        </m:r>
                      </m:num>
                      <m:den>
                        <m:r>
                          <a:rPr kumimoji="1" lang="en-US" altLang="zh-CN" sz="2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𝑺</m:t>
                        </m:r>
                        <m:r>
                          <a:rPr kumimoji="1" lang="en-US" altLang="zh-CN" sz="2800" b="1" i="1" u="none" strike="noStrike" kern="1200" cap="none" spc="0" normalizeH="0" baseline="-25000" noProof="0" smtClean="0">
                            <a:ln>
                              <a:noFill/>
                            </a:ln>
                            <a:solidFill>
                              <a:srgbClr val="000000"/>
                            </a:solidFill>
                            <a:effectLst/>
                            <a:uLnTx/>
                            <a:uFillTx/>
                            <a:latin typeface="Cambria Math" panose="02040503050406030204" pitchFamily="18" charset="0"/>
                            <a:cs typeface="+mn-cs"/>
                          </a:rPr>
                          <m:t>𝟎</m:t>
                        </m:r>
                      </m:den>
                    </m:f>
                  </m:oMath>
                </a14:m>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）应力，</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e ( = </a:t>
                </a:r>
                <a14:m>
                  <m:oMath xmlns:m="http://schemas.openxmlformats.org/officeDocument/2006/math">
                    <m:f>
                      <m:fPr>
                        <m:ctrlPr>
                          <a:rPr kumimoji="1" lang="en-US" altLang="zh-CN" sz="2800" b="1"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1" lang="en-US" altLang="zh-CN" sz="2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𝑳</m:t>
                        </m:r>
                        <m:r>
                          <a:rPr kumimoji="1" lang="en-US" altLang="zh-CN" sz="2800" b="1" i="0" u="none" strike="noStrike" kern="1200" cap="none" spc="0" normalizeH="0" baseline="-25000" noProof="0">
                            <a:ln>
                              <a:noFill/>
                            </a:ln>
                            <a:solidFill>
                              <a:srgbClr val="000000"/>
                            </a:solidFill>
                            <a:effectLst/>
                            <a:uLnTx/>
                            <a:uFillTx/>
                            <a:latin typeface="Cambria Math" panose="02040503050406030204" pitchFamily="18" charset="0"/>
                            <a:cs typeface="+mn-cs"/>
                          </a:rPr>
                          <m:t>𝐮</m:t>
                        </m:r>
                        <m:r>
                          <a:rPr kumimoji="1" lang="en-US" altLang="zh-CN" sz="2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1" lang="en-US" altLang="zh-CN" sz="2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𝑳</m:t>
                        </m:r>
                        <m:r>
                          <a:rPr kumimoji="1" lang="en-US" altLang="zh-CN" sz="2800" b="1" i="1" u="none" strike="noStrike" kern="1200" cap="none" spc="0" normalizeH="0" baseline="-25000" noProof="0" smtClean="0">
                            <a:ln>
                              <a:noFill/>
                            </a:ln>
                            <a:solidFill>
                              <a:srgbClr val="000000"/>
                            </a:solidFill>
                            <a:effectLst/>
                            <a:uLnTx/>
                            <a:uFillTx/>
                            <a:latin typeface="Cambria Math" panose="02040503050406030204" pitchFamily="18" charset="0"/>
                            <a:cs typeface="+mn-cs"/>
                          </a:rPr>
                          <m:t>𝟎</m:t>
                        </m:r>
                      </m:num>
                      <m:den>
                        <m:r>
                          <a:rPr kumimoji="1" lang="en-US" altLang="zh-CN" sz="2800" b="1" i="1" u="none" strike="noStrike" kern="1200" cap="none" spc="0" normalizeH="0" baseline="0" noProof="0" smtClean="0">
                            <a:ln>
                              <a:noFill/>
                            </a:ln>
                            <a:solidFill>
                              <a:srgbClr val="000000"/>
                            </a:solidFill>
                            <a:effectLst/>
                            <a:uLnTx/>
                            <a:uFillTx/>
                            <a:latin typeface="Cambria Math" panose="02040503050406030204" pitchFamily="18" charset="0"/>
                            <a:cs typeface="+mn-cs"/>
                          </a:rPr>
                          <m:t>𝑳</m:t>
                        </m:r>
                        <m:r>
                          <a:rPr kumimoji="1" lang="en-US" altLang="zh-CN" sz="2800" b="1" i="1" u="none" strike="noStrike" kern="1200" cap="none" spc="0" normalizeH="0" baseline="-25000" noProof="0" smtClean="0">
                            <a:ln>
                              <a:noFill/>
                            </a:ln>
                            <a:solidFill>
                              <a:srgbClr val="000000"/>
                            </a:solidFill>
                            <a:effectLst/>
                            <a:uLnTx/>
                            <a:uFillTx/>
                            <a:latin typeface="Cambria Math" panose="02040503050406030204" pitchFamily="18" charset="0"/>
                            <a:cs typeface="+mn-cs"/>
                          </a:rPr>
                          <m:t>𝟎</m:t>
                        </m:r>
                      </m:den>
                    </m:f>
                  </m:oMath>
                </a14:m>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）应变</a:t>
                </a:r>
              </a:p>
            </p:txBody>
          </p:sp>
        </mc:Choice>
        <mc:Fallback xmlns="">
          <p:sp>
            <p:nvSpPr>
              <p:cNvPr id="4" name="TextBox 3"/>
              <p:cNvSpPr txBox="1">
                <a:spLocks noRot="1" noChangeAspect="1" noMove="1" noResize="1" noEditPoints="1" noAdjustHandles="1" noChangeArrowheads="1" noChangeShapeType="1" noTextEdit="1"/>
              </p:cNvSpPr>
              <p:nvPr/>
            </p:nvSpPr>
            <p:spPr>
              <a:xfrm>
                <a:off x="1673294" y="875921"/>
                <a:ext cx="5454604" cy="712631"/>
              </a:xfrm>
              <a:prstGeom prst="rect">
                <a:avLst/>
              </a:prstGeom>
              <a:blipFill>
                <a:blip r:embed="rId3"/>
                <a:stretch>
                  <a:fillRect l="-2235" r="-894" b="-9402"/>
                </a:stretch>
              </a:blipFill>
            </p:spPr>
            <p:txBody>
              <a:bodyPr/>
              <a:lstStyle/>
              <a:p>
                <a:r>
                  <a:rPr lang="zh-CN" altLang="en-US">
                    <a:noFill/>
                  </a:rPr>
                  <a:t> </a:t>
                </a:r>
              </a:p>
            </p:txBody>
          </p:sp>
        </mc:Fallback>
      </mc:AlternateContent>
      <p:pic>
        <p:nvPicPr>
          <p:cNvPr id="5" name="图片 2"/>
          <p:cNvPicPr/>
          <p:nvPr/>
        </p:nvPicPr>
        <p:blipFill>
          <a:blip r:embed="rId4" cstate="print">
            <a:extLst>
              <a:ext uri="{28A0092B-C50C-407E-A947-70E740481C1C}">
                <a14:useLocalDpi xmlns:a14="http://schemas.microsoft.com/office/drawing/2010/main" val="0"/>
              </a:ext>
            </a:extLst>
          </a:blip>
          <a:stretch>
            <a:fillRect/>
          </a:stretch>
        </p:blipFill>
        <p:spPr>
          <a:xfrm>
            <a:off x="5164279" y="1767932"/>
            <a:ext cx="3959670" cy="2270668"/>
          </a:xfrm>
          <a:prstGeom prst="rect">
            <a:avLst/>
          </a:prstGeom>
        </p:spPr>
      </p:pic>
    </p:spTree>
    <p:extLst>
      <p:ext uri="{BB962C8B-B14F-4D97-AF65-F5344CB8AC3E}">
        <p14:creationId xmlns:p14="http://schemas.microsoft.com/office/powerpoint/2010/main" val="121114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4"/>
          <p:cNvSpPr txBox="1">
            <a:spLocks noChangeArrowheads="1"/>
          </p:cNvSpPr>
          <p:nvPr/>
        </p:nvSpPr>
        <p:spPr bwMode="auto">
          <a:xfrm>
            <a:off x="539552" y="287001"/>
            <a:ext cx="184731" cy="707886"/>
          </a:xfrm>
          <a:prstGeom prst="rect">
            <a:avLst/>
          </a:prstGeom>
          <a:solidFill>
            <a:srgbClr val="66FFFF"/>
          </a:solidFill>
          <a:ln>
            <a:noFill/>
          </a:ln>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4000" b="1"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mn-cs"/>
            </a:endParaRPr>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107504" y="1412776"/>
            <a:ext cx="5112567" cy="4032448"/>
          </a:xfrm>
          <a:prstGeom prst="rect">
            <a:avLst/>
          </a:prstGeom>
        </p:spPr>
      </p:pic>
      <p:sp>
        <p:nvSpPr>
          <p:cNvPr id="2" name="TextBox 1"/>
          <p:cNvSpPr txBox="1"/>
          <p:nvPr/>
        </p:nvSpPr>
        <p:spPr>
          <a:xfrm>
            <a:off x="5360473" y="1544398"/>
            <a:ext cx="3779913" cy="892552"/>
          </a:xfrm>
          <a:prstGeom prst="rect">
            <a:avLst/>
          </a:prstGeom>
          <a:solidFill>
            <a:srgbClr val="FFFF00"/>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OA</a:t>
            </a:r>
            <a:r>
              <a:rPr kumimoji="1"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弹性变形</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A</a:t>
            </a: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点对应的应力为弹性极限</a:t>
            </a:r>
          </a:p>
        </p:txBody>
      </p:sp>
      <p:sp>
        <p:nvSpPr>
          <p:cNvPr id="3" name="Rectangle 2"/>
          <p:cNvSpPr/>
          <p:nvPr/>
        </p:nvSpPr>
        <p:spPr>
          <a:xfrm>
            <a:off x="5364087" y="2592877"/>
            <a:ext cx="3779913" cy="830997"/>
          </a:xfrm>
          <a:prstGeom prst="rect">
            <a:avLst/>
          </a:prstGeom>
          <a:solidFill>
            <a:srgbClr val="FF0000"/>
          </a:solidFill>
        </p:spPr>
        <p:txBody>
          <a:bodyPr wrap="square">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cs typeface="+mn-cs"/>
              </a:rPr>
              <a:t>应力去除后应变能回复到零的最大应力</a:t>
            </a:r>
          </a:p>
        </p:txBody>
      </p:sp>
      <p:sp>
        <p:nvSpPr>
          <p:cNvPr id="5" name="Rectangle 4"/>
          <p:cNvSpPr/>
          <p:nvPr/>
        </p:nvSpPr>
        <p:spPr>
          <a:xfrm>
            <a:off x="5108513" y="3532366"/>
            <a:ext cx="4031873" cy="892552"/>
          </a:xfrm>
          <a:prstGeom prst="rect">
            <a:avLst/>
          </a:prstGeom>
          <a:solidFill>
            <a:srgbClr val="CCFFFF"/>
          </a:solid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OA’</a:t>
            </a:r>
            <a:r>
              <a:rPr kumimoji="1"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 </a:t>
            </a: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线弹性变形</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a:t>
            </a: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点对应的应力为比例极限</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endParaRPr>
          </a:p>
        </p:txBody>
      </p:sp>
      <p:sp>
        <p:nvSpPr>
          <p:cNvPr id="8" name="Text Box 9"/>
          <p:cNvSpPr txBox="1">
            <a:spLocks noChangeArrowheads="1"/>
          </p:cNvSpPr>
          <p:nvPr/>
        </p:nvSpPr>
        <p:spPr bwMode="auto">
          <a:xfrm>
            <a:off x="5322289" y="4525952"/>
            <a:ext cx="3703173" cy="830997"/>
          </a:xfrm>
          <a:prstGeom prst="rect">
            <a:avLst/>
          </a:prstGeom>
          <a:solidFill>
            <a:srgbClr val="FF0000"/>
          </a:solidFill>
          <a:ln>
            <a:noFill/>
          </a:ln>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cs typeface="+mn-cs"/>
              </a:rPr>
              <a:t>应力与应变保持线性关系的最大应力</a:t>
            </a:r>
          </a:p>
        </p:txBody>
      </p:sp>
      <p:sp>
        <p:nvSpPr>
          <p:cNvPr id="6" name="TextBox 5"/>
          <p:cNvSpPr txBox="1"/>
          <p:nvPr/>
        </p:nvSpPr>
        <p:spPr>
          <a:xfrm>
            <a:off x="323528" y="5512876"/>
            <a:ext cx="8382000" cy="584775"/>
          </a:xfrm>
          <a:prstGeom prst="rect">
            <a:avLst/>
          </a:prstGeom>
          <a:solidFill>
            <a:srgbClr val="66FFFF"/>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在线弹性阶段，</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R/e </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称为材料的弹性模量</a:t>
            </a:r>
          </a:p>
        </p:txBody>
      </p:sp>
      <p:sp>
        <p:nvSpPr>
          <p:cNvPr id="10" name="Text Box 12"/>
          <p:cNvSpPr txBox="1">
            <a:spLocks noChangeArrowheads="1"/>
          </p:cNvSpPr>
          <p:nvPr/>
        </p:nvSpPr>
        <p:spPr bwMode="auto">
          <a:xfrm>
            <a:off x="323528" y="6165304"/>
            <a:ext cx="8382000" cy="6688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可以通过增加横截面积或改变截面形状来提高零件的刚度。</a:t>
            </a:r>
            <a:r>
              <a:rPr kumimoji="1" lang="zh-CN" altLang="en-US" sz="36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ppt_x</p:attrName>
                                        </p:attrNameLst>
                                      </p:cBhvr>
                                      <p:tavLst>
                                        <p:tav tm="0">
                                          <p:val>
                                            <p:strVal val="#ppt_x-.2"/>
                                          </p:val>
                                        </p:tav>
                                        <p:tav tm="100000">
                                          <p:val>
                                            <p:strVal val="#ppt_x"/>
                                          </p:val>
                                        </p:tav>
                                      </p:tavLst>
                                    </p:anim>
                                    <p:anim calcmode="lin" valueType="num">
                                      <p:cBhvr>
                                        <p:cTn id="8"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9" dur="1000"/>
                                        <p:tgtEl>
                                          <p:spTgt spid="8"/>
                                        </p:tgtEl>
                                      </p:cBhvr>
                                    </p:animEffect>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DD812-A8C7-D392-9E8E-808102D2E77E}"/>
            </a:ext>
          </a:extLst>
        </p:cNvPr>
        <p:cNvGrpSpPr/>
        <p:nvPr/>
      </p:nvGrpSpPr>
      <p:grpSpPr>
        <a:xfrm>
          <a:off x="0" y="0"/>
          <a:ext cx="0" cy="0"/>
          <a:chOff x="0" y="0"/>
          <a:chExt cx="0" cy="0"/>
        </a:xfrm>
      </p:grpSpPr>
      <p:sp>
        <p:nvSpPr>
          <p:cNvPr id="62467" name="Rectangle 3">
            <a:extLst>
              <a:ext uri="{FF2B5EF4-FFF2-40B4-BE49-F238E27FC236}">
                <a16:creationId xmlns:a16="http://schemas.microsoft.com/office/drawing/2014/main" id="{B91E766F-C5C9-3DB0-F05A-CC91DA19912C}"/>
              </a:ext>
            </a:extLst>
          </p:cNvPr>
          <p:cNvSpPr>
            <a:spLocks noGrp="1"/>
          </p:cNvSpPr>
          <p:nvPr>
            <p:ph idx="1"/>
          </p:nvPr>
        </p:nvSpPr>
        <p:spPr>
          <a:xfrm>
            <a:off x="304800" y="952500"/>
            <a:ext cx="4495800" cy="3810000"/>
          </a:xfrm>
        </p:spPr>
        <p:txBody>
          <a:bodyPr vert="horz" wrap="square" lIns="91440" tIns="45720" rIns="91440" bIns="45720" anchor="t"/>
          <a:lstStyle/>
          <a:p>
            <a:pPr eaLnBrk="1" hangingPunct="1">
              <a:lnSpc>
                <a:spcPct val="125000"/>
              </a:lnSpc>
            </a:pPr>
            <a:r>
              <a:rPr lang="zh-CN" altLang="en-US" sz="2800" b="1" dirty="0">
                <a:solidFill>
                  <a:schemeClr val="tx2"/>
                </a:solidFill>
                <a:latin typeface="华文中宋" panose="02010600040101010101" pitchFamily="2" charset="-122"/>
                <a:ea typeface="华文中宋" panose="02010600040101010101" pitchFamily="2" charset="-122"/>
              </a:rPr>
              <a:t>刚度：</a:t>
            </a:r>
            <a:r>
              <a:rPr lang="zh-CN" altLang="en-US" sz="2800" b="1" dirty="0">
                <a:solidFill>
                  <a:schemeClr val="folHlink"/>
                </a:solidFill>
                <a:latin typeface="华文中宋" panose="02010600040101010101" pitchFamily="2" charset="-122"/>
                <a:ea typeface="华文中宋" panose="02010600040101010101" pitchFamily="2" charset="-122"/>
              </a:rPr>
              <a:t>材料受力时抵抗弹性变形的能力。</a:t>
            </a:r>
            <a:r>
              <a:rPr lang="zh-CN" altLang="en-US" sz="2800" b="1" dirty="0">
                <a:latin typeface="华文中宋" panose="02010600040101010101" pitchFamily="2" charset="-122"/>
                <a:ea typeface="华文中宋" panose="02010600040101010101" pitchFamily="2" charset="-122"/>
              </a:rPr>
              <a:t>指标为</a:t>
            </a:r>
            <a:r>
              <a:rPr lang="zh-CN" altLang="en-US" sz="2800" b="1" dirty="0">
                <a:solidFill>
                  <a:srgbClr val="CCFF33"/>
                </a:solidFill>
                <a:latin typeface="华文中宋" panose="02010600040101010101" pitchFamily="2" charset="-122"/>
                <a:ea typeface="华文中宋" panose="02010600040101010101" pitchFamily="2" charset="-122"/>
              </a:rPr>
              <a:t>弹性模量</a:t>
            </a:r>
            <a:r>
              <a:rPr lang="zh-CN" altLang="zh-CN" sz="2800" b="1" dirty="0">
                <a:solidFill>
                  <a:srgbClr val="FFFF66"/>
                </a:solidFill>
                <a:latin typeface="华文中宋" panose="02010600040101010101" pitchFamily="2" charset="-122"/>
                <a:ea typeface="华文中宋" panose="02010600040101010101" pitchFamily="2" charset="-122"/>
              </a:rPr>
              <a:t>E</a:t>
            </a:r>
            <a:r>
              <a:rPr lang="zh-CN" altLang="zh-CN" sz="2800" b="1" dirty="0">
                <a:latin typeface="华文中宋" panose="02010600040101010101" pitchFamily="2" charset="-122"/>
                <a:ea typeface="华文中宋" panose="02010600040101010101" pitchFamily="2" charset="-122"/>
              </a:rPr>
              <a:t>,</a:t>
            </a:r>
            <a:r>
              <a:rPr lang="zh-CN" altLang="zh-CN" b="1" dirty="0">
                <a:latin typeface="华文中宋" panose="02010600040101010101" pitchFamily="2" charset="-122"/>
                <a:ea typeface="华文中宋" panose="02010600040101010101" pitchFamily="2" charset="-122"/>
              </a:rPr>
              <a:t>         </a:t>
            </a:r>
          </a:p>
        </p:txBody>
      </p:sp>
      <p:sp>
        <p:nvSpPr>
          <p:cNvPr id="62469" name="Text Box 5">
            <a:extLst>
              <a:ext uri="{FF2B5EF4-FFF2-40B4-BE49-F238E27FC236}">
                <a16:creationId xmlns:a16="http://schemas.microsoft.com/office/drawing/2014/main" id="{B82B439D-37C6-9453-C1D7-745E3F72F05C}"/>
              </a:ext>
            </a:extLst>
          </p:cNvPr>
          <p:cNvSpPr txBox="1"/>
          <p:nvPr/>
        </p:nvSpPr>
        <p:spPr>
          <a:xfrm>
            <a:off x="762000" y="4667250"/>
            <a:ext cx="7924800" cy="1844675"/>
          </a:xfrm>
          <a:prstGeom prst="rect">
            <a:avLst/>
          </a:prstGeom>
          <a:solidFill>
            <a:srgbClr val="CCFFFF"/>
          </a:solidFill>
          <a:ln w="9525">
            <a:noFill/>
          </a:ln>
        </p:spPr>
        <p:txBody>
          <a:bodyPr anchor="t">
            <a:spAutoFit/>
          </a:bodyPr>
          <a:lstStyle/>
          <a:p>
            <a:pPr marL="0" marR="0" lvl="0" indent="0" algn="l" defTabSz="914400" rtl="0" eaLnBrk="1" fontAlgn="base" latinLnBrk="0" hangingPunct="1">
              <a:lnSpc>
                <a:spcPct val="120000"/>
              </a:lnSpc>
              <a:spcBef>
                <a:spcPct val="50000"/>
              </a:spcBef>
              <a:spcAft>
                <a:spcPct val="0"/>
              </a:spcAft>
              <a:buClrTx/>
              <a:buSzTx/>
              <a:buFont typeface="Arial" panose="020B0604020202020204" pitchFamily="34" charset="0"/>
              <a:buNone/>
              <a:tabLst/>
              <a:defRPr/>
            </a:pP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弹性模量</a:t>
            </a:r>
            <a:r>
              <a:rPr kumimoji="0" lang="zh-CN" altLang="en-US" sz="2400" b="1" i="0" u="none" strike="noStrike" kern="1200" cap="none" spc="0" normalizeH="0" baseline="0" noProof="0" dirty="0">
                <a:ln>
                  <a:noFill/>
                </a:ln>
                <a:solidFill>
                  <a:srgbClr val="800000"/>
                </a:solidFill>
                <a:effectLst/>
                <a:uLnTx/>
                <a:uFillTx/>
                <a:latin typeface="华文中宋" panose="02010600040101010101" pitchFamily="2" charset="-122"/>
                <a:ea typeface="华文中宋" panose="02010600040101010101" pitchFamily="2" charset="-122"/>
                <a:cs typeface="+mn-cs"/>
              </a:rPr>
              <a:t>的大小主要取决于材料的本性，除随温度升高而逐渐降低外，其他强化材料的手段如热处理、冷热加工、合金化等对弹性模量的影响很小。可以通过增加横截面积或改变截面形状来提高零件的刚度。 </a:t>
            </a:r>
          </a:p>
        </p:txBody>
      </p:sp>
      <p:graphicFrame>
        <p:nvGraphicFramePr>
          <p:cNvPr id="7" name="对象 6">
            <a:hlinkClick r:id="" action="ppaction://ole?verb=0"/>
            <a:extLst>
              <a:ext uri="{FF2B5EF4-FFF2-40B4-BE49-F238E27FC236}">
                <a16:creationId xmlns:a16="http://schemas.microsoft.com/office/drawing/2014/main" id="{05CD980C-EF84-FCDD-F335-4B61F3F917B5}"/>
              </a:ext>
            </a:extLst>
          </p:cNvPr>
          <p:cNvGraphicFramePr>
            <a:graphicFrameLocks noChangeAspect="1"/>
          </p:cNvGraphicFramePr>
          <p:nvPr>
            <p:extLst>
              <p:ext uri="{D42A27DB-BD31-4B8C-83A1-F6EECF244321}">
                <p14:modId xmlns:p14="http://schemas.microsoft.com/office/powerpoint/2010/main" val="3161994858"/>
              </p:ext>
            </p:extLst>
          </p:nvPr>
        </p:nvGraphicFramePr>
        <p:xfrm>
          <a:off x="1043608" y="3212976"/>
          <a:ext cx="3168015" cy="760095"/>
        </p:xfrm>
        <a:graphic>
          <a:graphicData uri="http://schemas.openxmlformats.org/presentationml/2006/ole">
            <mc:AlternateContent xmlns:mc="http://schemas.openxmlformats.org/markup-compatibility/2006">
              <mc:Choice xmlns:v="urn:schemas-microsoft-com:vml" Requires="v">
                <p:oleObj r:id="rId2" imgW="1270000" imgH="393700" progId="Equation.KSEE3">
                  <p:embed/>
                </p:oleObj>
              </mc:Choice>
              <mc:Fallback>
                <p:oleObj r:id="rId2" imgW="1270000" imgH="393700" progId="Equation.KSEE3">
                  <p:embed/>
                  <p:pic>
                    <p:nvPicPr>
                      <p:cNvPr id="7" name="对象 6">
                        <a:hlinkClick r:id="" action="ppaction://ole?verb=0"/>
                      </p:cNvPr>
                      <p:cNvPicPr/>
                      <p:nvPr/>
                    </p:nvPicPr>
                    <p:blipFill>
                      <a:blip r:embed="rId3"/>
                      <a:stretch>
                        <a:fillRect/>
                      </a:stretch>
                    </p:blipFill>
                    <p:spPr>
                      <a:xfrm>
                        <a:off x="1043608" y="3212976"/>
                        <a:ext cx="3168015" cy="760095"/>
                      </a:xfrm>
                      <a:prstGeom prst="rect">
                        <a:avLst/>
                      </a:prstGeom>
                      <a:solidFill>
                        <a:schemeClr val="tx1"/>
                      </a:solidFill>
                    </p:spPr>
                  </p:pic>
                </p:oleObj>
              </mc:Fallback>
            </mc:AlternateContent>
          </a:graphicData>
        </a:graphic>
      </p:graphicFrame>
      <p:pic>
        <p:nvPicPr>
          <p:cNvPr id="4" name="图片 3">
            <a:extLst>
              <a:ext uri="{FF2B5EF4-FFF2-40B4-BE49-F238E27FC236}">
                <a16:creationId xmlns:a16="http://schemas.microsoft.com/office/drawing/2014/main" id="{C4112F16-366B-9908-048D-9E25D0ED478C}"/>
              </a:ext>
            </a:extLst>
          </p:cNvPr>
          <p:cNvPicPr>
            <a:picLocks noChangeAspect="1"/>
          </p:cNvPicPr>
          <p:nvPr/>
        </p:nvPicPr>
        <p:blipFill>
          <a:blip r:embed="rId4"/>
          <a:srcRect t="-1559" r="18686"/>
          <a:stretch>
            <a:fillRect/>
          </a:stretch>
        </p:blipFill>
        <p:spPr>
          <a:xfrm>
            <a:off x="5434965" y="36830"/>
            <a:ext cx="3251835" cy="3614420"/>
          </a:xfrm>
          <a:prstGeom prst="rect">
            <a:avLst/>
          </a:prstGeom>
        </p:spPr>
      </p:pic>
    </p:spTree>
    <p:extLst>
      <p:ext uri="{BB962C8B-B14F-4D97-AF65-F5344CB8AC3E}">
        <p14:creationId xmlns:p14="http://schemas.microsoft.com/office/powerpoint/2010/main" val="274108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2469"/>
                                        </p:tgtEl>
                                        <p:attrNameLst>
                                          <p:attrName>style.visibility</p:attrName>
                                        </p:attrNameLst>
                                      </p:cBhvr>
                                      <p:to>
                                        <p:strVal val="visible"/>
                                      </p:to>
                                    </p:set>
                                    <p:anim calcmode="lin" valueType="num">
                                      <p:cBhvr additive="base">
                                        <p:cTn id="11" dur="500" fill="hold"/>
                                        <p:tgtEl>
                                          <p:spTgt spid="62469"/>
                                        </p:tgtEl>
                                        <p:attrNameLst>
                                          <p:attrName>ppt_x</p:attrName>
                                        </p:attrNameLst>
                                      </p:cBhvr>
                                      <p:tavLst>
                                        <p:tav tm="0">
                                          <p:val>
                                            <p:strVal val="0-#ppt_w/2"/>
                                          </p:val>
                                        </p:tav>
                                        <p:tav tm="100000">
                                          <p:val>
                                            <p:strVal val="#ppt_x"/>
                                          </p:val>
                                        </p:tav>
                                      </p:tavLst>
                                    </p:anim>
                                    <p:anim calcmode="lin" valueType="num">
                                      <p:cBhvr additive="base">
                                        <p:cTn id="12" dur="500" fill="hold"/>
                                        <p:tgtEl>
                                          <p:spTgt spid="62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advAuto="1000"/>
      <p:bldP spid="6246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4"/>
          <p:cNvSpPr txBox="1">
            <a:spLocks noChangeArrowheads="1"/>
          </p:cNvSpPr>
          <p:nvPr/>
        </p:nvSpPr>
        <p:spPr bwMode="auto">
          <a:xfrm>
            <a:off x="755575" y="383164"/>
            <a:ext cx="3786613" cy="70788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defRPr kumimoji="1" sz="4000" b="1" strike="noStrike" cap="none" spc="0" normalizeH="0">
                <a:ln>
                  <a:noFill/>
                </a:ln>
                <a:solidFill>
                  <a:srgbClr val="000000"/>
                </a:solidFill>
                <a:effectLst/>
                <a:uLnTx/>
                <a:uFillTx/>
                <a:latin typeface="黑体" panose="02010609060101010101" pitchFamily="49" charset="-122"/>
                <a:ea typeface="黑体" panose="02010609060101010101" pitchFamily="49" charset="-122"/>
              </a:defRPr>
            </a:lvl1pPr>
            <a:lvl2pPr marL="742950" indent="-285750">
              <a:spcBef>
                <a:spcPct val="20000"/>
              </a:spcBef>
              <a:buChar char="–"/>
              <a:defRPr kumimoji="1" sz="2800"/>
            </a:lvl2pPr>
            <a:lvl3pPr marL="1143000" indent="-228600">
              <a:spcBef>
                <a:spcPct val="20000"/>
              </a:spcBef>
              <a:buChar char="•"/>
              <a:defRPr kumimoji="1" sz="2400"/>
            </a:lvl3pPr>
            <a:lvl4pPr marL="1600200" indent="-228600">
              <a:spcBef>
                <a:spcPct val="20000"/>
              </a:spcBef>
              <a:buChar char="–"/>
              <a:defRPr kumimoji="1" sz="2000"/>
            </a:lvl4pPr>
            <a:lvl5pPr marL="2057400" indent="-228600">
              <a:spcBef>
                <a:spcPct val="20000"/>
              </a:spcBef>
              <a:buChar char="»"/>
              <a:defRPr kumimoji="1" sz="2000"/>
            </a:lvl5pPr>
            <a:lvl6pPr marL="2514600" indent="-228600" eaLnBrk="0" hangingPunct="0">
              <a:spcBef>
                <a:spcPct val="20000"/>
              </a:spcBef>
              <a:buChar char="»"/>
              <a:defRPr kumimoji="1" sz="2000"/>
            </a:lvl6pPr>
            <a:lvl7pPr marL="2971800" indent="-228600" eaLnBrk="0" hangingPunct="0">
              <a:spcBef>
                <a:spcPct val="20000"/>
              </a:spcBef>
              <a:buChar char="»"/>
              <a:defRPr kumimoji="1" sz="2000"/>
            </a:lvl7pPr>
            <a:lvl8pPr marL="3429000" indent="-228600" eaLnBrk="0" hangingPunct="0">
              <a:spcBef>
                <a:spcPct val="20000"/>
              </a:spcBef>
              <a:buChar char="»"/>
              <a:defRPr kumimoji="1" sz="2000"/>
            </a:lvl8pPr>
            <a:lvl9pPr marL="3886200" indent="-228600" eaLnBrk="0" hangingPunct="0">
              <a:spcBef>
                <a:spcPct val="20000"/>
              </a:spcBef>
              <a:buChar char="»"/>
              <a:defRPr kumimoji="1" sz="2000"/>
            </a:lvl9pPr>
          </a:lstStyle>
          <a:p>
            <a:r>
              <a:rPr lang="zh-CN" altLang="en-US" dirty="0"/>
              <a:t>二、强度与塑形</a:t>
            </a:r>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107504" y="1412776"/>
            <a:ext cx="5112567" cy="4032448"/>
          </a:xfrm>
          <a:prstGeom prst="rect">
            <a:avLst/>
          </a:prstGeom>
        </p:spPr>
      </p:pic>
      <p:sp>
        <p:nvSpPr>
          <p:cNvPr id="2" name="TextBox 1"/>
          <p:cNvSpPr txBox="1"/>
          <p:nvPr/>
        </p:nvSpPr>
        <p:spPr>
          <a:xfrm>
            <a:off x="5253395" y="2655376"/>
            <a:ext cx="3779913" cy="954107"/>
          </a:xfrm>
          <a:prstGeom prst="rect">
            <a:avLst/>
          </a:prstGeom>
          <a:solidFill>
            <a:srgbClr val="FFFF00"/>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R</a:t>
            </a:r>
            <a:r>
              <a:rPr kumimoji="1" lang="en-US" altLang="zh-CN" sz="2400" b="0" i="0" u="none" strike="noStrike" kern="1200" cap="none" spc="0" normalizeH="0" baseline="-25000" noProof="0" dirty="0">
                <a:ln>
                  <a:noFill/>
                </a:ln>
                <a:solidFill>
                  <a:srgbClr val="000000"/>
                </a:solidFill>
                <a:effectLst/>
                <a:uLnTx/>
                <a:uFillTx/>
                <a:latin typeface="黑体" panose="02010609060101010101" pitchFamily="49" charset="-122"/>
                <a:ea typeface="黑体" panose="02010609060101010101" pitchFamily="49" charset="-122"/>
                <a:cs typeface="+mn-cs"/>
              </a:rPr>
              <a:t>eL</a:t>
            </a:r>
            <a:r>
              <a:rPr kumimoji="1"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下屈服点</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err="1">
                <a:ln>
                  <a:noFill/>
                </a:ln>
                <a:solidFill>
                  <a:srgbClr val="000000"/>
                </a:solidFill>
                <a:effectLst/>
                <a:uLnTx/>
                <a:uFillTx/>
                <a:latin typeface="黑体" panose="02010609060101010101" pitchFamily="49" charset="-122"/>
                <a:ea typeface="黑体" panose="02010609060101010101" pitchFamily="49" charset="-122"/>
                <a:cs typeface="+mn-cs"/>
              </a:rPr>
              <a:t>R</a:t>
            </a:r>
            <a:r>
              <a:rPr kumimoji="1" lang="en-US" altLang="zh-CN" sz="2400" b="0" i="0" u="none" strike="noStrike" kern="1200" cap="none" spc="0" normalizeH="0" baseline="-25000" noProof="0" dirty="0" err="1">
                <a:ln>
                  <a:noFill/>
                </a:ln>
                <a:solidFill>
                  <a:srgbClr val="000000"/>
                </a:solidFill>
                <a:effectLst/>
                <a:uLnTx/>
                <a:uFillTx/>
                <a:latin typeface="黑体" panose="02010609060101010101" pitchFamily="49" charset="-122"/>
                <a:ea typeface="黑体" panose="02010609060101010101" pitchFamily="49" charset="-122"/>
                <a:cs typeface="+mn-cs"/>
              </a:rPr>
              <a:t>eH</a:t>
            </a:r>
            <a:r>
              <a:rPr kumimoji="1"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r>
              <a:rPr kumimoji="1" lang="zh-CN" altLang="en-US"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上屈服点</a:t>
            </a:r>
            <a:endPar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endParaRPr>
          </a:p>
        </p:txBody>
      </p:sp>
      <p:sp>
        <p:nvSpPr>
          <p:cNvPr id="9" name="Text Box 12"/>
          <p:cNvSpPr txBox="1">
            <a:spLocks noChangeArrowheads="1"/>
          </p:cNvSpPr>
          <p:nvPr/>
        </p:nvSpPr>
        <p:spPr bwMode="auto">
          <a:xfrm>
            <a:off x="5263881" y="4021086"/>
            <a:ext cx="3779913" cy="1261884"/>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R</a:t>
            </a:r>
            <a:r>
              <a:rPr kumimoji="1" lang="en-US" altLang="zh-CN" sz="2400" b="0" i="0" u="none" strike="noStrike" kern="1200" cap="none" spc="0" normalizeH="0" baseline="-25000" noProof="0" dirty="0">
                <a:ln>
                  <a:noFill/>
                </a:ln>
                <a:solidFill>
                  <a:srgbClr val="000000"/>
                </a:solidFill>
                <a:effectLst/>
                <a:uLnTx/>
                <a:uFillTx/>
                <a:latin typeface="黑体" panose="02010609060101010101" pitchFamily="49" charset="-122"/>
                <a:ea typeface="黑体" panose="02010609060101010101" pitchFamily="49" charset="-122"/>
                <a:cs typeface="+mn-cs"/>
              </a:rPr>
              <a:t>eL</a:t>
            </a:r>
            <a:r>
              <a:rPr kumimoji="1" lang="en-US" altLang="zh-CN" sz="28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sym typeface="Symbol" panose="05050102010706020507" pitchFamily="18" charset="2"/>
              </a:rPr>
              <a:t></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mn-cs"/>
              </a:rPr>
              <a:t>应力去除后开始出现明显永久塑性变形的最小应力</a:t>
            </a:r>
          </a:p>
        </p:txBody>
      </p:sp>
      <p:sp>
        <p:nvSpPr>
          <p:cNvPr id="6" name="TextBox 5"/>
          <p:cNvSpPr txBox="1"/>
          <p:nvPr/>
        </p:nvSpPr>
        <p:spPr>
          <a:xfrm>
            <a:off x="5076056" y="1412776"/>
            <a:ext cx="4067945" cy="830997"/>
          </a:xfrm>
          <a:prstGeom prst="rect">
            <a:avLst/>
          </a:prstGeom>
          <a:solidFill>
            <a:srgbClr val="FFFF00"/>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B</a:t>
            </a:r>
            <a:r>
              <a:rPr kumimoji="1"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点以后材料开始发生屈服：</a:t>
            </a:r>
            <a:r>
              <a:rPr kumimoji="1" lang="zh-CN" altLang="en-US" sz="2400" b="1"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应力去除后有残余塑性变形</a:t>
            </a:r>
            <a:endParaRPr kumimoji="1" lang="en-US" altLang="zh-CN" sz="2400" b="1"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1039835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ppt_x</p:attrName>
                                        </p:attrNameLst>
                                      </p:cBhvr>
                                      <p:tavLst>
                                        <p:tav tm="0">
                                          <p:val>
                                            <p:strVal val="#ppt_x-.2"/>
                                          </p:val>
                                        </p:tav>
                                        <p:tav tm="100000">
                                          <p:val>
                                            <p:strVal val="#ppt_x"/>
                                          </p:val>
                                        </p:tav>
                                      </p:tavLst>
                                    </p:anim>
                                    <p:anim calcmode="lin" valueType="num">
                                      <p:cBhvr>
                                        <p:cTn id="8"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3507-CCB6-40E8-D728-CE439AFE5A21}"/>
            </a:ext>
          </a:extLst>
        </p:cNvPr>
        <p:cNvGrpSpPr/>
        <p:nvPr/>
      </p:nvGrpSpPr>
      <p:grpSpPr>
        <a:xfrm>
          <a:off x="0" y="0"/>
          <a:ext cx="0" cy="0"/>
          <a:chOff x="0" y="0"/>
          <a:chExt cx="0" cy="0"/>
        </a:xfrm>
      </p:grpSpPr>
      <p:sp>
        <p:nvSpPr>
          <p:cNvPr id="63491" name="Rectangle 3">
            <a:extLst>
              <a:ext uri="{FF2B5EF4-FFF2-40B4-BE49-F238E27FC236}">
                <a16:creationId xmlns:a16="http://schemas.microsoft.com/office/drawing/2014/main" id="{5A8AE60A-F2A4-97BD-4CA1-05945DD27393}"/>
              </a:ext>
            </a:extLst>
          </p:cNvPr>
          <p:cNvSpPr>
            <a:spLocks noGrp="1"/>
          </p:cNvSpPr>
          <p:nvPr>
            <p:ph idx="1"/>
          </p:nvPr>
        </p:nvSpPr>
        <p:spPr>
          <a:xfrm>
            <a:off x="304800" y="1447800"/>
            <a:ext cx="4958080" cy="2667000"/>
          </a:xfrm>
        </p:spPr>
        <p:txBody>
          <a:bodyPr vert="horz" wrap="square" lIns="91440" tIns="45720" rIns="91440" bIns="45720" anchor="t"/>
          <a:lstStyle/>
          <a:p>
            <a:pPr eaLnBrk="1" hangingPunct="1">
              <a:lnSpc>
                <a:spcPct val="130000"/>
              </a:lnSpc>
            </a:pPr>
            <a:r>
              <a:rPr lang="zh-CN" altLang="en-US" sz="2800" b="1" dirty="0">
                <a:solidFill>
                  <a:schemeClr val="tx2"/>
                </a:solidFill>
                <a:ea typeface="华文中宋" panose="02010600040101010101" pitchFamily="2" charset="-122"/>
              </a:rPr>
              <a:t>强度：</a:t>
            </a:r>
            <a:r>
              <a:rPr lang="zh-CN" altLang="en-US" sz="2800" b="1" dirty="0">
                <a:solidFill>
                  <a:schemeClr val="folHlink"/>
                </a:solidFill>
                <a:ea typeface="华文中宋" panose="02010600040101010101" pitchFamily="2" charset="-122"/>
              </a:rPr>
              <a:t>材料在外力作用下抵抗变形和破坏的最大能力。</a:t>
            </a:r>
          </a:p>
          <a:p>
            <a:pPr eaLnBrk="1" hangingPunct="1">
              <a:lnSpc>
                <a:spcPct val="130000"/>
              </a:lnSpc>
            </a:pPr>
            <a:r>
              <a:rPr lang="zh-CN" altLang="en-US" sz="2800" b="1" dirty="0">
                <a:ea typeface="华文中宋" panose="02010600040101010101" pitchFamily="2" charset="-122"/>
              </a:rPr>
              <a:t>屈服强度</a:t>
            </a:r>
            <a:r>
              <a:rPr lang="en-US" altLang="zh-CN" sz="2800" b="1" dirty="0">
                <a:solidFill>
                  <a:srgbClr val="CCFF33"/>
                </a:solidFill>
                <a:ea typeface="华文中宋" panose="02010600040101010101" pitchFamily="2" charset="-122"/>
                <a:sym typeface="Symbol" panose="05050102010706020507" pitchFamily="18" charset="2"/>
              </a:rPr>
              <a:t></a:t>
            </a:r>
            <a:r>
              <a:rPr lang="zh-CN" altLang="zh-CN" sz="2800" b="1" baseline="-25000" dirty="0">
                <a:solidFill>
                  <a:srgbClr val="CCFF33"/>
                </a:solidFill>
                <a:ea typeface="华文中宋" panose="02010600040101010101" pitchFamily="2" charset="-122"/>
                <a:sym typeface="Symbol" panose="05050102010706020507" pitchFamily="18" charset="2"/>
              </a:rPr>
              <a:t>s</a:t>
            </a:r>
            <a:r>
              <a:rPr lang="zh-CN" altLang="en-US" sz="2800" b="1" dirty="0">
                <a:solidFill>
                  <a:srgbClr val="FFCCCC"/>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sym typeface="Symbol" panose="05050102010706020507" pitchFamily="18" charset="2"/>
              </a:rPr>
              <a:t>材料发生微量塑性变形时的应力值。</a:t>
            </a:r>
            <a:endParaRPr lang="zh-CN" altLang="en-US" sz="2800" b="1" dirty="0">
              <a:solidFill>
                <a:schemeClr val="accent1"/>
              </a:solidFill>
              <a:ea typeface="华文中宋" panose="02010600040101010101" pitchFamily="2" charset="-122"/>
            </a:endParaRPr>
          </a:p>
        </p:txBody>
      </p:sp>
      <p:grpSp>
        <p:nvGrpSpPr>
          <p:cNvPr id="2" name="Group 4">
            <a:extLst>
              <a:ext uri="{FF2B5EF4-FFF2-40B4-BE49-F238E27FC236}">
                <a16:creationId xmlns:a16="http://schemas.microsoft.com/office/drawing/2014/main" id="{D6ED6F41-7E96-3A9B-653A-20A0B35A7735}"/>
              </a:ext>
            </a:extLst>
          </p:cNvPr>
          <p:cNvGrpSpPr/>
          <p:nvPr/>
        </p:nvGrpSpPr>
        <p:grpSpPr>
          <a:xfrm>
            <a:off x="7216775" y="3886200"/>
            <a:ext cx="1454150" cy="2524125"/>
            <a:chOff x="0" y="0"/>
            <a:chExt cx="916" cy="1590"/>
          </a:xfrm>
        </p:grpSpPr>
        <p:pic>
          <p:nvPicPr>
            <p:cNvPr id="63492" name="Picture 5" descr="trek2[1]">
              <a:extLst>
                <a:ext uri="{FF2B5EF4-FFF2-40B4-BE49-F238E27FC236}">
                  <a16:creationId xmlns:a16="http://schemas.microsoft.com/office/drawing/2014/main" id="{84F7E33A-675F-1D22-A461-8DB8DA5D5964}"/>
                </a:ext>
              </a:extLst>
            </p:cNvPr>
            <p:cNvPicPr preferRelativeResize="0">
              <a:picLocks noChangeAspect="1"/>
            </p:cNvPicPr>
            <p:nvPr/>
          </p:nvPicPr>
          <p:blipFill>
            <a:blip r:embed="rId2"/>
            <a:stretch>
              <a:fillRect/>
            </a:stretch>
          </p:blipFill>
          <p:spPr>
            <a:xfrm>
              <a:off x="2" y="0"/>
              <a:ext cx="914" cy="1590"/>
            </a:xfrm>
            <a:prstGeom prst="rect">
              <a:avLst/>
            </a:prstGeom>
            <a:noFill/>
            <a:ln w="28575" cap="flat" cmpd="sng">
              <a:solidFill>
                <a:srgbClr val="FF9900"/>
              </a:solidFill>
              <a:prstDash val="solid"/>
              <a:miter/>
              <a:headEnd type="none" w="med" len="med"/>
              <a:tailEnd type="none" w="med" len="med"/>
            </a:ln>
          </p:spPr>
        </p:pic>
        <p:sp>
          <p:nvSpPr>
            <p:cNvPr id="63493" name="Rectangle 6">
              <a:extLst>
                <a:ext uri="{FF2B5EF4-FFF2-40B4-BE49-F238E27FC236}">
                  <a16:creationId xmlns:a16="http://schemas.microsoft.com/office/drawing/2014/main" id="{393E4B8A-8D05-1683-DD56-45907A7081B5}"/>
                </a:ext>
              </a:extLst>
            </p:cNvPr>
            <p:cNvSpPr/>
            <p:nvPr/>
          </p:nvSpPr>
          <p:spPr>
            <a:xfrm>
              <a:off x="0" y="144"/>
              <a:ext cx="170" cy="218"/>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zh-CN" sz="16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zh-CN" altLang="zh-CN" sz="1600" b="0"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0.2</a:t>
              </a:r>
            </a:p>
          </p:txBody>
        </p:sp>
        <p:sp>
          <p:nvSpPr>
            <p:cNvPr id="63494" name="Rectangle 7">
              <a:extLst>
                <a:ext uri="{FF2B5EF4-FFF2-40B4-BE49-F238E27FC236}">
                  <a16:creationId xmlns:a16="http://schemas.microsoft.com/office/drawing/2014/main" id="{3D1A694C-DEEE-E903-D2FC-5941EBD245DA}"/>
                </a:ext>
              </a:extLst>
            </p:cNvPr>
            <p:cNvSpPr/>
            <p:nvPr/>
          </p:nvSpPr>
          <p:spPr>
            <a:xfrm>
              <a:off x="554" y="1476"/>
              <a:ext cx="144" cy="73"/>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zh-CN" sz="16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0" lang="zh-CN" altLang="zh-CN" sz="16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495" name="Rectangle 8">
              <a:extLst>
                <a:ext uri="{FF2B5EF4-FFF2-40B4-BE49-F238E27FC236}">
                  <a16:creationId xmlns:a16="http://schemas.microsoft.com/office/drawing/2014/main" id="{D04F135C-3DE0-2FDF-C3F4-5730EB636A80}"/>
                </a:ext>
              </a:extLst>
            </p:cNvPr>
            <p:cNvSpPr/>
            <p:nvPr/>
          </p:nvSpPr>
          <p:spPr>
            <a:xfrm rot="-5429843">
              <a:off x="-68" y="680"/>
              <a:ext cx="315" cy="10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zh-CN" sz="16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0" lang="zh-CN" altLang="zh-CN" sz="16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63497" name="Rectangle 9">
            <a:extLst>
              <a:ext uri="{FF2B5EF4-FFF2-40B4-BE49-F238E27FC236}">
                <a16:creationId xmlns:a16="http://schemas.microsoft.com/office/drawing/2014/main" id="{9AABEA0D-34E6-A57D-6652-41FE3D2248DC}"/>
              </a:ext>
            </a:extLst>
          </p:cNvPr>
          <p:cNvSpPr/>
          <p:nvPr/>
        </p:nvSpPr>
        <p:spPr>
          <a:xfrm>
            <a:off x="304800" y="3886200"/>
            <a:ext cx="6705600" cy="2514600"/>
          </a:xfrm>
          <a:prstGeom prst="rect">
            <a:avLst/>
          </a:prstGeom>
          <a:noFill/>
          <a:ln w="9525">
            <a:noFill/>
          </a:ln>
        </p:spPr>
        <p:txBody>
          <a:bodyPr anchor="t"/>
          <a:lstStyle/>
          <a:p>
            <a:pPr marL="342900" marR="0" lvl="0" indent="-342900" algn="l" defTabSz="914400" rtl="0" eaLnBrk="1" fontAlgn="base" latinLnBrk="0" hangingPunct="1">
              <a:lnSpc>
                <a:spcPct val="130000"/>
              </a:lnSpc>
              <a:spcBef>
                <a:spcPct val="20000"/>
              </a:spcBef>
              <a:spcAft>
                <a:spcPct val="0"/>
              </a:spcAft>
              <a:buClr>
                <a:srgbClr val="3366FF"/>
              </a:buClr>
              <a:buSzPct val="80000"/>
              <a:buFont typeface="Wingdings" panose="05000000000000000000" pitchFamily="2" charset="2"/>
              <a:buChar char="l"/>
              <a:tabLst/>
              <a:defRPr/>
            </a:pPr>
            <a:r>
              <a:rPr kumimoji="0" lang="zh-CN" altLang="en-US" sz="2800" b="1" i="0" u="none" strike="noStrike" kern="1200" cap="none" spc="0" normalizeH="0" baseline="0" noProof="0" dirty="0">
                <a:ln>
                  <a:noFill/>
                </a:ln>
                <a:solidFill>
                  <a:srgbClr val="FFFFFF"/>
                </a:solidFill>
                <a:effectLst/>
                <a:uLnTx/>
                <a:uFillTx/>
                <a:latin typeface="Times New Roman" panose="02020603050405020304" pitchFamily="18" charset="0"/>
                <a:ea typeface="华文中宋" panose="02010600040101010101" pitchFamily="2" charset="-122"/>
                <a:cs typeface="+mn-cs"/>
              </a:rPr>
              <a:t>条件屈服强度</a:t>
            </a:r>
            <a:r>
              <a:rPr kumimoji="0" lang="en-US" altLang="zh-CN" sz="2800" b="1" i="0" u="none" strike="noStrike" kern="1200" cap="none" spc="0" normalizeH="0" baseline="0" noProof="0" dirty="0">
                <a:ln>
                  <a:noFill/>
                </a:ln>
                <a:solidFill>
                  <a:srgbClr val="CCFF33"/>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a:t>
            </a:r>
            <a:r>
              <a:rPr kumimoji="0" lang="zh-CN" altLang="zh-CN" sz="2800" b="1" i="0" u="none" strike="noStrike" kern="1200" cap="none" spc="0" normalizeH="0" baseline="-25000" noProof="0" dirty="0">
                <a:ln>
                  <a:noFill/>
                </a:ln>
                <a:solidFill>
                  <a:srgbClr val="CCFF33"/>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0.2</a:t>
            </a:r>
            <a:r>
              <a:rPr kumimoji="0" lang="zh-CN" altLang="en-US" sz="2800" b="1" i="0" u="none" strike="noStrike" kern="1200" cap="none" spc="0" normalizeH="0" baseline="0" noProof="0" dirty="0">
                <a:ln>
                  <a:noFill/>
                </a:ln>
                <a:solidFill>
                  <a:srgbClr val="FFCCCC"/>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a:t>
            </a:r>
            <a:r>
              <a:rPr kumimoji="0" lang="zh-CN" altLang="en-US" sz="2800" b="1" i="0" u="none" strike="noStrike" kern="1200" cap="none" spc="0" normalizeH="0" baseline="0" noProof="0" dirty="0">
                <a:ln>
                  <a:noFill/>
                </a:ln>
                <a:solidFill>
                  <a:srgbClr val="FFFF00"/>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残余变形量为</a:t>
            </a:r>
            <a:r>
              <a:rPr kumimoji="0" lang="zh-CN" altLang="zh-CN" sz="2800" b="1" i="0" u="none" strike="noStrike" kern="1200" cap="none" spc="0" normalizeH="0" baseline="0" noProof="0" dirty="0">
                <a:ln>
                  <a:noFill/>
                </a:ln>
                <a:solidFill>
                  <a:srgbClr val="FFFF00"/>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0.2%</a:t>
            </a:r>
            <a:r>
              <a:rPr kumimoji="0" lang="zh-CN" altLang="en-US" sz="2800" b="1" i="0" u="none" strike="noStrike" kern="1200" cap="none" spc="0" normalizeH="0" baseline="0" noProof="0" dirty="0">
                <a:ln>
                  <a:noFill/>
                </a:ln>
                <a:solidFill>
                  <a:srgbClr val="FFFF00"/>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时的应力值。</a:t>
            </a:r>
            <a:endParaRPr kumimoji="0" lang="zh-CN" altLang="en-US" sz="2800" b="1" i="0" u="none" strike="noStrike" kern="1200" cap="none" spc="0" normalizeH="0" baseline="0" noProof="0" dirty="0">
              <a:ln>
                <a:noFill/>
              </a:ln>
              <a:solidFill>
                <a:srgbClr val="FFFF00"/>
              </a:solidFill>
              <a:effectLst/>
              <a:uLnTx/>
              <a:uFillTx/>
              <a:latin typeface="Times New Roman" panose="02020603050405020304" pitchFamily="18" charset="0"/>
              <a:ea typeface="华文中宋" panose="02010600040101010101" pitchFamily="2" charset="-122"/>
              <a:cs typeface="+mn-cs"/>
            </a:endParaRPr>
          </a:p>
          <a:p>
            <a:pPr marL="342900" marR="0" lvl="0" indent="-342900" algn="l" defTabSz="914400" rtl="0" eaLnBrk="1" fontAlgn="base" latinLnBrk="0" hangingPunct="1">
              <a:lnSpc>
                <a:spcPct val="130000"/>
              </a:lnSpc>
              <a:spcBef>
                <a:spcPct val="20000"/>
              </a:spcBef>
              <a:spcAft>
                <a:spcPct val="0"/>
              </a:spcAft>
              <a:buClr>
                <a:srgbClr val="3366FF"/>
              </a:buClr>
              <a:buSzPct val="80000"/>
              <a:buFont typeface="Wingdings" panose="05000000000000000000" pitchFamily="2" charset="2"/>
              <a:buChar char="l"/>
              <a:tabLst/>
              <a:defRPr/>
            </a:pPr>
            <a:r>
              <a:rPr kumimoji="0" lang="zh-CN" altLang="en-US" sz="2800" b="1" i="0" u="none" strike="noStrike" kern="1200" cap="none" spc="0" normalizeH="0" baseline="0" noProof="0" dirty="0">
                <a:ln>
                  <a:noFill/>
                </a:ln>
                <a:solidFill>
                  <a:srgbClr val="FFFFFF"/>
                </a:solidFill>
                <a:effectLst/>
                <a:uLnTx/>
                <a:uFillTx/>
                <a:latin typeface="Times New Roman" panose="02020603050405020304" pitchFamily="18" charset="0"/>
                <a:ea typeface="华文中宋" panose="02010600040101010101" pitchFamily="2" charset="-122"/>
                <a:cs typeface="+mn-cs"/>
              </a:rPr>
              <a:t>抗拉强度</a:t>
            </a:r>
            <a:r>
              <a:rPr kumimoji="0" lang="en-US" altLang="zh-CN" sz="2800" b="1" i="0" u="none" strike="noStrike" kern="1200" cap="none" spc="0" normalizeH="0" baseline="0" noProof="0" dirty="0">
                <a:ln>
                  <a:noFill/>
                </a:ln>
                <a:solidFill>
                  <a:srgbClr val="CCFF33"/>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a:t>
            </a:r>
            <a:r>
              <a:rPr kumimoji="0" lang="zh-CN" altLang="zh-CN" sz="2800" b="1" i="0" u="none" strike="noStrike" kern="1200" cap="none" spc="0" normalizeH="0" baseline="-25000" noProof="0" dirty="0">
                <a:ln>
                  <a:noFill/>
                </a:ln>
                <a:solidFill>
                  <a:srgbClr val="CCFF33"/>
                </a:solidFill>
                <a:effectLst/>
                <a:uLnTx/>
                <a:uFillTx/>
                <a:latin typeface="Times New Roman" panose="02020603050405020304" pitchFamily="18" charset="0"/>
                <a:ea typeface="华文中宋" panose="02010600040101010101" pitchFamily="2" charset="-122"/>
                <a:cs typeface="+mn-cs"/>
                <a:sym typeface="Symbol" panose="05050102010706020507" pitchFamily="18" charset="2"/>
              </a:rPr>
              <a:t>b</a:t>
            </a:r>
            <a:r>
              <a:rPr kumimoji="0" lang="zh-CN" altLang="en-US" sz="2800" b="1" i="0" u="none" strike="noStrike" kern="1200" cap="none" spc="0" normalizeH="0" baseline="0" noProof="0" dirty="0">
                <a:ln>
                  <a:noFill/>
                </a:ln>
                <a:solidFill>
                  <a:srgbClr val="FFCCCC"/>
                </a:solidFill>
                <a:effectLst/>
                <a:uLnTx/>
                <a:uFillTx/>
                <a:latin typeface="Times New Roman" panose="02020603050405020304" pitchFamily="18" charset="0"/>
                <a:ea typeface="华文中宋" panose="02010600040101010101" pitchFamily="2" charset="-122"/>
                <a:cs typeface="+mn-cs"/>
              </a:rPr>
              <a:t>：</a:t>
            </a:r>
            <a:r>
              <a:rPr kumimoji="0" lang="zh-CN" altLang="en-US" sz="2800" b="1" i="0" u="none" strike="noStrike" kern="1200" cap="none" spc="0" normalizeH="0" baseline="0" noProof="0" dirty="0">
                <a:ln>
                  <a:noFill/>
                </a:ln>
                <a:solidFill>
                  <a:srgbClr val="FFFF00"/>
                </a:solidFill>
                <a:effectLst/>
                <a:uLnTx/>
                <a:uFillTx/>
                <a:latin typeface="Times New Roman" panose="02020603050405020304" pitchFamily="18" charset="0"/>
                <a:ea typeface="华文中宋" panose="02010600040101010101" pitchFamily="2" charset="-122"/>
                <a:cs typeface="+mn-cs"/>
              </a:rPr>
              <a:t>材料断裂前所承受的最大应力值。</a:t>
            </a:r>
          </a:p>
        </p:txBody>
      </p:sp>
      <p:pic>
        <p:nvPicPr>
          <p:cNvPr id="4" name="图片 3">
            <a:extLst>
              <a:ext uri="{FF2B5EF4-FFF2-40B4-BE49-F238E27FC236}">
                <a16:creationId xmlns:a16="http://schemas.microsoft.com/office/drawing/2014/main" id="{725A4ED5-F80B-CB78-9D6D-8078AF51E1F9}"/>
              </a:ext>
            </a:extLst>
          </p:cNvPr>
          <p:cNvPicPr>
            <a:picLocks noChangeAspect="1"/>
          </p:cNvPicPr>
          <p:nvPr/>
        </p:nvPicPr>
        <p:blipFill>
          <a:blip r:embed="rId3"/>
          <a:stretch>
            <a:fillRect/>
          </a:stretch>
        </p:blipFill>
        <p:spPr>
          <a:xfrm>
            <a:off x="5165725" y="523875"/>
            <a:ext cx="3432175" cy="3054350"/>
          </a:xfrm>
          <a:prstGeom prst="rect">
            <a:avLst/>
          </a:prstGeom>
        </p:spPr>
      </p:pic>
    </p:spTree>
    <p:extLst>
      <p:ext uri="{BB962C8B-B14F-4D97-AF65-F5344CB8AC3E}">
        <p14:creationId xmlns:p14="http://schemas.microsoft.com/office/powerpoint/2010/main" val="119470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wipe(left)">
                                      <p:cBhvr>
                                        <p:cTn id="7" dur="500"/>
                                        <p:tgtEl>
                                          <p:spTgt spid="6349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1000"/>
                                  </p:stCondLst>
                                  <p:childTnLst>
                                    <p:set>
                                      <p:cBhvr>
                                        <p:cTn id="10" dur="1" fill="hold">
                                          <p:stCondLst>
                                            <p:cond delay="0"/>
                                          </p:stCondLst>
                                        </p:cTn>
                                        <p:tgtEl>
                                          <p:spTgt spid="63491">
                                            <p:txEl>
                                              <p:pRg st="1" end="1"/>
                                            </p:txEl>
                                          </p:spTgt>
                                        </p:tgtEl>
                                        <p:attrNameLst>
                                          <p:attrName>style.visibility</p:attrName>
                                        </p:attrNameLst>
                                      </p:cBhvr>
                                      <p:to>
                                        <p:strVal val="visible"/>
                                      </p:to>
                                    </p:set>
                                    <p:animEffect transition="in" filter="wipe(left)">
                                      <p:cBhvr>
                                        <p:cTn id="11" dur="500"/>
                                        <p:tgtEl>
                                          <p:spTgt spid="63491">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3497">
                                            <p:txEl>
                                              <p:pRg st="0" end="0"/>
                                            </p:txEl>
                                          </p:spTgt>
                                        </p:tgtEl>
                                        <p:attrNameLst>
                                          <p:attrName>style.visibility</p:attrName>
                                        </p:attrNameLst>
                                      </p:cBhvr>
                                      <p:to>
                                        <p:strVal val="visible"/>
                                      </p:to>
                                    </p:set>
                                    <p:animEffect transition="in" filter="wipe(left)">
                                      <p:cBhvr>
                                        <p:cTn id="15" dur="500"/>
                                        <p:tgtEl>
                                          <p:spTgt spid="63497">
                                            <p:txEl>
                                              <p:pRg st="0" end="0"/>
                                            </p:txEl>
                                          </p:spTgt>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63497">
                                            <p:txEl>
                                              <p:pRg st="1" end="1"/>
                                            </p:txEl>
                                          </p:spTgt>
                                        </p:tgtEl>
                                        <p:attrNameLst>
                                          <p:attrName>style.visibility</p:attrName>
                                        </p:attrNameLst>
                                      </p:cBhvr>
                                      <p:to>
                                        <p:strVal val="visible"/>
                                      </p:to>
                                    </p:set>
                                    <p:animEffect transition="in" filter="wipe(left)">
                                      <p:cBhvr>
                                        <p:cTn id="19" dur="500"/>
                                        <p:tgtEl>
                                          <p:spTgt spid="63497">
                                            <p:txEl>
                                              <p:pRg st="1" end="1"/>
                                            </p:txEl>
                                          </p:spTgt>
                                        </p:tgtEl>
                                      </p:cBhvr>
                                    </p:animEffect>
                                  </p:childTnLst>
                                </p:cTn>
                              </p:par>
                            </p:childTnLst>
                          </p:cTn>
                        </p:par>
                        <p:par>
                          <p:cTn id="20" fill="hold">
                            <p:stCondLst>
                              <p:cond delay="3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dvAuto="1000"/>
      <p:bldP spid="63497" grpId="0" build="p" advAuto="100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609600" y="447675"/>
            <a:ext cx="8305800" cy="1371600"/>
          </a:xfrm>
        </p:spPr>
        <p:txBody>
          <a:bodyPr vert="horz" wrap="square" lIns="92075" tIns="46038" rIns="92075" bIns="46038" numCol="1" anchor="ctr" anchorCtr="0" compatLnSpc="1"/>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塑性：</a:t>
            </a:r>
            <a:r>
              <a:rPr kumimoji="0" 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华文中宋" panose="02010600040101010101" pitchFamily="2" charset="-122"/>
                <a:cs typeface="+mj-cs"/>
              </a:rPr>
              <a:t>材料受力破坏前可承受最大塑性变形的能力</a:t>
            </a:r>
            <a:r>
              <a:rPr kumimoji="0" lang="zh-CN" alt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华文中宋" panose="02010600040101010101" pitchFamily="2" charset="-122"/>
                <a:cs typeface="+mj-cs"/>
              </a:rPr>
              <a:t>.</a:t>
            </a:r>
            <a:r>
              <a:rPr kumimoji="0" lang="zh-CN" sz="2800" b="1" i="0" u="none" strike="noStrike" kern="0" cap="none" spc="0" normalizeH="0" baseline="0" noProof="0">
                <a:ln>
                  <a:noFill/>
                </a:ln>
                <a:solidFill>
                  <a:srgbClr val="CCECFF"/>
                </a:solidFill>
                <a:effectLst>
                  <a:outerShdw blurRad="38100" dist="38100" dir="2700000" algn="tl">
                    <a:srgbClr val="000000"/>
                  </a:outerShdw>
                </a:effectLst>
                <a:uLnTx/>
                <a:uFillTx/>
                <a:latin typeface="+mj-lt"/>
                <a:ea typeface="华文中宋" panose="02010600040101010101" pitchFamily="2" charset="-122"/>
                <a:cs typeface="+mj-cs"/>
              </a:rPr>
              <a:t>指标为：</a:t>
            </a:r>
            <a:r>
              <a:rPr kumimoji="0" lang="zh-CN" sz="28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华文中宋" panose="02010600040101010101" pitchFamily="2" charset="-122"/>
                <a:cs typeface="+mj-cs"/>
              </a:rPr>
              <a:t> </a:t>
            </a:r>
          </a:p>
        </p:txBody>
      </p:sp>
      <p:sp>
        <p:nvSpPr>
          <p:cNvPr id="64516" name="Text Box 5"/>
          <p:cNvSpPr txBox="1"/>
          <p:nvPr/>
        </p:nvSpPr>
        <p:spPr>
          <a:xfrm>
            <a:off x="609600" y="3190875"/>
            <a:ext cx="2743200" cy="519430"/>
          </a:xfrm>
          <a:prstGeom prst="rect">
            <a:avLst/>
          </a:prstGeom>
          <a:noFill/>
          <a:ln w="9525">
            <a:noFill/>
          </a:ln>
        </p:spPr>
        <p:txBody>
          <a:bodyPr anchor="t">
            <a:spAutoFit/>
          </a:bodyPr>
          <a:lstStyle/>
          <a:p>
            <a:pPr>
              <a:spcBef>
                <a:spcPct val="50000"/>
              </a:spcBef>
            </a:pPr>
            <a:r>
              <a:rPr lang="zh-CN" altLang="en-US" sz="2800" b="1" dirty="0">
                <a:solidFill>
                  <a:srgbClr val="CCFF33"/>
                </a:solidFill>
                <a:latin typeface="Times New Roman" panose="02020603050405020304" pitchFamily="18" charset="0"/>
                <a:ea typeface="华文中宋" panose="02010600040101010101" pitchFamily="2" charset="-122"/>
              </a:rPr>
              <a:t>断面收缩率：</a:t>
            </a:r>
          </a:p>
        </p:txBody>
      </p:sp>
      <p:grpSp>
        <p:nvGrpSpPr>
          <p:cNvPr id="3" name="Group 6"/>
          <p:cNvGrpSpPr/>
          <p:nvPr/>
        </p:nvGrpSpPr>
        <p:grpSpPr>
          <a:xfrm>
            <a:off x="725488" y="2200275"/>
            <a:ext cx="7837487" cy="3971925"/>
            <a:chOff x="0" y="0"/>
            <a:chExt cx="4937" cy="2502"/>
          </a:xfrm>
        </p:grpSpPr>
        <p:grpSp>
          <p:nvGrpSpPr>
            <p:cNvPr id="64518" name="Group 7"/>
            <p:cNvGrpSpPr/>
            <p:nvPr/>
          </p:nvGrpSpPr>
          <p:grpSpPr>
            <a:xfrm>
              <a:off x="0" y="1260"/>
              <a:ext cx="3287" cy="1242"/>
              <a:chOff x="0" y="0"/>
              <a:chExt cx="3287" cy="1242"/>
            </a:xfrm>
          </p:grpSpPr>
          <p:pic>
            <p:nvPicPr>
              <p:cNvPr id="64519" name="Picture 8" descr="拉伸试样"/>
              <p:cNvPicPr>
                <a:picLocks noChangeAspect="1"/>
              </p:cNvPicPr>
              <p:nvPr/>
            </p:nvPicPr>
            <p:blipFill>
              <a:blip r:embed="rId2"/>
              <a:stretch>
                <a:fillRect/>
              </a:stretch>
            </p:blipFill>
            <p:spPr>
              <a:xfrm>
                <a:off x="0" y="0"/>
                <a:ext cx="3287" cy="1242"/>
              </a:xfrm>
              <a:prstGeom prst="rect">
                <a:avLst/>
              </a:prstGeom>
              <a:noFill/>
              <a:ln w="38100" cap="flat" cmpd="sng">
                <a:solidFill>
                  <a:srgbClr val="FF9900"/>
                </a:solidFill>
                <a:prstDash val="solid"/>
                <a:miter/>
                <a:headEnd type="none" w="med" len="med"/>
                <a:tailEnd type="none" w="med" len="med"/>
              </a:ln>
            </p:spPr>
          </p:pic>
          <p:sp>
            <p:nvSpPr>
              <p:cNvPr id="64520" name="Rectangle 9"/>
              <p:cNvSpPr/>
              <p:nvPr/>
            </p:nvSpPr>
            <p:spPr>
              <a:xfrm>
                <a:off x="2784" y="696"/>
                <a:ext cx="432" cy="19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r>
                  <a:rPr lang="zh-CN" altLang="en-US" sz="1600" dirty="0">
                    <a:solidFill>
                      <a:schemeClr val="bg2"/>
                    </a:solidFill>
                    <a:latin typeface="Times New Roman" panose="02020603050405020304" pitchFamily="18" charset="0"/>
                    <a:ea typeface="宋体" panose="02010600030101010101" pitchFamily="2" charset="-122"/>
                  </a:rPr>
                  <a:t>断裂后</a:t>
                </a:r>
              </a:p>
            </p:txBody>
          </p:sp>
        </p:grpSp>
        <p:grpSp>
          <p:nvGrpSpPr>
            <p:cNvPr id="64521" name="Group 10"/>
            <p:cNvGrpSpPr/>
            <p:nvPr/>
          </p:nvGrpSpPr>
          <p:grpSpPr>
            <a:xfrm>
              <a:off x="3431" y="0"/>
              <a:ext cx="1506" cy="2502"/>
              <a:chOff x="0" y="0"/>
              <a:chExt cx="1506" cy="2502"/>
            </a:xfrm>
          </p:grpSpPr>
          <p:pic>
            <p:nvPicPr>
              <p:cNvPr id="64522" name="Picture 11" descr="拉伸试样颈缩"/>
              <p:cNvPicPr>
                <a:picLocks noChangeAspect="1"/>
              </p:cNvPicPr>
              <p:nvPr/>
            </p:nvPicPr>
            <p:blipFill>
              <a:blip r:embed="rId3"/>
              <a:stretch>
                <a:fillRect/>
              </a:stretch>
            </p:blipFill>
            <p:spPr>
              <a:xfrm>
                <a:off x="0" y="0"/>
                <a:ext cx="1506" cy="2502"/>
              </a:xfrm>
              <a:prstGeom prst="rect">
                <a:avLst/>
              </a:prstGeom>
              <a:noFill/>
              <a:ln w="38100" cap="flat" cmpd="sng">
                <a:solidFill>
                  <a:srgbClr val="FF9900"/>
                </a:solidFill>
                <a:prstDash val="solid"/>
                <a:miter/>
                <a:headEnd type="none" w="med" len="med"/>
                <a:tailEnd type="none" w="med" len="med"/>
              </a:ln>
            </p:spPr>
          </p:pic>
          <p:sp>
            <p:nvSpPr>
              <p:cNvPr id="64523" name="Text Box 12"/>
              <p:cNvSpPr txBox="1"/>
              <p:nvPr/>
            </p:nvSpPr>
            <p:spPr>
              <a:xfrm>
                <a:off x="1198" y="546"/>
                <a:ext cx="308" cy="1584"/>
              </a:xfrm>
              <a:prstGeom prst="rect">
                <a:avLst/>
              </a:prstGeom>
              <a:noFill/>
              <a:ln w="9525">
                <a:noFill/>
              </a:ln>
            </p:spPr>
            <p:txBody>
              <a:bodyPr vert="eaVert" anchor="t">
                <a:spAutoFit/>
              </a:bodyPr>
              <a:lstStyle/>
              <a:p>
                <a:pP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拉伸试样的颈缩现象</a:t>
                </a:r>
              </a:p>
            </p:txBody>
          </p:sp>
        </p:grpSp>
      </p:grpSp>
      <p:sp>
        <p:nvSpPr>
          <p:cNvPr id="64526" name="Text Box 15"/>
          <p:cNvSpPr txBox="1"/>
          <p:nvPr/>
        </p:nvSpPr>
        <p:spPr>
          <a:xfrm>
            <a:off x="609600" y="2110105"/>
            <a:ext cx="1981200" cy="521970"/>
          </a:xfrm>
          <a:prstGeom prst="rect">
            <a:avLst/>
          </a:prstGeom>
          <a:noFill/>
          <a:ln w="9525">
            <a:noFill/>
          </a:ln>
        </p:spPr>
        <p:txBody>
          <a:bodyPr anchor="t">
            <a:spAutoFit/>
          </a:bodyPr>
          <a:lstStyle/>
          <a:p>
            <a:pPr>
              <a:spcBef>
                <a:spcPct val="50000"/>
              </a:spcBef>
            </a:pPr>
            <a:r>
              <a:rPr lang="zh-CN" altLang="en-US" sz="2800" b="1" dirty="0">
                <a:solidFill>
                  <a:srgbClr val="CCFF33"/>
                </a:solidFill>
                <a:latin typeface="Times New Roman" panose="02020603050405020304" pitchFamily="18" charset="0"/>
                <a:ea typeface="华文中宋" panose="02010600040101010101" pitchFamily="2" charset="-122"/>
              </a:rPr>
              <a:t>断后伸长率：</a:t>
            </a:r>
          </a:p>
        </p:txBody>
      </p:sp>
      <p:graphicFrame>
        <p:nvGraphicFramePr>
          <p:cNvPr id="7" name="对象 6">
            <a:hlinkClick r:id="" action="ppaction://ole?verb=0"/>
          </p:cNvPr>
          <p:cNvGraphicFramePr>
            <a:graphicFrameLocks noChangeAspect="1"/>
          </p:cNvGraphicFramePr>
          <p:nvPr/>
        </p:nvGraphicFramePr>
        <p:xfrm>
          <a:off x="2935605" y="1954530"/>
          <a:ext cx="2722880" cy="833120"/>
        </p:xfrm>
        <a:graphic>
          <a:graphicData uri="http://schemas.openxmlformats.org/presentationml/2006/ole">
            <mc:AlternateContent xmlns:mc="http://schemas.openxmlformats.org/markup-compatibility/2006">
              <mc:Choice xmlns:v="urn:schemas-microsoft-com:vml" Requires="v">
                <p:oleObj r:id="rId4" imgW="1091565" imgH="431800" progId="Equation.KSEE3">
                  <p:embed/>
                </p:oleObj>
              </mc:Choice>
              <mc:Fallback>
                <p:oleObj r:id="rId4" imgW="1091565" imgH="431800" progId="Equation.KSEE3">
                  <p:embed/>
                  <p:pic>
                    <p:nvPicPr>
                      <p:cNvPr id="0" name="图片 1024"/>
                      <p:cNvPicPr/>
                      <p:nvPr/>
                    </p:nvPicPr>
                    <p:blipFill>
                      <a:blip r:embed="rId5"/>
                      <a:stretch>
                        <a:fillRect/>
                      </a:stretch>
                    </p:blipFill>
                    <p:spPr>
                      <a:xfrm>
                        <a:off x="2935605" y="1954530"/>
                        <a:ext cx="2722880" cy="833120"/>
                      </a:xfrm>
                      <a:prstGeom prst="rect">
                        <a:avLst/>
                      </a:prstGeom>
                      <a:solidFill>
                        <a:schemeClr val="tx1"/>
                      </a:solidFill>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2935605" y="3067050"/>
          <a:ext cx="2895600" cy="801370"/>
        </p:xfrm>
        <a:graphic>
          <a:graphicData uri="http://schemas.openxmlformats.org/presentationml/2006/ole">
            <mc:AlternateContent xmlns:mc="http://schemas.openxmlformats.org/markup-compatibility/2006">
              <mc:Choice xmlns:v="urn:schemas-microsoft-com:vml" Requires="v">
                <p:oleObj r:id="rId6" imgW="1206500" imgH="431800" progId="Equation.KSEE3">
                  <p:embed/>
                </p:oleObj>
              </mc:Choice>
              <mc:Fallback>
                <p:oleObj r:id="rId6" imgW="1206500" imgH="431800" progId="Equation.KSEE3">
                  <p:embed/>
                  <p:pic>
                    <p:nvPicPr>
                      <p:cNvPr id="0" name="图片 1024"/>
                      <p:cNvPicPr/>
                      <p:nvPr/>
                    </p:nvPicPr>
                    <p:blipFill>
                      <a:blip r:embed="rId7"/>
                      <a:stretch>
                        <a:fillRect/>
                      </a:stretch>
                    </p:blipFill>
                    <p:spPr>
                      <a:xfrm>
                        <a:off x="2935605" y="3067050"/>
                        <a:ext cx="2895600" cy="801370"/>
                      </a:xfrm>
                      <a:prstGeom prst="rect">
                        <a:avLst/>
                      </a:prstGeom>
                      <a:solidFill>
                        <a:schemeClr val="tx1"/>
                      </a:solidFill>
                    </p:spPr>
                  </p:pic>
                </p:oleObj>
              </mc:Fallback>
            </mc:AlternateContent>
          </a:graphicData>
        </a:graphic>
      </p:graphicFrame>
      <p:sp>
        <p:nvSpPr>
          <p:cNvPr id="4" name="文本框 3">
            <a:extLst>
              <a:ext uri="{FF2B5EF4-FFF2-40B4-BE49-F238E27FC236}">
                <a16:creationId xmlns:a16="http://schemas.microsoft.com/office/drawing/2014/main" id="{7B72FA8B-2E51-CA0E-10C2-8559BCDEA2EE}"/>
              </a:ext>
            </a:extLst>
          </p:cNvPr>
          <p:cNvSpPr txBox="1"/>
          <p:nvPr/>
        </p:nvSpPr>
        <p:spPr>
          <a:xfrm>
            <a:off x="527948" y="6241871"/>
            <a:ext cx="7284412" cy="427489"/>
          </a:xfrm>
          <a:prstGeom prst="rect">
            <a:avLst/>
          </a:prstGeom>
          <a:noFill/>
        </p:spPr>
        <p:txBody>
          <a:bodyPr wrap="square">
            <a:spAutoFit/>
          </a:bodyPr>
          <a:lstStyle/>
          <a:p>
            <a:pPr eaLnBrk="1" hangingPunct="1">
              <a:lnSpc>
                <a:spcPct val="135000"/>
              </a:lnSpc>
            </a:pPr>
            <a:r>
              <a:rPr lang="zh-CN" altLang="zh-CN" sz="1800" b="1" dirty="0">
                <a:solidFill>
                  <a:schemeClr val="accent1"/>
                </a:solidFill>
                <a:ea typeface="华文中宋" panose="02010600040101010101" pitchFamily="2" charset="-122"/>
              </a:rPr>
              <a:t>①</a:t>
            </a:r>
            <a:r>
              <a:rPr lang="zh-CN" altLang="zh-CN" sz="1800" b="1" dirty="0">
                <a:ea typeface="华文中宋" panose="02010600040101010101" pitchFamily="2" charset="-122"/>
              </a:rPr>
              <a:t> </a:t>
            </a:r>
            <a:r>
              <a:rPr lang="zh-CN" altLang="en-US" sz="1800" b="1" dirty="0">
                <a:solidFill>
                  <a:schemeClr val="folHlink"/>
                </a:solidFill>
                <a:ea typeface="华文中宋" panose="02010600040101010101" pitchFamily="2" charset="-122"/>
              </a:rPr>
              <a:t>用面缩率表示塑性比伸长率更接近真实变形。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wipe(left)">
                                      <p:cBhvr>
                                        <p:cTn id="7" dur="500"/>
                                        <p:tgtEl>
                                          <p:spTgt spid="6451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p:cNvSpPr>
          <p:nvPr>
            <p:ph idx="1"/>
          </p:nvPr>
        </p:nvSpPr>
        <p:spPr>
          <a:xfrm>
            <a:off x="311150" y="1143000"/>
            <a:ext cx="4343400" cy="1447800"/>
          </a:xfrm>
        </p:spPr>
        <p:txBody>
          <a:bodyPr vert="horz" wrap="square" lIns="91440" tIns="45720" rIns="91440" bIns="45720" anchor="t"/>
          <a:lstStyle/>
          <a:p>
            <a:pPr eaLnBrk="1" hangingPunct="1">
              <a:lnSpc>
                <a:spcPct val="140000"/>
              </a:lnSpc>
            </a:pPr>
            <a:r>
              <a:rPr lang="zh-CN" altLang="en-US" sz="2800" b="1" dirty="0">
                <a:solidFill>
                  <a:schemeClr val="folHlink"/>
                </a:solidFill>
                <a:ea typeface="华文中宋" panose="02010600040101010101" pitchFamily="2" charset="-122"/>
              </a:rPr>
              <a:t>是指材料抵抗冲击载荷作用而不破坏的能力。</a:t>
            </a:r>
            <a:endParaRPr lang="zh-CN" altLang="en-US" sz="2800" b="1" i="1" dirty="0">
              <a:ea typeface="华文中宋" panose="02010600040101010101" pitchFamily="2" charset="-122"/>
            </a:endParaRPr>
          </a:p>
        </p:txBody>
      </p:sp>
      <p:grpSp>
        <p:nvGrpSpPr>
          <p:cNvPr id="2" name="Group 4"/>
          <p:cNvGrpSpPr>
            <a:grpSpLocks noChangeAspect="1"/>
          </p:cNvGrpSpPr>
          <p:nvPr/>
        </p:nvGrpSpPr>
        <p:grpSpPr>
          <a:xfrm>
            <a:off x="768350" y="533400"/>
            <a:ext cx="7689850" cy="5854700"/>
            <a:chOff x="0" y="0"/>
            <a:chExt cx="4844" cy="3688"/>
          </a:xfrm>
        </p:grpSpPr>
        <p:pic>
          <p:nvPicPr>
            <p:cNvPr id="66564" name="Picture 5" descr="冲击试验机"/>
            <p:cNvPicPr>
              <a:picLocks noChangeAspect="1"/>
            </p:cNvPicPr>
            <p:nvPr/>
          </p:nvPicPr>
          <p:blipFill>
            <a:blip r:embed="rId2"/>
            <a:stretch>
              <a:fillRect/>
            </a:stretch>
          </p:blipFill>
          <p:spPr>
            <a:xfrm>
              <a:off x="0" y="1536"/>
              <a:ext cx="3292" cy="2152"/>
            </a:xfrm>
            <a:prstGeom prst="rect">
              <a:avLst/>
            </a:prstGeom>
            <a:noFill/>
            <a:ln w="38100" cap="flat" cmpd="sng">
              <a:solidFill>
                <a:srgbClr val="FF00FF"/>
              </a:solidFill>
              <a:prstDash val="solid"/>
              <a:miter/>
              <a:headEnd type="none" w="med" len="med"/>
              <a:tailEnd type="none" w="med" len="med"/>
            </a:ln>
          </p:spPr>
        </p:pic>
      </p:grpSp>
      <p:sp>
        <p:nvSpPr>
          <p:cNvPr id="66567" name="Rectangle 7"/>
          <p:cNvSpPr/>
          <p:nvPr/>
        </p:nvSpPr>
        <p:spPr>
          <a:xfrm>
            <a:off x="6172200" y="2276872"/>
            <a:ext cx="2514600" cy="2590800"/>
          </a:xfrm>
          <a:prstGeom prst="rect">
            <a:avLst/>
          </a:prstGeom>
          <a:noFill/>
          <a:ln w="9525">
            <a:noFill/>
          </a:ln>
        </p:spPr>
        <p:txBody>
          <a:bodyPr anchor="t"/>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b="1" dirty="0">
                <a:latin typeface="Times New Roman" panose="02020603050405020304" pitchFamily="18" charset="0"/>
                <a:ea typeface="华文中宋" panose="02010600040101010101" pitchFamily="2" charset="-122"/>
              </a:rPr>
              <a:t>指标为冲击韧性值</a:t>
            </a:r>
            <a:r>
              <a:rPr lang="zh-CN" altLang="zh-CN" sz="2800" b="1" i="1" dirty="0">
                <a:solidFill>
                  <a:schemeClr val="folHlink"/>
                </a:solidFill>
                <a:latin typeface="Times New Roman" panose="02020603050405020304" pitchFamily="18" charset="0"/>
                <a:ea typeface="华文中宋" panose="02010600040101010101" pitchFamily="2" charset="-122"/>
              </a:rPr>
              <a:t>a</a:t>
            </a:r>
            <a:r>
              <a:rPr lang="zh-CN" altLang="zh-CN" sz="2800" b="1" i="1" baseline="-25000" dirty="0">
                <a:solidFill>
                  <a:schemeClr val="folHlink"/>
                </a:solidFill>
                <a:latin typeface="Times New Roman" panose="02020603050405020304" pitchFamily="18" charset="0"/>
                <a:ea typeface="华文中宋" panose="02010600040101010101" pitchFamily="2" charset="-122"/>
              </a:rPr>
              <a:t>k</a:t>
            </a:r>
            <a:r>
              <a:rPr lang="zh-CN" altLang="zh-CN" sz="2800" b="1" dirty="0">
                <a:solidFill>
                  <a:srgbClr val="CCFF33"/>
                </a:solidFill>
                <a:latin typeface="Times New Roman" panose="02020603050405020304" pitchFamily="18" charset="0"/>
                <a:ea typeface="华文中宋" panose="02010600040101010101" pitchFamily="2" charset="-122"/>
              </a:rPr>
              <a:t>(</a:t>
            </a:r>
            <a:r>
              <a:rPr lang="zh-CN" altLang="en-US" sz="2800" b="1" dirty="0">
                <a:solidFill>
                  <a:srgbClr val="CCFF33"/>
                </a:solidFill>
                <a:latin typeface="Times New Roman" panose="02020603050405020304" pitchFamily="18" charset="0"/>
                <a:ea typeface="华文中宋" panose="02010600040101010101" pitchFamily="2" charset="-122"/>
              </a:rPr>
              <a:t>通过冲击实验测得</a:t>
            </a:r>
            <a:r>
              <a:rPr lang="zh-CN" altLang="zh-CN" sz="2800" b="1" dirty="0">
                <a:solidFill>
                  <a:srgbClr val="CCFF33"/>
                </a:solidFill>
                <a:latin typeface="Times New Roman" panose="02020603050405020304" pitchFamily="18" charset="0"/>
                <a:ea typeface="华文中宋" panose="02010600040101010101" pitchFamily="2" charset="-122"/>
              </a:rPr>
              <a:t>)</a:t>
            </a:r>
            <a:r>
              <a:rPr lang="zh-CN" altLang="en-US" sz="2800" b="1" dirty="0">
                <a:solidFill>
                  <a:srgbClr val="CCFF33"/>
                </a:solidFill>
                <a:latin typeface="Times New Roman" panose="02020603050405020304" pitchFamily="18" charset="0"/>
                <a:ea typeface="华文中宋" panose="02010600040101010101" pitchFamily="2" charset="-122"/>
              </a:rPr>
              <a:t>。</a:t>
            </a:r>
            <a:endParaRPr lang="zh-CN" altLang="en-US" sz="2800" b="1" i="1" dirty="0">
              <a:latin typeface="Times New Roman" panose="02020603050405020304" pitchFamily="18" charset="0"/>
              <a:ea typeface="华文中宋" panose="02010600040101010101" pitchFamily="2" charset="-122"/>
            </a:endParaRPr>
          </a:p>
        </p:txBody>
      </p:sp>
      <p:sp>
        <p:nvSpPr>
          <p:cNvPr id="3" name="Text Box 4">
            <a:extLst>
              <a:ext uri="{FF2B5EF4-FFF2-40B4-BE49-F238E27FC236}">
                <a16:creationId xmlns:a16="http://schemas.microsoft.com/office/drawing/2014/main" id="{31A94FD6-4CAD-4D50-7F7A-69B90FA53062}"/>
              </a:ext>
            </a:extLst>
          </p:cNvPr>
          <p:cNvSpPr txBox="1">
            <a:spLocks noChangeArrowheads="1"/>
          </p:cNvSpPr>
          <p:nvPr/>
        </p:nvSpPr>
        <p:spPr bwMode="auto">
          <a:xfrm>
            <a:off x="3059113" y="222250"/>
            <a:ext cx="3384550" cy="70788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eaLnBrk="0" hangingPunct="0">
              <a:spcBef>
                <a:spcPct val="50000"/>
              </a:spcBef>
              <a:buNone/>
            </a:pPr>
            <a:r>
              <a:rPr kumimoji="0" lang="zh-CN" altLang="zh-CN" sz="4000" b="1" kern="0" dirty="0">
                <a:solidFill>
                  <a:schemeClr val="bg2"/>
                </a:solidFill>
                <a:ea typeface="华文中宋" panose="02010600040101010101" pitchFamily="2" charset="-122"/>
              </a:rPr>
              <a:t>三、冲击韧性</a:t>
            </a:r>
            <a:endParaRPr kumimoji="1" lang="zh-CN" altLang="en-US" sz="4000" b="1" i="0" u="none" strike="noStrike" kern="1200" cap="none" spc="0" normalizeH="0" baseline="0" noProof="0" dirty="0">
              <a:ln>
                <a:noFill/>
              </a:ln>
              <a:solidFill>
                <a:schemeClr val="bg2"/>
              </a:solidFill>
              <a:uLnTx/>
              <a:uFillTx/>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wipe(left)">
                                      <p:cBhvr>
                                        <p:cTn id="7" dur="500"/>
                                        <p:tgtEl>
                                          <p:spTgt spid="6656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6567">
                                            <p:txEl>
                                              <p:pRg st="0" end="0"/>
                                            </p:txEl>
                                          </p:spTgt>
                                        </p:tgtEl>
                                        <p:attrNameLst>
                                          <p:attrName>style.visibility</p:attrName>
                                        </p:attrNameLst>
                                      </p:cBhvr>
                                      <p:to>
                                        <p:strVal val="visible"/>
                                      </p:to>
                                    </p:set>
                                    <p:animEffect transition="in" filter="wipe(left)">
                                      <p:cBhvr>
                                        <p:cTn id="11" dur="500"/>
                                        <p:tgtEl>
                                          <p:spTgt spid="66567">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advAuto="1000"/>
      <p:bldP spid="66567" grpId="0" build="p" advAuto="100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09600" y="381000"/>
            <a:ext cx="5715000" cy="5334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28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韧脆转变温度</a:t>
            </a:r>
          </a:p>
        </p:txBody>
      </p:sp>
      <p:sp>
        <p:nvSpPr>
          <p:cNvPr id="67587" name="Rectangle 3"/>
          <p:cNvSpPr>
            <a:spLocks noGrp="1"/>
          </p:cNvSpPr>
          <p:nvPr>
            <p:ph idx="1"/>
          </p:nvPr>
        </p:nvSpPr>
        <p:spPr>
          <a:xfrm>
            <a:off x="228600" y="914400"/>
            <a:ext cx="8534400" cy="3048000"/>
          </a:xfrm>
        </p:spPr>
        <p:txBody>
          <a:bodyPr vert="horz" wrap="square" lIns="91440" tIns="45720" rIns="91440" bIns="45720" anchor="t"/>
          <a:lstStyle/>
          <a:p>
            <a:pPr eaLnBrk="1" hangingPunct="1">
              <a:lnSpc>
                <a:spcPct val="140000"/>
              </a:lnSpc>
            </a:pPr>
            <a:r>
              <a:rPr lang="zh-CN" altLang="en-US" sz="2800" b="1" dirty="0">
                <a:latin typeface="华文中宋" panose="02010600040101010101" pitchFamily="2" charset="-122"/>
                <a:ea typeface="华文中宋" panose="02010600040101010101" pitchFamily="2" charset="-122"/>
              </a:rPr>
              <a:t>材料的冲击韧性随温度下降而下降。</a:t>
            </a:r>
            <a:r>
              <a:rPr lang="zh-CN" altLang="en-US" sz="2800" b="1" dirty="0">
                <a:solidFill>
                  <a:schemeClr val="folHlink"/>
                </a:solidFill>
                <a:latin typeface="华文中宋" panose="02010600040101010101" pitchFamily="2" charset="-122"/>
                <a:ea typeface="华文中宋" panose="02010600040101010101" pitchFamily="2" charset="-122"/>
              </a:rPr>
              <a:t>在某一温度范围内冲击韧性值急剧下降的现象称</a:t>
            </a:r>
            <a:r>
              <a:rPr lang="zh-CN" altLang="en-US" sz="2800" b="1" dirty="0">
                <a:solidFill>
                  <a:schemeClr val="tx2"/>
                </a:solidFill>
                <a:latin typeface="华文中宋" panose="02010600040101010101" pitchFamily="2" charset="-122"/>
                <a:ea typeface="华文中宋" panose="02010600040101010101" pitchFamily="2" charset="-122"/>
              </a:rPr>
              <a:t>韧脆转变</a:t>
            </a:r>
            <a:r>
              <a:rPr lang="zh-CN" altLang="en-US" sz="2800" b="1" dirty="0">
                <a:latin typeface="华文中宋" panose="02010600040101010101" pitchFamily="2" charset="-122"/>
                <a:ea typeface="华文中宋" panose="02010600040101010101" pitchFamily="2" charset="-122"/>
              </a:rPr>
              <a:t>。发生韧脆转变的温度范围称</a:t>
            </a:r>
            <a:r>
              <a:rPr lang="zh-CN" altLang="en-US" sz="2800" b="1" dirty="0">
                <a:solidFill>
                  <a:schemeClr val="tx2"/>
                </a:solidFill>
                <a:latin typeface="华文中宋" panose="02010600040101010101" pitchFamily="2" charset="-122"/>
                <a:ea typeface="华文中宋" panose="02010600040101010101" pitchFamily="2" charset="-122"/>
              </a:rPr>
              <a:t>韧脆转变</a:t>
            </a:r>
            <a:r>
              <a:rPr lang="zh-CN" altLang="en-US" sz="2800" b="1" dirty="0">
                <a:solidFill>
                  <a:schemeClr val="tx2"/>
                </a:solidFill>
                <a:ea typeface="华文中宋" panose="02010600040101010101" pitchFamily="2" charset="-122"/>
              </a:rPr>
              <a:t>温度</a:t>
            </a:r>
            <a:r>
              <a:rPr lang="zh-CN" altLang="en-US" sz="2800" b="1" dirty="0">
                <a:ea typeface="华文中宋" panose="02010600040101010101" pitchFamily="2" charset="-122"/>
              </a:rPr>
              <a:t>。</a:t>
            </a:r>
            <a:r>
              <a:rPr lang="zh-CN" altLang="en-US" sz="2800" b="1" dirty="0">
                <a:solidFill>
                  <a:srgbClr val="CCFF33"/>
                </a:solidFill>
                <a:ea typeface="华文中宋" panose="02010600040101010101" pitchFamily="2" charset="-122"/>
              </a:rPr>
              <a:t>材料的使用温度应高于韧脆转变温度。</a:t>
            </a:r>
            <a:endParaRPr lang="zh-CN" altLang="en-US" sz="2800" b="1" dirty="0">
              <a:latin typeface="华文中宋" panose="02010600040101010101" pitchFamily="2" charset="-122"/>
              <a:ea typeface="华文中宋" panose="02010600040101010101" pitchFamily="2" charset="-122"/>
            </a:endParaRPr>
          </a:p>
        </p:txBody>
      </p:sp>
      <p:sp>
        <p:nvSpPr>
          <p:cNvPr id="67588" name="Text Box 4"/>
          <p:cNvSpPr txBox="1"/>
          <p:nvPr/>
        </p:nvSpPr>
        <p:spPr>
          <a:xfrm>
            <a:off x="5943600" y="3448050"/>
            <a:ext cx="2438400" cy="2879725"/>
          </a:xfrm>
          <a:prstGeom prst="rect">
            <a:avLst/>
          </a:prstGeom>
          <a:solidFill>
            <a:srgbClr val="CCFFFF"/>
          </a:solidFill>
          <a:ln w="9525" cap="flat" cmpd="sng">
            <a:solidFill>
              <a:srgbClr val="FF00FF"/>
            </a:solidFill>
            <a:prstDash val="solid"/>
            <a:miter/>
            <a:headEnd type="none" w="med" len="med"/>
            <a:tailEnd type="none" w="med" len="med"/>
          </a:ln>
        </p:spPr>
        <p:txBody>
          <a:bodyPr anchor="t">
            <a:spAutoFit/>
          </a:bodyPr>
          <a:lstStyle/>
          <a:p>
            <a:pPr>
              <a:lnSpc>
                <a:spcPct val="130000"/>
              </a:lnSpc>
              <a:spcBef>
                <a:spcPct val="50000"/>
              </a:spcBef>
            </a:pPr>
            <a:r>
              <a:rPr lang="zh-CN" altLang="en-US" sz="2800" b="1" dirty="0">
                <a:solidFill>
                  <a:srgbClr val="800000"/>
                </a:solidFill>
                <a:latin typeface="Times New Roman" panose="02020603050405020304" pitchFamily="18" charset="0"/>
                <a:ea typeface="华文中宋" panose="02010600040101010101" pitchFamily="2" charset="-122"/>
              </a:rPr>
              <a:t>体心立方金属具有韧脆转变温度，而大多数面心立方金属没有</a:t>
            </a:r>
            <a:r>
              <a:rPr lang="zh-CN" altLang="zh-CN" sz="2800" b="1" dirty="0">
                <a:solidFill>
                  <a:srgbClr val="800000"/>
                </a:solidFill>
                <a:latin typeface="Times New Roman" panose="02020603050405020304" pitchFamily="18" charset="0"/>
                <a:ea typeface="华文中宋" panose="02010600040101010101" pitchFamily="2" charset="-122"/>
              </a:rPr>
              <a:t>.</a:t>
            </a:r>
          </a:p>
        </p:txBody>
      </p:sp>
      <p:pic>
        <p:nvPicPr>
          <p:cNvPr id="3" name="图片 2">
            <a:extLst>
              <a:ext uri="{FF2B5EF4-FFF2-40B4-BE49-F238E27FC236}">
                <a16:creationId xmlns:a16="http://schemas.microsoft.com/office/drawing/2014/main" id="{549B6BBB-DBFF-A912-2CC7-5C5E4C0B0211}"/>
              </a:ext>
            </a:extLst>
          </p:cNvPr>
          <p:cNvPicPr>
            <a:picLocks noChangeAspect="1"/>
          </p:cNvPicPr>
          <p:nvPr/>
        </p:nvPicPr>
        <p:blipFill>
          <a:blip r:embed="rId2"/>
          <a:stretch>
            <a:fillRect/>
          </a:stretch>
        </p:blipFill>
        <p:spPr>
          <a:xfrm>
            <a:off x="1085851" y="3444398"/>
            <a:ext cx="3846873" cy="32249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left)">
                                      <p:cBhvr>
                                        <p:cTn id="7" dur="500"/>
                                        <p:tgtEl>
                                          <p:spTgt spid="675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587">
                                            <p:txEl>
                                              <p:pRg st="0" end="0"/>
                                            </p:txEl>
                                          </p:spTgt>
                                        </p:tgtEl>
                                        <p:attrNameLst>
                                          <p:attrName>style.visibility</p:attrName>
                                        </p:attrNameLst>
                                      </p:cBhvr>
                                      <p:to>
                                        <p:strVal val="visible"/>
                                      </p:to>
                                    </p:set>
                                    <p:animEffect transition="in" filter="wipe(left)">
                                      <p:cBhvr>
                                        <p:cTn id="11" dur="500"/>
                                        <p:tgtEl>
                                          <p:spTgt spid="67587">
                                            <p:txEl>
                                              <p:pRg st="0" end="0"/>
                                            </p:txEl>
                                          </p:spTgt>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67588"/>
                                        </p:tgtEl>
                                        <p:attrNameLst>
                                          <p:attrName>style.visibility</p:attrName>
                                        </p:attrNameLst>
                                      </p:cBhvr>
                                      <p:to>
                                        <p:strVal val="visible"/>
                                      </p:to>
                                    </p:set>
                                    <p:anim calcmode="lin" valueType="num">
                                      <p:cBhvr additive="base">
                                        <p:cTn id="15" dur="500" fill="hold"/>
                                        <p:tgtEl>
                                          <p:spTgt spid="67588"/>
                                        </p:tgtEl>
                                        <p:attrNameLst>
                                          <p:attrName>ppt_x</p:attrName>
                                        </p:attrNameLst>
                                      </p:cBhvr>
                                      <p:tavLst>
                                        <p:tav tm="0">
                                          <p:val>
                                            <p:strVal val="1+#ppt_w/2"/>
                                          </p:val>
                                        </p:tav>
                                        <p:tav tm="100000">
                                          <p:val>
                                            <p:strVal val="#ppt_x"/>
                                          </p:val>
                                        </p:tav>
                                      </p:tavLst>
                                    </p:anim>
                                    <p:anim calcmode="lin" valueType="num">
                                      <p:cBhvr additive="base">
                                        <p:cTn id="16" dur="500" fill="hold"/>
                                        <p:tgtEl>
                                          <p:spTgt spid="675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ldLvl="0" animBg="1"/>
      <p:bldP spid="67587" grpId="0" build="p" advAuto="1000"/>
      <p:bldP spid="6758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381000" y="1219200"/>
            <a:ext cx="2971800" cy="914400"/>
          </a:xfrm>
        </p:spPr>
        <p:txBody>
          <a:bodyPr vert="horz" wrap="square" lIns="92075" tIns="46038" rIns="92075" bIns="46038" anchor="ctr"/>
          <a:lstStyle/>
          <a:p>
            <a:pPr eaLnBrk="1" hangingPunct="1"/>
            <a:r>
              <a:rPr lang="zh-CN" altLang="zh-CN" sz="4800" b="1" dirty="0">
                <a:effectLst/>
                <a:latin typeface="Times New Roman" panose="02020603050405020304" pitchFamily="18" charset="0"/>
                <a:ea typeface="华文中宋" panose="02010600040101010101" pitchFamily="2" charset="-122"/>
              </a:rPr>
              <a:t>TITANIC</a:t>
            </a:r>
          </a:p>
        </p:txBody>
      </p:sp>
      <p:grpSp>
        <p:nvGrpSpPr>
          <p:cNvPr id="2" name="Group 3"/>
          <p:cNvGrpSpPr/>
          <p:nvPr/>
        </p:nvGrpSpPr>
        <p:grpSpPr>
          <a:xfrm>
            <a:off x="533400" y="609600"/>
            <a:ext cx="8031163" cy="5715000"/>
            <a:chOff x="0" y="0"/>
            <a:chExt cx="5059" cy="3600"/>
          </a:xfrm>
        </p:grpSpPr>
        <p:pic>
          <p:nvPicPr>
            <p:cNvPr id="68611" name="Picture 4" descr="image016"/>
            <p:cNvPicPr>
              <a:picLocks noChangeAspect="1"/>
            </p:cNvPicPr>
            <p:nvPr/>
          </p:nvPicPr>
          <p:blipFill>
            <a:blip r:embed="rId2"/>
            <a:stretch>
              <a:fillRect/>
            </a:stretch>
          </p:blipFill>
          <p:spPr>
            <a:xfrm>
              <a:off x="2112" y="0"/>
              <a:ext cx="2947" cy="2313"/>
            </a:xfrm>
            <a:prstGeom prst="rect">
              <a:avLst/>
            </a:prstGeom>
            <a:noFill/>
            <a:ln w="38100" cap="flat" cmpd="sng">
              <a:solidFill>
                <a:srgbClr val="00FFFF"/>
              </a:solidFill>
              <a:prstDash val="solid"/>
              <a:miter/>
              <a:headEnd type="none" w="med" len="med"/>
              <a:tailEnd type="none" w="med" len="med"/>
            </a:ln>
          </p:spPr>
        </p:pic>
        <p:pic>
          <p:nvPicPr>
            <p:cNvPr id="68612" name="Picture 5" descr="t_c364_35ar[1]"/>
            <p:cNvPicPr>
              <a:picLocks noChangeAspect="1"/>
            </p:cNvPicPr>
            <p:nvPr/>
          </p:nvPicPr>
          <p:blipFill>
            <a:blip r:embed="rId3"/>
            <a:stretch>
              <a:fillRect/>
            </a:stretch>
          </p:blipFill>
          <p:spPr>
            <a:xfrm>
              <a:off x="0" y="1824"/>
              <a:ext cx="2720" cy="1776"/>
            </a:xfrm>
            <a:prstGeom prst="rect">
              <a:avLst/>
            </a:prstGeom>
            <a:noFill/>
            <a:ln w="38100" cap="flat" cmpd="sng">
              <a:solidFill>
                <a:srgbClr val="FF9900"/>
              </a:solidFill>
              <a:prstDash val="solid"/>
              <a:miter/>
              <a:headEnd type="none" w="med" len="med"/>
              <a:tailEnd type="none" w="med" len="med"/>
            </a:ln>
          </p:spPr>
        </p:pic>
        <p:sp>
          <p:nvSpPr>
            <p:cNvPr id="68613" name="Text Box 6"/>
            <p:cNvSpPr txBox="1"/>
            <p:nvPr/>
          </p:nvSpPr>
          <p:spPr>
            <a:xfrm>
              <a:off x="2112" y="96"/>
              <a:ext cx="1536" cy="250"/>
            </a:xfrm>
            <a:prstGeom prst="rect">
              <a:avLst/>
            </a:prstGeom>
            <a:noFill/>
            <a:ln w="9525">
              <a:noFill/>
            </a:ln>
          </p:spPr>
          <p:txBody>
            <a:bodyPr anchor="t">
              <a:spAutoFit/>
            </a:bodyPr>
            <a:lstStyle/>
            <a:p>
              <a:pPr>
                <a:spcBef>
                  <a:spcPct val="50000"/>
                </a:spcBef>
              </a:pPr>
              <a:r>
                <a:rPr lang="zh-CN" altLang="en-US" sz="2000" b="1" dirty="0">
                  <a:solidFill>
                    <a:srgbClr val="FFFF66"/>
                  </a:solidFill>
                  <a:latin typeface="Times New Roman" panose="02020603050405020304" pitchFamily="18" charset="0"/>
                  <a:ea typeface="华文中宋" panose="02010600040101010101" pitchFamily="2" charset="-122"/>
                </a:rPr>
                <a:t>建造中的</a:t>
              </a:r>
              <a:r>
                <a:rPr lang="zh-CN" altLang="zh-CN" sz="2000" b="1" dirty="0">
                  <a:solidFill>
                    <a:srgbClr val="FFFF66"/>
                  </a:solidFill>
                  <a:latin typeface="Times New Roman" panose="02020603050405020304" pitchFamily="18" charset="0"/>
                  <a:ea typeface="华文中宋" panose="02010600040101010101" pitchFamily="2" charset="-122"/>
                </a:rPr>
                <a:t>Titanic</a:t>
              </a:r>
            </a:p>
          </p:txBody>
        </p:sp>
      </p:grpSp>
      <p:sp>
        <p:nvSpPr>
          <p:cNvPr id="68615" name="Text Box 7"/>
          <p:cNvSpPr txBox="1"/>
          <p:nvPr/>
        </p:nvSpPr>
        <p:spPr>
          <a:xfrm>
            <a:off x="5543550" y="4572000"/>
            <a:ext cx="3048000" cy="1758950"/>
          </a:xfrm>
          <a:prstGeom prst="rect">
            <a:avLst/>
          </a:prstGeom>
          <a:solidFill>
            <a:srgbClr val="CCFF33"/>
          </a:solidFill>
          <a:ln w="9525">
            <a:noFill/>
          </a:ln>
        </p:spPr>
        <p:txBody>
          <a:bodyPr anchor="t">
            <a:spAutoFit/>
          </a:bodyPr>
          <a:lstStyle/>
          <a:p>
            <a:pPr>
              <a:lnSpc>
                <a:spcPct val="130000"/>
              </a:lnSpc>
              <a:spcBef>
                <a:spcPct val="50000"/>
              </a:spcBef>
            </a:pPr>
            <a:r>
              <a:rPr lang="zh-CN" altLang="zh-CN" sz="2800" b="1" dirty="0">
                <a:solidFill>
                  <a:srgbClr val="000099"/>
                </a:solidFill>
                <a:latin typeface="Times New Roman" panose="02020603050405020304" pitchFamily="18" charset="0"/>
                <a:ea typeface="华文中宋" panose="02010600040101010101" pitchFamily="2" charset="-122"/>
              </a:rPr>
              <a:t> TITANIC  </a:t>
            </a:r>
            <a:r>
              <a:rPr lang="zh-CN" altLang="en-US" sz="2800" b="1" dirty="0">
                <a:solidFill>
                  <a:srgbClr val="990000"/>
                </a:solidFill>
                <a:latin typeface="Times New Roman" panose="02020603050405020304" pitchFamily="18" charset="0"/>
                <a:ea typeface="华文中宋" panose="02010600040101010101" pitchFamily="2" charset="-122"/>
              </a:rPr>
              <a:t>的沉没与船体材料的质量直接有关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wipe(left)">
                                      <p:cBhvr>
                                        <p:cTn id="7" dur="500"/>
                                        <p:tgtEl>
                                          <p:spTgt spid="68610"/>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68615"/>
                                        </p:tgtEl>
                                        <p:attrNameLst>
                                          <p:attrName>style.visibility</p:attrName>
                                        </p:attrNameLst>
                                      </p:cBhvr>
                                      <p:to>
                                        <p:strVal val="visible"/>
                                      </p:to>
                                    </p:set>
                                    <p:anim calcmode="lin" valueType="num">
                                      <p:cBhvr additive="base">
                                        <p:cTn id="11" dur="500" fill="hold"/>
                                        <p:tgtEl>
                                          <p:spTgt spid="68615"/>
                                        </p:tgtEl>
                                        <p:attrNameLst>
                                          <p:attrName>ppt_x</p:attrName>
                                        </p:attrNameLst>
                                      </p:cBhvr>
                                      <p:tavLst>
                                        <p:tav tm="0">
                                          <p:val>
                                            <p:strVal val="1+#ppt_w/2"/>
                                          </p:val>
                                        </p:tav>
                                        <p:tav tm="100000">
                                          <p:val>
                                            <p:strVal val="#ppt_x"/>
                                          </p:val>
                                        </p:tav>
                                      </p:tavLst>
                                    </p:anim>
                                    <p:anim calcmode="lin" valueType="num">
                                      <p:cBhvr additive="base">
                                        <p:cTn id="12" dur="500" fill="hold"/>
                                        <p:tgtEl>
                                          <p:spTgt spid="68615"/>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8" presetClass="entr" presetSubtype="12"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trips(down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bldLvl="0" animBg="1"/>
      <p:bldP spid="6861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228600" y="838200"/>
            <a:ext cx="8915400" cy="1447800"/>
          </a:xfrm>
        </p:spPr>
        <p:txBody>
          <a:bodyPr vert="horz" wrap="square" lIns="92075" tIns="46038" rIns="92075" bIns="46038" anchor="ctr"/>
          <a:lstStyle/>
          <a:p>
            <a:pPr eaLnBrk="1" hangingPunct="1">
              <a:lnSpc>
                <a:spcPct val="130000"/>
              </a:lnSpc>
            </a:pPr>
            <a:r>
              <a:rPr lang="zh-CN" altLang="zh-CN" sz="3200" b="1" dirty="0">
                <a:effectLst/>
                <a:latin typeface="Times New Roman" panose="02020603050405020304" pitchFamily="18" charset="0"/>
                <a:ea typeface="华文中宋" panose="02010600040101010101" pitchFamily="2" charset="-122"/>
              </a:rPr>
              <a:t>Titanic </a:t>
            </a:r>
            <a:r>
              <a:rPr lang="zh-CN" altLang="en-US" sz="3200" b="1" dirty="0">
                <a:effectLst/>
                <a:latin typeface="Times New Roman" panose="02020603050405020304" pitchFamily="18" charset="0"/>
                <a:ea typeface="华文中宋" panose="02010600040101010101" pitchFamily="2" charset="-122"/>
              </a:rPr>
              <a:t>号钢板</a:t>
            </a:r>
            <a:r>
              <a:rPr lang="zh-CN" altLang="en-US" sz="3200" b="1" dirty="0">
                <a:solidFill>
                  <a:schemeClr val="folHlink"/>
                </a:solidFill>
                <a:effectLst/>
                <a:latin typeface="Times New Roman" panose="02020603050405020304" pitchFamily="18" charset="0"/>
                <a:ea typeface="华文中宋" panose="02010600040101010101" pitchFamily="2" charset="-122"/>
              </a:rPr>
              <a:t>（左图）</a:t>
            </a:r>
            <a:r>
              <a:rPr lang="zh-CN" altLang="en-US" sz="3200" b="1" dirty="0">
                <a:solidFill>
                  <a:schemeClr val="tx1"/>
                </a:solidFill>
                <a:effectLst/>
                <a:latin typeface="Times New Roman" panose="02020603050405020304" pitchFamily="18" charset="0"/>
                <a:ea typeface="华文中宋" panose="02010600040101010101" pitchFamily="2" charset="-122"/>
              </a:rPr>
              <a:t>和</a:t>
            </a:r>
            <a:r>
              <a:rPr lang="zh-CN" altLang="en-US" sz="3200" b="1" dirty="0">
                <a:solidFill>
                  <a:srgbClr val="CCFF33"/>
                </a:solidFill>
                <a:effectLst/>
                <a:latin typeface="Times New Roman" panose="02020603050405020304" pitchFamily="18" charset="0"/>
                <a:ea typeface="华文中宋" panose="02010600040101010101" pitchFamily="2" charset="-122"/>
              </a:rPr>
              <a:t>近代船用钢板</a:t>
            </a:r>
            <a:r>
              <a:rPr lang="zh-CN" altLang="en-US" sz="3200" b="1" dirty="0">
                <a:solidFill>
                  <a:schemeClr val="folHlink"/>
                </a:solidFill>
                <a:effectLst/>
                <a:latin typeface="Times New Roman" panose="02020603050405020304" pitchFamily="18" charset="0"/>
                <a:ea typeface="华文中宋" panose="02010600040101010101" pitchFamily="2" charset="-122"/>
              </a:rPr>
              <a:t>（右图）</a:t>
            </a:r>
            <a:r>
              <a:rPr lang="zh-CN" altLang="en-US" sz="3200" b="1" dirty="0">
                <a:solidFill>
                  <a:srgbClr val="FFFF66"/>
                </a:solidFill>
                <a:effectLst/>
                <a:latin typeface="Times New Roman" panose="02020603050405020304" pitchFamily="18" charset="0"/>
                <a:ea typeface="华文中宋" panose="02010600040101010101" pitchFamily="2" charset="-122"/>
              </a:rPr>
              <a:t>的冲击试验结果</a:t>
            </a:r>
          </a:p>
        </p:txBody>
      </p:sp>
      <p:grpSp>
        <p:nvGrpSpPr>
          <p:cNvPr id="2" name="Group 3"/>
          <p:cNvGrpSpPr/>
          <p:nvPr/>
        </p:nvGrpSpPr>
        <p:grpSpPr>
          <a:xfrm>
            <a:off x="76200" y="3028950"/>
            <a:ext cx="9010650" cy="3124200"/>
            <a:chOff x="0" y="0"/>
            <a:chExt cx="5676" cy="1968"/>
          </a:xfrm>
        </p:grpSpPr>
        <p:pic>
          <p:nvPicPr>
            <p:cNvPr id="69635" name="Picture 4" descr="image014"/>
            <p:cNvPicPr>
              <a:picLocks noChangeAspect="1"/>
            </p:cNvPicPr>
            <p:nvPr/>
          </p:nvPicPr>
          <p:blipFill>
            <a:blip r:embed="rId2"/>
            <a:stretch>
              <a:fillRect/>
            </a:stretch>
          </p:blipFill>
          <p:spPr>
            <a:xfrm>
              <a:off x="0" y="12"/>
              <a:ext cx="5663" cy="1951"/>
            </a:xfrm>
            <a:prstGeom prst="rect">
              <a:avLst/>
            </a:prstGeom>
            <a:noFill/>
            <a:ln w="38100" cap="flat" cmpd="sng">
              <a:solidFill>
                <a:srgbClr val="CC99FF"/>
              </a:solidFill>
              <a:prstDash val="solid"/>
              <a:miter/>
              <a:headEnd type="none" w="med" len="med"/>
              <a:tailEnd type="none" w="med" len="med"/>
            </a:ln>
          </p:spPr>
        </p:pic>
        <p:sp>
          <p:nvSpPr>
            <p:cNvPr id="69636" name="Text Box 5"/>
            <p:cNvSpPr txBox="1"/>
            <p:nvPr/>
          </p:nvSpPr>
          <p:spPr>
            <a:xfrm>
              <a:off x="1764" y="0"/>
              <a:ext cx="912" cy="288"/>
            </a:xfrm>
            <a:prstGeom prst="rect">
              <a:avLst/>
            </a:prstGeom>
            <a:noFill/>
            <a:ln w="9525">
              <a:noFill/>
            </a:ln>
          </p:spPr>
          <p:txBody>
            <a:bodyPr anchor="t">
              <a:spAutoFit/>
            </a:bodyPr>
            <a:lstStyle/>
            <a:p>
              <a:pPr algn="r">
                <a:spcBef>
                  <a:spcPct val="50000"/>
                </a:spcBef>
              </a:pPr>
              <a:r>
                <a:rPr lang="zh-CN" altLang="zh-CN" sz="2400" b="1" dirty="0">
                  <a:solidFill>
                    <a:srgbClr val="FFFF66"/>
                  </a:solidFill>
                  <a:latin typeface="Times New Roman" panose="02020603050405020304" pitchFamily="18" charset="0"/>
                  <a:ea typeface="华文中宋" panose="02010600040101010101" pitchFamily="2" charset="-122"/>
                </a:rPr>
                <a:t>Titanic</a:t>
              </a:r>
            </a:p>
          </p:txBody>
        </p:sp>
        <p:sp>
          <p:nvSpPr>
            <p:cNvPr id="69637" name="Text Box 6"/>
            <p:cNvSpPr txBox="1"/>
            <p:nvPr/>
          </p:nvSpPr>
          <p:spPr>
            <a:xfrm>
              <a:off x="4140" y="12"/>
              <a:ext cx="1536" cy="288"/>
            </a:xfrm>
            <a:prstGeom prst="rect">
              <a:avLst/>
            </a:prstGeom>
            <a:noFill/>
            <a:ln w="9525">
              <a:noFill/>
            </a:ln>
          </p:spPr>
          <p:txBody>
            <a:bodyPr anchor="t">
              <a:spAutoFit/>
            </a:bodyPr>
            <a:lstStyle/>
            <a:p>
              <a:pPr algn="r">
                <a:spcBef>
                  <a:spcPct val="50000"/>
                </a:spcBef>
              </a:pPr>
              <a:r>
                <a:rPr lang="zh-CN" altLang="en-US" sz="2400" b="1" dirty="0">
                  <a:solidFill>
                    <a:srgbClr val="FFFF66"/>
                  </a:solidFill>
                  <a:latin typeface="Times New Roman" panose="02020603050405020304" pitchFamily="18" charset="0"/>
                  <a:ea typeface="华文中宋" panose="02010600040101010101" pitchFamily="2" charset="-122"/>
                </a:rPr>
                <a:t>近代船用钢板</a:t>
              </a:r>
            </a:p>
          </p:txBody>
        </p:sp>
        <p:sp>
          <p:nvSpPr>
            <p:cNvPr id="69638" name="Rectangle 7"/>
            <p:cNvSpPr/>
            <p:nvPr/>
          </p:nvSpPr>
          <p:spPr>
            <a:xfrm>
              <a:off x="2688" y="0"/>
              <a:ext cx="192" cy="1968"/>
            </a:xfrm>
            <a:prstGeom prst="rect">
              <a:avLst/>
            </a:prstGeom>
            <a:solidFill>
              <a:srgbClr val="000080"/>
            </a:solidFill>
            <a:ln w="38100" cap="flat" cmpd="sng">
              <a:solidFill>
                <a:srgbClr val="CC99FF"/>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wipe(left)">
                                      <p:cBhvr>
                                        <p:cTn id="7" dur="500"/>
                                        <p:tgtEl>
                                          <p:spTgt spid="69634"/>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out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3" name="Picture 6" descr="http://www.0080.cn/Article/UploadFiles/200808/20080804214400183.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316" y="1155699"/>
            <a:ext cx="4043363"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Text Box 4"/>
          <p:cNvSpPr txBox="1">
            <a:spLocks noChangeArrowheads="1"/>
          </p:cNvSpPr>
          <p:nvPr/>
        </p:nvSpPr>
        <p:spPr bwMode="auto">
          <a:xfrm>
            <a:off x="3059113" y="222250"/>
            <a:ext cx="3384550" cy="7080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4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四、疲劳</a:t>
            </a:r>
          </a:p>
        </p:txBody>
      </p:sp>
      <p:pic>
        <p:nvPicPr>
          <p:cNvPr id="46085"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71451" y="1155699"/>
            <a:ext cx="4414838" cy="317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242720" y="4780861"/>
            <a:ext cx="3312368" cy="584775"/>
          </a:xfrm>
          <a:prstGeom prst="rect">
            <a:avLst/>
          </a:prstGeom>
          <a:solidFill>
            <a:srgbClr val="66FFFF"/>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承受周期性载荷</a:t>
            </a:r>
          </a:p>
        </p:txBody>
      </p:sp>
      <p:sp>
        <p:nvSpPr>
          <p:cNvPr id="3" name="TextBox 2"/>
          <p:cNvSpPr txBox="1"/>
          <p:nvPr/>
        </p:nvSpPr>
        <p:spPr>
          <a:xfrm>
            <a:off x="755576" y="5589240"/>
            <a:ext cx="7704856" cy="1077218"/>
          </a:xfrm>
          <a:prstGeom prst="rect">
            <a:avLst/>
          </a:prstGeom>
          <a:solidFill>
            <a:srgbClr val="FFFF00"/>
          </a:solid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循环一定周次以后，会在外加载荷低于许用应力下发生破坏</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6215A-2C07-28CB-887B-600DCC47FFF0}"/>
            </a:ext>
          </a:extLst>
        </p:cNvPr>
        <p:cNvGrpSpPr/>
        <p:nvPr/>
      </p:nvGrpSpPr>
      <p:grpSpPr>
        <a:xfrm>
          <a:off x="0" y="0"/>
          <a:ext cx="0" cy="0"/>
          <a:chOff x="0" y="0"/>
          <a:chExt cx="0" cy="0"/>
        </a:xfrm>
      </p:grpSpPr>
      <p:pic>
        <p:nvPicPr>
          <p:cNvPr id="3" name="Picture 4" descr="0110">
            <a:extLst>
              <a:ext uri="{FF2B5EF4-FFF2-40B4-BE49-F238E27FC236}">
                <a16:creationId xmlns:a16="http://schemas.microsoft.com/office/drawing/2014/main" id="{1F020A8F-89CC-8A93-D330-D83AFED132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54762" y="4002713"/>
            <a:ext cx="3769903" cy="230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Rectangle 3">
            <a:extLst>
              <a:ext uri="{FF2B5EF4-FFF2-40B4-BE49-F238E27FC236}">
                <a16:creationId xmlns:a16="http://schemas.microsoft.com/office/drawing/2014/main" id="{2DD5EAF6-9915-9224-2967-C3764D880DCD}"/>
              </a:ext>
            </a:extLst>
          </p:cNvPr>
          <p:cNvSpPr>
            <a:spLocks noGrp="1"/>
          </p:cNvSpPr>
          <p:nvPr>
            <p:ph idx="1"/>
          </p:nvPr>
        </p:nvSpPr>
        <p:spPr>
          <a:xfrm>
            <a:off x="304800" y="1219200"/>
            <a:ext cx="8382000" cy="2438400"/>
          </a:xfrm>
        </p:spPr>
        <p:txBody>
          <a:bodyPr vert="horz" wrap="square" lIns="91440" tIns="45720" rIns="91440" bIns="45720" anchor="t"/>
          <a:lstStyle/>
          <a:p>
            <a:pPr eaLnBrk="1" hangingPunct="1">
              <a:lnSpc>
                <a:spcPct val="90000"/>
              </a:lnSpc>
            </a:pPr>
            <a:r>
              <a:rPr lang="zh-CN" altLang="zh-CN" sz="2800" b="1" dirty="0">
                <a:solidFill>
                  <a:schemeClr val="tx2"/>
                </a:solidFill>
                <a:effectLst>
                  <a:outerShdw blurRad="38100" dist="38100" dir="2700000" algn="tl">
                    <a:srgbClr val="000000"/>
                  </a:outerShdw>
                </a:effectLst>
                <a:ea typeface="华文中宋" panose="02010600040101010101" pitchFamily="2" charset="-122"/>
              </a:rPr>
              <a:t>疲劳</a:t>
            </a:r>
            <a:r>
              <a:rPr lang="zh-CN" altLang="en-US" sz="2800" b="1" dirty="0">
                <a:solidFill>
                  <a:schemeClr val="tx2"/>
                </a:solidFill>
                <a:effectLst>
                  <a:outerShdw blurRad="38100" dist="38100" dir="2700000" algn="tl">
                    <a:srgbClr val="000000"/>
                  </a:outerShdw>
                </a:effectLst>
                <a:ea typeface="华文中宋" panose="02010600040101010101" pitchFamily="2" charset="-122"/>
              </a:rPr>
              <a:t>：</a:t>
            </a:r>
            <a:r>
              <a:rPr lang="zh-CN" altLang="en-US" sz="2800" b="1" dirty="0">
                <a:solidFill>
                  <a:srgbClr val="FFFF66"/>
                </a:solidFill>
                <a:ea typeface="华文中宋" panose="02010600040101010101" pitchFamily="2" charset="-122"/>
              </a:rPr>
              <a:t>材料或构件在周期性应力（或应变）下发生的低应力失效</a:t>
            </a:r>
            <a:r>
              <a:rPr lang="zh-CN" altLang="zh-CN" sz="2800" b="1" dirty="0">
                <a:solidFill>
                  <a:srgbClr val="FFFF66"/>
                </a:solidFill>
                <a:ea typeface="华文中宋" panose="02010600040101010101" pitchFamily="2" charset="-122"/>
                <a:sym typeface="Symbol" panose="05050102010706020507" pitchFamily="18" charset="2"/>
              </a:rPr>
              <a:t>.</a:t>
            </a:r>
          </a:p>
          <a:p>
            <a:pPr eaLnBrk="1" hangingPunct="1">
              <a:lnSpc>
                <a:spcPct val="140000"/>
              </a:lnSpc>
            </a:pPr>
            <a:r>
              <a:rPr lang="zh-CN" altLang="en-US" sz="2800" b="1" dirty="0">
                <a:ea typeface="华文中宋" panose="02010600040101010101" pitchFamily="2" charset="-122"/>
                <a:sym typeface="Symbol" panose="05050102010706020507" pitchFamily="18" charset="2"/>
              </a:rPr>
              <a:t>材料在规定次数应力循环后仍不发生断裂时的最大应力称为</a:t>
            </a:r>
            <a:r>
              <a:rPr lang="zh-CN" altLang="en-US" sz="2800" b="1" dirty="0">
                <a:solidFill>
                  <a:schemeClr val="tx2"/>
                </a:solidFill>
                <a:ea typeface="华文中宋" panose="02010600040101010101" pitchFamily="2" charset="-122"/>
                <a:sym typeface="Symbol" panose="05050102010706020507" pitchFamily="18" charset="2"/>
              </a:rPr>
              <a:t>疲劳极限</a:t>
            </a:r>
            <a:r>
              <a:rPr lang="zh-CN" altLang="en-US" sz="2800" b="1" dirty="0">
                <a:ea typeface="华文中宋" panose="02010600040101010101" pitchFamily="2" charset="-122"/>
                <a:sym typeface="Symbol" panose="05050102010706020507" pitchFamily="18" charset="2"/>
              </a:rPr>
              <a:t>。用</a:t>
            </a:r>
            <a:r>
              <a:rPr lang="en-US" altLang="zh-CN" sz="2800" b="1" dirty="0">
                <a:solidFill>
                  <a:schemeClr val="tx2"/>
                </a:solidFill>
                <a:ea typeface="华文中宋" panose="02010600040101010101" pitchFamily="2" charset="-122"/>
                <a:sym typeface="Symbol" panose="05050102010706020507" pitchFamily="18" charset="2"/>
              </a:rPr>
              <a:t></a:t>
            </a:r>
            <a:r>
              <a:rPr lang="zh-CN" altLang="zh-CN" sz="2800" b="1" baseline="-25000" dirty="0">
                <a:solidFill>
                  <a:schemeClr val="tx2"/>
                </a:solidFill>
                <a:ea typeface="华文中宋" panose="02010600040101010101" pitchFamily="2" charset="-122"/>
                <a:sym typeface="Symbol" panose="05050102010706020507" pitchFamily="18" charset="2"/>
              </a:rPr>
              <a:t>-1</a:t>
            </a:r>
            <a:r>
              <a:rPr lang="zh-CN" altLang="en-US" sz="2800" b="1" dirty="0">
                <a:ea typeface="华文中宋" panose="02010600040101010101" pitchFamily="2" charset="-122"/>
                <a:sym typeface="Symbol" panose="05050102010706020507" pitchFamily="18" charset="2"/>
              </a:rPr>
              <a:t>表示。</a:t>
            </a:r>
          </a:p>
          <a:p>
            <a:pPr eaLnBrk="1" hangingPunct="1">
              <a:lnSpc>
                <a:spcPct val="140000"/>
              </a:lnSpc>
            </a:pPr>
            <a:r>
              <a:rPr lang="zh-CN" altLang="en-US" sz="2800" b="1" dirty="0">
                <a:solidFill>
                  <a:srgbClr val="CCFF33"/>
                </a:solidFill>
                <a:ea typeface="华文中宋" panose="02010600040101010101" pitchFamily="2" charset="-122"/>
                <a:sym typeface="Symbol" panose="05050102010706020507" pitchFamily="18" charset="2"/>
              </a:rPr>
              <a:t>钢铁材料规定次数为</a:t>
            </a:r>
            <a:r>
              <a:rPr lang="zh-CN" altLang="zh-CN" sz="2800" b="1" dirty="0">
                <a:solidFill>
                  <a:srgbClr val="CCFF33"/>
                </a:solidFill>
                <a:ea typeface="华文中宋" panose="02010600040101010101" pitchFamily="2" charset="-122"/>
                <a:sym typeface="Symbol" panose="05050102010706020507" pitchFamily="18" charset="2"/>
              </a:rPr>
              <a:t>10</a:t>
            </a:r>
            <a:r>
              <a:rPr lang="zh-CN" altLang="zh-CN" sz="2800" b="1" baseline="30000" dirty="0">
                <a:solidFill>
                  <a:srgbClr val="CCFF33"/>
                </a:solidFill>
                <a:ea typeface="华文中宋" panose="02010600040101010101" pitchFamily="2" charset="-122"/>
                <a:sym typeface="Symbol" panose="05050102010706020507" pitchFamily="18" charset="2"/>
              </a:rPr>
              <a:t>7</a:t>
            </a:r>
            <a:r>
              <a:rPr lang="zh-CN" altLang="en-US" sz="2800" b="1" dirty="0">
                <a:solidFill>
                  <a:srgbClr val="CCFF33"/>
                </a:solidFill>
                <a:ea typeface="华文中宋" panose="02010600040101010101" pitchFamily="2" charset="-122"/>
                <a:sym typeface="Symbol" panose="05050102010706020507" pitchFamily="18" charset="2"/>
              </a:rPr>
              <a:t>，有色金属合金为</a:t>
            </a:r>
            <a:r>
              <a:rPr lang="zh-CN" altLang="zh-CN" sz="2800" b="1" dirty="0">
                <a:solidFill>
                  <a:srgbClr val="CCFF33"/>
                </a:solidFill>
                <a:ea typeface="华文中宋" panose="02010600040101010101" pitchFamily="2" charset="-122"/>
                <a:sym typeface="Symbol" panose="05050102010706020507" pitchFamily="18" charset="2"/>
              </a:rPr>
              <a:t>10</a:t>
            </a:r>
            <a:r>
              <a:rPr lang="zh-CN" altLang="zh-CN" sz="2800" b="1" baseline="30000" dirty="0">
                <a:solidFill>
                  <a:srgbClr val="CCFF33"/>
                </a:solidFill>
                <a:ea typeface="华文中宋" panose="02010600040101010101" pitchFamily="2" charset="-122"/>
                <a:sym typeface="Symbol" panose="05050102010706020507" pitchFamily="18" charset="2"/>
              </a:rPr>
              <a:t>8</a:t>
            </a:r>
            <a:r>
              <a:rPr lang="zh-CN" altLang="en-US" sz="2800" b="1" dirty="0">
                <a:solidFill>
                  <a:srgbClr val="CCFF33"/>
                </a:solidFill>
                <a:ea typeface="华文中宋" panose="02010600040101010101" pitchFamily="2" charset="-122"/>
                <a:sym typeface="Symbol" panose="05050102010706020507" pitchFamily="18" charset="2"/>
              </a:rPr>
              <a:t>。</a:t>
            </a:r>
          </a:p>
        </p:txBody>
      </p:sp>
      <p:grpSp>
        <p:nvGrpSpPr>
          <p:cNvPr id="2" name="Group 4">
            <a:extLst>
              <a:ext uri="{FF2B5EF4-FFF2-40B4-BE49-F238E27FC236}">
                <a16:creationId xmlns:a16="http://schemas.microsoft.com/office/drawing/2014/main" id="{7D4A0909-49C6-EA4D-38E8-256F3842C410}"/>
              </a:ext>
            </a:extLst>
          </p:cNvPr>
          <p:cNvGrpSpPr/>
          <p:nvPr/>
        </p:nvGrpSpPr>
        <p:grpSpPr>
          <a:xfrm>
            <a:off x="766763" y="3933825"/>
            <a:ext cx="7931150" cy="2370138"/>
            <a:chOff x="0" y="0"/>
            <a:chExt cx="4996" cy="1493"/>
          </a:xfrm>
        </p:grpSpPr>
        <p:grpSp>
          <p:nvGrpSpPr>
            <p:cNvPr id="70667" name="Group 12">
              <a:extLst>
                <a:ext uri="{FF2B5EF4-FFF2-40B4-BE49-F238E27FC236}">
                  <a16:creationId xmlns:a16="http://schemas.microsoft.com/office/drawing/2014/main" id="{E9D35AB1-7835-DD3D-1D1E-7D7DFF1D7260}"/>
                </a:ext>
              </a:extLst>
            </p:cNvPr>
            <p:cNvGrpSpPr/>
            <p:nvPr/>
          </p:nvGrpSpPr>
          <p:grpSpPr>
            <a:xfrm>
              <a:off x="0" y="0"/>
              <a:ext cx="2481" cy="1493"/>
              <a:chOff x="0" y="0"/>
              <a:chExt cx="2481" cy="1493"/>
            </a:xfrm>
          </p:grpSpPr>
          <p:grpSp>
            <p:nvGrpSpPr>
              <p:cNvPr id="70668" name="Group 13">
                <a:extLst>
                  <a:ext uri="{FF2B5EF4-FFF2-40B4-BE49-F238E27FC236}">
                    <a16:creationId xmlns:a16="http://schemas.microsoft.com/office/drawing/2014/main" id="{11E54674-A8F5-5B30-FC88-C832506B8AD8}"/>
                  </a:ext>
                </a:extLst>
              </p:cNvPr>
              <p:cNvGrpSpPr/>
              <p:nvPr/>
            </p:nvGrpSpPr>
            <p:grpSpPr>
              <a:xfrm>
                <a:off x="0" y="0"/>
                <a:ext cx="2425" cy="1493"/>
                <a:chOff x="0" y="0"/>
                <a:chExt cx="2425" cy="1493"/>
              </a:xfrm>
            </p:grpSpPr>
            <p:grpSp>
              <p:nvGrpSpPr>
                <p:cNvPr id="70669" name="Group 14">
                  <a:extLst>
                    <a:ext uri="{FF2B5EF4-FFF2-40B4-BE49-F238E27FC236}">
                      <a16:creationId xmlns:a16="http://schemas.microsoft.com/office/drawing/2014/main" id="{A5B6BC85-8283-4AE7-4CAF-29145D54FA2F}"/>
                    </a:ext>
                  </a:extLst>
                </p:cNvPr>
                <p:cNvGrpSpPr>
                  <a:grpSpLocks noChangeAspect="1"/>
                </p:cNvGrpSpPr>
                <p:nvPr/>
              </p:nvGrpSpPr>
              <p:grpSpPr>
                <a:xfrm>
                  <a:off x="45" y="18"/>
                  <a:ext cx="2380" cy="1475"/>
                  <a:chOff x="0" y="0"/>
                  <a:chExt cx="2394" cy="1483"/>
                </a:xfrm>
              </p:grpSpPr>
              <p:grpSp>
                <p:nvGrpSpPr>
                  <p:cNvPr id="70670" name="Group 15">
                    <a:extLst>
                      <a:ext uri="{FF2B5EF4-FFF2-40B4-BE49-F238E27FC236}">
                        <a16:creationId xmlns:a16="http://schemas.microsoft.com/office/drawing/2014/main" id="{3F057C57-D5A0-E46F-BBE2-92FD13024753}"/>
                      </a:ext>
                    </a:extLst>
                  </p:cNvPr>
                  <p:cNvGrpSpPr>
                    <a:grpSpLocks noChangeAspect="1"/>
                  </p:cNvGrpSpPr>
                  <p:nvPr/>
                </p:nvGrpSpPr>
                <p:grpSpPr>
                  <a:xfrm>
                    <a:off x="0" y="0"/>
                    <a:ext cx="2386" cy="1474"/>
                    <a:chOff x="0" y="0"/>
                    <a:chExt cx="2386" cy="1474"/>
                  </a:xfrm>
                </p:grpSpPr>
                <p:pic>
                  <p:nvPicPr>
                    <p:cNvPr id="70671" name="Picture 16" descr="疲劳应力1">
                      <a:extLst>
                        <a:ext uri="{FF2B5EF4-FFF2-40B4-BE49-F238E27FC236}">
                          <a16:creationId xmlns:a16="http://schemas.microsoft.com/office/drawing/2014/main" id="{A67EEC39-8976-18FF-D628-534A54D91E5C}"/>
                        </a:ext>
                      </a:extLst>
                    </p:cNvPr>
                    <p:cNvPicPr>
                      <a:picLocks noChangeAspect="1"/>
                    </p:cNvPicPr>
                    <p:nvPr/>
                  </p:nvPicPr>
                  <p:blipFill>
                    <a:blip r:embed="rId3"/>
                    <a:stretch>
                      <a:fillRect/>
                    </a:stretch>
                  </p:blipFill>
                  <p:spPr>
                    <a:xfrm>
                      <a:off x="0" y="0"/>
                      <a:ext cx="1279" cy="1473"/>
                    </a:xfrm>
                    <a:prstGeom prst="rect">
                      <a:avLst/>
                    </a:prstGeom>
                    <a:noFill/>
                    <a:ln w="9525">
                      <a:noFill/>
                    </a:ln>
                  </p:spPr>
                </p:pic>
                <p:pic>
                  <p:nvPicPr>
                    <p:cNvPr id="70672" name="Picture 17" descr="疲劳应力2">
                      <a:extLst>
                        <a:ext uri="{FF2B5EF4-FFF2-40B4-BE49-F238E27FC236}">
                          <a16:creationId xmlns:a16="http://schemas.microsoft.com/office/drawing/2014/main" id="{E5EDDB29-948A-D1BA-D9D9-128F6C37B78A}"/>
                        </a:ext>
                      </a:extLst>
                    </p:cNvPr>
                    <p:cNvPicPr>
                      <a:picLocks noChangeAspect="1"/>
                    </p:cNvPicPr>
                    <p:nvPr/>
                  </p:nvPicPr>
                  <p:blipFill>
                    <a:blip r:embed="rId4"/>
                    <a:stretch>
                      <a:fillRect/>
                    </a:stretch>
                  </p:blipFill>
                  <p:spPr>
                    <a:xfrm>
                      <a:off x="1266" y="0"/>
                      <a:ext cx="1120" cy="1474"/>
                    </a:xfrm>
                    <a:prstGeom prst="rect">
                      <a:avLst/>
                    </a:prstGeom>
                    <a:noFill/>
                    <a:ln w="9525">
                      <a:noFill/>
                    </a:ln>
                  </p:spPr>
                </p:pic>
              </p:grpSp>
              <p:sp>
                <p:nvSpPr>
                  <p:cNvPr id="70673" name="Rectangle 18">
                    <a:extLst>
                      <a:ext uri="{FF2B5EF4-FFF2-40B4-BE49-F238E27FC236}">
                        <a16:creationId xmlns:a16="http://schemas.microsoft.com/office/drawing/2014/main" id="{475D6FE3-4708-81E7-A781-29257C497A3B}"/>
                      </a:ext>
                    </a:extLst>
                  </p:cNvPr>
                  <p:cNvSpPr>
                    <a:spLocks noChangeAspect="1"/>
                  </p:cNvSpPr>
                  <p:nvPr/>
                </p:nvSpPr>
                <p:spPr>
                  <a:xfrm>
                    <a:off x="0" y="0"/>
                    <a:ext cx="2394" cy="1483"/>
                  </a:xfrm>
                  <a:prstGeom prst="rect">
                    <a:avLst/>
                  </a:prstGeom>
                  <a:noFill/>
                  <a:ln w="28575" cap="flat" cmpd="sng">
                    <a:solidFill>
                      <a:srgbClr val="FF00FF"/>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grpSp>
            <p:sp>
              <p:nvSpPr>
                <p:cNvPr id="70674" name="Text Box 19">
                  <a:extLst>
                    <a:ext uri="{FF2B5EF4-FFF2-40B4-BE49-F238E27FC236}">
                      <a16:creationId xmlns:a16="http://schemas.microsoft.com/office/drawing/2014/main" id="{2F92A06F-CDFA-7452-9B87-246760C27F80}"/>
                    </a:ext>
                  </a:extLst>
                </p:cNvPr>
                <p:cNvSpPr txBox="1"/>
                <p:nvPr/>
              </p:nvSpPr>
              <p:spPr>
                <a:xfrm>
                  <a:off x="0" y="0"/>
                  <a:ext cx="1296" cy="250"/>
                </a:xfrm>
                <a:prstGeom prst="rect">
                  <a:avLst/>
                </a:prstGeom>
                <a:noFill/>
                <a:ln w="9525">
                  <a:noFill/>
                </a:ln>
              </p:spPr>
              <p:txBody>
                <a:bodyPr anchor="t">
                  <a:spAutoFit/>
                </a:bodyPr>
                <a:lstStyle/>
                <a:p>
                  <a:pPr algn="ct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疲劳应力示意图</a:t>
                  </a:r>
                </a:p>
              </p:txBody>
            </p:sp>
          </p:grpSp>
          <p:sp>
            <p:nvSpPr>
              <p:cNvPr id="70675" name="Text Box 20">
                <a:extLst>
                  <a:ext uri="{FF2B5EF4-FFF2-40B4-BE49-F238E27FC236}">
                    <a16:creationId xmlns:a16="http://schemas.microsoft.com/office/drawing/2014/main" id="{B820CD73-28CE-1D9D-7457-F9AEFC2209B5}"/>
                  </a:ext>
                </a:extLst>
              </p:cNvPr>
              <p:cNvSpPr txBox="1"/>
              <p:nvPr/>
            </p:nvSpPr>
            <p:spPr>
              <a:xfrm>
                <a:off x="759" y="1305"/>
                <a:ext cx="576" cy="173"/>
              </a:xfrm>
              <a:prstGeom prst="rect">
                <a:avLst/>
              </a:prstGeom>
              <a:noFill/>
              <a:ln w="9525">
                <a:noFill/>
              </a:ln>
            </p:spPr>
            <p:txBody>
              <a:bodyPr anchor="t">
                <a:spAutoFit/>
              </a:bodyPr>
              <a:lstStyle/>
              <a:p>
                <a:pPr>
                  <a:spcBef>
                    <a:spcPct val="50000"/>
                  </a:spcBef>
                </a:pPr>
                <a:r>
                  <a:rPr lang="zh-CN" altLang="en-US" sz="1200" dirty="0">
                    <a:solidFill>
                      <a:schemeClr val="bg2"/>
                    </a:solidFill>
                    <a:latin typeface="Times New Roman" panose="02020603050405020304" pitchFamily="18" charset="0"/>
                    <a:ea typeface="宋体" panose="02010600030101010101" pitchFamily="2" charset="-122"/>
                  </a:rPr>
                  <a:t>交变应力</a:t>
                </a:r>
              </a:p>
            </p:txBody>
          </p:sp>
          <p:sp>
            <p:nvSpPr>
              <p:cNvPr id="70676" name="Text Box 21">
                <a:extLst>
                  <a:ext uri="{FF2B5EF4-FFF2-40B4-BE49-F238E27FC236}">
                    <a16:creationId xmlns:a16="http://schemas.microsoft.com/office/drawing/2014/main" id="{EDE8BDC1-A00E-3811-A2CE-F2F525C287A3}"/>
                  </a:ext>
                </a:extLst>
              </p:cNvPr>
              <p:cNvSpPr txBox="1"/>
              <p:nvPr/>
            </p:nvSpPr>
            <p:spPr>
              <a:xfrm>
                <a:off x="1905" y="1302"/>
                <a:ext cx="576" cy="173"/>
              </a:xfrm>
              <a:prstGeom prst="rect">
                <a:avLst/>
              </a:prstGeom>
              <a:noFill/>
              <a:ln w="9525">
                <a:noFill/>
              </a:ln>
            </p:spPr>
            <p:txBody>
              <a:bodyPr anchor="t">
                <a:spAutoFit/>
              </a:bodyPr>
              <a:lstStyle/>
              <a:p>
                <a:pPr>
                  <a:spcBef>
                    <a:spcPct val="50000"/>
                  </a:spcBef>
                </a:pPr>
                <a:r>
                  <a:rPr lang="zh-CN" altLang="en-US" sz="1200" dirty="0">
                    <a:solidFill>
                      <a:schemeClr val="bg2"/>
                    </a:solidFill>
                    <a:latin typeface="Times New Roman" panose="02020603050405020304" pitchFamily="18" charset="0"/>
                    <a:ea typeface="宋体" panose="02010600030101010101" pitchFamily="2" charset="-122"/>
                  </a:rPr>
                  <a:t>重复应力</a:t>
                </a:r>
              </a:p>
            </p:txBody>
          </p:sp>
        </p:grpSp>
        <p:sp>
          <p:nvSpPr>
            <p:cNvPr id="70666" name="Text Box 11">
              <a:extLst>
                <a:ext uri="{FF2B5EF4-FFF2-40B4-BE49-F238E27FC236}">
                  <a16:creationId xmlns:a16="http://schemas.microsoft.com/office/drawing/2014/main" id="{E65E3DCA-738C-BFC3-6017-A8E9B40C00D3}"/>
                </a:ext>
              </a:extLst>
            </p:cNvPr>
            <p:cNvSpPr txBox="1"/>
            <p:nvPr/>
          </p:nvSpPr>
          <p:spPr>
            <a:xfrm>
              <a:off x="3708" y="43"/>
              <a:ext cx="1288" cy="250"/>
            </a:xfrm>
            <a:prstGeom prst="rect">
              <a:avLst/>
            </a:prstGeom>
            <a:noFill/>
            <a:ln w="9525">
              <a:noFill/>
            </a:ln>
          </p:spPr>
          <p:txBody>
            <a:bodyPr anchor="t">
              <a:spAutoFit/>
            </a:bodyPr>
            <a:lstStyle/>
            <a:p>
              <a:pP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疲劳曲线示意图</a:t>
              </a:r>
            </a:p>
          </p:txBody>
        </p:sp>
      </p:grpSp>
    </p:spTree>
    <p:extLst>
      <p:ext uri="{BB962C8B-B14F-4D97-AF65-F5344CB8AC3E}">
        <p14:creationId xmlns:p14="http://schemas.microsoft.com/office/powerpoint/2010/main" val="149942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wipe(left)">
                                      <p:cBhvr>
                                        <p:cTn id="7" dur="500"/>
                                        <p:tgtEl>
                                          <p:spTgt spid="7065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0659">
                                            <p:txEl>
                                              <p:pRg st="1" end="1"/>
                                            </p:txEl>
                                          </p:spTgt>
                                        </p:tgtEl>
                                        <p:attrNameLst>
                                          <p:attrName>style.visibility</p:attrName>
                                        </p:attrNameLst>
                                      </p:cBhvr>
                                      <p:to>
                                        <p:strVal val="visible"/>
                                      </p:to>
                                    </p:set>
                                    <p:animEffect transition="in" filter="wipe(left)">
                                      <p:cBhvr>
                                        <p:cTn id="11" dur="500"/>
                                        <p:tgtEl>
                                          <p:spTgt spid="70659">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0659">
                                            <p:txEl>
                                              <p:pRg st="2" end="2"/>
                                            </p:txEl>
                                          </p:spTgt>
                                        </p:tgtEl>
                                        <p:attrNameLst>
                                          <p:attrName>style.visibility</p:attrName>
                                        </p:attrNameLst>
                                      </p:cBhvr>
                                      <p:to>
                                        <p:strVal val="visible"/>
                                      </p:to>
                                    </p:set>
                                    <p:animEffect transition="in" filter="wipe(left)">
                                      <p:cBhvr>
                                        <p:cTn id="15" dur="500"/>
                                        <p:tgtEl>
                                          <p:spTgt spid="70659">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dvAuto="100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838200" y="304800"/>
            <a:ext cx="7620000" cy="6858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疲劳断口</a:t>
            </a:r>
          </a:p>
        </p:txBody>
      </p:sp>
      <p:sp>
        <p:nvSpPr>
          <p:cNvPr id="71683" name="Text Box 3"/>
          <p:cNvSpPr txBox="1"/>
          <p:nvPr/>
        </p:nvSpPr>
        <p:spPr>
          <a:xfrm>
            <a:off x="533400" y="4970463"/>
            <a:ext cx="8229600" cy="1289050"/>
          </a:xfrm>
          <a:prstGeom prst="rect">
            <a:avLst/>
          </a:prstGeom>
          <a:noFill/>
          <a:ln w="9525">
            <a:noFill/>
          </a:ln>
        </p:spPr>
        <p:txBody>
          <a:bodyPr anchor="t">
            <a:spAutoFit/>
          </a:bodyPr>
          <a:lstStyle/>
          <a:p>
            <a:pPr>
              <a:lnSpc>
                <a:spcPct val="140000"/>
              </a:lnSpc>
              <a:spcBef>
                <a:spcPct val="50000"/>
              </a:spcBef>
            </a:pPr>
            <a:r>
              <a:rPr lang="zh-CN" altLang="en-US" sz="2800" b="1" dirty="0">
                <a:latin typeface="Times New Roman" panose="02020603050405020304" pitchFamily="18" charset="0"/>
                <a:ea typeface="华文中宋" panose="02010600040101010101" pitchFamily="2" charset="-122"/>
              </a:rPr>
              <a:t>通过</a:t>
            </a:r>
            <a:r>
              <a:rPr lang="zh-CN" altLang="en-US" sz="2800" b="1" dirty="0">
                <a:solidFill>
                  <a:srgbClr val="CCFF33"/>
                </a:solidFill>
                <a:latin typeface="Times New Roman" panose="02020603050405020304" pitchFamily="18" charset="0"/>
                <a:ea typeface="华文中宋" panose="02010600040101010101" pitchFamily="2" charset="-122"/>
              </a:rPr>
              <a:t>改善材料形状结构</a:t>
            </a:r>
            <a:r>
              <a:rPr lang="zh-CN" altLang="en-US" sz="2800" b="1" dirty="0">
                <a:latin typeface="Times New Roman" panose="02020603050405020304" pitchFamily="18" charset="0"/>
                <a:ea typeface="华文中宋" panose="02010600040101010101" pitchFamily="2" charset="-122"/>
              </a:rPr>
              <a:t>，</a:t>
            </a:r>
            <a:r>
              <a:rPr lang="zh-CN" altLang="en-US" sz="2800" b="1" dirty="0">
                <a:solidFill>
                  <a:srgbClr val="CCFF33"/>
                </a:solidFill>
                <a:latin typeface="Times New Roman" panose="02020603050405020304" pitchFamily="18" charset="0"/>
                <a:ea typeface="华文中宋" panose="02010600040101010101" pitchFamily="2" charset="-122"/>
              </a:rPr>
              <a:t>减少表面缺陷</a:t>
            </a:r>
            <a:r>
              <a:rPr lang="zh-CN" altLang="en-US" sz="2800" b="1" dirty="0">
                <a:latin typeface="Times New Roman" panose="02020603050405020304" pitchFamily="18" charset="0"/>
                <a:ea typeface="华文中宋" panose="02010600040101010101" pitchFamily="2" charset="-122"/>
              </a:rPr>
              <a:t>，</a:t>
            </a:r>
            <a:r>
              <a:rPr lang="zh-CN" altLang="en-US" sz="2800" b="1" dirty="0">
                <a:solidFill>
                  <a:srgbClr val="CCFF33"/>
                </a:solidFill>
                <a:latin typeface="Times New Roman" panose="02020603050405020304" pitchFamily="18" charset="0"/>
                <a:ea typeface="华文中宋" panose="02010600040101010101" pitchFamily="2" charset="-122"/>
              </a:rPr>
              <a:t>提高表面光洁度</a:t>
            </a:r>
            <a:r>
              <a:rPr lang="zh-CN" altLang="en-US" sz="2800" b="1" dirty="0">
                <a:latin typeface="Times New Roman" panose="02020603050405020304" pitchFamily="18" charset="0"/>
                <a:ea typeface="华文中宋" panose="02010600040101010101" pitchFamily="2" charset="-122"/>
              </a:rPr>
              <a:t>，</a:t>
            </a:r>
            <a:r>
              <a:rPr lang="zh-CN" altLang="en-US" sz="2800" b="1" dirty="0">
                <a:solidFill>
                  <a:srgbClr val="CCFF33"/>
                </a:solidFill>
                <a:latin typeface="Times New Roman" panose="02020603050405020304" pitchFamily="18" charset="0"/>
                <a:ea typeface="华文中宋" panose="02010600040101010101" pitchFamily="2" charset="-122"/>
              </a:rPr>
              <a:t>进行表面强化</a:t>
            </a:r>
            <a:r>
              <a:rPr lang="zh-CN" altLang="en-US" sz="2800" b="1" dirty="0">
                <a:latin typeface="Times New Roman" panose="02020603050405020304" pitchFamily="18" charset="0"/>
                <a:ea typeface="华文中宋" panose="02010600040101010101" pitchFamily="2" charset="-122"/>
              </a:rPr>
              <a:t>等方法可提高材料疲劳抗力</a:t>
            </a:r>
            <a:r>
              <a:rPr lang="zh-CN" altLang="zh-CN" sz="2800" b="1" dirty="0">
                <a:latin typeface="Times New Roman" panose="02020603050405020304" pitchFamily="18" charset="0"/>
                <a:ea typeface="华文中宋" panose="02010600040101010101" pitchFamily="2" charset="-122"/>
              </a:rPr>
              <a:t>.</a:t>
            </a:r>
          </a:p>
        </p:txBody>
      </p:sp>
      <p:grpSp>
        <p:nvGrpSpPr>
          <p:cNvPr id="2" name="Group 4"/>
          <p:cNvGrpSpPr/>
          <p:nvPr/>
        </p:nvGrpSpPr>
        <p:grpSpPr>
          <a:xfrm>
            <a:off x="838200" y="1333500"/>
            <a:ext cx="7791450" cy="3559175"/>
            <a:chOff x="0" y="0"/>
            <a:chExt cx="4908" cy="2242"/>
          </a:xfrm>
        </p:grpSpPr>
        <p:sp>
          <p:nvSpPr>
            <p:cNvPr id="71684" name="Text Box 5"/>
            <p:cNvSpPr txBox="1"/>
            <p:nvPr/>
          </p:nvSpPr>
          <p:spPr>
            <a:xfrm>
              <a:off x="132" y="1992"/>
              <a:ext cx="1824" cy="250"/>
            </a:xfrm>
            <a:prstGeom prst="rect">
              <a:avLst/>
            </a:prstGeom>
            <a:noFill/>
            <a:ln w="9525">
              <a:noFill/>
            </a:ln>
          </p:spPr>
          <p:txBody>
            <a:bodyPr anchor="t">
              <a:spAutoFit/>
            </a:bodyPr>
            <a:lstStyle/>
            <a:p>
              <a:pPr algn="ct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轴的疲劳断口</a:t>
              </a:r>
            </a:p>
          </p:txBody>
        </p:sp>
        <p:sp>
          <p:nvSpPr>
            <p:cNvPr id="71685" name="Text Box 6"/>
            <p:cNvSpPr txBox="1"/>
            <p:nvPr/>
          </p:nvSpPr>
          <p:spPr>
            <a:xfrm>
              <a:off x="2028" y="1992"/>
              <a:ext cx="2880" cy="250"/>
            </a:xfrm>
            <a:prstGeom prst="rect">
              <a:avLst/>
            </a:prstGeom>
            <a:noFill/>
            <a:ln w="9525">
              <a:noFill/>
            </a:ln>
          </p:spPr>
          <p:txBody>
            <a:bodyPr anchor="t">
              <a:spAutoFit/>
            </a:bodyPr>
            <a:lstStyle/>
            <a:p>
              <a:pPr algn="ct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疲劳辉纹（扫描电镜照片）</a:t>
              </a:r>
              <a:endParaRPr lang="zh-CN" altLang="en-US" sz="2000" dirty="0">
                <a:solidFill>
                  <a:schemeClr val="folHlink"/>
                </a:solidFill>
                <a:latin typeface="Times New Roman" panose="02020603050405020304" pitchFamily="18" charset="0"/>
                <a:ea typeface="宋体" panose="02010600030101010101" pitchFamily="2" charset="-122"/>
              </a:endParaRPr>
            </a:p>
          </p:txBody>
        </p:sp>
        <p:pic>
          <p:nvPicPr>
            <p:cNvPr id="71686" name="Picture 7" descr="疲劳断口"/>
            <p:cNvPicPr>
              <a:picLocks noChangeAspect="1"/>
            </p:cNvPicPr>
            <p:nvPr/>
          </p:nvPicPr>
          <p:blipFill>
            <a:blip r:embed="rId2"/>
            <a:stretch>
              <a:fillRect/>
            </a:stretch>
          </p:blipFill>
          <p:spPr>
            <a:xfrm>
              <a:off x="0" y="24"/>
              <a:ext cx="4754" cy="1933"/>
            </a:xfrm>
            <a:prstGeom prst="rect">
              <a:avLst/>
            </a:prstGeom>
            <a:noFill/>
            <a:ln w="57150" cap="flat" cmpd="sng">
              <a:solidFill>
                <a:srgbClr val="FF9900"/>
              </a:solidFill>
              <a:prstDash val="solid"/>
              <a:miter/>
              <a:headEnd type="none" w="med" len="med"/>
              <a:tailEnd type="none" w="med" len="med"/>
            </a:ln>
          </p:spPr>
        </p:pic>
        <p:sp>
          <p:nvSpPr>
            <p:cNvPr id="71687" name="Line 8"/>
            <p:cNvSpPr/>
            <p:nvPr/>
          </p:nvSpPr>
          <p:spPr>
            <a:xfrm>
              <a:off x="2016" y="0"/>
              <a:ext cx="0" cy="1968"/>
            </a:xfrm>
            <a:prstGeom prst="line">
              <a:avLst/>
            </a:prstGeom>
            <a:ln w="57150" cap="flat" cmpd="sng">
              <a:solidFill>
                <a:srgbClr val="FF9900"/>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wipe(left)">
                                      <p:cBhvr>
                                        <p:cTn id="7" dur="500"/>
                                        <p:tgtEl>
                                          <p:spTgt spid="7168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1683"/>
                                        </p:tgtEl>
                                        <p:attrNameLst>
                                          <p:attrName>style.visibility</p:attrName>
                                        </p:attrNameLst>
                                      </p:cBhvr>
                                      <p:to>
                                        <p:strVal val="visible"/>
                                      </p:to>
                                    </p:set>
                                    <p:animEffect transition="in" filter="wipe(left)">
                                      <p:cBhvr>
                                        <p:cTn id="15" dur="5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bldLvl="0" animBg="1"/>
      <p:bldP spid="71683" grpId="0"/>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2706" name="Rectangle 2"/>
          <p:cNvSpPr>
            <a:spLocks noGrp="1"/>
          </p:cNvSpPr>
          <p:nvPr>
            <p:ph type="title"/>
          </p:nvPr>
        </p:nvSpPr>
        <p:spPr>
          <a:xfrm>
            <a:off x="762000" y="457200"/>
            <a:ext cx="3124200" cy="762000"/>
          </a:xfrm>
        </p:spPr>
        <p:txBody>
          <a:bodyPr vert="horz" wrap="square" lIns="92075" tIns="46038" rIns="92075" bIns="46038" anchor="ctr"/>
          <a:lstStyle/>
          <a:p>
            <a:pPr algn="l" eaLnBrk="1" hangingPunct="1"/>
            <a:r>
              <a:rPr lang="zh-CN" altLang="en-US" sz="3200" b="1" dirty="0">
                <a:solidFill>
                  <a:srgbClr val="800000"/>
                </a:solidFill>
                <a:effectLst/>
                <a:ea typeface="华文中宋" panose="02010600040101010101" pitchFamily="2" charset="-122"/>
              </a:rPr>
              <a:t>五、硬度</a:t>
            </a:r>
          </a:p>
        </p:txBody>
      </p:sp>
      <p:sp>
        <p:nvSpPr>
          <p:cNvPr id="72707" name="Rectangle 3"/>
          <p:cNvSpPr>
            <a:spLocks noGrp="1"/>
          </p:cNvSpPr>
          <p:nvPr>
            <p:ph idx="1"/>
          </p:nvPr>
        </p:nvSpPr>
        <p:spPr>
          <a:xfrm>
            <a:off x="381000" y="1409700"/>
            <a:ext cx="4953000" cy="1943100"/>
          </a:xfrm>
        </p:spPr>
        <p:txBody>
          <a:bodyPr vert="horz" wrap="square" lIns="91440" tIns="45720" rIns="91440" bIns="45720" anchor="t"/>
          <a:lstStyle/>
          <a:p>
            <a:pPr eaLnBrk="1" hangingPunct="1">
              <a:lnSpc>
                <a:spcPct val="125000"/>
              </a:lnSpc>
            </a:pPr>
            <a:r>
              <a:rPr lang="zh-CN" altLang="en-US" sz="2800" b="1" dirty="0">
                <a:solidFill>
                  <a:schemeClr val="bg2"/>
                </a:solidFill>
                <a:latin typeface="华文中宋" panose="02010600040101010101" pitchFamily="2" charset="-122"/>
                <a:ea typeface="华文中宋" panose="02010600040101010101" pitchFamily="2" charset="-122"/>
              </a:rPr>
              <a:t>材料抵抗表面局部塑性变形的能力。</a:t>
            </a:r>
          </a:p>
          <a:p>
            <a:pPr eaLnBrk="1" hangingPunct="1">
              <a:lnSpc>
                <a:spcPct val="125000"/>
              </a:lnSpc>
            </a:pPr>
            <a:r>
              <a:rPr lang="zh-CN" altLang="en-US" sz="2800" b="1" dirty="0">
                <a:solidFill>
                  <a:srgbClr val="0033CC"/>
                </a:solidFill>
                <a:latin typeface="华文中宋" panose="02010600040101010101" pitchFamily="2" charset="-122"/>
                <a:ea typeface="华文中宋" panose="02010600040101010101" pitchFamily="2" charset="-122"/>
              </a:rPr>
              <a:t>布氏硬度</a:t>
            </a:r>
            <a:r>
              <a:rPr lang="zh-CN" altLang="zh-CN" sz="2800" b="1" dirty="0">
                <a:solidFill>
                  <a:srgbClr val="0033CC"/>
                </a:solidFill>
                <a:ea typeface="华文中宋" panose="02010600040101010101" pitchFamily="2" charset="-122"/>
              </a:rPr>
              <a:t>HB</a:t>
            </a:r>
          </a:p>
        </p:txBody>
      </p:sp>
      <p:grpSp>
        <p:nvGrpSpPr>
          <p:cNvPr id="2" name="Group 5"/>
          <p:cNvGrpSpPr/>
          <p:nvPr/>
        </p:nvGrpSpPr>
        <p:grpSpPr>
          <a:xfrm>
            <a:off x="533400" y="2438400"/>
            <a:ext cx="8142288" cy="4419600"/>
            <a:chOff x="0" y="0"/>
            <a:chExt cx="5129" cy="2784"/>
          </a:xfrm>
        </p:grpSpPr>
        <p:pic>
          <p:nvPicPr>
            <p:cNvPr id="72710" name="Picture 6" descr="HB测试示意图"/>
            <p:cNvPicPr preferRelativeResize="0">
              <a:picLocks noChangeAspect="1"/>
            </p:cNvPicPr>
            <p:nvPr/>
          </p:nvPicPr>
          <p:blipFill>
            <a:blip r:embed="rId2"/>
            <a:stretch>
              <a:fillRect/>
            </a:stretch>
          </p:blipFill>
          <p:spPr>
            <a:xfrm>
              <a:off x="0" y="731"/>
              <a:ext cx="1578" cy="1813"/>
            </a:xfrm>
            <a:prstGeom prst="rect">
              <a:avLst/>
            </a:prstGeom>
            <a:noFill/>
            <a:ln w="9525">
              <a:noFill/>
            </a:ln>
          </p:spPr>
        </p:pic>
        <p:pic>
          <p:nvPicPr>
            <p:cNvPr id="72711" name="Picture 7" descr="布氏硬度"/>
            <p:cNvPicPr preferRelativeResize="0">
              <a:picLocks noChangeAspect="1"/>
            </p:cNvPicPr>
            <p:nvPr/>
          </p:nvPicPr>
          <p:blipFill>
            <a:blip r:embed="rId3"/>
            <a:stretch>
              <a:fillRect/>
            </a:stretch>
          </p:blipFill>
          <p:spPr>
            <a:xfrm>
              <a:off x="1824" y="756"/>
              <a:ext cx="1594" cy="1701"/>
            </a:xfrm>
            <a:prstGeom prst="rect">
              <a:avLst/>
            </a:prstGeom>
            <a:noFill/>
            <a:ln w="9525">
              <a:noFill/>
            </a:ln>
          </p:spPr>
        </p:pic>
        <p:grpSp>
          <p:nvGrpSpPr>
            <p:cNvPr id="72712" name="Group 8"/>
            <p:cNvGrpSpPr/>
            <p:nvPr/>
          </p:nvGrpSpPr>
          <p:grpSpPr>
            <a:xfrm>
              <a:off x="3696" y="0"/>
              <a:ext cx="1433" cy="2784"/>
              <a:chOff x="0" y="0"/>
              <a:chExt cx="1433" cy="2784"/>
            </a:xfrm>
          </p:grpSpPr>
          <p:pic>
            <p:nvPicPr>
              <p:cNvPr id="72713" name="Picture 9" descr="布氏硬度计"/>
              <p:cNvPicPr preferRelativeResize="0">
                <a:picLocks noChangeAspect="1"/>
              </p:cNvPicPr>
              <p:nvPr/>
            </p:nvPicPr>
            <p:blipFill>
              <a:blip r:embed="rId4"/>
              <a:stretch>
                <a:fillRect/>
              </a:stretch>
            </p:blipFill>
            <p:spPr>
              <a:xfrm>
                <a:off x="12" y="66"/>
                <a:ext cx="1421" cy="2718"/>
              </a:xfrm>
              <a:prstGeom prst="rect">
                <a:avLst/>
              </a:prstGeom>
              <a:noFill/>
              <a:ln w="9525">
                <a:noFill/>
              </a:ln>
            </p:spPr>
          </p:pic>
          <p:sp>
            <p:nvSpPr>
              <p:cNvPr id="72714" name="Text Box 10"/>
              <p:cNvSpPr txBox="1"/>
              <p:nvPr/>
            </p:nvSpPr>
            <p:spPr>
              <a:xfrm>
                <a:off x="0" y="0"/>
                <a:ext cx="308" cy="1344"/>
              </a:xfrm>
              <a:prstGeom prst="rect">
                <a:avLst/>
              </a:prstGeom>
              <a:noFill/>
              <a:ln w="9525">
                <a:noFill/>
              </a:ln>
            </p:spPr>
            <p:txBody>
              <a:bodyPr vert="eaVert" anchor="t">
                <a:spAutoFit/>
              </a:bodyPr>
              <a:lstStyle/>
              <a:p>
                <a:pPr algn="ctr"/>
                <a:r>
                  <a:rPr lang="zh-CN" altLang="en-US" sz="2000" b="1" dirty="0">
                    <a:latin typeface="Times New Roman" panose="02020603050405020304" pitchFamily="18" charset="0"/>
                    <a:ea typeface="华文中宋" panose="02010600040101010101" pitchFamily="2" charset="-122"/>
                  </a:rPr>
                  <a:t>布氏硬度计</a:t>
                </a:r>
                <a:endParaRPr lang="zh-CN" altLang="en-US" sz="2400" dirty="0">
                  <a:latin typeface="Times New Roman" panose="02020603050405020304" pitchFamily="18" charset="0"/>
                  <a:ea typeface="宋体" panose="02010600030101010101" pitchFamily="2" charset="-122"/>
                </a:endParaRPr>
              </a:p>
            </p:txBody>
          </p:sp>
          <p:sp>
            <p:nvSpPr>
              <p:cNvPr id="72715" name="Rectangle 11"/>
              <p:cNvSpPr/>
              <p:nvPr/>
            </p:nvSpPr>
            <p:spPr>
              <a:xfrm>
                <a:off x="192" y="2484"/>
                <a:ext cx="1152" cy="288"/>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a typeface="宋体" panose="02010600030101010101" pitchFamily="2" charset="-122"/>
                </a:endParaRPr>
              </a:p>
            </p:txBody>
          </p:sp>
        </p:grpSp>
      </p:grpSp>
      <p:pic>
        <p:nvPicPr>
          <p:cNvPr id="3" name="图片 2"/>
          <p:cNvPicPr>
            <a:picLocks noChangeAspect="1"/>
          </p:cNvPicPr>
          <p:nvPr/>
        </p:nvPicPr>
        <p:blipFill>
          <a:blip r:embed="rId5"/>
          <a:stretch>
            <a:fillRect/>
          </a:stretch>
        </p:blipFill>
        <p:spPr>
          <a:xfrm>
            <a:off x="3092450" y="2438400"/>
            <a:ext cx="3327400" cy="904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wipe(left)">
                                      <p:cBhvr>
                                        <p:cTn id="7" dur="500"/>
                                        <p:tgtEl>
                                          <p:spTgt spid="7270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2707">
                                            <p:txEl>
                                              <p:pRg st="0" end="0"/>
                                            </p:txEl>
                                          </p:spTgt>
                                        </p:tgtEl>
                                        <p:attrNameLst>
                                          <p:attrName>style.visibility</p:attrName>
                                        </p:attrNameLst>
                                      </p:cBhvr>
                                      <p:to>
                                        <p:strVal val="visible"/>
                                      </p:to>
                                    </p:set>
                                    <p:animEffect transition="in" filter="wipe(left)">
                                      <p:cBhvr>
                                        <p:cTn id="11" dur="500"/>
                                        <p:tgtEl>
                                          <p:spTgt spid="7270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2707">
                                            <p:txEl>
                                              <p:pRg st="1" end="1"/>
                                            </p:txEl>
                                          </p:spTgt>
                                        </p:tgtEl>
                                        <p:attrNameLst>
                                          <p:attrName>style.visibility</p:attrName>
                                        </p:attrNameLst>
                                      </p:cBhvr>
                                      <p:to>
                                        <p:strVal val="visible"/>
                                      </p:to>
                                    </p:set>
                                    <p:animEffect transition="in" filter="wipe(left)">
                                      <p:cBhvr>
                                        <p:cTn id="15" dur="500"/>
                                        <p:tgtEl>
                                          <p:spTgt spid="72707">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bldLvl="0" animBg="1"/>
      <p:bldP spid="72707" grpId="0" build="p" advAuto="100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685800" y="609600"/>
            <a:ext cx="7924800" cy="23622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3200" b="1" i="0" u="none" strike="noStrike" kern="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楷体_GB2312" pitchFamily="1" charset="-122"/>
                <a:cs typeface="+mj-cs"/>
              </a:rPr>
              <a:t>    </a:t>
            </a: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3731" name="Rectangle 3"/>
          <p:cNvSpPr>
            <a:spLocks noGrp="1"/>
          </p:cNvSpPr>
          <p:nvPr>
            <p:ph idx="1"/>
          </p:nvPr>
        </p:nvSpPr>
        <p:spPr>
          <a:xfrm>
            <a:off x="323850" y="404813"/>
            <a:ext cx="7704138" cy="2819400"/>
          </a:xfrm>
        </p:spPr>
        <p:txBody>
          <a:bodyPr vert="horz" wrap="square" lIns="91440" tIns="45720" rIns="91440" bIns="45720" anchor="t"/>
          <a:lstStyle/>
          <a:p>
            <a:pPr algn="just" eaLnBrk="1" hangingPunct="1">
              <a:lnSpc>
                <a:spcPct val="130000"/>
              </a:lnSpc>
            </a:pPr>
            <a:r>
              <a:rPr lang="zh-CN" altLang="en-US" sz="2800" b="1" dirty="0">
                <a:solidFill>
                  <a:schemeClr val="tx2"/>
                </a:solidFill>
                <a:ea typeface="华文中宋" panose="02010600040101010101" pitchFamily="2" charset="-122"/>
              </a:rPr>
              <a:t>压头为钢球时</a:t>
            </a:r>
            <a:r>
              <a:rPr lang="zh-CN" altLang="en-US" sz="2800" b="1" dirty="0">
                <a:solidFill>
                  <a:schemeClr val="folHlink"/>
                </a:solidFill>
                <a:ea typeface="华文中宋" panose="02010600040101010101" pitchFamily="2" charset="-122"/>
              </a:rPr>
              <a:t>，布氏硬度用符号</a:t>
            </a:r>
            <a:r>
              <a:rPr lang="zh-CN" altLang="zh-CN" sz="2800" b="1" dirty="0">
                <a:solidFill>
                  <a:schemeClr val="accent1"/>
                </a:solidFill>
                <a:ea typeface="华文中宋" panose="02010600040101010101" pitchFamily="2" charset="-122"/>
              </a:rPr>
              <a:t>HBS</a:t>
            </a:r>
            <a:r>
              <a:rPr lang="zh-CN" altLang="en-US" sz="2800" b="1" dirty="0">
                <a:solidFill>
                  <a:schemeClr val="folHlink"/>
                </a:solidFill>
                <a:ea typeface="华文中宋" panose="02010600040101010101" pitchFamily="2" charset="-122"/>
              </a:rPr>
              <a:t>表示，适用于布氏硬度值在</a:t>
            </a:r>
            <a:r>
              <a:rPr lang="zh-CN" altLang="zh-CN" sz="2800" b="1" dirty="0">
                <a:solidFill>
                  <a:schemeClr val="folHlink"/>
                </a:solidFill>
                <a:ea typeface="华文中宋" panose="02010600040101010101" pitchFamily="2" charset="-122"/>
              </a:rPr>
              <a:t>450</a:t>
            </a:r>
            <a:r>
              <a:rPr lang="zh-CN" altLang="en-US" sz="2800" b="1" dirty="0">
                <a:solidFill>
                  <a:schemeClr val="folHlink"/>
                </a:solidFill>
                <a:ea typeface="华文中宋" panose="02010600040101010101" pitchFamily="2" charset="-122"/>
              </a:rPr>
              <a:t>以下的材料。</a:t>
            </a:r>
          </a:p>
          <a:p>
            <a:pPr algn="just" eaLnBrk="1" hangingPunct="1">
              <a:lnSpc>
                <a:spcPct val="130000"/>
              </a:lnSpc>
            </a:pPr>
            <a:r>
              <a:rPr lang="zh-CN" altLang="en-US" sz="2800" b="1" dirty="0">
                <a:solidFill>
                  <a:schemeClr val="tx2"/>
                </a:solidFill>
                <a:ea typeface="华文中宋" panose="02010600040101010101" pitchFamily="2" charset="-122"/>
              </a:rPr>
              <a:t>压头为硬质合金球时</a:t>
            </a:r>
            <a:r>
              <a:rPr lang="zh-CN" altLang="en-US" sz="2800" b="1" dirty="0">
                <a:solidFill>
                  <a:schemeClr val="folHlink"/>
                </a:solidFill>
                <a:ea typeface="华文中宋" panose="02010600040101010101" pitchFamily="2" charset="-122"/>
              </a:rPr>
              <a:t>，用符号</a:t>
            </a:r>
            <a:r>
              <a:rPr lang="zh-CN" altLang="zh-CN" sz="2800" b="1" dirty="0">
                <a:solidFill>
                  <a:schemeClr val="accent1"/>
                </a:solidFill>
                <a:ea typeface="华文中宋" panose="02010600040101010101" pitchFamily="2" charset="-122"/>
              </a:rPr>
              <a:t>HBW</a:t>
            </a:r>
            <a:r>
              <a:rPr lang="zh-CN" altLang="en-US" sz="2800" b="1" dirty="0">
                <a:solidFill>
                  <a:schemeClr val="folHlink"/>
                </a:solidFill>
                <a:ea typeface="华文中宋" panose="02010600040101010101" pitchFamily="2" charset="-122"/>
              </a:rPr>
              <a:t>表示，适用于布氏硬度在</a:t>
            </a:r>
            <a:r>
              <a:rPr lang="zh-CN" altLang="zh-CN" sz="2800" b="1" dirty="0">
                <a:solidFill>
                  <a:schemeClr val="folHlink"/>
                </a:solidFill>
                <a:ea typeface="华文中宋" panose="02010600040101010101" pitchFamily="2" charset="-122"/>
              </a:rPr>
              <a:t>650</a:t>
            </a:r>
            <a:r>
              <a:rPr lang="zh-CN" altLang="en-US" sz="2800" b="1" dirty="0">
                <a:solidFill>
                  <a:schemeClr val="folHlink"/>
                </a:solidFill>
                <a:ea typeface="华文中宋" panose="02010600040101010101" pitchFamily="2" charset="-122"/>
              </a:rPr>
              <a:t>以下的材料。</a:t>
            </a:r>
          </a:p>
        </p:txBody>
      </p:sp>
      <p:sp>
        <p:nvSpPr>
          <p:cNvPr id="73732" name="Rectangle 4"/>
          <p:cNvSpPr/>
          <p:nvPr/>
        </p:nvSpPr>
        <p:spPr>
          <a:xfrm>
            <a:off x="395288" y="2852738"/>
            <a:ext cx="5391150" cy="2438400"/>
          </a:xfrm>
          <a:prstGeom prst="rect">
            <a:avLst/>
          </a:prstGeom>
          <a:noFill/>
          <a:ln w="9525">
            <a:noFill/>
          </a:ln>
        </p:spPr>
        <p:txBody>
          <a:bodyPr anchor="t"/>
          <a:lstStyle/>
          <a:p>
            <a:pPr marL="342900" indent="-342900" algn="just">
              <a:lnSpc>
                <a:spcPct val="130000"/>
              </a:lnSpc>
              <a:spcBef>
                <a:spcPct val="20000"/>
              </a:spcBef>
              <a:buClr>
                <a:schemeClr val="accent2"/>
              </a:buClr>
              <a:buSzPct val="80000"/>
              <a:buFont typeface="Wingdings" panose="05000000000000000000" pitchFamily="2" charset="2"/>
              <a:buChar char="l"/>
            </a:pPr>
            <a:r>
              <a:rPr lang="zh-CN" altLang="en-US" sz="2800" b="1" dirty="0">
                <a:solidFill>
                  <a:srgbClr val="CCFF33"/>
                </a:solidFill>
                <a:latin typeface="Times New Roman" panose="02020603050405020304" pitchFamily="18" charset="0"/>
                <a:ea typeface="华文中宋" panose="02010600040101010101" pitchFamily="2" charset="-122"/>
              </a:rPr>
              <a:t>符号</a:t>
            </a:r>
            <a:r>
              <a:rPr lang="zh-CN" altLang="zh-CN" sz="2800" b="1" dirty="0">
                <a:solidFill>
                  <a:srgbClr val="CCFF33"/>
                </a:solidFill>
                <a:latin typeface="Times New Roman" panose="02020603050405020304" pitchFamily="18" charset="0"/>
                <a:ea typeface="华文中宋" panose="02010600040101010101" pitchFamily="2" charset="-122"/>
              </a:rPr>
              <a:t>HBS</a:t>
            </a:r>
            <a:r>
              <a:rPr lang="zh-CN" altLang="en-US" sz="2800" b="1" dirty="0">
                <a:solidFill>
                  <a:srgbClr val="CCFF33"/>
                </a:solidFill>
                <a:latin typeface="Times New Roman" panose="02020603050405020304" pitchFamily="18" charset="0"/>
                <a:ea typeface="华文中宋" panose="02010600040101010101" pitchFamily="2" charset="-122"/>
              </a:rPr>
              <a:t>或</a:t>
            </a:r>
            <a:r>
              <a:rPr lang="zh-CN" altLang="zh-CN" sz="2800" b="1" dirty="0">
                <a:solidFill>
                  <a:srgbClr val="CCFF33"/>
                </a:solidFill>
                <a:latin typeface="Times New Roman" panose="02020603050405020304" pitchFamily="18" charset="0"/>
                <a:ea typeface="华文中宋" panose="02010600040101010101" pitchFamily="2" charset="-122"/>
              </a:rPr>
              <a:t>HBW</a:t>
            </a:r>
            <a:r>
              <a:rPr lang="zh-CN" altLang="en-US" sz="2800" b="1" dirty="0">
                <a:solidFill>
                  <a:srgbClr val="CCFF33"/>
                </a:solidFill>
                <a:latin typeface="Times New Roman" panose="02020603050405020304" pitchFamily="18" charset="0"/>
                <a:ea typeface="华文中宋" panose="02010600040101010101" pitchFamily="2" charset="-122"/>
              </a:rPr>
              <a:t>之前的数字表示硬度值，之后的数字按顺序分别表示球体直径</a:t>
            </a:r>
            <a:r>
              <a:rPr lang="zh-CN" altLang="en-US" b="1" dirty="0">
                <a:solidFill>
                  <a:srgbClr val="CCFF33"/>
                </a:solidFill>
                <a:latin typeface="Times New Roman" panose="02020603050405020304" pitchFamily="18" charset="0"/>
                <a:ea typeface="华文中宋" panose="02010600040101010101" pitchFamily="2" charset="-122"/>
              </a:rPr>
              <a:t>、</a:t>
            </a:r>
            <a:r>
              <a:rPr lang="zh-CN" altLang="en-US" sz="2800" b="1" dirty="0">
                <a:solidFill>
                  <a:srgbClr val="CCFF33"/>
                </a:solidFill>
                <a:latin typeface="Times New Roman" panose="02020603050405020304" pitchFamily="18" charset="0"/>
                <a:ea typeface="华文中宋" panose="02010600040101010101" pitchFamily="2" charset="-122"/>
              </a:rPr>
              <a:t>载荷及载荷保持时间</a:t>
            </a:r>
            <a:r>
              <a:rPr lang="zh-CN" altLang="zh-CN" sz="2800" b="1" dirty="0">
                <a:solidFill>
                  <a:srgbClr val="CCFF33"/>
                </a:solidFill>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如</a:t>
            </a:r>
            <a:r>
              <a:rPr lang="zh-CN" altLang="zh-CN" sz="2800" b="1" dirty="0">
                <a:solidFill>
                  <a:schemeClr val="folHlink"/>
                </a:solidFill>
                <a:latin typeface="Times New Roman" panose="02020603050405020304" pitchFamily="18" charset="0"/>
                <a:ea typeface="华文中宋" panose="02010600040101010101" pitchFamily="2" charset="-122"/>
              </a:rPr>
              <a:t>120HBS10/1000/30</a:t>
            </a:r>
            <a:endParaRPr lang="zh-CN" altLang="zh-CN" sz="2800" b="1" dirty="0">
              <a:latin typeface="Times New Roman" panose="02020603050405020304" pitchFamily="18" charset="0"/>
              <a:ea typeface="华文中宋" panose="02010600040101010101" pitchFamily="2" charset="-122"/>
            </a:endParaRPr>
          </a:p>
        </p:txBody>
      </p:sp>
      <p:sp>
        <p:nvSpPr>
          <p:cNvPr id="73733" name="Rectangle 5"/>
          <p:cNvSpPr/>
          <p:nvPr/>
        </p:nvSpPr>
        <p:spPr>
          <a:xfrm>
            <a:off x="323850" y="5124450"/>
            <a:ext cx="8362950" cy="1466850"/>
          </a:xfrm>
          <a:prstGeom prst="rect">
            <a:avLst/>
          </a:prstGeom>
          <a:noFill/>
          <a:ln w="9525">
            <a:noFill/>
          </a:ln>
        </p:spPr>
        <p:txBody>
          <a:bodyPr anchor="t"/>
          <a:lstStyle/>
          <a:p>
            <a:pPr marL="342900" indent="-342900" algn="just">
              <a:lnSpc>
                <a:spcPct val="130000"/>
              </a:lnSpc>
              <a:spcBef>
                <a:spcPct val="20000"/>
              </a:spcBef>
              <a:buClr>
                <a:schemeClr val="accent2"/>
              </a:buClr>
              <a:buSzPct val="80000"/>
              <a:buFont typeface="Wingdings" panose="05000000000000000000" pitchFamily="2" charset="2"/>
            </a:pPr>
            <a:r>
              <a:rPr lang="zh-CN"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表示直径为</a:t>
            </a:r>
            <a:r>
              <a:rPr lang="zh-CN" altLang="zh-CN" sz="2800" b="1" dirty="0">
                <a:latin typeface="Times New Roman" panose="02020603050405020304" pitchFamily="18" charset="0"/>
                <a:ea typeface="华文中宋" panose="02010600040101010101" pitchFamily="2" charset="-122"/>
              </a:rPr>
              <a:t>10mm</a:t>
            </a:r>
            <a:r>
              <a:rPr lang="zh-CN" altLang="en-US" sz="2800" b="1" dirty="0">
                <a:latin typeface="Times New Roman" panose="02020603050405020304" pitchFamily="18" charset="0"/>
                <a:ea typeface="华文中宋" panose="02010600040101010101" pitchFamily="2" charset="-122"/>
              </a:rPr>
              <a:t>的钢球在</a:t>
            </a:r>
            <a:r>
              <a:rPr lang="zh-CN" altLang="zh-CN" sz="2800" b="1" dirty="0">
                <a:latin typeface="Times New Roman" panose="02020603050405020304" pitchFamily="18" charset="0"/>
                <a:ea typeface="华文中宋" panose="02010600040101010101" pitchFamily="2" charset="-122"/>
              </a:rPr>
              <a:t>1000kgf(9.807kN)</a:t>
            </a:r>
            <a:r>
              <a:rPr lang="zh-CN" altLang="en-US" sz="2800" b="1" dirty="0">
                <a:latin typeface="Times New Roman" panose="02020603050405020304" pitchFamily="18" charset="0"/>
                <a:ea typeface="华文中宋" panose="02010600040101010101" pitchFamily="2" charset="-122"/>
              </a:rPr>
              <a:t>载荷作用下保持</a:t>
            </a:r>
            <a:r>
              <a:rPr lang="zh-CN" altLang="zh-CN" sz="2800" b="1" dirty="0">
                <a:latin typeface="Times New Roman" panose="02020603050405020304" pitchFamily="18" charset="0"/>
                <a:ea typeface="华文中宋" panose="02010600040101010101" pitchFamily="2" charset="-122"/>
              </a:rPr>
              <a:t>30s</a:t>
            </a:r>
            <a:r>
              <a:rPr lang="zh-CN" altLang="en-US" sz="2800" b="1" dirty="0">
                <a:latin typeface="Times New Roman" panose="02020603050405020304" pitchFamily="18" charset="0"/>
                <a:ea typeface="华文中宋" panose="02010600040101010101" pitchFamily="2" charset="-122"/>
              </a:rPr>
              <a:t>测得的布氏硬度值为</a:t>
            </a:r>
            <a:r>
              <a:rPr lang="zh-CN" altLang="zh-CN" sz="2800" b="1" dirty="0">
                <a:latin typeface="Times New Roman" panose="02020603050405020304" pitchFamily="18" charset="0"/>
                <a:ea typeface="华文中宋" panose="02010600040101010101" pitchFamily="2" charset="-122"/>
              </a:rPr>
              <a:t>120</a:t>
            </a:r>
            <a:r>
              <a:rPr lang="zh-CN" altLang="en-US" sz="2800" dirty="0">
                <a:latin typeface="Times New Roman" panose="02020603050405020304" pitchFamily="18" charset="0"/>
                <a:ea typeface="华文中宋" panose="02010600040101010101" pitchFamily="2" charset="-122"/>
              </a:rPr>
              <a:t>。</a:t>
            </a:r>
          </a:p>
        </p:txBody>
      </p:sp>
      <p:grpSp>
        <p:nvGrpSpPr>
          <p:cNvPr id="2" name="Group 6"/>
          <p:cNvGrpSpPr/>
          <p:nvPr/>
        </p:nvGrpSpPr>
        <p:grpSpPr>
          <a:xfrm>
            <a:off x="6084888" y="2420938"/>
            <a:ext cx="2808287" cy="2663825"/>
            <a:chOff x="0" y="0"/>
            <a:chExt cx="1641" cy="1473"/>
          </a:xfrm>
        </p:grpSpPr>
        <p:pic>
          <p:nvPicPr>
            <p:cNvPr id="73734" name="Picture 7" descr="brinellimp"/>
            <p:cNvPicPr>
              <a:picLocks noChangeAspect="1"/>
            </p:cNvPicPr>
            <p:nvPr/>
          </p:nvPicPr>
          <p:blipFill>
            <a:blip r:embed="rId2"/>
            <a:stretch>
              <a:fillRect/>
            </a:stretch>
          </p:blipFill>
          <p:spPr>
            <a:xfrm>
              <a:off x="0" y="0"/>
              <a:ext cx="1641" cy="1473"/>
            </a:xfrm>
            <a:prstGeom prst="rect">
              <a:avLst/>
            </a:prstGeom>
            <a:noFill/>
            <a:ln w="38100" cap="flat" cmpd="sng">
              <a:solidFill>
                <a:srgbClr val="00FFFF"/>
              </a:solidFill>
              <a:prstDash val="solid"/>
              <a:miter/>
              <a:headEnd type="none" w="med" len="med"/>
              <a:tailEnd type="none" w="med" len="med"/>
            </a:ln>
          </p:spPr>
        </p:pic>
        <p:sp>
          <p:nvSpPr>
            <p:cNvPr id="73735" name="Text Box 8"/>
            <p:cNvSpPr txBox="1"/>
            <p:nvPr/>
          </p:nvSpPr>
          <p:spPr>
            <a:xfrm>
              <a:off x="26" y="0"/>
              <a:ext cx="286" cy="1392"/>
            </a:xfrm>
            <a:prstGeom prst="rect">
              <a:avLst/>
            </a:prstGeom>
            <a:noFill/>
            <a:ln w="9525">
              <a:noFill/>
            </a:ln>
          </p:spPr>
          <p:txBody>
            <a:bodyPr vert="eaVert"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布氏硬度压痕</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wipe(left)">
                                      <p:cBhvr>
                                        <p:cTn id="7" dur="500"/>
                                        <p:tgtEl>
                                          <p:spTgt spid="737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3731">
                                            <p:txEl>
                                              <p:pRg st="0" end="0"/>
                                            </p:txEl>
                                          </p:spTgt>
                                        </p:tgtEl>
                                        <p:attrNameLst>
                                          <p:attrName>style.visibility</p:attrName>
                                        </p:attrNameLst>
                                      </p:cBhvr>
                                      <p:to>
                                        <p:strVal val="visible"/>
                                      </p:to>
                                    </p:set>
                                    <p:animEffect transition="in" filter="wipe(left)">
                                      <p:cBhvr>
                                        <p:cTn id="11" dur="500"/>
                                        <p:tgtEl>
                                          <p:spTgt spid="73731">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3731">
                                            <p:txEl>
                                              <p:pRg st="1" end="1"/>
                                            </p:txEl>
                                          </p:spTgt>
                                        </p:tgtEl>
                                        <p:attrNameLst>
                                          <p:attrName>style.visibility</p:attrName>
                                        </p:attrNameLst>
                                      </p:cBhvr>
                                      <p:to>
                                        <p:strVal val="visible"/>
                                      </p:to>
                                    </p:set>
                                    <p:animEffect transition="in" filter="wipe(left)">
                                      <p:cBhvr>
                                        <p:cTn id="15" dur="500"/>
                                        <p:tgtEl>
                                          <p:spTgt spid="73731">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3732">
                                            <p:txEl>
                                              <p:pRg st="0" end="0"/>
                                            </p:txEl>
                                          </p:spTgt>
                                        </p:tgtEl>
                                        <p:attrNameLst>
                                          <p:attrName>style.visibility</p:attrName>
                                        </p:attrNameLst>
                                      </p:cBhvr>
                                      <p:to>
                                        <p:strVal val="visible"/>
                                      </p:to>
                                    </p:set>
                                    <p:animEffect transition="in" filter="wipe(left)">
                                      <p:cBhvr>
                                        <p:cTn id="19" dur="500"/>
                                        <p:tgtEl>
                                          <p:spTgt spid="73732">
                                            <p:txEl>
                                              <p:pRg st="0" end="0"/>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3733">
                                            <p:txEl>
                                              <p:pRg st="0" end="0"/>
                                            </p:txEl>
                                          </p:spTgt>
                                        </p:tgtEl>
                                        <p:attrNameLst>
                                          <p:attrName>style.visibility</p:attrName>
                                        </p:attrNameLst>
                                      </p:cBhvr>
                                      <p:to>
                                        <p:strVal val="visible"/>
                                      </p:to>
                                    </p:set>
                                    <p:animEffect transition="in" filter="wipe(left)">
                                      <p:cBhvr>
                                        <p:cTn id="23" dur="500"/>
                                        <p:tgtEl>
                                          <p:spTgt spid="73733">
                                            <p:txEl>
                                              <p:pRg st="0" end="0"/>
                                            </p:txEl>
                                          </p:spTgt>
                                        </p:tgtEl>
                                      </p:cBhvr>
                                    </p:animEffect>
                                  </p:childTnLst>
                                </p:cTn>
                              </p:par>
                            </p:childTnLst>
                          </p:cTn>
                        </p:par>
                        <p:par>
                          <p:cTn id="24" fill="hold">
                            <p:stCondLst>
                              <p:cond delay="2500"/>
                            </p:stCondLst>
                            <p:childTnLst>
                              <p:par>
                                <p:cTn id="25" presetID="23" presetClass="entr" presetSubtype="16"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bldLvl="0" animBg="1"/>
      <p:bldP spid="73731" grpId="0" build="p" advAuto="1000"/>
      <p:bldP spid="73732" grpId="0" build="p" advAuto="1000"/>
      <p:bldP spid="73733" grpId="0" build="p" advAuto="1000"/>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2"/>
          <p:cNvSpPr>
            <a:spLocks noGrp="1"/>
          </p:cNvSpPr>
          <p:nvPr>
            <p:ph idx="1"/>
          </p:nvPr>
        </p:nvSpPr>
        <p:spPr>
          <a:xfrm>
            <a:off x="-180528" y="438150"/>
            <a:ext cx="8610600" cy="5886450"/>
          </a:xfrm>
        </p:spPr>
        <p:txBody>
          <a:bodyPr vert="horz" wrap="square" lIns="91440" tIns="45720" rIns="91440" bIns="45720" anchor="t"/>
          <a:lstStyle/>
          <a:p>
            <a:pPr eaLnBrk="1" hangingPunct="1"/>
            <a:r>
              <a:rPr lang="zh-CN" altLang="en-US" sz="2800" b="1" dirty="0">
                <a:solidFill>
                  <a:srgbClr val="FFFF66"/>
                </a:solidFill>
                <a:ea typeface="华文中宋" panose="02010600040101010101" pitchFamily="2" charset="-122"/>
              </a:rPr>
              <a:t>布氏硬度的优点：</a:t>
            </a:r>
            <a:r>
              <a:rPr lang="zh-CN" altLang="en-US" sz="2800" b="1" dirty="0">
                <a:ea typeface="华文中宋" panose="02010600040101010101" pitchFamily="2" charset="-122"/>
              </a:rPr>
              <a:t>测量误差小，数据稳定。</a:t>
            </a:r>
          </a:p>
          <a:p>
            <a:pPr eaLnBrk="1" hangingPunct="1">
              <a:lnSpc>
                <a:spcPct val="135000"/>
              </a:lnSpc>
            </a:pPr>
            <a:r>
              <a:rPr lang="zh-CN" altLang="en-US" sz="2800" b="1" dirty="0">
                <a:solidFill>
                  <a:srgbClr val="FFFF66"/>
                </a:solidFill>
                <a:ea typeface="华文中宋" panose="02010600040101010101" pitchFamily="2" charset="-122"/>
              </a:rPr>
              <a:t>缺点：</a:t>
            </a:r>
            <a:r>
              <a:rPr lang="zh-CN" altLang="en-US" sz="2800" b="1" dirty="0">
                <a:ea typeface="华文中宋" panose="02010600040101010101" pitchFamily="2" charset="-122"/>
              </a:rPr>
              <a:t>压痕大，不能用于太薄件、成品件及比压头还硬的材料。</a:t>
            </a:r>
          </a:p>
          <a:p>
            <a:pPr eaLnBrk="1" hangingPunct="1">
              <a:lnSpc>
                <a:spcPct val="135000"/>
              </a:lnSpc>
            </a:pPr>
            <a:r>
              <a:rPr lang="zh-CN" altLang="en-US" sz="2800" b="1" dirty="0">
                <a:solidFill>
                  <a:srgbClr val="FFFF66"/>
                </a:solidFill>
                <a:ea typeface="华文中宋" panose="02010600040101010101" pitchFamily="2" charset="-122"/>
              </a:rPr>
              <a:t>适于测量</a:t>
            </a:r>
            <a:r>
              <a:rPr lang="zh-CN" altLang="en-US" sz="2800" b="1" dirty="0">
                <a:ea typeface="华文中宋" panose="02010600040101010101" pitchFamily="2" charset="-122"/>
              </a:rPr>
              <a:t>退火、正火、调质钢</a:t>
            </a:r>
            <a:r>
              <a:rPr lang="zh-CN" altLang="zh-CN" sz="2800" b="1" dirty="0">
                <a:ea typeface="华文中宋" panose="02010600040101010101" pitchFamily="2" charset="-122"/>
              </a:rPr>
              <a:t>,</a:t>
            </a:r>
          </a:p>
          <a:p>
            <a:pPr eaLnBrk="1" hangingPunct="1">
              <a:lnSpc>
                <a:spcPct val="135000"/>
              </a:lnSpc>
              <a:buNone/>
            </a:pPr>
            <a:r>
              <a:rPr lang="zh-CN" altLang="zh-CN" sz="2800" b="1" dirty="0">
                <a:ea typeface="华文中宋" panose="02010600040101010101" pitchFamily="2" charset="-122"/>
              </a:rPr>
              <a:t>    </a:t>
            </a:r>
            <a:r>
              <a:rPr lang="zh-CN" altLang="en-US" sz="2800" b="1" dirty="0">
                <a:ea typeface="华文中宋" panose="02010600040101010101" pitchFamily="2" charset="-122"/>
              </a:rPr>
              <a:t>铸铁及有色金属的硬度。</a:t>
            </a:r>
          </a:p>
          <a:p>
            <a:pPr eaLnBrk="1" hangingPunct="1">
              <a:lnSpc>
                <a:spcPct val="135000"/>
              </a:lnSpc>
            </a:pPr>
            <a:r>
              <a:rPr lang="zh-CN" altLang="en-US" sz="2800" b="1" dirty="0">
                <a:solidFill>
                  <a:srgbClr val="FFFF66"/>
                </a:solidFill>
                <a:ea typeface="华文中宋" panose="02010600040101010101" pitchFamily="2" charset="-122"/>
              </a:rPr>
              <a:t>材料的抗拉强度</a:t>
            </a:r>
            <a:r>
              <a:rPr lang="en-US" altLang="zh-CN" sz="2800" b="1" dirty="0">
                <a:solidFill>
                  <a:srgbClr val="FFFF66"/>
                </a:solidFill>
                <a:ea typeface="华文中宋" panose="02010600040101010101" pitchFamily="2" charset="-122"/>
                <a:sym typeface="Symbol" panose="05050102010706020507" pitchFamily="18" charset="2"/>
              </a:rPr>
              <a:t></a:t>
            </a:r>
            <a:r>
              <a:rPr lang="zh-CN" altLang="zh-CN" sz="2800" b="1" baseline="-25000" dirty="0">
                <a:solidFill>
                  <a:srgbClr val="FFFF66"/>
                </a:solidFill>
                <a:ea typeface="华文中宋" panose="02010600040101010101" pitchFamily="2" charset="-122"/>
                <a:sym typeface="Symbol" panose="05050102010706020507" pitchFamily="18" charset="2"/>
              </a:rPr>
              <a:t>b</a:t>
            </a:r>
            <a:r>
              <a:rPr lang="zh-CN" altLang="en-US" sz="2800" b="1" dirty="0">
                <a:solidFill>
                  <a:srgbClr val="FFFF66"/>
                </a:solidFill>
                <a:ea typeface="华文中宋" panose="02010600040101010101" pitchFamily="2" charset="-122"/>
              </a:rPr>
              <a:t>与</a:t>
            </a:r>
            <a:r>
              <a:rPr lang="zh-CN" altLang="zh-CN" sz="2800" b="1" dirty="0">
                <a:solidFill>
                  <a:srgbClr val="FFFF66"/>
                </a:solidFill>
                <a:ea typeface="华文中宋" panose="02010600040101010101" pitchFamily="2" charset="-122"/>
              </a:rPr>
              <a:t>HB</a:t>
            </a:r>
            <a:r>
              <a:rPr lang="zh-CN" altLang="en-US" sz="2800" b="1" dirty="0">
                <a:solidFill>
                  <a:srgbClr val="FFFF66"/>
                </a:solidFill>
                <a:ea typeface="华文中宋" panose="02010600040101010101" pitchFamily="2" charset="-122"/>
              </a:rPr>
              <a:t>之间经验关系：</a:t>
            </a:r>
          </a:p>
          <a:p>
            <a:pPr eaLnBrk="1" hangingPunct="1">
              <a:lnSpc>
                <a:spcPct val="135000"/>
              </a:lnSpc>
              <a:buNone/>
            </a:pPr>
            <a:r>
              <a:rPr lang="zh-CN" altLang="zh-CN" sz="2800" b="1" dirty="0">
                <a:solidFill>
                  <a:schemeClr val="folHlink"/>
                </a:solidFill>
                <a:ea typeface="华文中宋" panose="02010600040101010101" pitchFamily="2" charset="-122"/>
              </a:rPr>
              <a:t>    </a:t>
            </a:r>
            <a:r>
              <a:rPr lang="zh-CN" altLang="en-US" sz="2800" b="1" dirty="0">
                <a:solidFill>
                  <a:schemeClr val="folHlink"/>
                </a:solidFill>
                <a:ea typeface="华文中宋" panose="02010600040101010101" pitchFamily="2" charset="-122"/>
              </a:rPr>
              <a:t>对于低碳钢</a:t>
            </a:r>
            <a:r>
              <a:rPr lang="zh-CN" altLang="zh-CN" sz="2800" b="1" dirty="0">
                <a:solidFill>
                  <a:schemeClr val="folHlink"/>
                </a:solidFill>
                <a:ea typeface="华文中宋" panose="02010600040101010101" pitchFamily="2" charset="-122"/>
              </a:rPr>
              <a:t>:  </a:t>
            </a:r>
            <a:r>
              <a:rPr lang="zh-CN" altLang="zh-CN" sz="2800" b="1" dirty="0">
                <a:solidFill>
                  <a:srgbClr val="CCFF33"/>
                </a:solidFill>
                <a:ea typeface="华文中宋" panose="02010600040101010101" pitchFamily="2" charset="-122"/>
                <a:sym typeface="Symbol" panose="05050102010706020507" pitchFamily="18" charset="2"/>
              </a:rPr>
              <a:t></a:t>
            </a:r>
            <a:r>
              <a:rPr lang="zh-CN" altLang="zh-CN" sz="2800" b="1" baseline="-25000" dirty="0">
                <a:solidFill>
                  <a:srgbClr val="CCFF33"/>
                </a:solidFill>
                <a:ea typeface="华文中宋" panose="02010600040101010101" pitchFamily="2" charset="-122"/>
                <a:sym typeface="Symbol" panose="05050102010706020507" pitchFamily="18" charset="2"/>
              </a:rPr>
              <a:t>b</a:t>
            </a:r>
            <a:r>
              <a:rPr lang="zh-CN" altLang="zh-CN" sz="2800" b="1" i="1" dirty="0">
                <a:solidFill>
                  <a:srgbClr val="CCFF33"/>
                </a:solidFill>
                <a:ea typeface="华文中宋" panose="02010600040101010101" pitchFamily="2" charset="-122"/>
                <a:sym typeface="Wingdings" panose="05000000000000000000" pitchFamily="2" charset="2"/>
              </a:rPr>
              <a:t>(MPa)</a:t>
            </a:r>
            <a:r>
              <a:rPr lang="zh-CN" altLang="zh-CN" sz="2800" b="1" dirty="0">
                <a:solidFill>
                  <a:srgbClr val="CCFF33"/>
                </a:solidFill>
                <a:ea typeface="华文中宋" panose="02010600040101010101" pitchFamily="2" charset="-122"/>
                <a:sym typeface="Wingdings" panose="05000000000000000000" pitchFamily="2" charset="2"/>
              </a:rPr>
              <a:t>≈3.6HB</a:t>
            </a:r>
          </a:p>
          <a:p>
            <a:pPr eaLnBrk="1" hangingPunct="1">
              <a:lnSpc>
                <a:spcPct val="135000"/>
              </a:lnSpc>
              <a:buNone/>
            </a:pPr>
            <a:r>
              <a:rPr lang="zh-CN" altLang="zh-CN" sz="2800" b="1" dirty="0">
                <a:solidFill>
                  <a:schemeClr val="accent1"/>
                </a:solidFill>
                <a:ea typeface="华文中宋" panose="02010600040101010101" pitchFamily="2" charset="-122"/>
                <a:sym typeface="Wingdings" panose="05000000000000000000" pitchFamily="2" charset="2"/>
              </a:rPr>
              <a:t>    </a:t>
            </a:r>
            <a:r>
              <a:rPr lang="zh-CN" altLang="en-US" sz="2800" b="1" dirty="0">
                <a:solidFill>
                  <a:schemeClr val="folHlink"/>
                </a:solidFill>
                <a:ea typeface="华文中宋" panose="02010600040101010101" pitchFamily="2" charset="-122"/>
                <a:sym typeface="Wingdings" panose="05000000000000000000" pitchFamily="2" charset="2"/>
              </a:rPr>
              <a:t>对于高碳钢</a:t>
            </a:r>
            <a:r>
              <a:rPr lang="zh-CN" altLang="zh-CN" sz="2800" b="1" dirty="0">
                <a:solidFill>
                  <a:schemeClr val="folHlink"/>
                </a:solidFill>
                <a:ea typeface="华文中宋" panose="02010600040101010101" pitchFamily="2" charset="-122"/>
                <a:sym typeface="Wingdings" panose="05000000000000000000" pitchFamily="2" charset="2"/>
              </a:rPr>
              <a:t>:  </a:t>
            </a:r>
            <a:r>
              <a:rPr lang="zh-CN" altLang="zh-CN" sz="2800" b="1" dirty="0">
                <a:solidFill>
                  <a:srgbClr val="CCFF33"/>
                </a:solidFill>
                <a:ea typeface="华文中宋" panose="02010600040101010101" pitchFamily="2" charset="-122"/>
                <a:sym typeface="Symbol" panose="05050102010706020507" pitchFamily="18" charset="2"/>
              </a:rPr>
              <a:t></a:t>
            </a:r>
            <a:r>
              <a:rPr lang="zh-CN" altLang="zh-CN" sz="2800" b="1" baseline="-25000" dirty="0">
                <a:solidFill>
                  <a:srgbClr val="CCFF33"/>
                </a:solidFill>
                <a:ea typeface="华文中宋" panose="02010600040101010101" pitchFamily="2" charset="-122"/>
                <a:sym typeface="Symbol" panose="05050102010706020507" pitchFamily="18" charset="2"/>
              </a:rPr>
              <a:t>b</a:t>
            </a:r>
            <a:r>
              <a:rPr lang="zh-CN" altLang="zh-CN" sz="2800" b="1" i="1" dirty="0">
                <a:solidFill>
                  <a:srgbClr val="CCFF33"/>
                </a:solidFill>
                <a:ea typeface="华文中宋" panose="02010600040101010101" pitchFamily="2" charset="-122"/>
                <a:sym typeface="Wingdings" panose="05000000000000000000" pitchFamily="2" charset="2"/>
              </a:rPr>
              <a:t>(MPa)</a:t>
            </a:r>
            <a:r>
              <a:rPr lang="zh-CN" altLang="zh-CN" sz="2800" b="1" dirty="0">
                <a:solidFill>
                  <a:srgbClr val="CCFF33"/>
                </a:solidFill>
                <a:ea typeface="华文中宋" panose="02010600040101010101" pitchFamily="2" charset="-122"/>
                <a:sym typeface="Wingdings" panose="05000000000000000000" pitchFamily="2" charset="2"/>
              </a:rPr>
              <a:t>≈3.4HB</a:t>
            </a:r>
          </a:p>
          <a:p>
            <a:pPr eaLnBrk="1" hangingPunct="1">
              <a:lnSpc>
                <a:spcPct val="135000"/>
              </a:lnSpc>
              <a:buNone/>
            </a:pPr>
            <a:r>
              <a:rPr lang="zh-CN" altLang="zh-CN" sz="2800" b="1" dirty="0">
                <a:solidFill>
                  <a:schemeClr val="accent1"/>
                </a:solidFill>
                <a:ea typeface="华文中宋" panose="02010600040101010101" pitchFamily="2" charset="-122"/>
                <a:sym typeface="Wingdings" panose="05000000000000000000" pitchFamily="2" charset="2"/>
              </a:rPr>
              <a:t>    </a:t>
            </a:r>
            <a:r>
              <a:rPr lang="zh-CN" altLang="en-US" sz="2800" b="1" dirty="0">
                <a:solidFill>
                  <a:schemeClr val="folHlink"/>
                </a:solidFill>
                <a:ea typeface="华文中宋" panose="02010600040101010101" pitchFamily="2" charset="-122"/>
                <a:sym typeface="Wingdings" panose="05000000000000000000" pitchFamily="2" charset="2"/>
              </a:rPr>
              <a:t>对于铸铁</a:t>
            </a:r>
            <a:r>
              <a:rPr lang="zh-CN" altLang="zh-CN" sz="2800" b="1" dirty="0">
                <a:solidFill>
                  <a:schemeClr val="folHlink"/>
                </a:solidFill>
                <a:ea typeface="华文中宋" panose="02010600040101010101" pitchFamily="2" charset="-122"/>
                <a:sym typeface="Wingdings" panose="05000000000000000000" pitchFamily="2" charset="2"/>
              </a:rPr>
              <a:t>:  </a:t>
            </a:r>
            <a:r>
              <a:rPr lang="zh-CN" altLang="zh-CN" sz="2800" b="1" dirty="0">
                <a:solidFill>
                  <a:srgbClr val="CCFF33"/>
                </a:solidFill>
                <a:ea typeface="华文中宋" panose="02010600040101010101" pitchFamily="2" charset="-122"/>
                <a:sym typeface="Symbol" panose="05050102010706020507" pitchFamily="18" charset="2"/>
              </a:rPr>
              <a:t></a:t>
            </a:r>
            <a:r>
              <a:rPr lang="zh-CN" altLang="zh-CN" sz="2800" b="1" baseline="-25000" dirty="0">
                <a:solidFill>
                  <a:srgbClr val="CCFF33"/>
                </a:solidFill>
                <a:ea typeface="华文中宋" panose="02010600040101010101" pitchFamily="2" charset="-122"/>
                <a:sym typeface="Symbol" panose="05050102010706020507" pitchFamily="18" charset="2"/>
              </a:rPr>
              <a:t>b</a:t>
            </a:r>
            <a:r>
              <a:rPr lang="zh-CN" altLang="zh-CN" sz="2800" b="1" i="1" dirty="0">
                <a:solidFill>
                  <a:srgbClr val="CCFF33"/>
                </a:solidFill>
                <a:ea typeface="华文中宋" panose="02010600040101010101" pitchFamily="2" charset="-122"/>
                <a:sym typeface="Wingdings" panose="05000000000000000000" pitchFamily="2" charset="2"/>
              </a:rPr>
              <a:t>(MPa)</a:t>
            </a:r>
            <a:r>
              <a:rPr lang="zh-CN" altLang="zh-CN" sz="2800" b="1" dirty="0">
                <a:solidFill>
                  <a:srgbClr val="CCFF33"/>
                </a:solidFill>
                <a:ea typeface="华文中宋" panose="02010600040101010101" pitchFamily="2" charset="-122"/>
                <a:sym typeface="Wingdings" panose="05000000000000000000" pitchFamily="2" charset="2"/>
              </a:rPr>
              <a:t>≈1HB</a:t>
            </a:r>
          </a:p>
        </p:txBody>
      </p:sp>
      <p:grpSp>
        <p:nvGrpSpPr>
          <p:cNvPr id="2" name="Group 3"/>
          <p:cNvGrpSpPr/>
          <p:nvPr/>
        </p:nvGrpSpPr>
        <p:grpSpPr>
          <a:xfrm>
            <a:off x="6228184" y="1962150"/>
            <a:ext cx="2819400" cy="3448050"/>
            <a:chOff x="0" y="0"/>
            <a:chExt cx="1848" cy="2172"/>
          </a:xfrm>
        </p:grpSpPr>
        <p:pic>
          <p:nvPicPr>
            <p:cNvPr id="74755" name="Picture 4" descr="HB与σb关系"/>
            <p:cNvPicPr>
              <a:picLocks noChangeAspect="1"/>
            </p:cNvPicPr>
            <p:nvPr/>
          </p:nvPicPr>
          <p:blipFill>
            <a:blip r:embed="rId3"/>
            <a:stretch>
              <a:fillRect/>
            </a:stretch>
          </p:blipFill>
          <p:spPr>
            <a:xfrm>
              <a:off x="0" y="0"/>
              <a:ext cx="1848" cy="2172"/>
            </a:xfrm>
            <a:prstGeom prst="rect">
              <a:avLst/>
            </a:prstGeom>
            <a:noFill/>
            <a:ln w="38100" cap="flat" cmpd="sng">
              <a:solidFill>
                <a:srgbClr val="FF00FF"/>
              </a:solidFill>
              <a:prstDash val="solid"/>
              <a:miter/>
              <a:headEnd type="none" w="med" len="med"/>
              <a:tailEnd type="none" w="med" len="med"/>
            </a:ln>
          </p:spPr>
        </p:pic>
        <p:sp>
          <p:nvSpPr>
            <p:cNvPr id="74756" name="Rectangle 5"/>
            <p:cNvSpPr/>
            <p:nvPr/>
          </p:nvSpPr>
          <p:spPr>
            <a:xfrm>
              <a:off x="648" y="2028"/>
              <a:ext cx="720" cy="96"/>
            </a:xfrm>
            <a:prstGeom prst="rect">
              <a:avLst/>
            </a:prstGeom>
            <a:solidFill>
              <a:schemeClr val="tx1"/>
            </a:solidFill>
            <a:ln w="9525">
              <a:noFill/>
            </a:ln>
          </p:spPr>
          <p:txBody>
            <a:bodyPr wrap="none" anchor="ctr"/>
            <a:lstStyle/>
            <a:p>
              <a:pPr algn="ctr"/>
              <a:r>
                <a:rPr lang="zh-CN" altLang="zh-CN" sz="1600" dirty="0">
                  <a:solidFill>
                    <a:schemeClr val="bg2"/>
                  </a:solidFill>
                  <a:latin typeface="Times New Roman" panose="02020603050405020304" pitchFamily="18" charset="0"/>
                  <a:ea typeface="宋体" panose="02010600030101010101" pitchFamily="2" charset="-122"/>
                </a:rPr>
                <a:t>HB</a:t>
              </a:r>
            </a:p>
          </p:txBody>
        </p:sp>
        <p:sp>
          <p:nvSpPr>
            <p:cNvPr id="74757" name="Rectangle 6"/>
            <p:cNvSpPr/>
            <p:nvPr/>
          </p:nvSpPr>
          <p:spPr>
            <a:xfrm rot="-5392266">
              <a:off x="-324" y="972"/>
              <a:ext cx="768" cy="96"/>
            </a:xfrm>
            <a:prstGeom prst="rect">
              <a:avLst/>
            </a:prstGeom>
            <a:solidFill>
              <a:schemeClr val="tx1"/>
            </a:solidFill>
            <a:ln w="9525">
              <a:noFill/>
            </a:ln>
          </p:spPr>
          <p:txBody>
            <a:bodyPr wrap="none" anchor="ctr"/>
            <a:lstStyle/>
            <a:p>
              <a:pPr algn="ctr"/>
              <a:r>
                <a:rPr lang="zh-CN" altLang="zh-CN" sz="1600" b="1" dirty="0">
                  <a:solidFill>
                    <a:schemeClr val="bg2"/>
                  </a:solidFill>
                  <a:latin typeface="Times New Roman" panose="02020603050405020304" pitchFamily="18" charset="0"/>
                  <a:ea typeface="华文中宋" panose="02010600040101010101" pitchFamily="2" charset="-122"/>
                  <a:sym typeface="Symbol" panose="05050102010706020507" pitchFamily="18" charset="2"/>
                </a:rPr>
                <a:t></a:t>
              </a:r>
              <a:r>
                <a:rPr lang="zh-CN" altLang="zh-CN" sz="1600" b="1" baseline="-25000" dirty="0">
                  <a:solidFill>
                    <a:schemeClr val="bg2"/>
                  </a:solidFill>
                  <a:latin typeface="Times New Roman" panose="02020603050405020304" pitchFamily="18" charset="0"/>
                  <a:ea typeface="华文中宋" panose="02010600040101010101" pitchFamily="2" charset="-122"/>
                  <a:sym typeface="Symbol" panose="05050102010706020507" pitchFamily="18" charset="2"/>
                </a:rPr>
                <a:t>b</a:t>
              </a:r>
              <a:r>
                <a:rPr lang="zh-CN" altLang="zh-CN" sz="1600" b="1" dirty="0">
                  <a:solidFill>
                    <a:schemeClr val="bg2"/>
                  </a:solidFill>
                  <a:latin typeface="Times New Roman" panose="02020603050405020304" pitchFamily="18" charset="0"/>
                  <a:ea typeface="华文中宋" panose="02010600040101010101" pitchFamily="2" charset="-122"/>
                  <a:sym typeface="Symbol" panose="05050102010706020507" pitchFamily="18" charset="2"/>
                </a:rPr>
                <a:t>(MPa)</a:t>
              </a:r>
            </a:p>
          </p:txBody>
        </p:sp>
        <p:sp>
          <p:nvSpPr>
            <p:cNvPr id="74758" name="Oval 7"/>
            <p:cNvSpPr/>
            <p:nvPr/>
          </p:nvSpPr>
          <p:spPr>
            <a:xfrm>
              <a:off x="1356" y="672"/>
              <a:ext cx="192" cy="9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lstStyle/>
            <a:p>
              <a:pPr algn="ctr"/>
              <a:r>
                <a:rPr lang="zh-CN" altLang="en-US" sz="1600" dirty="0">
                  <a:solidFill>
                    <a:schemeClr val="bg2"/>
                  </a:solidFill>
                  <a:latin typeface="Times New Roman" panose="02020603050405020304" pitchFamily="18" charset="0"/>
                  <a:ea typeface="宋体" panose="02010600030101010101" pitchFamily="2" charset="-122"/>
                </a:rPr>
                <a:t>钢</a:t>
              </a:r>
            </a:p>
          </p:txBody>
        </p:sp>
        <p:sp>
          <p:nvSpPr>
            <p:cNvPr id="74759" name="Oval 8"/>
            <p:cNvSpPr/>
            <p:nvPr/>
          </p:nvSpPr>
          <p:spPr>
            <a:xfrm>
              <a:off x="408" y="1452"/>
              <a:ext cx="192" cy="9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lstStyle/>
            <a:p>
              <a:pPr algn="ctr"/>
              <a:r>
                <a:rPr lang="zh-CN" altLang="en-US" sz="1600" dirty="0">
                  <a:solidFill>
                    <a:schemeClr val="bg2"/>
                  </a:solidFill>
                  <a:latin typeface="Times New Roman" panose="02020603050405020304" pitchFamily="18" charset="0"/>
                  <a:ea typeface="宋体" panose="02010600030101010101" pitchFamily="2" charset="-122"/>
                </a:rPr>
                <a:t>黄铜</a:t>
              </a:r>
            </a:p>
          </p:txBody>
        </p:sp>
        <p:sp>
          <p:nvSpPr>
            <p:cNvPr id="74760" name="Oval 9"/>
            <p:cNvSpPr/>
            <p:nvPr/>
          </p:nvSpPr>
          <p:spPr>
            <a:xfrm>
              <a:off x="780" y="1476"/>
              <a:ext cx="528" cy="96"/>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lstStyle/>
            <a:p>
              <a:pPr algn="ctr"/>
              <a:r>
                <a:rPr lang="zh-CN" altLang="en-US" sz="1600" dirty="0">
                  <a:solidFill>
                    <a:schemeClr val="bg2"/>
                  </a:solidFill>
                  <a:latin typeface="Times New Roman" panose="02020603050405020304" pitchFamily="18" charset="0"/>
                  <a:ea typeface="宋体" panose="02010600030101010101" pitchFamily="2" charset="-122"/>
                </a:rPr>
                <a:t>球墨铸铁</a:t>
              </a:r>
            </a:p>
          </p:txBody>
        </p:sp>
      </p:grpSp>
    </p:spTree>
  </p:cSld>
  <p:clrMapOvr>
    <a:overrideClrMapping bg1="dk2" tx1="lt1" bg2="dk1"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Effect transition="in" filter="wipe(left)">
                                      <p:cBhvr>
                                        <p:cTn id="7" dur="500"/>
                                        <p:tgtEl>
                                          <p:spTgt spid="7475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754">
                                            <p:txEl>
                                              <p:pRg st="1" end="1"/>
                                            </p:txEl>
                                          </p:spTgt>
                                        </p:tgtEl>
                                        <p:attrNameLst>
                                          <p:attrName>style.visibility</p:attrName>
                                        </p:attrNameLst>
                                      </p:cBhvr>
                                      <p:to>
                                        <p:strVal val="visible"/>
                                      </p:to>
                                    </p:set>
                                    <p:animEffect transition="in" filter="wipe(left)">
                                      <p:cBhvr>
                                        <p:cTn id="11" dur="500"/>
                                        <p:tgtEl>
                                          <p:spTgt spid="74754">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754">
                                            <p:txEl>
                                              <p:pRg st="2" end="2"/>
                                            </p:txEl>
                                          </p:spTgt>
                                        </p:tgtEl>
                                        <p:attrNameLst>
                                          <p:attrName>style.visibility</p:attrName>
                                        </p:attrNameLst>
                                      </p:cBhvr>
                                      <p:to>
                                        <p:strVal val="visible"/>
                                      </p:to>
                                    </p:set>
                                    <p:animEffect transition="in" filter="wipe(left)">
                                      <p:cBhvr>
                                        <p:cTn id="15" dur="500"/>
                                        <p:tgtEl>
                                          <p:spTgt spid="74754">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4754">
                                            <p:txEl>
                                              <p:pRg st="3" end="3"/>
                                            </p:txEl>
                                          </p:spTgt>
                                        </p:tgtEl>
                                        <p:attrNameLst>
                                          <p:attrName>style.visibility</p:attrName>
                                        </p:attrNameLst>
                                      </p:cBhvr>
                                      <p:to>
                                        <p:strVal val="visible"/>
                                      </p:to>
                                    </p:set>
                                    <p:animEffect transition="in" filter="wipe(left)">
                                      <p:cBhvr>
                                        <p:cTn id="19" dur="500"/>
                                        <p:tgtEl>
                                          <p:spTgt spid="74754">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4754">
                                            <p:txEl>
                                              <p:pRg st="4" end="4"/>
                                            </p:txEl>
                                          </p:spTgt>
                                        </p:tgtEl>
                                        <p:attrNameLst>
                                          <p:attrName>style.visibility</p:attrName>
                                        </p:attrNameLst>
                                      </p:cBhvr>
                                      <p:to>
                                        <p:strVal val="visible"/>
                                      </p:to>
                                    </p:set>
                                    <p:animEffect transition="in" filter="wipe(left)">
                                      <p:cBhvr>
                                        <p:cTn id="23" dur="500"/>
                                        <p:tgtEl>
                                          <p:spTgt spid="74754">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74754">
                                            <p:txEl>
                                              <p:pRg st="5" end="5"/>
                                            </p:txEl>
                                          </p:spTgt>
                                        </p:tgtEl>
                                        <p:attrNameLst>
                                          <p:attrName>style.visibility</p:attrName>
                                        </p:attrNameLst>
                                      </p:cBhvr>
                                      <p:to>
                                        <p:strVal val="visible"/>
                                      </p:to>
                                    </p:set>
                                    <p:animEffect transition="in" filter="wipe(left)">
                                      <p:cBhvr>
                                        <p:cTn id="27" dur="500"/>
                                        <p:tgtEl>
                                          <p:spTgt spid="74754">
                                            <p:txEl>
                                              <p:pRg st="5" end="5"/>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74754">
                                            <p:txEl>
                                              <p:pRg st="6" end="6"/>
                                            </p:txEl>
                                          </p:spTgt>
                                        </p:tgtEl>
                                        <p:attrNameLst>
                                          <p:attrName>style.visibility</p:attrName>
                                        </p:attrNameLst>
                                      </p:cBhvr>
                                      <p:to>
                                        <p:strVal val="visible"/>
                                      </p:to>
                                    </p:set>
                                    <p:animEffect transition="in" filter="wipe(left)">
                                      <p:cBhvr>
                                        <p:cTn id="31" dur="500"/>
                                        <p:tgtEl>
                                          <p:spTgt spid="74754">
                                            <p:txEl>
                                              <p:pRg st="6" end="6"/>
                                            </p:tx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74754">
                                            <p:txEl>
                                              <p:pRg st="7" end="7"/>
                                            </p:txEl>
                                          </p:spTgt>
                                        </p:tgtEl>
                                        <p:attrNameLst>
                                          <p:attrName>style.visibility</p:attrName>
                                        </p:attrNameLst>
                                      </p:cBhvr>
                                      <p:to>
                                        <p:strVal val="visible"/>
                                      </p:to>
                                    </p:set>
                                    <p:animEffect transition="in" filter="wipe(left)">
                                      <p:cBhvr>
                                        <p:cTn id="35" dur="500"/>
                                        <p:tgtEl>
                                          <p:spTgt spid="74754">
                                            <p:txEl>
                                              <p:pRg st="7" end="7"/>
                                            </p:txEl>
                                          </p:spTgt>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up)">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advAuto="1000"/>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5778" name="Rectangle 2"/>
          <p:cNvSpPr>
            <a:spLocks noGrp="1"/>
          </p:cNvSpPr>
          <p:nvPr>
            <p:ph type="title"/>
          </p:nvPr>
        </p:nvSpPr>
        <p:spPr>
          <a:xfrm>
            <a:off x="990600" y="457200"/>
            <a:ext cx="7772400" cy="457200"/>
          </a:xfrm>
        </p:spPr>
        <p:txBody>
          <a:bodyPr vert="horz" wrap="square" lIns="92075" tIns="46038" rIns="92075" bIns="46038" anchor="ctr"/>
          <a:lstStyle/>
          <a:p>
            <a:pPr algn="l" eaLnBrk="1" hangingPunct="1"/>
            <a:r>
              <a:rPr lang="zh-CN" altLang="en-US" sz="2800" b="1" dirty="0">
                <a:solidFill>
                  <a:srgbClr val="800000"/>
                </a:solidFill>
                <a:effectLst/>
                <a:ea typeface="华文中宋" panose="02010600040101010101" pitchFamily="2" charset="-122"/>
              </a:rPr>
              <a:t>洛氏硬度</a:t>
            </a:r>
            <a:endParaRPr lang="zh-CN" altLang="en-US" sz="2800" dirty="0">
              <a:solidFill>
                <a:srgbClr val="800000"/>
              </a:solidFill>
              <a:effectLst/>
              <a:ea typeface="华文中宋" panose="02010600040101010101" pitchFamily="2" charset="-122"/>
            </a:endParaRPr>
          </a:p>
        </p:txBody>
      </p:sp>
      <p:pic>
        <p:nvPicPr>
          <p:cNvPr id="75779" name="Picture 3" descr="洛氏硬度计"/>
          <p:cNvPicPr>
            <a:picLocks noChangeAspect="1"/>
          </p:cNvPicPr>
          <p:nvPr/>
        </p:nvPicPr>
        <p:blipFill>
          <a:blip r:embed="rId2"/>
          <a:srcRect l="69769"/>
          <a:stretch>
            <a:fillRect/>
          </a:stretch>
        </p:blipFill>
        <p:spPr>
          <a:xfrm>
            <a:off x="5795963" y="2281238"/>
            <a:ext cx="2016125" cy="4140200"/>
          </a:xfrm>
          <a:prstGeom prst="rect">
            <a:avLst/>
          </a:prstGeom>
          <a:noFill/>
          <a:ln w="9525">
            <a:noFill/>
          </a:ln>
        </p:spPr>
      </p:pic>
      <p:sp>
        <p:nvSpPr>
          <p:cNvPr id="75780" name="Rectangle 4"/>
          <p:cNvSpPr/>
          <p:nvPr/>
        </p:nvSpPr>
        <p:spPr>
          <a:xfrm>
            <a:off x="1403350" y="2781300"/>
            <a:ext cx="3657600" cy="38100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lgn="ctr"/>
            <a:r>
              <a:rPr lang="zh-CN" altLang="en-US" sz="2000" b="1" dirty="0">
                <a:solidFill>
                  <a:srgbClr val="800000"/>
                </a:solidFill>
                <a:latin typeface="Times New Roman" panose="02020603050405020304" pitchFamily="18" charset="0"/>
                <a:ea typeface="宋体" panose="02010600030101010101" pitchFamily="2" charset="-122"/>
              </a:rPr>
              <a:t>洛氏硬度测试示意图</a:t>
            </a:r>
          </a:p>
        </p:txBody>
      </p:sp>
      <p:sp>
        <p:nvSpPr>
          <p:cNvPr id="75781" name="Text Box 5"/>
          <p:cNvSpPr txBox="1"/>
          <p:nvPr/>
        </p:nvSpPr>
        <p:spPr>
          <a:xfrm>
            <a:off x="7696200" y="2895600"/>
            <a:ext cx="488950" cy="2362200"/>
          </a:xfrm>
          <a:prstGeom prst="rect">
            <a:avLst/>
          </a:prstGeom>
          <a:noFill/>
          <a:ln w="9525">
            <a:noFill/>
          </a:ln>
        </p:spPr>
        <p:txBody>
          <a:bodyPr vert="eaVert" anchor="t">
            <a:spAutoFit/>
          </a:bodyPr>
          <a:lstStyle/>
          <a:p>
            <a:pPr algn="ctr">
              <a:spcBef>
                <a:spcPct val="50000"/>
              </a:spcBef>
            </a:pPr>
            <a:r>
              <a:rPr lang="zh-CN" altLang="en-US" sz="2000" b="1" dirty="0">
                <a:solidFill>
                  <a:srgbClr val="800000"/>
                </a:solidFill>
                <a:latin typeface="Times New Roman" panose="02020603050405020304" pitchFamily="18" charset="0"/>
                <a:ea typeface="宋体" panose="02010600030101010101" pitchFamily="2" charset="-122"/>
              </a:rPr>
              <a:t>洛氏硬度计</a:t>
            </a:r>
            <a:endParaRPr lang="zh-CN" altLang="en-US" sz="2400" dirty="0">
              <a:solidFill>
                <a:srgbClr val="800000"/>
              </a:solidFill>
              <a:latin typeface="Times New Roman" panose="02020603050405020304" pitchFamily="18" charset="0"/>
              <a:ea typeface="宋体" panose="02010600030101010101" pitchFamily="2" charset="-122"/>
            </a:endParaRPr>
          </a:p>
        </p:txBody>
      </p:sp>
      <p:sp>
        <p:nvSpPr>
          <p:cNvPr id="75782" name="Rectangle 6"/>
          <p:cNvSpPr>
            <a:spLocks noGrp="1"/>
          </p:cNvSpPr>
          <p:nvPr>
            <p:ph idx="1"/>
          </p:nvPr>
        </p:nvSpPr>
        <p:spPr>
          <a:xfrm>
            <a:off x="685800" y="1066800"/>
            <a:ext cx="7772400" cy="4038600"/>
          </a:xfrm>
        </p:spPr>
        <p:txBody>
          <a:bodyPr vert="horz" wrap="square" lIns="91440" tIns="45720" rIns="91440" bIns="45720" anchor="t"/>
          <a:lstStyle/>
          <a:p>
            <a:pPr algn="just" eaLnBrk="1" hangingPunct="1"/>
            <a:r>
              <a:rPr lang="zh-CN" altLang="en-US" sz="2800" b="1" dirty="0">
                <a:solidFill>
                  <a:srgbClr val="0033CC"/>
                </a:solidFill>
                <a:ea typeface="华文中宋" panose="02010600040101010101" pitchFamily="2" charset="-122"/>
              </a:rPr>
              <a:t>洛氏硬度用符号</a:t>
            </a:r>
            <a:r>
              <a:rPr lang="zh-CN" altLang="zh-CN" sz="2800" b="1" dirty="0">
                <a:solidFill>
                  <a:srgbClr val="0033CC"/>
                </a:solidFill>
                <a:ea typeface="华文中宋" panose="02010600040101010101" pitchFamily="2" charset="-122"/>
              </a:rPr>
              <a:t>HR</a:t>
            </a:r>
            <a:r>
              <a:rPr lang="zh-CN" altLang="en-US" sz="2800" b="1" dirty="0">
                <a:solidFill>
                  <a:srgbClr val="0033CC"/>
                </a:solidFill>
                <a:ea typeface="华文中宋" panose="02010600040101010101" pitchFamily="2" charset="-122"/>
              </a:rPr>
              <a:t>表示，</a:t>
            </a:r>
            <a:r>
              <a:rPr lang="zh-CN" altLang="zh-CN" sz="2800" b="1" dirty="0">
                <a:solidFill>
                  <a:srgbClr val="0033CC"/>
                </a:solidFill>
                <a:ea typeface="华文中宋" panose="02010600040101010101" pitchFamily="2" charset="-122"/>
              </a:rPr>
              <a:t>HR=</a:t>
            </a:r>
            <a:r>
              <a:rPr lang="zh-CN" altLang="zh-CN" sz="2800" b="1" i="1" dirty="0">
                <a:solidFill>
                  <a:srgbClr val="0033CC"/>
                </a:solidFill>
                <a:ea typeface="华文中宋" panose="02010600040101010101" pitchFamily="2" charset="-122"/>
              </a:rPr>
              <a:t>k</a:t>
            </a:r>
            <a:r>
              <a:rPr lang="zh-CN" altLang="zh-CN" sz="2800" b="1" dirty="0">
                <a:solidFill>
                  <a:srgbClr val="0033CC"/>
                </a:solidFill>
                <a:ea typeface="华文中宋" panose="02010600040101010101" pitchFamily="2" charset="-122"/>
              </a:rPr>
              <a:t>-(</a:t>
            </a:r>
            <a:r>
              <a:rPr lang="zh-CN" altLang="zh-CN" sz="2800" b="1" i="1" dirty="0">
                <a:solidFill>
                  <a:srgbClr val="0033CC"/>
                </a:solidFill>
                <a:ea typeface="华文中宋" panose="02010600040101010101" pitchFamily="2" charset="-122"/>
              </a:rPr>
              <a:t>h</a:t>
            </a:r>
            <a:r>
              <a:rPr lang="zh-CN" altLang="zh-CN" sz="2800" b="1" baseline="-25000" dirty="0">
                <a:solidFill>
                  <a:srgbClr val="0033CC"/>
                </a:solidFill>
                <a:ea typeface="华文中宋" panose="02010600040101010101" pitchFamily="2" charset="-122"/>
              </a:rPr>
              <a:t>1</a:t>
            </a:r>
            <a:r>
              <a:rPr lang="zh-CN" altLang="zh-CN" sz="2800" b="1" dirty="0">
                <a:solidFill>
                  <a:srgbClr val="0033CC"/>
                </a:solidFill>
                <a:ea typeface="华文中宋" panose="02010600040101010101" pitchFamily="2" charset="-122"/>
              </a:rPr>
              <a:t>-</a:t>
            </a:r>
            <a:r>
              <a:rPr lang="zh-CN" altLang="zh-CN" sz="2800" b="1" i="1" dirty="0">
                <a:solidFill>
                  <a:srgbClr val="0033CC"/>
                </a:solidFill>
                <a:ea typeface="华文中宋" panose="02010600040101010101" pitchFamily="2" charset="-122"/>
              </a:rPr>
              <a:t>h</a:t>
            </a:r>
            <a:r>
              <a:rPr lang="zh-CN" altLang="zh-CN" sz="2800" b="1" baseline="-25000" dirty="0">
                <a:solidFill>
                  <a:srgbClr val="0033CC"/>
                </a:solidFill>
                <a:ea typeface="华文中宋" panose="02010600040101010101" pitchFamily="2" charset="-122"/>
              </a:rPr>
              <a:t>0</a:t>
            </a:r>
            <a:r>
              <a:rPr lang="zh-CN" altLang="zh-CN" sz="2800" b="1" dirty="0">
                <a:solidFill>
                  <a:srgbClr val="0033CC"/>
                </a:solidFill>
                <a:ea typeface="华文中宋" panose="02010600040101010101" pitchFamily="2" charset="-122"/>
              </a:rPr>
              <a:t>)/0.002</a:t>
            </a:r>
          </a:p>
          <a:p>
            <a:pPr algn="just" eaLnBrk="1" hangingPunct="1">
              <a:lnSpc>
                <a:spcPct val="130000"/>
              </a:lnSpc>
            </a:pPr>
            <a:r>
              <a:rPr lang="zh-CN" altLang="en-US" sz="2800" b="1" dirty="0">
                <a:solidFill>
                  <a:srgbClr val="0033CC"/>
                </a:solidFill>
                <a:ea typeface="华文中宋" panose="02010600040101010101" pitchFamily="2" charset="-122"/>
              </a:rPr>
              <a:t>根据压头类型和主载荷不同，分为九个标尺，常用的标尺为</a:t>
            </a:r>
            <a:r>
              <a:rPr lang="zh-CN" altLang="zh-CN" sz="2800" b="1" dirty="0">
                <a:solidFill>
                  <a:srgbClr val="0033CC"/>
                </a:solidFill>
                <a:ea typeface="华文中宋" panose="02010600040101010101" pitchFamily="2" charset="-122"/>
              </a:rPr>
              <a:t>A</a:t>
            </a:r>
            <a:r>
              <a:rPr lang="zh-CN" altLang="en-US" sz="2800" b="1" dirty="0">
                <a:solidFill>
                  <a:srgbClr val="0033CC"/>
                </a:solidFill>
                <a:ea typeface="华文中宋" panose="02010600040101010101" pitchFamily="2" charset="-122"/>
              </a:rPr>
              <a:t>、</a:t>
            </a:r>
            <a:r>
              <a:rPr lang="zh-CN" altLang="zh-CN" sz="2800" b="1" dirty="0">
                <a:solidFill>
                  <a:srgbClr val="0033CC"/>
                </a:solidFill>
                <a:ea typeface="华文中宋" panose="02010600040101010101" pitchFamily="2" charset="-122"/>
              </a:rPr>
              <a:t>B</a:t>
            </a:r>
            <a:r>
              <a:rPr lang="zh-CN" altLang="en-US" sz="2800" b="1" dirty="0">
                <a:solidFill>
                  <a:srgbClr val="0033CC"/>
                </a:solidFill>
                <a:ea typeface="华文中宋" panose="02010600040101010101" pitchFamily="2" charset="-122"/>
              </a:rPr>
              <a:t>、</a:t>
            </a:r>
            <a:r>
              <a:rPr lang="zh-CN" altLang="zh-CN" sz="2800" b="1" dirty="0">
                <a:solidFill>
                  <a:srgbClr val="0033CC"/>
                </a:solidFill>
                <a:ea typeface="华文中宋" panose="02010600040101010101" pitchFamily="2" charset="-122"/>
              </a:rPr>
              <a:t>C</a:t>
            </a:r>
            <a:r>
              <a:rPr lang="zh-CN" altLang="en-US" sz="2800" b="1" dirty="0">
                <a:solidFill>
                  <a:srgbClr val="0033CC"/>
                </a:solidFill>
                <a:ea typeface="华文中宋" panose="02010600040101010101" pitchFamily="2" charset="-122"/>
              </a:rPr>
              <a:t>。</a:t>
            </a:r>
            <a:r>
              <a:rPr lang="zh-CN" altLang="en-US" sz="2800" dirty="0">
                <a:ea typeface="华文中宋" panose="02010600040101010101" pitchFamily="2" charset="-122"/>
              </a:rPr>
              <a:t> </a:t>
            </a:r>
            <a:endParaRPr lang="zh-CN" altLang="en-US" sz="2800" b="1" dirty="0">
              <a:solidFill>
                <a:srgbClr val="0033CC"/>
              </a:solidFill>
              <a:ea typeface="华文中宋" panose="02010600040101010101" pitchFamily="2" charset="-122"/>
            </a:endParaRPr>
          </a:p>
        </p:txBody>
      </p:sp>
      <p:pic>
        <p:nvPicPr>
          <p:cNvPr id="75783" name="Picture 7"/>
          <p:cNvPicPr>
            <a:picLocks noChangeAspect="1"/>
          </p:cNvPicPr>
          <p:nvPr/>
        </p:nvPicPr>
        <p:blipFill>
          <a:blip r:embed="rId3"/>
          <a:stretch>
            <a:fillRect/>
          </a:stretch>
        </p:blipFill>
        <p:spPr>
          <a:xfrm>
            <a:off x="1476375" y="3213100"/>
            <a:ext cx="3744913" cy="30432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wipe(left)">
                                      <p:cBhvr>
                                        <p:cTn id="7" dur="500"/>
                                        <p:tgtEl>
                                          <p:spTgt spid="7577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5782">
                                            <p:txEl>
                                              <p:pRg st="0" end="0"/>
                                            </p:txEl>
                                          </p:spTgt>
                                        </p:tgtEl>
                                        <p:attrNameLst>
                                          <p:attrName>style.visibility</p:attrName>
                                        </p:attrNameLst>
                                      </p:cBhvr>
                                      <p:to>
                                        <p:strVal val="visible"/>
                                      </p:to>
                                    </p:set>
                                    <p:animEffect transition="in" filter="wipe(left)">
                                      <p:cBhvr>
                                        <p:cTn id="11" dur="500"/>
                                        <p:tgtEl>
                                          <p:spTgt spid="7578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5782">
                                            <p:txEl>
                                              <p:pRg st="1" end="1"/>
                                            </p:txEl>
                                          </p:spTgt>
                                        </p:tgtEl>
                                        <p:attrNameLst>
                                          <p:attrName>style.visibility</p:attrName>
                                        </p:attrNameLst>
                                      </p:cBhvr>
                                      <p:to>
                                        <p:strVal val="visible"/>
                                      </p:to>
                                    </p:set>
                                    <p:animEffect transition="in" filter="wipe(left)">
                                      <p:cBhvr>
                                        <p:cTn id="15" dur="500"/>
                                        <p:tgtEl>
                                          <p:spTgt spid="757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ldLvl="0" animBg="1"/>
      <p:bldP spid="75782" grpId="0" build="p" advAuto="1000"/>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p:cNvSpPr>
            <a:spLocks noGrp="1"/>
          </p:cNvSpPr>
          <p:nvPr>
            <p:ph idx="1"/>
          </p:nvPr>
        </p:nvSpPr>
        <p:spPr>
          <a:xfrm>
            <a:off x="381000" y="457200"/>
            <a:ext cx="8534400" cy="990600"/>
          </a:xfrm>
        </p:spPr>
        <p:txBody>
          <a:bodyPr vert="horz" wrap="square" lIns="91440" tIns="45720" rIns="91440" bIns="45720" anchor="t"/>
          <a:lstStyle/>
          <a:p>
            <a:pPr eaLnBrk="1" hangingPunct="1"/>
            <a:r>
              <a:rPr lang="zh-CN" altLang="en-US" sz="2800" b="1" dirty="0">
                <a:solidFill>
                  <a:srgbClr val="CCFF33"/>
                </a:solidFill>
                <a:ea typeface="华文中宋" panose="02010600040101010101" pitchFamily="2" charset="-122"/>
              </a:rPr>
              <a:t>符号</a:t>
            </a:r>
            <a:r>
              <a:rPr lang="zh-CN" altLang="zh-CN" sz="2800" b="1" dirty="0">
                <a:solidFill>
                  <a:srgbClr val="CCFF33"/>
                </a:solidFill>
                <a:ea typeface="华文中宋" panose="02010600040101010101" pitchFamily="2" charset="-122"/>
              </a:rPr>
              <a:t>HR</a:t>
            </a:r>
            <a:r>
              <a:rPr lang="zh-CN" altLang="en-US" sz="2800" b="1" dirty="0">
                <a:solidFill>
                  <a:srgbClr val="CCFF33"/>
                </a:solidFill>
                <a:ea typeface="华文中宋" panose="02010600040101010101" pitchFamily="2" charset="-122"/>
              </a:rPr>
              <a:t>前面的数字为硬度值，后面为使用的标尺</a:t>
            </a:r>
            <a:r>
              <a:rPr lang="zh-CN" altLang="en-US" sz="2800" b="1" dirty="0">
                <a:solidFill>
                  <a:schemeClr val="folHlink"/>
                </a:solidFill>
                <a:ea typeface="华文中宋" panose="02010600040101010101" pitchFamily="2" charset="-122"/>
              </a:rPr>
              <a:t>。</a:t>
            </a:r>
          </a:p>
        </p:txBody>
      </p:sp>
      <p:sp>
        <p:nvSpPr>
          <p:cNvPr id="76803" name="Rectangle 3"/>
          <p:cNvSpPr/>
          <p:nvPr/>
        </p:nvSpPr>
        <p:spPr>
          <a:xfrm>
            <a:off x="381000" y="990600"/>
            <a:ext cx="5257800" cy="5562600"/>
          </a:xfrm>
          <a:prstGeom prst="rect">
            <a:avLst/>
          </a:prstGeom>
          <a:noFill/>
          <a:ln w="9525">
            <a:noFill/>
          </a:ln>
        </p:spPr>
        <p:txBody>
          <a:bodyPr anchor="t"/>
          <a:lstStyle/>
          <a:p>
            <a:pPr marL="342900" indent="-342900">
              <a:lnSpc>
                <a:spcPct val="125000"/>
              </a:lnSpc>
              <a:spcBef>
                <a:spcPct val="20000"/>
              </a:spcBef>
              <a:buClr>
                <a:schemeClr val="accent2"/>
              </a:buClr>
              <a:buSzPct val="80000"/>
              <a:buFont typeface="Wingdings" panose="05000000000000000000" pitchFamily="2" charset="2"/>
              <a:buChar char="l"/>
            </a:pPr>
            <a:r>
              <a:rPr lang="zh-CN" altLang="zh-CN" sz="2800" b="1" dirty="0">
                <a:solidFill>
                  <a:schemeClr val="folHlink"/>
                </a:solidFill>
                <a:latin typeface="Times New Roman" panose="02020603050405020304" pitchFamily="18" charset="0"/>
                <a:ea typeface="华文中宋" panose="02010600040101010101" pitchFamily="2" charset="-122"/>
              </a:rPr>
              <a:t>HRA</a:t>
            </a:r>
            <a:r>
              <a:rPr lang="zh-CN" altLang="en-US" sz="2800" b="1" dirty="0">
                <a:latin typeface="Times New Roman" panose="02020603050405020304" pitchFamily="18" charset="0"/>
                <a:ea typeface="华文中宋" panose="02010600040101010101" pitchFamily="2" charset="-122"/>
              </a:rPr>
              <a:t>用于测量高硬度材料</a:t>
            </a:r>
            <a:r>
              <a:rPr lang="zh-CN"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如硬质合金、表淬层和渗碳层</a:t>
            </a:r>
            <a:r>
              <a:rPr lang="zh-CN" altLang="en-US" sz="2400" b="1" dirty="0">
                <a:latin typeface="Times New Roman" panose="02020603050405020304" pitchFamily="18" charset="0"/>
                <a:ea typeface="华文中宋" panose="02010600040101010101" pitchFamily="2" charset="-122"/>
              </a:rPr>
              <a:t>。</a:t>
            </a:r>
          </a:p>
          <a:p>
            <a:pPr marL="342900" indent="-342900">
              <a:lnSpc>
                <a:spcPct val="125000"/>
              </a:lnSpc>
              <a:spcBef>
                <a:spcPct val="20000"/>
              </a:spcBef>
              <a:buClr>
                <a:schemeClr val="accent2"/>
              </a:buClr>
              <a:buSzPct val="80000"/>
              <a:buFont typeface="Wingdings" panose="05000000000000000000" pitchFamily="2" charset="2"/>
              <a:buChar char="l"/>
            </a:pPr>
            <a:r>
              <a:rPr lang="zh-CN" altLang="zh-CN" sz="2800" b="1" dirty="0">
                <a:solidFill>
                  <a:schemeClr val="folHlink"/>
                </a:solidFill>
                <a:latin typeface="Times New Roman" panose="02020603050405020304" pitchFamily="18" charset="0"/>
                <a:ea typeface="华文中宋" panose="02010600040101010101" pitchFamily="2" charset="-122"/>
              </a:rPr>
              <a:t>HRB</a:t>
            </a:r>
            <a:r>
              <a:rPr lang="zh-CN" altLang="en-US" sz="2800" b="1" dirty="0">
                <a:latin typeface="Times New Roman" panose="02020603050405020304" pitchFamily="18" charset="0"/>
                <a:ea typeface="华文中宋" panose="02010600040101010101" pitchFamily="2" charset="-122"/>
              </a:rPr>
              <a:t>用于测量低硬度材料</a:t>
            </a:r>
            <a:r>
              <a:rPr lang="zh-CN"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如有色金属和退火</a:t>
            </a:r>
            <a:r>
              <a:rPr lang="zh-CN" altLang="en-US" b="1" dirty="0">
                <a:latin typeface="Times New Roman" panose="02020603050405020304" pitchFamily="18" charset="0"/>
                <a:ea typeface="华文中宋" panose="02010600040101010101" pitchFamily="2" charset="-122"/>
              </a:rPr>
              <a:t>、</a:t>
            </a:r>
            <a:r>
              <a:rPr lang="zh-CN" altLang="en-US" sz="2800" b="1" dirty="0">
                <a:latin typeface="Times New Roman" panose="02020603050405020304" pitchFamily="18" charset="0"/>
                <a:ea typeface="华文中宋" panose="02010600040101010101" pitchFamily="2" charset="-122"/>
              </a:rPr>
              <a:t>正火钢等。</a:t>
            </a:r>
          </a:p>
          <a:p>
            <a:pPr marL="342900" indent="-342900">
              <a:lnSpc>
                <a:spcPct val="125000"/>
              </a:lnSpc>
              <a:spcBef>
                <a:spcPct val="20000"/>
              </a:spcBef>
              <a:buClr>
                <a:schemeClr val="accent2"/>
              </a:buClr>
              <a:buSzPct val="80000"/>
              <a:buFont typeface="Wingdings" panose="05000000000000000000" pitchFamily="2" charset="2"/>
              <a:buChar char="l"/>
            </a:pPr>
            <a:r>
              <a:rPr lang="zh-CN" altLang="zh-CN" sz="2800" b="1" dirty="0">
                <a:solidFill>
                  <a:schemeClr val="folHlink"/>
                </a:solidFill>
                <a:latin typeface="Times New Roman" panose="02020603050405020304" pitchFamily="18" charset="0"/>
                <a:ea typeface="华文中宋" panose="02010600040101010101" pitchFamily="2" charset="-122"/>
              </a:rPr>
              <a:t>HRC</a:t>
            </a:r>
            <a:r>
              <a:rPr lang="zh-CN" altLang="en-US" sz="2800" b="1" dirty="0">
                <a:latin typeface="Times New Roman" panose="02020603050405020304" pitchFamily="18" charset="0"/>
                <a:ea typeface="华文中宋" panose="02010600040101010101" pitchFamily="2" charset="-122"/>
              </a:rPr>
              <a:t>用于测量中等硬度材料，如调质钢、淬火钢等。</a:t>
            </a:r>
            <a:endParaRPr lang="zh-CN" altLang="en-US" sz="2800" b="1" dirty="0">
              <a:solidFill>
                <a:schemeClr val="folHlink"/>
              </a:solidFill>
              <a:latin typeface="Times New Roman" panose="02020603050405020304" pitchFamily="18" charset="0"/>
              <a:ea typeface="华文中宋" panose="02010600040101010101" pitchFamily="2" charset="-122"/>
            </a:endParaRPr>
          </a:p>
          <a:p>
            <a:pPr marL="342900" indent="-342900">
              <a:lnSpc>
                <a:spcPct val="125000"/>
              </a:lnSpc>
              <a:spcBef>
                <a:spcPct val="20000"/>
              </a:spcBef>
              <a:buClr>
                <a:schemeClr val="accent2"/>
              </a:buClr>
              <a:buSzPct val="80000"/>
              <a:buFont typeface="Wingdings" panose="05000000000000000000" pitchFamily="2" charset="2"/>
              <a:buChar char="l"/>
            </a:pPr>
            <a:r>
              <a:rPr lang="zh-CN" altLang="en-US" sz="2800" b="1" dirty="0">
                <a:solidFill>
                  <a:schemeClr val="folHlink"/>
                </a:solidFill>
                <a:latin typeface="Times New Roman" panose="02020603050405020304" pitchFamily="18" charset="0"/>
                <a:ea typeface="华文中宋" panose="02010600040101010101" pitchFamily="2" charset="-122"/>
              </a:rPr>
              <a:t>洛氏硬度的优点：</a:t>
            </a:r>
            <a:r>
              <a:rPr lang="zh-CN" altLang="en-US" sz="2800" b="1" dirty="0">
                <a:latin typeface="Times New Roman" panose="02020603050405020304" pitchFamily="18" charset="0"/>
                <a:ea typeface="华文中宋" panose="02010600040101010101" pitchFamily="2" charset="-122"/>
              </a:rPr>
              <a:t>操作简便，压痕小，适用范围广。</a:t>
            </a:r>
            <a:endParaRPr lang="zh-CN" altLang="en-US" sz="2800" b="1" dirty="0">
              <a:solidFill>
                <a:srgbClr val="66FF33"/>
              </a:solidFill>
              <a:latin typeface="Times New Roman" panose="02020603050405020304" pitchFamily="18" charset="0"/>
              <a:ea typeface="华文中宋" panose="02010600040101010101" pitchFamily="2" charset="-122"/>
            </a:endParaRPr>
          </a:p>
          <a:p>
            <a:pPr marL="342900" indent="-342900">
              <a:lnSpc>
                <a:spcPct val="125000"/>
              </a:lnSpc>
              <a:spcBef>
                <a:spcPct val="20000"/>
              </a:spcBef>
              <a:buClr>
                <a:schemeClr val="accent2"/>
              </a:buClr>
              <a:buSzPct val="80000"/>
              <a:buFont typeface="Wingdings" panose="05000000000000000000" pitchFamily="2" charset="2"/>
              <a:buChar char="l"/>
            </a:pPr>
            <a:r>
              <a:rPr lang="zh-CN" altLang="en-US" sz="2800" b="1" dirty="0">
                <a:solidFill>
                  <a:schemeClr val="folHlink"/>
                </a:solidFill>
                <a:latin typeface="Times New Roman" panose="02020603050405020304" pitchFamily="18" charset="0"/>
                <a:ea typeface="华文中宋" panose="02010600040101010101" pitchFamily="2" charset="-122"/>
              </a:rPr>
              <a:t>缺点：</a:t>
            </a:r>
            <a:r>
              <a:rPr lang="zh-CN" altLang="en-US" sz="2800" b="1" dirty="0">
                <a:latin typeface="Times New Roman" panose="02020603050405020304" pitchFamily="18" charset="0"/>
                <a:ea typeface="华文中宋" panose="02010600040101010101" pitchFamily="2" charset="-122"/>
              </a:rPr>
              <a:t>测量结果分散度大。</a:t>
            </a:r>
          </a:p>
        </p:txBody>
      </p:sp>
      <p:grpSp>
        <p:nvGrpSpPr>
          <p:cNvPr id="2" name="Group 4"/>
          <p:cNvGrpSpPr/>
          <p:nvPr/>
        </p:nvGrpSpPr>
        <p:grpSpPr>
          <a:xfrm>
            <a:off x="5722938" y="1282700"/>
            <a:ext cx="2767012" cy="4889500"/>
            <a:chOff x="0" y="0"/>
            <a:chExt cx="1743" cy="3080"/>
          </a:xfrm>
        </p:grpSpPr>
        <p:grpSp>
          <p:nvGrpSpPr>
            <p:cNvPr id="76804" name="Group 5"/>
            <p:cNvGrpSpPr/>
            <p:nvPr/>
          </p:nvGrpSpPr>
          <p:grpSpPr>
            <a:xfrm>
              <a:off x="0" y="0"/>
              <a:ext cx="1743" cy="1448"/>
              <a:chOff x="0" y="0"/>
              <a:chExt cx="1743" cy="1448"/>
            </a:xfrm>
          </p:grpSpPr>
          <p:pic>
            <p:nvPicPr>
              <p:cNvPr id="76805" name="Picture 6" descr="钢球压头与金刚石压头"/>
              <p:cNvPicPr>
                <a:picLocks noChangeAspect="1"/>
              </p:cNvPicPr>
              <p:nvPr/>
            </p:nvPicPr>
            <p:blipFill>
              <a:blip r:embed="rId3"/>
              <a:stretch>
                <a:fillRect/>
              </a:stretch>
            </p:blipFill>
            <p:spPr>
              <a:xfrm>
                <a:off x="43" y="18"/>
                <a:ext cx="1700" cy="1430"/>
              </a:xfrm>
              <a:prstGeom prst="rect">
                <a:avLst/>
              </a:prstGeom>
              <a:noFill/>
              <a:ln w="28575" cap="flat" cmpd="sng">
                <a:solidFill>
                  <a:srgbClr val="FF99CC"/>
                </a:solidFill>
                <a:prstDash val="solid"/>
                <a:miter/>
                <a:headEnd type="none" w="med" len="med"/>
                <a:tailEnd type="none" w="med" len="med"/>
              </a:ln>
            </p:spPr>
          </p:pic>
          <p:sp>
            <p:nvSpPr>
              <p:cNvPr id="76806" name="Text Box 7"/>
              <p:cNvSpPr txBox="1"/>
              <p:nvPr/>
            </p:nvSpPr>
            <p:spPr>
              <a:xfrm>
                <a:off x="0" y="0"/>
                <a:ext cx="1068" cy="366"/>
              </a:xfrm>
              <a:prstGeom prst="rect">
                <a:avLst/>
              </a:prstGeom>
              <a:noFill/>
              <a:ln w="9525">
                <a:noFill/>
              </a:ln>
            </p:spPr>
            <p:txBody>
              <a:bodyPr anchor="t">
                <a:spAutoFit/>
              </a:bodyPr>
              <a:lstStyle/>
              <a:p>
                <a:pPr>
                  <a:lnSpc>
                    <a:spcPct val="80000"/>
                  </a:lnSpc>
                  <a:spcBef>
                    <a:spcPct val="50000"/>
                  </a:spcBef>
                </a:pPr>
                <a:r>
                  <a:rPr lang="zh-CN" altLang="en-US" sz="2000" b="1" dirty="0">
                    <a:solidFill>
                      <a:srgbClr val="800000"/>
                    </a:solidFill>
                    <a:latin typeface="Times New Roman" panose="02020603050405020304" pitchFamily="18" charset="0"/>
                    <a:ea typeface="华文中宋" panose="02010600040101010101" pitchFamily="2" charset="-122"/>
                  </a:rPr>
                  <a:t>钢球压头与金刚石压头</a:t>
                </a:r>
              </a:p>
            </p:txBody>
          </p:sp>
        </p:grpSp>
        <p:grpSp>
          <p:nvGrpSpPr>
            <p:cNvPr id="76807" name="Group 8"/>
            <p:cNvGrpSpPr/>
            <p:nvPr/>
          </p:nvGrpSpPr>
          <p:grpSpPr>
            <a:xfrm>
              <a:off x="31" y="1546"/>
              <a:ext cx="1712" cy="1534"/>
              <a:chOff x="0" y="0"/>
              <a:chExt cx="1712" cy="1534"/>
            </a:xfrm>
          </p:grpSpPr>
          <p:pic>
            <p:nvPicPr>
              <p:cNvPr id="76808" name="Picture 9" descr="rockimpression"/>
              <p:cNvPicPr>
                <a:picLocks noChangeAspect="1"/>
              </p:cNvPicPr>
              <p:nvPr/>
            </p:nvPicPr>
            <p:blipFill>
              <a:blip r:embed="rId4"/>
              <a:stretch>
                <a:fillRect/>
              </a:stretch>
            </p:blipFill>
            <p:spPr>
              <a:xfrm>
                <a:off x="12" y="0"/>
                <a:ext cx="1700" cy="1533"/>
              </a:xfrm>
              <a:prstGeom prst="rect">
                <a:avLst/>
              </a:prstGeom>
              <a:noFill/>
              <a:ln w="28575" cap="flat" cmpd="sng">
                <a:solidFill>
                  <a:srgbClr val="FF00FF"/>
                </a:solidFill>
                <a:prstDash val="solid"/>
                <a:miter/>
                <a:headEnd type="none" w="med" len="med"/>
                <a:tailEnd type="none" w="med" len="med"/>
              </a:ln>
            </p:spPr>
          </p:pic>
          <p:sp>
            <p:nvSpPr>
              <p:cNvPr id="76809" name="Text Box 10"/>
              <p:cNvSpPr txBox="1"/>
              <p:nvPr/>
            </p:nvSpPr>
            <p:spPr>
              <a:xfrm>
                <a:off x="0" y="1284"/>
                <a:ext cx="1200" cy="250"/>
              </a:xfrm>
              <a:prstGeom prst="rect">
                <a:avLst/>
              </a:prstGeom>
              <a:noFill/>
              <a:ln w="9525">
                <a:noFill/>
              </a:ln>
            </p:spPr>
            <p:txBody>
              <a:bodyPr anchor="t">
                <a:spAutoFit/>
              </a:bodyPr>
              <a:lstStyle/>
              <a:p>
                <a:pPr>
                  <a:spcBef>
                    <a:spcPct val="50000"/>
                  </a:spcBef>
                </a:pPr>
                <a:r>
                  <a:rPr lang="zh-CN" altLang="en-US" sz="2000" b="1" dirty="0">
                    <a:solidFill>
                      <a:srgbClr val="FFFF66"/>
                    </a:solidFill>
                    <a:latin typeface="Times New Roman" panose="02020603050405020304" pitchFamily="18" charset="0"/>
                    <a:ea typeface="宋体" panose="02010600030101010101" pitchFamily="2" charset="-122"/>
                  </a:rPr>
                  <a:t>洛氏硬度压痕</a:t>
                </a:r>
              </a:p>
            </p:txBody>
          </p:sp>
        </p:grpSp>
      </p:grpSp>
    </p:spTree>
  </p:cSld>
  <p:clrMapOvr>
    <a:overrideClrMapping bg1="dk2" tx1="lt1" bg2="dk1"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6802">
                                            <p:txEl>
                                              <p:pRg st="0" end="0"/>
                                            </p:txEl>
                                          </p:spTgt>
                                        </p:tgtEl>
                                        <p:attrNameLst>
                                          <p:attrName>style.visibility</p:attrName>
                                        </p:attrNameLst>
                                      </p:cBhvr>
                                      <p:to>
                                        <p:strVal val="visible"/>
                                      </p:to>
                                    </p:set>
                                    <p:animEffect transition="in" filter="wipe(left)">
                                      <p:cBhvr>
                                        <p:cTn id="7" dur="500"/>
                                        <p:tgtEl>
                                          <p:spTgt spid="7680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6803">
                                            <p:txEl>
                                              <p:pRg st="0" end="0"/>
                                            </p:txEl>
                                          </p:spTgt>
                                        </p:tgtEl>
                                        <p:attrNameLst>
                                          <p:attrName>style.visibility</p:attrName>
                                        </p:attrNameLst>
                                      </p:cBhvr>
                                      <p:to>
                                        <p:strVal val="visible"/>
                                      </p:to>
                                    </p:set>
                                    <p:animEffect transition="in" filter="wipe(left)">
                                      <p:cBhvr>
                                        <p:cTn id="11" dur="500"/>
                                        <p:tgtEl>
                                          <p:spTgt spid="7680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6803">
                                            <p:txEl>
                                              <p:pRg st="1" end="1"/>
                                            </p:txEl>
                                          </p:spTgt>
                                        </p:tgtEl>
                                        <p:attrNameLst>
                                          <p:attrName>style.visibility</p:attrName>
                                        </p:attrNameLst>
                                      </p:cBhvr>
                                      <p:to>
                                        <p:strVal val="visible"/>
                                      </p:to>
                                    </p:set>
                                    <p:animEffect transition="in" filter="wipe(left)">
                                      <p:cBhvr>
                                        <p:cTn id="15" dur="500"/>
                                        <p:tgtEl>
                                          <p:spTgt spid="7680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6803">
                                            <p:txEl>
                                              <p:pRg st="2" end="2"/>
                                            </p:txEl>
                                          </p:spTgt>
                                        </p:tgtEl>
                                        <p:attrNameLst>
                                          <p:attrName>style.visibility</p:attrName>
                                        </p:attrNameLst>
                                      </p:cBhvr>
                                      <p:to>
                                        <p:strVal val="visible"/>
                                      </p:to>
                                    </p:set>
                                    <p:animEffect transition="in" filter="wipe(left)">
                                      <p:cBhvr>
                                        <p:cTn id="19" dur="500"/>
                                        <p:tgtEl>
                                          <p:spTgt spid="76803">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6803">
                                            <p:txEl>
                                              <p:pRg st="3" end="3"/>
                                            </p:txEl>
                                          </p:spTgt>
                                        </p:tgtEl>
                                        <p:attrNameLst>
                                          <p:attrName>style.visibility</p:attrName>
                                        </p:attrNameLst>
                                      </p:cBhvr>
                                      <p:to>
                                        <p:strVal val="visible"/>
                                      </p:to>
                                    </p:set>
                                    <p:animEffect transition="in" filter="wipe(left)">
                                      <p:cBhvr>
                                        <p:cTn id="23" dur="500"/>
                                        <p:tgtEl>
                                          <p:spTgt spid="76803">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76803">
                                            <p:txEl>
                                              <p:pRg st="4" end="4"/>
                                            </p:txEl>
                                          </p:spTgt>
                                        </p:tgtEl>
                                        <p:attrNameLst>
                                          <p:attrName>style.visibility</p:attrName>
                                        </p:attrNameLst>
                                      </p:cBhvr>
                                      <p:to>
                                        <p:strVal val="visible"/>
                                      </p:to>
                                    </p:set>
                                    <p:animEffect transition="in" filter="wipe(left)">
                                      <p:cBhvr>
                                        <p:cTn id="27" dur="500"/>
                                        <p:tgtEl>
                                          <p:spTgt spid="76803">
                                            <p:txEl>
                                              <p:pRg st="4" end="4"/>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up)">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build="p" advAuto="1000"/>
      <p:bldP spid="76803" grpId="0" build="p" advAuto="1000"/>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7826" name="Rectangle 2"/>
          <p:cNvSpPr>
            <a:spLocks noGrp="1"/>
          </p:cNvSpPr>
          <p:nvPr>
            <p:ph type="title"/>
          </p:nvPr>
        </p:nvSpPr>
        <p:spPr>
          <a:xfrm>
            <a:off x="533400" y="457200"/>
            <a:ext cx="2286000" cy="685800"/>
          </a:xfrm>
        </p:spPr>
        <p:txBody>
          <a:bodyPr vert="horz" wrap="square" lIns="92075" tIns="46038" rIns="92075" bIns="46038" anchor="ctr"/>
          <a:lstStyle/>
          <a:p>
            <a:pPr algn="l" eaLnBrk="1" hangingPunct="1"/>
            <a:r>
              <a:rPr lang="zh-CN" altLang="en-US" sz="3200" b="1" dirty="0">
                <a:solidFill>
                  <a:schemeClr val="hlink"/>
                </a:solidFill>
                <a:effectLst/>
                <a:latin typeface="华文中宋" panose="02010600040101010101" pitchFamily="2" charset="-122"/>
                <a:ea typeface="华文中宋" panose="02010600040101010101" pitchFamily="2" charset="-122"/>
              </a:rPr>
              <a:t>维氏硬度</a:t>
            </a:r>
          </a:p>
        </p:txBody>
      </p:sp>
      <p:grpSp>
        <p:nvGrpSpPr>
          <p:cNvPr id="2" name="Group 3"/>
          <p:cNvGrpSpPr/>
          <p:nvPr/>
        </p:nvGrpSpPr>
        <p:grpSpPr>
          <a:xfrm>
            <a:off x="152400" y="533400"/>
            <a:ext cx="8847138" cy="5715000"/>
            <a:chOff x="0" y="0"/>
            <a:chExt cx="5573" cy="3600"/>
          </a:xfrm>
        </p:grpSpPr>
        <p:pic>
          <p:nvPicPr>
            <p:cNvPr id="77828" name="Picture 4" descr="维氏硬度试验原理"/>
            <p:cNvPicPr>
              <a:picLocks noChangeAspect="1"/>
            </p:cNvPicPr>
            <p:nvPr/>
          </p:nvPicPr>
          <p:blipFill>
            <a:blip r:embed="rId2"/>
            <a:stretch>
              <a:fillRect/>
            </a:stretch>
          </p:blipFill>
          <p:spPr>
            <a:xfrm>
              <a:off x="0" y="480"/>
              <a:ext cx="2040" cy="2808"/>
            </a:xfrm>
            <a:prstGeom prst="rect">
              <a:avLst/>
            </a:prstGeom>
            <a:noFill/>
            <a:ln w="9525">
              <a:noFill/>
            </a:ln>
          </p:spPr>
        </p:pic>
        <p:pic>
          <p:nvPicPr>
            <p:cNvPr id="77829" name="Picture 5" descr="hvs-50维氏硬度计"/>
            <p:cNvPicPr>
              <a:picLocks noChangeAspect="1"/>
            </p:cNvPicPr>
            <p:nvPr/>
          </p:nvPicPr>
          <p:blipFill>
            <a:blip r:embed="rId3"/>
            <a:stretch>
              <a:fillRect/>
            </a:stretch>
          </p:blipFill>
          <p:spPr>
            <a:xfrm>
              <a:off x="3576" y="300"/>
              <a:ext cx="1997" cy="2946"/>
            </a:xfrm>
            <a:prstGeom prst="rect">
              <a:avLst/>
            </a:prstGeom>
            <a:noFill/>
            <a:ln w="9525">
              <a:noFill/>
            </a:ln>
          </p:spPr>
        </p:pic>
        <p:sp>
          <p:nvSpPr>
            <p:cNvPr id="77830" name="Text Box 6"/>
            <p:cNvSpPr txBox="1"/>
            <p:nvPr/>
          </p:nvSpPr>
          <p:spPr>
            <a:xfrm>
              <a:off x="3984" y="3312"/>
              <a:ext cx="1296" cy="288"/>
            </a:xfrm>
            <a:prstGeom prst="rect">
              <a:avLst/>
            </a:prstGeom>
            <a:noFill/>
            <a:ln w="9525">
              <a:noFill/>
            </a:ln>
          </p:spPr>
          <p:txBody>
            <a:bodyPr anchor="t">
              <a:spAutoFit/>
            </a:bodyPr>
            <a:lstStyle/>
            <a:p>
              <a:pPr algn="r">
                <a:spcBef>
                  <a:spcPct val="50000"/>
                </a:spcBef>
              </a:pPr>
              <a:r>
                <a:rPr lang="zh-CN" altLang="en-US" sz="2400" b="1" dirty="0">
                  <a:solidFill>
                    <a:srgbClr val="800000"/>
                  </a:solidFill>
                  <a:latin typeface="Times New Roman" panose="02020603050405020304" pitchFamily="18" charset="0"/>
                  <a:ea typeface="宋体" panose="02010600030101010101" pitchFamily="2" charset="-122"/>
                </a:rPr>
                <a:t>维氏硬度计</a:t>
              </a:r>
            </a:p>
          </p:txBody>
        </p:sp>
        <p:sp>
          <p:nvSpPr>
            <p:cNvPr id="77831" name="Text Box 7"/>
            <p:cNvSpPr txBox="1"/>
            <p:nvPr/>
          </p:nvSpPr>
          <p:spPr>
            <a:xfrm>
              <a:off x="192" y="3312"/>
              <a:ext cx="1728" cy="288"/>
            </a:xfrm>
            <a:prstGeom prst="rect">
              <a:avLst/>
            </a:prstGeom>
            <a:noFill/>
            <a:ln w="9525">
              <a:noFill/>
            </a:ln>
          </p:spPr>
          <p:txBody>
            <a:bodyPr anchor="t">
              <a:spAutoFit/>
            </a:bodyPr>
            <a:lstStyle/>
            <a:p>
              <a:pPr>
                <a:spcBef>
                  <a:spcPct val="50000"/>
                </a:spcBef>
              </a:pPr>
              <a:r>
                <a:rPr lang="zh-CN" altLang="en-US" sz="2400" b="1" dirty="0">
                  <a:solidFill>
                    <a:srgbClr val="800000"/>
                  </a:solidFill>
                  <a:latin typeface="Times New Roman" panose="02020603050405020304" pitchFamily="18" charset="0"/>
                  <a:ea typeface="宋体" panose="02010600030101010101" pitchFamily="2" charset="-122"/>
                </a:rPr>
                <a:t>维氏硬度试验原理</a:t>
              </a:r>
            </a:p>
          </p:txBody>
        </p:sp>
        <p:pic>
          <p:nvPicPr>
            <p:cNvPr id="77832" name="Picture 8" descr="vickers"/>
            <p:cNvPicPr>
              <a:picLocks noChangeAspect="1"/>
            </p:cNvPicPr>
            <p:nvPr/>
          </p:nvPicPr>
          <p:blipFill>
            <a:blip r:embed="rId4"/>
            <a:stretch>
              <a:fillRect/>
            </a:stretch>
          </p:blipFill>
          <p:spPr>
            <a:xfrm>
              <a:off x="1872" y="0"/>
              <a:ext cx="1693" cy="1587"/>
            </a:xfrm>
            <a:prstGeom prst="rect">
              <a:avLst/>
            </a:prstGeom>
            <a:noFill/>
            <a:ln w="9525">
              <a:noFill/>
            </a:ln>
          </p:spPr>
        </p:pic>
        <p:pic>
          <p:nvPicPr>
            <p:cNvPr id="77833" name="Picture 9" descr="msimpression"/>
            <p:cNvPicPr>
              <a:picLocks noChangeAspect="1"/>
            </p:cNvPicPr>
            <p:nvPr/>
          </p:nvPicPr>
          <p:blipFill>
            <a:blip r:embed="rId5"/>
            <a:stretch>
              <a:fillRect/>
            </a:stretch>
          </p:blipFill>
          <p:spPr>
            <a:xfrm>
              <a:off x="2016" y="1896"/>
              <a:ext cx="1514" cy="1358"/>
            </a:xfrm>
            <a:prstGeom prst="rect">
              <a:avLst/>
            </a:prstGeom>
            <a:noFill/>
            <a:ln w="9525">
              <a:noFill/>
            </a:ln>
          </p:spPr>
        </p:pic>
        <p:sp>
          <p:nvSpPr>
            <p:cNvPr id="77834" name="Text Box 10"/>
            <p:cNvSpPr txBox="1"/>
            <p:nvPr/>
          </p:nvSpPr>
          <p:spPr>
            <a:xfrm>
              <a:off x="2160" y="3312"/>
              <a:ext cx="1296" cy="288"/>
            </a:xfrm>
            <a:prstGeom prst="rect">
              <a:avLst/>
            </a:prstGeom>
            <a:noFill/>
            <a:ln w="9525">
              <a:noFill/>
            </a:ln>
          </p:spPr>
          <p:txBody>
            <a:bodyPr anchor="t">
              <a:spAutoFit/>
            </a:bodyPr>
            <a:lstStyle/>
            <a:p>
              <a:pPr algn="r">
                <a:spcBef>
                  <a:spcPct val="50000"/>
                </a:spcBef>
              </a:pPr>
              <a:r>
                <a:rPr lang="zh-CN" altLang="en-US" sz="2400" b="1" dirty="0">
                  <a:solidFill>
                    <a:srgbClr val="800000"/>
                  </a:solidFill>
                  <a:latin typeface="Times New Roman" panose="02020603050405020304" pitchFamily="18" charset="0"/>
                  <a:ea typeface="宋体" panose="02010600030101010101" pitchFamily="2" charset="-122"/>
                </a:rPr>
                <a:t>维氏硬度压痕</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wipe(left)">
                                      <p:cBhvr>
                                        <p:cTn id="7" dur="500"/>
                                        <p:tgtEl>
                                          <p:spTgt spid="7782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Grp="1"/>
          </p:cNvSpPr>
          <p:nvPr>
            <p:ph idx="1"/>
          </p:nvPr>
        </p:nvSpPr>
        <p:spPr>
          <a:xfrm>
            <a:off x="457200" y="419100"/>
            <a:ext cx="4495800" cy="3390900"/>
          </a:xfrm>
        </p:spPr>
        <p:txBody>
          <a:bodyPr vert="horz" wrap="square" lIns="91440" tIns="45720" rIns="91440" bIns="45720" anchor="t"/>
          <a:lstStyle/>
          <a:p>
            <a:pPr eaLnBrk="1" hangingPunct="1">
              <a:lnSpc>
                <a:spcPct val="120000"/>
              </a:lnSpc>
              <a:spcBef>
                <a:spcPct val="10000"/>
              </a:spcBef>
            </a:pPr>
            <a:r>
              <a:rPr lang="zh-CN" altLang="en-US" sz="2800" b="1" dirty="0">
                <a:solidFill>
                  <a:schemeClr val="folHlink"/>
                </a:solidFill>
                <a:ea typeface="华文中宋" panose="02010600040101010101" pitchFamily="2" charset="-122"/>
              </a:rPr>
              <a:t>维氏硬度用符号</a:t>
            </a:r>
            <a:r>
              <a:rPr lang="zh-CN" altLang="zh-CN" sz="2800" b="1" dirty="0">
                <a:solidFill>
                  <a:schemeClr val="folHlink"/>
                </a:solidFill>
                <a:ea typeface="华文中宋" panose="02010600040101010101" pitchFamily="2" charset="-122"/>
              </a:rPr>
              <a:t>HV</a:t>
            </a:r>
            <a:r>
              <a:rPr lang="zh-CN" altLang="en-US" sz="2800" b="1" dirty="0">
                <a:solidFill>
                  <a:schemeClr val="folHlink"/>
                </a:solidFill>
                <a:ea typeface="华文中宋" panose="02010600040101010101" pitchFamily="2" charset="-122"/>
              </a:rPr>
              <a:t>表示</a:t>
            </a:r>
            <a:r>
              <a:rPr lang="zh-CN" altLang="en-US" sz="2800" b="1" dirty="0">
                <a:ea typeface="华文中宋" panose="02010600040101010101" pitchFamily="2" charset="-122"/>
              </a:rPr>
              <a:t>，</a:t>
            </a:r>
            <a:r>
              <a:rPr lang="zh-CN" altLang="en-US" sz="2800" b="1" dirty="0">
                <a:solidFill>
                  <a:srgbClr val="CCFF33"/>
                </a:solidFill>
                <a:ea typeface="华文中宋" panose="02010600040101010101" pitchFamily="2" charset="-122"/>
              </a:rPr>
              <a:t>符号前的数字为硬度值，后面的数字按顺序分别表示载荷值及载荷保持时间</a:t>
            </a:r>
            <a:r>
              <a:rPr lang="zh-CN" altLang="zh-CN" sz="2800" b="1" dirty="0">
                <a:solidFill>
                  <a:srgbClr val="CCFF33"/>
                </a:solidFill>
                <a:ea typeface="华文中宋" panose="02010600040101010101" pitchFamily="2" charset="-122"/>
              </a:rPr>
              <a:t>.</a:t>
            </a:r>
          </a:p>
          <a:p>
            <a:pPr eaLnBrk="1" hangingPunct="1">
              <a:lnSpc>
                <a:spcPct val="120000"/>
              </a:lnSpc>
              <a:spcBef>
                <a:spcPct val="10000"/>
              </a:spcBef>
            </a:pPr>
            <a:r>
              <a:rPr lang="zh-CN" altLang="en-US" sz="2800" b="1" dirty="0">
                <a:ea typeface="华文中宋" panose="02010600040101010101" pitchFamily="2" charset="-122"/>
              </a:rPr>
              <a:t>根据载荷范围不同，规定</a:t>
            </a:r>
          </a:p>
        </p:txBody>
      </p:sp>
      <p:grpSp>
        <p:nvGrpSpPr>
          <p:cNvPr id="2" name="Group 3"/>
          <p:cNvGrpSpPr/>
          <p:nvPr/>
        </p:nvGrpSpPr>
        <p:grpSpPr>
          <a:xfrm>
            <a:off x="5124450" y="571500"/>
            <a:ext cx="3409950" cy="5792788"/>
            <a:chOff x="0" y="0"/>
            <a:chExt cx="2148" cy="3649"/>
          </a:xfrm>
        </p:grpSpPr>
        <p:pic>
          <p:nvPicPr>
            <p:cNvPr id="78851" name="Picture 4" descr="小负荷维氏硬度计"/>
            <p:cNvPicPr>
              <a:picLocks noChangeAspect="1"/>
            </p:cNvPicPr>
            <p:nvPr/>
          </p:nvPicPr>
          <p:blipFill>
            <a:blip r:embed="rId3"/>
            <a:stretch>
              <a:fillRect/>
            </a:stretch>
          </p:blipFill>
          <p:spPr>
            <a:xfrm>
              <a:off x="660" y="1608"/>
              <a:ext cx="1433" cy="2041"/>
            </a:xfrm>
            <a:prstGeom prst="rect">
              <a:avLst/>
            </a:prstGeom>
            <a:noFill/>
            <a:ln w="38100" cap="flat" cmpd="sng">
              <a:solidFill>
                <a:srgbClr val="CC99FF"/>
              </a:solidFill>
              <a:prstDash val="solid"/>
              <a:miter/>
              <a:headEnd type="none" w="med" len="med"/>
              <a:tailEnd type="none" w="med" len="med"/>
            </a:ln>
          </p:spPr>
        </p:pic>
        <p:sp>
          <p:nvSpPr>
            <p:cNvPr id="78852" name="Text Box 5"/>
            <p:cNvSpPr txBox="1"/>
            <p:nvPr/>
          </p:nvSpPr>
          <p:spPr>
            <a:xfrm>
              <a:off x="1840" y="1608"/>
              <a:ext cx="308" cy="1440"/>
            </a:xfrm>
            <a:prstGeom prst="rect">
              <a:avLst/>
            </a:prstGeom>
            <a:noFill/>
            <a:ln w="9525">
              <a:noFill/>
            </a:ln>
          </p:spPr>
          <p:txBody>
            <a:bodyPr vert="eaVert"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小负荷维氏硬度计</a:t>
              </a:r>
            </a:p>
          </p:txBody>
        </p:sp>
        <p:pic>
          <p:nvPicPr>
            <p:cNvPr id="78853" name="Picture 6" descr="显微硬度计1"/>
            <p:cNvPicPr>
              <a:picLocks noChangeAspect="1"/>
            </p:cNvPicPr>
            <p:nvPr/>
          </p:nvPicPr>
          <p:blipFill>
            <a:blip r:embed="rId4"/>
            <a:stretch>
              <a:fillRect/>
            </a:stretch>
          </p:blipFill>
          <p:spPr>
            <a:xfrm>
              <a:off x="36" y="24"/>
              <a:ext cx="2065" cy="1473"/>
            </a:xfrm>
            <a:prstGeom prst="rect">
              <a:avLst/>
            </a:prstGeom>
            <a:noFill/>
            <a:ln w="38100" cap="flat" cmpd="sng">
              <a:solidFill>
                <a:srgbClr val="CC99FF"/>
              </a:solidFill>
              <a:prstDash val="solid"/>
              <a:miter/>
              <a:headEnd type="none" w="med" len="med"/>
              <a:tailEnd type="none" w="med" len="med"/>
            </a:ln>
          </p:spPr>
        </p:pic>
        <p:sp>
          <p:nvSpPr>
            <p:cNvPr id="78854" name="Text Box 7"/>
            <p:cNvSpPr txBox="1"/>
            <p:nvPr/>
          </p:nvSpPr>
          <p:spPr>
            <a:xfrm>
              <a:off x="0" y="0"/>
              <a:ext cx="1248" cy="250"/>
            </a:xfrm>
            <a:prstGeom prst="rect">
              <a:avLst/>
            </a:prstGeom>
            <a:noFill/>
            <a:ln w="9525">
              <a:noFill/>
            </a:ln>
          </p:spPr>
          <p:txBody>
            <a:bodyPr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显微维氏硬度计</a:t>
              </a:r>
            </a:p>
          </p:txBody>
        </p:sp>
      </p:grpSp>
      <p:sp>
        <p:nvSpPr>
          <p:cNvPr id="78856" name="Rectangle 8"/>
          <p:cNvSpPr/>
          <p:nvPr/>
        </p:nvSpPr>
        <p:spPr>
          <a:xfrm>
            <a:off x="438150" y="3514725"/>
            <a:ext cx="5410200" cy="3067050"/>
          </a:xfrm>
          <a:prstGeom prst="rect">
            <a:avLst/>
          </a:prstGeom>
          <a:noFill/>
          <a:ln w="9525">
            <a:noFill/>
          </a:ln>
        </p:spPr>
        <p:txBody>
          <a:bodyPr anchor="t"/>
          <a:lstStyle/>
          <a:p>
            <a:pPr marL="342900" indent="-342900">
              <a:lnSpc>
                <a:spcPct val="125000"/>
              </a:lnSpc>
              <a:spcBef>
                <a:spcPct val="20000"/>
              </a:spcBef>
              <a:buClr>
                <a:schemeClr val="accent2"/>
              </a:buClr>
              <a:buSzPct val="80000"/>
              <a:buFont typeface="Wingdings" panose="05000000000000000000" pitchFamily="2" charset="2"/>
            </a:pPr>
            <a:r>
              <a:rPr lang="zh-CN" altLang="zh-CN" sz="2800" b="1" dirty="0">
                <a:latin typeface="Times New Roman" panose="02020603050405020304" pitchFamily="18" charset="0"/>
                <a:ea typeface="华文中宋" panose="02010600040101010101" pitchFamily="2" charset="-122"/>
              </a:rPr>
              <a:t>    </a:t>
            </a:r>
            <a:r>
              <a:rPr lang="zh-CN" altLang="en-US" sz="2800" b="1" dirty="0">
                <a:latin typeface="Times New Roman" panose="02020603050405020304" pitchFamily="18" charset="0"/>
                <a:ea typeface="华文中宋" panose="02010600040101010101" pitchFamily="2" charset="-122"/>
              </a:rPr>
              <a:t>了三种测定方法 </a:t>
            </a:r>
            <a:r>
              <a:rPr lang="zh-CN" altLang="zh-CN" sz="2800" b="1" dirty="0">
                <a:latin typeface="Times New Roman" panose="02020603050405020304" pitchFamily="18" charset="0"/>
                <a:ea typeface="华文中宋" panose="02010600040101010101" pitchFamily="2" charset="-122"/>
              </a:rPr>
              <a:t>—</a:t>
            </a:r>
            <a:r>
              <a:rPr lang="zh-CN" altLang="en-US" sz="2800" b="1" dirty="0">
                <a:solidFill>
                  <a:srgbClr val="FFFF66"/>
                </a:solidFill>
                <a:latin typeface="Times New Roman" panose="02020603050405020304" pitchFamily="18" charset="0"/>
                <a:ea typeface="华文中宋" panose="02010600040101010101" pitchFamily="2" charset="-122"/>
              </a:rPr>
              <a:t>维氏硬度试验</a:t>
            </a:r>
            <a:r>
              <a:rPr lang="zh-CN" altLang="en-US" sz="2800" b="1" dirty="0">
                <a:latin typeface="Times New Roman" panose="02020603050405020304" pitchFamily="18" charset="0"/>
                <a:ea typeface="华文中宋" panose="02010600040101010101" pitchFamily="2" charset="-122"/>
              </a:rPr>
              <a:t> 、</a:t>
            </a:r>
            <a:r>
              <a:rPr lang="zh-CN" altLang="en-US" sz="2800" b="1" dirty="0">
                <a:solidFill>
                  <a:srgbClr val="FFFF66"/>
                </a:solidFill>
                <a:latin typeface="Times New Roman" panose="02020603050405020304" pitchFamily="18" charset="0"/>
                <a:ea typeface="华文中宋" panose="02010600040101010101" pitchFamily="2" charset="-122"/>
              </a:rPr>
              <a:t>小负荷维氏硬度试验</a:t>
            </a:r>
            <a:r>
              <a:rPr lang="zh-CN" altLang="en-US" sz="2800" b="1" dirty="0">
                <a:latin typeface="Times New Roman" panose="02020603050405020304" pitchFamily="18" charset="0"/>
                <a:ea typeface="华文中宋" panose="02010600040101010101" pitchFamily="2" charset="-122"/>
              </a:rPr>
              <a:t>、</a:t>
            </a:r>
            <a:r>
              <a:rPr lang="zh-CN" altLang="en-US" sz="2800" b="1" dirty="0">
                <a:solidFill>
                  <a:srgbClr val="FFFF66"/>
                </a:solidFill>
                <a:latin typeface="Times New Roman" panose="02020603050405020304" pitchFamily="18" charset="0"/>
                <a:ea typeface="华文中宋" panose="02010600040101010101" pitchFamily="2" charset="-122"/>
              </a:rPr>
              <a:t>显微维氏硬度试验</a:t>
            </a:r>
            <a:r>
              <a:rPr lang="zh-CN" altLang="zh-CN" sz="2800" b="1" dirty="0">
                <a:latin typeface="Times New Roman" panose="02020603050405020304" pitchFamily="18" charset="0"/>
                <a:ea typeface="华文中宋" panose="02010600040101010101" pitchFamily="2" charset="-122"/>
              </a:rPr>
              <a:t>.</a:t>
            </a:r>
          </a:p>
          <a:p>
            <a:pPr marL="342900" indent="-342900">
              <a:lnSpc>
                <a:spcPct val="125000"/>
              </a:lnSpc>
              <a:spcBef>
                <a:spcPct val="20000"/>
              </a:spcBef>
              <a:buClr>
                <a:schemeClr val="accent2"/>
              </a:buClr>
              <a:buSzPct val="80000"/>
              <a:buFont typeface="Wingdings" panose="05000000000000000000" pitchFamily="2" charset="2"/>
              <a:buChar char="l"/>
            </a:pPr>
            <a:r>
              <a:rPr lang="zh-CN" altLang="en-US" sz="2800" b="1" dirty="0">
                <a:solidFill>
                  <a:srgbClr val="CCFF33"/>
                </a:solidFill>
                <a:latin typeface="Times New Roman" panose="02020603050405020304" pitchFamily="18" charset="0"/>
                <a:ea typeface="华文中宋" panose="02010600040101010101" pitchFamily="2" charset="-122"/>
              </a:rPr>
              <a:t>维氏硬度保留了布氏硬度和洛氏硬度的优点</a:t>
            </a:r>
            <a:r>
              <a:rPr lang="zh-CN" altLang="en-US" sz="2800" b="1" dirty="0">
                <a:latin typeface="Times New Roman" panose="02020603050405020304" pitchFamily="18" charset="0"/>
                <a:ea typeface="华文中宋" panose="02010600040101010101" pitchFamily="2" charset="-122"/>
              </a:rPr>
              <a:t>。</a:t>
            </a:r>
          </a:p>
        </p:txBody>
      </p:sp>
    </p:spTree>
  </p:cSld>
  <p:clrMapOvr>
    <a:overrideClrMapping bg1="dk2" tx1="lt1" bg2="dk1"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animEffect transition="in" filter="wipe(left)">
                                      <p:cBhvr>
                                        <p:cTn id="7" dur="500"/>
                                        <p:tgtEl>
                                          <p:spTgt spid="78850">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8850">
                                            <p:txEl>
                                              <p:pRg st="1" end="1"/>
                                            </p:txEl>
                                          </p:spTgt>
                                        </p:tgtEl>
                                        <p:attrNameLst>
                                          <p:attrName>style.visibility</p:attrName>
                                        </p:attrNameLst>
                                      </p:cBhvr>
                                      <p:to>
                                        <p:strVal val="visible"/>
                                      </p:to>
                                    </p:set>
                                    <p:animEffect transition="in" filter="wipe(left)">
                                      <p:cBhvr>
                                        <p:cTn id="11" dur="500"/>
                                        <p:tgtEl>
                                          <p:spTgt spid="78850">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8856">
                                            <p:txEl>
                                              <p:pRg st="0" end="0"/>
                                            </p:txEl>
                                          </p:spTgt>
                                        </p:tgtEl>
                                        <p:attrNameLst>
                                          <p:attrName>style.visibility</p:attrName>
                                        </p:attrNameLst>
                                      </p:cBhvr>
                                      <p:to>
                                        <p:strVal val="visible"/>
                                      </p:to>
                                    </p:set>
                                    <p:animEffect transition="in" filter="wipe(left)">
                                      <p:cBhvr>
                                        <p:cTn id="15" dur="500"/>
                                        <p:tgtEl>
                                          <p:spTgt spid="78856">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8856">
                                            <p:txEl>
                                              <p:pRg st="1" end="1"/>
                                            </p:txEl>
                                          </p:spTgt>
                                        </p:tgtEl>
                                        <p:attrNameLst>
                                          <p:attrName>style.visibility</p:attrName>
                                        </p:attrNameLst>
                                      </p:cBhvr>
                                      <p:to>
                                        <p:strVal val="visible"/>
                                      </p:to>
                                    </p:set>
                                    <p:animEffect transition="in" filter="wipe(left)">
                                      <p:cBhvr>
                                        <p:cTn id="19" dur="500"/>
                                        <p:tgtEl>
                                          <p:spTgt spid="78856">
                                            <p:txEl>
                                              <p:pRg st="1" end="1"/>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advAuto="1000"/>
      <p:bldP spid="78856" grpId="0" build="p" advAuto="100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36512" y="457200"/>
            <a:ext cx="9566448" cy="533400"/>
          </a:xfrm>
        </p:spPr>
        <p:txBody>
          <a:bodyPr vert="horz" wrap="square" lIns="92075" tIns="46038" rIns="92075" bIns="46038" numCol="1" anchor="ctr" anchorCtr="0" compatLnSpc="1"/>
          <a:lstStyle/>
          <a:p>
            <a:pPr algn="l">
              <a:defRPr/>
            </a:pPr>
            <a:r>
              <a:rPr kumimoji="0" lang="zh-CN" sz="32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六、断裂韧性</a:t>
            </a:r>
            <a:r>
              <a:rPr kumimoji="0" lang="zh-CN" altLang="en-US" sz="32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rPr>
              <a:t>：</a:t>
            </a:r>
            <a:r>
              <a:rPr lang="zh-CN" altLang="en-US" sz="3200" b="1" kern="1200" dirty="0">
                <a:solidFill>
                  <a:srgbClr val="FFFFFF"/>
                </a:solidFill>
                <a:effectLst/>
                <a:latin typeface="Times New Roman" panose="02020603050405020304" pitchFamily="18" charset="0"/>
                <a:ea typeface="华文中宋" panose="02010600040101010101" pitchFamily="2" charset="-122"/>
              </a:rPr>
              <a:t>材料抵抗内部裂纹失稳扩展的能力</a:t>
            </a:r>
            <a:br>
              <a:rPr lang="zh-CN" altLang="en-US" sz="3200" b="1" kern="1200" dirty="0">
                <a:solidFill>
                  <a:srgbClr val="FFFFFF"/>
                </a:solidFill>
                <a:effectLst/>
                <a:latin typeface="Times New Roman" panose="02020603050405020304" pitchFamily="18" charset="0"/>
                <a:ea typeface="华文中宋" panose="02010600040101010101" pitchFamily="2" charset="-122"/>
              </a:rPr>
            </a:br>
            <a:endParaRPr kumimoji="0" lang="zh-CN" sz="32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华文中宋" panose="02010600040101010101" pitchFamily="2" charset="-122"/>
              <a:cs typeface="+mj-cs"/>
            </a:endParaRPr>
          </a:p>
        </p:txBody>
      </p:sp>
      <p:sp>
        <p:nvSpPr>
          <p:cNvPr id="79875" name="Text Box 3"/>
          <p:cNvSpPr txBox="1"/>
          <p:nvPr/>
        </p:nvSpPr>
        <p:spPr>
          <a:xfrm>
            <a:off x="838200" y="1716931"/>
            <a:ext cx="3619500" cy="1630362"/>
          </a:xfrm>
          <a:prstGeom prst="rect">
            <a:avLst/>
          </a:prstGeom>
          <a:solidFill>
            <a:srgbClr val="00FFFF"/>
          </a:solidFill>
          <a:ln w="9525">
            <a:noFill/>
          </a:ln>
        </p:spPr>
        <p:txBody>
          <a:bodyPr anchor="t">
            <a:spAutoFit/>
          </a:bodyPr>
          <a:lstStyle/>
          <a:p>
            <a:pPr>
              <a:lnSpc>
                <a:spcPct val="120000"/>
              </a:lnSpc>
              <a:spcBef>
                <a:spcPct val="50000"/>
              </a:spcBef>
            </a:pPr>
            <a:r>
              <a:rPr lang="zh-CN" altLang="en-US" sz="2800" b="1" dirty="0">
                <a:solidFill>
                  <a:srgbClr val="800000"/>
                </a:solidFill>
                <a:latin typeface="宋体" panose="02010600030101010101" pitchFamily="2" charset="-122"/>
                <a:ea typeface="宋体" panose="02010600030101010101" pitchFamily="2" charset="-122"/>
              </a:rPr>
              <a:t>油轮断裂和北极星导弹发动机壳体爆炸与材料中存在缺陷有关</a:t>
            </a:r>
            <a:r>
              <a:rPr lang="zh-CN" altLang="en-US" sz="2800" dirty="0">
                <a:solidFill>
                  <a:srgbClr val="800000"/>
                </a:solidFill>
                <a:latin typeface="Times New Roman" panose="02020603050405020304" pitchFamily="18" charset="0"/>
                <a:ea typeface="宋体" panose="02010600030101010101" pitchFamily="2" charset="-122"/>
              </a:rPr>
              <a:t> </a:t>
            </a:r>
          </a:p>
        </p:txBody>
      </p:sp>
      <p:grpSp>
        <p:nvGrpSpPr>
          <p:cNvPr id="2" name="Group 4"/>
          <p:cNvGrpSpPr/>
          <p:nvPr/>
        </p:nvGrpSpPr>
        <p:grpSpPr>
          <a:xfrm>
            <a:off x="838200" y="1289893"/>
            <a:ext cx="7519988" cy="5451475"/>
            <a:chOff x="0" y="0"/>
            <a:chExt cx="4737" cy="3434"/>
          </a:xfrm>
        </p:grpSpPr>
        <p:grpSp>
          <p:nvGrpSpPr>
            <p:cNvPr id="79876" name="Group 5"/>
            <p:cNvGrpSpPr>
              <a:grpSpLocks noChangeAspect="1"/>
            </p:cNvGrpSpPr>
            <p:nvPr/>
          </p:nvGrpSpPr>
          <p:grpSpPr>
            <a:xfrm>
              <a:off x="0" y="1378"/>
              <a:ext cx="2746" cy="2056"/>
              <a:chOff x="0" y="0"/>
              <a:chExt cx="2746" cy="2056"/>
            </a:xfrm>
          </p:grpSpPr>
          <p:pic>
            <p:nvPicPr>
              <p:cNvPr id="79877" name="Picture 6" descr="T-2油轮"/>
              <p:cNvPicPr>
                <a:picLocks noChangeAspect="1"/>
              </p:cNvPicPr>
              <p:nvPr/>
            </p:nvPicPr>
            <p:blipFill>
              <a:blip r:embed="rId2"/>
              <a:stretch>
                <a:fillRect/>
              </a:stretch>
            </p:blipFill>
            <p:spPr>
              <a:xfrm>
                <a:off x="0" y="14"/>
                <a:ext cx="2646" cy="2042"/>
              </a:xfrm>
              <a:prstGeom prst="rect">
                <a:avLst/>
              </a:prstGeom>
              <a:noFill/>
              <a:ln w="38100" cap="flat" cmpd="sng">
                <a:solidFill>
                  <a:srgbClr val="00FFFF"/>
                </a:solidFill>
                <a:prstDash val="solid"/>
                <a:miter/>
                <a:headEnd type="none" w="med" len="med"/>
                <a:tailEnd type="none" w="med" len="med"/>
              </a:ln>
            </p:spPr>
          </p:pic>
          <p:sp>
            <p:nvSpPr>
              <p:cNvPr id="79878" name="Text Box 7"/>
              <p:cNvSpPr txBox="1">
                <a:spLocks noChangeAspect="1"/>
              </p:cNvSpPr>
              <p:nvPr/>
            </p:nvSpPr>
            <p:spPr>
              <a:xfrm>
                <a:off x="511" y="0"/>
                <a:ext cx="2235" cy="250"/>
              </a:xfrm>
              <a:prstGeom prst="rect">
                <a:avLst/>
              </a:prstGeom>
              <a:noFill/>
              <a:ln w="9525">
                <a:noFill/>
              </a:ln>
            </p:spPr>
            <p:txBody>
              <a:bodyPr anchor="t">
                <a:spAutoFit/>
              </a:bodyPr>
              <a:lstStyle/>
              <a:p>
                <a:pPr algn="ctr">
                  <a:spcBef>
                    <a:spcPct val="50000"/>
                  </a:spcBef>
                </a:pPr>
                <a:r>
                  <a:rPr lang="zh-CN" altLang="zh-CN" sz="2000" b="1" dirty="0">
                    <a:solidFill>
                      <a:srgbClr val="800000"/>
                    </a:solidFill>
                    <a:latin typeface="Times New Roman" panose="02020603050405020304" pitchFamily="18" charset="0"/>
                    <a:ea typeface="宋体" panose="02010600030101010101" pitchFamily="2" charset="-122"/>
                  </a:rPr>
                  <a:t>1943</a:t>
                </a:r>
                <a:r>
                  <a:rPr lang="zh-CN" altLang="en-US" sz="2000" b="1" dirty="0">
                    <a:solidFill>
                      <a:srgbClr val="800000"/>
                    </a:solidFill>
                    <a:latin typeface="Times New Roman" panose="02020603050405020304" pitchFamily="18" charset="0"/>
                    <a:ea typeface="宋体" panose="02010600030101010101" pitchFamily="2" charset="-122"/>
                  </a:rPr>
                  <a:t>年美国</a:t>
                </a:r>
                <a:r>
                  <a:rPr lang="zh-CN" altLang="zh-CN" sz="2000" b="1" dirty="0">
                    <a:solidFill>
                      <a:srgbClr val="800000"/>
                    </a:solidFill>
                    <a:latin typeface="Times New Roman" panose="02020603050405020304" pitchFamily="18" charset="0"/>
                    <a:ea typeface="宋体" panose="02010600030101010101" pitchFamily="2" charset="-122"/>
                  </a:rPr>
                  <a:t>T-2</a:t>
                </a:r>
                <a:r>
                  <a:rPr lang="zh-CN" altLang="en-US" sz="2000" b="1" dirty="0">
                    <a:solidFill>
                      <a:srgbClr val="800000"/>
                    </a:solidFill>
                    <a:latin typeface="Times New Roman" panose="02020603050405020304" pitchFamily="18" charset="0"/>
                    <a:ea typeface="宋体" panose="02010600030101010101" pitchFamily="2" charset="-122"/>
                  </a:rPr>
                  <a:t>油轮发生断裂</a:t>
                </a:r>
              </a:p>
            </p:txBody>
          </p:sp>
        </p:grpSp>
        <p:grpSp>
          <p:nvGrpSpPr>
            <p:cNvPr id="79879" name="Group 8"/>
            <p:cNvGrpSpPr/>
            <p:nvPr/>
          </p:nvGrpSpPr>
          <p:grpSpPr>
            <a:xfrm>
              <a:off x="3216" y="1392"/>
              <a:ext cx="1340" cy="2040"/>
              <a:chOff x="0" y="0"/>
              <a:chExt cx="1340" cy="2040"/>
            </a:xfrm>
          </p:grpSpPr>
          <p:pic>
            <p:nvPicPr>
              <p:cNvPr id="79880" name="Picture 9" descr="北极星导弹"/>
              <p:cNvPicPr>
                <a:picLocks noChangeAspect="1"/>
              </p:cNvPicPr>
              <p:nvPr/>
            </p:nvPicPr>
            <p:blipFill>
              <a:blip r:embed="rId3"/>
              <a:stretch>
                <a:fillRect/>
              </a:stretch>
            </p:blipFill>
            <p:spPr>
              <a:xfrm>
                <a:off x="0" y="0"/>
                <a:ext cx="1283" cy="2040"/>
              </a:xfrm>
              <a:prstGeom prst="rect">
                <a:avLst/>
              </a:prstGeom>
              <a:noFill/>
              <a:ln w="38100" cap="flat" cmpd="sng">
                <a:solidFill>
                  <a:srgbClr val="FFCC00"/>
                </a:solidFill>
                <a:prstDash val="solid"/>
                <a:miter/>
                <a:headEnd type="none" w="med" len="med"/>
                <a:tailEnd type="none" w="med" len="med"/>
              </a:ln>
            </p:spPr>
          </p:pic>
          <p:sp>
            <p:nvSpPr>
              <p:cNvPr id="79881" name="Text Box 10"/>
              <p:cNvSpPr txBox="1"/>
              <p:nvPr/>
            </p:nvSpPr>
            <p:spPr>
              <a:xfrm>
                <a:off x="1032" y="24"/>
                <a:ext cx="308" cy="1008"/>
              </a:xfrm>
              <a:prstGeom prst="rect">
                <a:avLst/>
              </a:prstGeom>
              <a:noFill/>
              <a:ln w="9525">
                <a:noFill/>
              </a:ln>
            </p:spPr>
            <p:txBody>
              <a:bodyPr vert="eaVert" anchor="t">
                <a:spAutoFit/>
              </a:bodyPr>
              <a:lstStyle/>
              <a:p>
                <a:pPr>
                  <a:spcBef>
                    <a:spcPct val="50000"/>
                  </a:spcBef>
                </a:pPr>
                <a:r>
                  <a:rPr lang="zh-CN" altLang="en-US" sz="2000" b="1" dirty="0">
                    <a:solidFill>
                      <a:schemeClr val="folHlink"/>
                    </a:solidFill>
                    <a:latin typeface="Times New Roman" panose="02020603050405020304" pitchFamily="18" charset="0"/>
                    <a:ea typeface="宋体" panose="02010600030101010101" pitchFamily="2" charset="-122"/>
                  </a:rPr>
                  <a:t>北极星导弹</a:t>
                </a:r>
              </a:p>
            </p:txBody>
          </p:sp>
        </p:grpSp>
        <p:grpSp>
          <p:nvGrpSpPr>
            <p:cNvPr id="79882" name="Group 11"/>
            <p:cNvGrpSpPr/>
            <p:nvPr/>
          </p:nvGrpSpPr>
          <p:grpSpPr>
            <a:xfrm>
              <a:off x="2400" y="0"/>
              <a:ext cx="2337" cy="1309"/>
              <a:chOff x="0" y="0"/>
              <a:chExt cx="2337" cy="1309"/>
            </a:xfrm>
          </p:grpSpPr>
          <p:sp>
            <p:nvSpPr>
              <p:cNvPr id="79883" name="Rectangle 12"/>
              <p:cNvSpPr/>
              <p:nvPr/>
            </p:nvSpPr>
            <p:spPr>
              <a:xfrm>
                <a:off x="0" y="0"/>
                <a:ext cx="2337" cy="312"/>
              </a:xfrm>
              <a:prstGeom prst="rect">
                <a:avLst/>
              </a:prstGeom>
              <a:solidFill>
                <a:schemeClr val="tx1"/>
              </a:solidFill>
              <a:ln w="38100" cap="flat" cmpd="sng">
                <a:solidFill>
                  <a:srgbClr val="FF00FF"/>
                </a:solidFill>
                <a:prstDash val="solid"/>
                <a:miter/>
                <a:headEnd type="none" w="med" len="med"/>
                <a:tailEnd type="none" w="med" len="med"/>
              </a:ln>
            </p:spPr>
            <p:txBody>
              <a:bodyPr wrap="none" anchor="ctr"/>
              <a:lstStyle/>
              <a:p>
                <a:pPr algn="ctr"/>
                <a:r>
                  <a:rPr lang="zh-CN" altLang="en-US" b="1" dirty="0">
                    <a:solidFill>
                      <a:srgbClr val="800000"/>
                    </a:solidFill>
                    <a:latin typeface="Times New Roman" panose="02020603050405020304" pitchFamily="18" charset="0"/>
                    <a:ea typeface="宋体" panose="02010600030101010101" pitchFamily="2" charset="-122"/>
                  </a:rPr>
                  <a:t>裂纹扩展的基本形式</a:t>
                </a:r>
              </a:p>
            </p:txBody>
          </p:sp>
          <p:pic>
            <p:nvPicPr>
              <p:cNvPr id="79884" name="Picture 13" descr="裂纹扩展类型"/>
              <p:cNvPicPr>
                <a:picLocks noChangeAspect="1"/>
              </p:cNvPicPr>
              <p:nvPr/>
            </p:nvPicPr>
            <p:blipFill>
              <a:blip r:embed="rId4"/>
              <a:stretch>
                <a:fillRect/>
              </a:stretch>
            </p:blipFill>
            <p:spPr>
              <a:xfrm>
                <a:off x="12" y="288"/>
                <a:ext cx="2321" cy="1021"/>
              </a:xfrm>
              <a:prstGeom prst="rect">
                <a:avLst/>
              </a:prstGeom>
              <a:noFill/>
              <a:ln w="38100" cap="flat" cmpd="sng">
                <a:solidFill>
                  <a:srgbClr val="FF00FF"/>
                </a:solidFill>
                <a:prstDash val="solid"/>
                <a:miter/>
                <a:headEnd type="none" w="med" len="med"/>
                <a:tailEnd type="none" w="med" len="med"/>
              </a:ln>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wipe(left)">
                                      <p:cBhvr>
                                        <p:cTn id="7" dur="500"/>
                                        <p:tgtEl>
                                          <p:spTgt spid="7987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79875"/>
                                        </p:tgtEl>
                                        <p:attrNameLst>
                                          <p:attrName>style.visibility</p:attrName>
                                        </p:attrNameLst>
                                      </p:cBhvr>
                                      <p:to>
                                        <p:strVal val="visible"/>
                                      </p:to>
                                    </p:set>
                                    <p:anim calcmode="lin" valueType="num">
                                      <p:cBhvr additive="base">
                                        <p:cTn id="15" dur="500" fill="hold"/>
                                        <p:tgtEl>
                                          <p:spTgt spid="79875"/>
                                        </p:tgtEl>
                                        <p:attrNameLst>
                                          <p:attrName>ppt_x</p:attrName>
                                        </p:attrNameLst>
                                      </p:cBhvr>
                                      <p:tavLst>
                                        <p:tav tm="0">
                                          <p:val>
                                            <p:strVal val="0-#ppt_w/2"/>
                                          </p:val>
                                        </p:tav>
                                        <p:tav tm="100000">
                                          <p:val>
                                            <p:strVal val="#ppt_x"/>
                                          </p:val>
                                        </p:tav>
                                      </p:tavLst>
                                    </p:anim>
                                    <p:anim calcmode="lin" valueType="num">
                                      <p:cBhvr additive="base">
                                        <p:cTn id="16" dur="500" fill="hold"/>
                                        <p:tgtEl>
                                          <p:spTgt spid="798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ldLvl="0" animBg="1"/>
      <p:bldP spid="7987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611188" y="188913"/>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物理性能 </a:t>
            </a:r>
          </a:p>
        </p:txBody>
      </p:sp>
      <p:sp>
        <p:nvSpPr>
          <p:cNvPr id="2" name="Rectangle 3"/>
          <p:cNvSpPr>
            <a:spLocks noGrp="1"/>
          </p:cNvSpPr>
          <p:nvPr>
            <p:ph idx="1"/>
          </p:nvPr>
        </p:nvSpPr>
        <p:spPr>
          <a:xfrm>
            <a:off x="-108520" y="1124744"/>
            <a:ext cx="9252519" cy="4114800"/>
          </a:xfrm>
        </p:spPr>
        <p:txBody>
          <a:bodyPr vert="horz" wrap="square" lIns="91440" tIns="45720" rIns="91440" bIns="45720" anchor="t"/>
          <a:lstStyle/>
          <a:p>
            <a:pPr eaLnBrk="1" hangingPunct="1">
              <a:buNone/>
            </a:pPr>
            <a:r>
              <a:rPr lang="zh-CN" altLang="zh-CN" sz="2400" dirty="0"/>
              <a:t>    </a:t>
            </a:r>
            <a:r>
              <a:rPr lang="zh-CN" altLang="zh-CN" sz="2400" b="1" dirty="0">
                <a:latin typeface="宋体" panose="02010600030101010101" pitchFamily="2" charset="-122"/>
              </a:rPr>
              <a:t>(1) </a:t>
            </a:r>
            <a:r>
              <a:rPr lang="zh-CN" altLang="en-US" sz="2400" b="1" dirty="0">
                <a:latin typeface="宋体" panose="02010600030101010101" pitchFamily="2" charset="-122"/>
              </a:rPr>
              <a:t>相对密度</a:t>
            </a:r>
          </a:p>
          <a:p>
            <a:pPr eaLnBrk="1" hangingPunct="1">
              <a:buNone/>
            </a:pPr>
            <a:r>
              <a:rPr lang="zh-CN" altLang="zh-CN" sz="2400" b="1" dirty="0">
                <a:latin typeface="宋体" panose="02010600030101010101" pitchFamily="2" charset="-122"/>
              </a:rPr>
              <a:t>        </a:t>
            </a:r>
            <a:r>
              <a:rPr lang="zh-CN" altLang="en-US" sz="2400" b="1" dirty="0">
                <a:latin typeface="宋体" panose="02010600030101010101" pitchFamily="2" charset="-122"/>
              </a:rPr>
              <a:t>密度</a:t>
            </a:r>
            <a:r>
              <a:rPr lang="zh-CN" altLang="zh-CN" sz="2400" b="1" dirty="0">
                <a:latin typeface="宋体" panose="02010600030101010101" pitchFamily="2" charset="-122"/>
              </a:rPr>
              <a:t>ρ</a:t>
            </a:r>
            <a:r>
              <a:rPr lang="zh-CN" altLang="en-US" sz="2400" b="1" dirty="0">
                <a:latin typeface="宋体" panose="02010600030101010101" pitchFamily="2" charset="-122"/>
              </a:rPr>
              <a:t>是指单位体积材料的质量，它是描述材料性能的重要指标。不同材料的相对密度不同，如钢为</a:t>
            </a:r>
            <a:r>
              <a:rPr lang="zh-CN" altLang="zh-CN" sz="2400" b="1" dirty="0">
                <a:latin typeface="宋体" panose="02010600030101010101" pitchFamily="2" charset="-122"/>
              </a:rPr>
              <a:t>7.8</a:t>
            </a:r>
            <a:r>
              <a:rPr lang="zh-CN" altLang="en-US" sz="2400" b="1" dirty="0">
                <a:latin typeface="宋体" panose="02010600030101010101" pitchFamily="2" charset="-122"/>
              </a:rPr>
              <a:t>左右；陶瓷的相对密度为</a:t>
            </a:r>
            <a:r>
              <a:rPr lang="zh-CN" altLang="zh-CN" sz="2400" b="1" dirty="0">
                <a:latin typeface="宋体" panose="02010600030101010101" pitchFamily="2" charset="-122"/>
              </a:rPr>
              <a:t>2.2</a:t>
            </a:r>
            <a:r>
              <a:rPr lang="zh-CN" altLang="en-US" sz="2400" b="1" dirty="0">
                <a:latin typeface="宋体" panose="02010600030101010101" pitchFamily="2" charset="-122"/>
              </a:rPr>
              <a:t>～</a:t>
            </a:r>
            <a:r>
              <a:rPr lang="zh-CN" altLang="zh-CN" sz="2400" b="1" dirty="0">
                <a:latin typeface="宋体" panose="02010600030101010101" pitchFamily="2" charset="-122"/>
              </a:rPr>
              <a:t>2.5</a:t>
            </a:r>
            <a:r>
              <a:rPr lang="zh-CN" altLang="en-US" sz="2400" b="1" dirty="0">
                <a:latin typeface="宋体" panose="02010600030101010101" pitchFamily="2" charset="-122"/>
              </a:rPr>
              <a:t>；各种塑料的相对密度更小。材料的相对密度直接关系到产品的质量，对于陶瓷材料来说，相对密度更是决定其性能的关键指标之一。</a:t>
            </a:r>
          </a:p>
          <a:p>
            <a:pPr eaLnBrk="1" hangingPunct="1">
              <a:buNone/>
            </a:pPr>
            <a:r>
              <a:rPr lang="zh-CN" altLang="zh-CN" sz="2400" b="1" dirty="0">
                <a:latin typeface="宋体" panose="02010600030101010101" pitchFamily="2" charset="-122"/>
              </a:rPr>
              <a:t>      </a:t>
            </a:r>
            <a:r>
              <a:rPr lang="zh-CN" altLang="en-US" sz="2400" b="1" dirty="0">
                <a:solidFill>
                  <a:srgbClr val="FF0000"/>
                </a:solidFill>
                <a:latin typeface="宋体" panose="02010600030101010101" pitchFamily="2" charset="-122"/>
              </a:rPr>
              <a:t>抗拉强度与相对密度之比称为比强度</a:t>
            </a:r>
            <a:r>
              <a:rPr lang="zh-CN" altLang="en-US" sz="2400" b="1" dirty="0">
                <a:latin typeface="宋体" panose="02010600030101010101" pitchFamily="2" charset="-122"/>
              </a:rPr>
              <a:t>；</a:t>
            </a:r>
            <a:r>
              <a:rPr lang="zh-CN" altLang="en-US" sz="2400" b="1" dirty="0">
                <a:solidFill>
                  <a:srgbClr val="FF0000"/>
                </a:solidFill>
                <a:latin typeface="宋体" panose="02010600030101010101" pitchFamily="2" charset="-122"/>
              </a:rPr>
              <a:t>弹性模量与相对密度之比称为比弹性模量</a:t>
            </a:r>
            <a:r>
              <a:rPr lang="zh-CN" altLang="en-US" sz="2400" b="1" dirty="0">
                <a:latin typeface="宋体" panose="02010600030101010101" pitchFamily="2" charset="-122"/>
              </a:rPr>
              <a:t>。这两者也是考虑某些零件材料性能的重要指标，如飞机和宇宙飞船上使用的结构材料，对比强度的要求特别高。</a:t>
            </a:r>
          </a:p>
          <a:p>
            <a:pPr eaLnBrk="1" hangingPunct="1">
              <a:buNone/>
            </a:pPr>
            <a:r>
              <a:rPr lang="zh-CN" altLang="zh-CN" sz="2400" b="1" dirty="0">
                <a:latin typeface="宋体" panose="02010600030101010101" pitchFamily="2" charset="-122"/>
              </a:rPr>
              <a:t>   (2) </a:t>
            </a:r>
            <a:r>
              <a:rPr lang="zh-CN" altLang="en-US" sz="2400" b="1" dirty="0">
                <a:latin typeface="宋体" panose="02010600030101010101" pitchFamily="2" charset="-122"/>
              </a:rPr>
              <a:t>熔点</a:t>
            </a:r>
          </a:p>
          <a:p>
            <a:pPr eaLnBrk="1" hangingPunct="1">
              <a:buNone/>
            </a:pPr>
            <a:r>
              <a:rPr lang="zh-CN" altLang="zh-CN" sz="2400" b="1" dirty="0">
                <a:latin typeface="宋体" panose="02010600030101010101" pitchFamily="2" charset="-122"/>
              </a:rPr>
              <a:t>        </a:t>
            </a:r>
            <a:r>
              <a:rPr lang="zh-CN" altLang="en-US" sz="2400" b="1" dirty="0">
                <a:latin typeface="宋体" panose="02010600030101010101" pitchFamily="2" charset="-122"/>
              </a:rPr>
              <a:t>熔点是指材料的熔化温度。通常，材料的熔点越高，高温性能就越好。陶瓷熔点一般都显著高于金属及合金的熔点，所以陶瓷材料的高温性能普遍比金属材料好。</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idx="1"/>
          </p:nvPr>
        </p:nvSpPr>
        <p:spPr>
          <a:xfrm>
            <a:off x="-36512" y="188640"/>
            <a:ext cx="9180512" cy="5832475"/>
          </a:xfrm>
        </p:spPr>
        <p:txBody>
          <a:bodyPr vert="horz" wrap="square" lIns="91440" tIns="45720" rIns="91440" bIns="45720" anchor="t"/>
          <a:lstStyle/>
          <a:p>
            <a:pPr eaLnBrk="1" hangingPunct="1">
              <a:buNone/>
            </a:pPr>
            <a:r>
              <a:rPr lang="zh-CN" altLang="zh-CN" sz="2400" b="1" dirty="0">
                <a:latin typeface="宋体" panose="02010600030101010101" pitchFamily="2" charset="-122"/>
              </a:rPr>
              <a:t>   (3) </a:t>
            </a:r>
            <a:r>
              <a:rPr lang="zh-CN" altLang="en-US" sz="2400" b="1" dirty="0">
                <a:latin typeface="宋体" panose="02010600030101010101" pitchFamily="2" charset="-122"/>
              </a:rPr>
              <a:t>热容量</a:t>
            </a:r>
          </a:p>
          <a:p>
            <a:pPr eaLnBrk="1" hangingPunct="1">
              <a:buNone/>
            </a:pPr>
            <a:r>
              <a:rPr lang="zh-CN" altLang="zh-CN" sz="2400" b="1" dirty="0">
                <a:latin typeface="宋体" panose="02010600030101010101" pitchFamily="2" charset="-122"/>
              </a:rPr>
              <a:t>      </a:t>
            </a:r>
            <a:r>
              <a:rPr lang="zh-CN" altLang="en-US" sz="2400" b="1" dirty="0">
                <a:solidFill>
                  <a:srgbClr val="FF0000"/>
                </a:solidFill>
                <a:latin typeface="宋体" panose="02010600030101010101" pitchFamily="2" charset="-122"/>
              </a:rPr>
              <a:t>在没有体积变化时，热容量</a:t>
            </a:r>
            <a:r>
              <a:rPr lang="zh-CN" altLang="zh-CN" sz="2400" b="1" dirty="0">
                <a:solidFill>
                  <a:srgbClr val="FF0000"/>
                </a:solidFill>
                <a:latin typeface="宋体" panose="02010600030101010101" pitchFamily="2" charset="-122"/>
              </a:rPr>
              <a:t>C</a:t>
            </a:r>
            <a:r>
              <a:rPr lang="zh-CN" altLang="en-US" sz="2400" b="1" dirty="0">
                <a:solidFill>
                  <a:srgbClr val="FF0000"/>
                </a:solidFill>
                <a:latin typeface="宋体" panose="02010600030101010101" pitchFamily="2" charset="-122"/>
              </a:rPr>
              <a:t>是温度变化</a:t>
            </a:r>
            <a:r>
              <a:rPr lang="zh-CN" altLang="zh-CN" sz="2400" b="1" dirty="0">
                <a:solidFill>
                  <a:srgbClr val="FF0000"/>
                </a:solidFill>
                <a:latin typeface="宋体" panose="02010600030101010101" pitchFamily="2" charset="-122"/>
              </a:rPr>
              <a:t>1℃</a:t>
            </a:r>
            <a:r>
              <a:rPr lang="zh-CN" altLang="en-US" sz="2400" b="1" dirty="0">
                <a:solidFill>
                  <a:srgbClr val="FF0000"/>
                </a:solidFill>
                <a:latin typeface="宋体" panose="02010600030101010101" pitchFamily="2" charset="-122"/>
              </a:rPr>
              <a:t>时材料热量的变化</a:t>
            </a:r>
            <a:r>
              <a:rPr lang="zh-CN" altLang="en-US" sz="2400" b="1" dirty="0">
                <a:latin typeface="宋体" panose="02010600030101010101" pitchFamily="2" charset="-122"/>
              </a:rPr>
              <a:t>。</a:t>
            </a:r>
          </a:p>
          <a:p>
            <a:pPr eaLnBrk="1" hangingPunct="1">
              <a:buNone/>
            </a:pPr>
            <a:r>
              <a:rPr lang="zh-CN" altLang="zh-CN" sz="2400" b="1" dirty="0">
                <a:latin typeface="宋体" panose="02010600030101010101" pitchFamily="2" charset="-122"/>
              </a:rPr>
              <a:t>      </a:t>
            </a:r>
            <a:r>
              <a:rPr lang="zh-CN" altLang="en-US" sz="2400" b="1" dirty="0">
                <a:latin typeface="宋体" panose="02010600030101010101" pitchFamily="2" charset="-122"/>
              </a:rPr>
              <a:t>材料中各种不同的相变热是重要的，最典型的相变热是熔解热和蒸发热，它们分别是材料熔化和气化所需要的热量。相变时材料内部的原子或分子结构发生了变化，这使材料中的热容量也发生变化，所以科学家们经常利用测定材料热容量的变化来分析相变过程。</a:t>
            </a:r>
          </a:p>
          <a:p>
            <a:pPr eaLnBrk="1" hangingPunct="1">
              <a:buNone/>
            </a:pPr>
            <a:r>
              <a:rPr lang="zh-CN" altLang="zh-CN" sz="2400" b="1" dirty="0">
                <a:latin typeface="宋体" panose="02010600030101010101" pitchFamily="2" charset="-122"/>
              </a:rPr>
              <a:t>   (4) </a:t>
            </a:r>
            <a:r>
              <a:rPr lang="zh-CN" altLang="en-US" sz="2400" b="1" dirty="0">
                <a:latin typeface="宋体" panose="02010600030101010101" pitchFamily="2" charset="-122"/>
              </a:rPr>
              <a:t>热膨胀性</a:t>
            </a:r>
          </a:p>
          <a:p>
            <a:pPr eaLnBrk="1" hangingPunct="1">
              <a:buNone/>
            </a:pPr>
            <a:r>
              <a:rPr lang="zh-CN" altLang="zh-CN" sz="2400" b="1" dirty="0">
                <a:latin typeface="宋体" panose="02010600030101010101" pitchFamily="2" charset="-122"/>
              </a:rPr>
              <a:t>       </a:t>
            </a:r>
            <a:r>
              <a:rPr lang="zh-CN" altLang="en-US" sz="2400" b="1" dirty="0">
                <a:latin typeface="宋体" panose="02010600030101010101" pitchFamily="2" charset="-122"/>
              </a:rPr>
              <a:t>材料的热膨胀性通常用线膨胀系数来表示。</a:t>
            </a:r>
            <a:r>
              <a:rPr lang="zh-CN" altLang="en-US" sz="2400" b="1" dirty="0">
                <a:solidFill>
                  <a:srgbClr val="FF0000"/>
                </a:solidFill>
                <a:latin typeface="宋体" panose="02010600030101010101" pitchFamily="2" charset="-122"/>
              </a:rPr>
              <a:t>它表示每变化</a:t>
            </a:r>
            <a:r>
              <a:rPr lang="zh-CN" altLang="zh-CN" sz="2400" b="1" dirty="0">
                <a:solidFill>
                  <a:srgbClr val="FF0000"/>
                </a:solidFill>
                <a:latin typeface="宋体" panose="02010600030101010101" pitchFamily="2" charset="-122"/>
              </a:rPr>
              <a:t>1℃</a:t>
            </a:r>
            <a:r>
              <a:rPr lang="zh-CN" altLang="en-US" sz="2400" b="1" dirty="0">
                <a:solidFill>
                  <a:srgbClr val="FF0000"/>
                </a:solidFill>
                <a:latin typeface="宋体" panose="02010600030101010101" pitchFamily="2" charset="-122"/>
              </a:rPr>
              <a:t>时引起的材料相对膨胀量的大小</a:t>
            </a:r>
            <a:r>
              <a:rPr lang="zh-CN" altLang="en-US" sz="2400" b="1" dirty="0">
                <a:latin typeface="宋体" panose="02010600030101010101" pitchFamily="2" charset="-122"/>
              </a:rPr>
              <a:t>。对于精密仪器或机器的零件，热膨胀系数是一个非常重要的性能指标；在有两种以上材料组合成的零件中，常因材料的热膨胀系数相差过大而导致零件的变形或破坏。</a:t>
            </a:r>
          </a:p>
          <a:p>
            <a:pPr eaLnBrk="1" hangingPunct="1">
              <a:buNone/>
            </a:pPr>
            <a:r>
              <a:rPr lang="zh-CN" altLang="zh-CN" sz="2400" b="1" dirty="0">
                <a:latin typeface="宋体" panose="02010600030101010101" pitchFamily="2" charset="-122"/>
              </a:rPr>
              <a:t>       </a:t>
            </a:r>
            <a:r>
              <a:rPr lang="zh-CN" altLang="en-US" sz="2400" b="1" dirty="0">
                <a:latin typeface="宋体" panose="02010600030101010101" pitchFamily="2" charset="-122"/>
              </a:rPr>
              <a:t>一般来说，陶瓷的热膨胀系数最低，金属次之，高分子材料最高。</a:t>
            </a:r>
          </a:p>
          <a:p>
            <a:pPr eaLnBrk="1" hangingPunct="1">
              <a:buNone/>
            </a:pPr>
            <a:endParaRPr lang="zh-CN" altLang="zh-CN" sz="2400" b="1" dirty="0">
              <a:latin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idx="1"/>
          </p:nvPr>
        </p:nvSpPr>
        <p:spPr>
          <a:xfrm>
            <a:off x="395288" y="549275"/>
            <a:ext cx="8062912" cy="5903913"/>
          </a:xfrm>
        </p:spPr>
        <p:txBody>
          <a:bodyPr vert="horz" wrap="square" lIns="91440" tIns="45720" rIns="91440" bIns="45720" anchor="t"/>
          <a:lstStyle/>
          <a:p>
            <a:pPr eaLnBrk="1" hangingPunct="1">
              <a:buNone/>
            </a:pPr>
            <a:r>
              <a:rPr lang="zh-CN" altLang="zh-CN" sz="1600" dirty="0"/>
              <a:t>     </a:t>
            </a:r>
            <a:r>
              <a:rPr lang="zh-CN" altLang="zh-CN" sz="2000" b="1" dirty="0"/>
              <a:t>(5) </a:t>
            </a:r>
            <a:r>
              <a:rPr lang="zh-CN" altLang="en-US" sz="2000" b="1" dirty="0"/>
              <a:t>导热性</a:t>
            </a:r>
          </a:p>
          <a:p>
            <a:pPr eaLnBrk="1" hangingPunct="1">
              <a:buNone/>
            </a:pPr>
            <a:r>
              <a:rPr lang="zh-CN" altLang="zh-CN" sz="2000" b="1" dirty="0"/>
              <a:t>            </a:t>
            </a:r>
            <a:r>
              <a:rPr lang="zh-CN" altLang="en-US" sz="2000" b="1" dirty="0"/>
              <a:t>热量会通过固体发生传递，材料的导热性用导热系数</a:t>
            </a:r>
            <a:r>
              <a:rPr lang="zh-CN" altLang="zh-CN" sz="2000" b="1" i="1" dirty="0"/>
              <a:t>λ</a:t>
            </a:r>
            <a:r>
              <a:rPr lang="zh-CN" altLang="en-US" sz="2000" b="1" dirty="0"/>
              <a:t>来表示。</a:t>
            </a:r>
            <a:r>
              <a:rPr lang="zh-CN" altLang="en-US" sz="2000" b="1" dirty="0">
                <a:solidFill>
                  <a:srgbClr val="FF0000"/>
                </a:solidFill>
              </a:rPr>
              <a:t>材料导热性的好坏直接影响着材料的使用性能</a:t>
            </a:r>
            <a:r>
              <a:rPr lang="zh-CN" altLang="en-US" sz="2000" b="1" dirty="0"/>
              <a:t>，如果零件材料的导热性太差，则零件在加热或冷却时，</a:t>
            </a:r>
            <a:r>
              <a:rPr lang="zh-CN" altLang="en-US" sz="2000" b="1" dirty="0">
                <a:solidFill>
                  <a:srgbClr val="FF0000"/>
                </a:solidFill>
              </a:rPr>
              <a:t>由于表面和内部产生温差</a:t>
            </a:r>
            <a:r>
              <a:rPr lang="zh-CN" altLang="en-US" sz="2000" b="1" dirty="0"/>
              <a:t>，膨胀不同，就会产生变形或断裂。一般导热性好的材料（如铜、铝等）常用来制造热交换器等传热设备的零部件。</a:t>
            </a:r>
          </a:p>
          <a:p>
            <a:pPr eaLnBrk="1" hangingPunct="1">
              <a:buNone/>
            </a:pPr>
            <a:r>
              <a:rPr lang="zh-CN" altLang="zh-CN" sz="2000" b="1" dirty="0"/>
              <a:t>            </a:t>
            </a:r>
            <a:r>
              <a:rPr lang="zh-CN" altLang="en-US" sz="2000" b="1" dirty="0"/>
              <a:t>通常，金属及合金的导热性远高于非金属材料。</a:t>
            </a:r>
          </a:p>
          <a:p>
            <a:pPr eaLnBrk="1" hangingPunct="1">
              <a:buNone/>
            </a:pPr>
            <a:r>
              <a:rPr lang="zh-CN" altLang="zh-CN" sz="2000" b="1" dirty="0"/>
              <a:t>    (6) </a:t>
            </a:r>
            <a:r>
              <a:rPr lang="zh-CN" altLang="en-US" sz="2000" b="1" dirty="0"/>
              <a:t>磁性</a:t>
            </a:r>
          </a:p>
          <a:p>
            <a:pPr eaLnBrk="1" hangingPunct="1">
              <a:buNone/>
            </a:pPr>
            <a:r>
              <a:rPr lang="zh-CN" altLang="zh-CN" sz="2000" b="1" dirty="0"/>
              <a:t>             </a:t>
            </a:r>
            <a:r>
              <a:rPr lang="zh-CN" altLang="en-US" sz="2000" b="1" dirty="0"/>
              <a:t>材料在磁场中的性能叫做磁性。磁性材料又分为软磁性材料和硬磁性材料两种。软磁性材料（如电工用纯铁、硅钢片等）容易被磁化，导磁性能良好，但外加磁场去掉后，磁性基本消失。硬磁性材料（如淬火的钴钢、稀土钴等）在去磁后仍然能保持磁场，磁性也不易消失。许多金属材料如铁、镍、钴等均具有较高的磁性，而另一些金属材料如铜、铝、铅等则是无磁性的。非金属材料一般无磁性。</a:t>
            </a:r>
          </a:p>
          <a:p>
            <a:pPr eaLnBrk="1" hangingPunct="1">
              <a:buNone/>
            </a:pPr>
            <a:r>
              <a:rPr lang="zh-CN" altLang="zh-CN" sz="2000" b="1" dirty="0"/>
              <a:t>           </a:t>
            </a:r>
            <a:r>
              <a:rPr lang="zh-CN" altLang="en-US" sz="2000" b="1" dirty="0"/>
              <a:t>磁性不仅与材料自身的性质有关，而且与材料的晶体结构有关。比如铁，在处于铁素体状态时具有较高磁性，而在奥氏体状态则是无磁性的。</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idx="1"/>
          </p:nvPr>
        </p:nvSpPr>
        <p:spPr>
          <a:xfrm>
            <a:off x="685800" y="476250"/>
            <a:ext cx="7772400" cy="5619750"/>
          </a:xfrm>
        </p:spPr>
        <p:txBody>
          <a:bodyPr vert="horz" wrap="square" lIns="91440" tIns="45720" rIns="91440" bIns="45720" anchor="t"/>
          <a:lstStyle/>
          <a:p>
            <a:pPr eaLnBrk="1" hangingPunct="1">
              <a:lnSpc>
                <a:spcPct val="90000"/>
              </a:lnSpc>
              <a:buNone/>
            </a:pPr>
            <a:r>
              <a:rPr lang="zh-CN" altLang="zh-CN" sz="2400" dirty="0"/>
              <a:t>     </a:t>
            </a:r>
            <a:r>
              <a:rPr lang="zh-CN" altLang="zh-CN" sz="2400" b="1" dirty="0"/>
              <a:t>(7) </a:t>
            </a:r>
            <a:r>
              <a:rPr lang="zh-CN" altLang="en-US" sz="2400" b="1" dirty="0"/>
              <a:t>导电性</a:t>
            </a:r>
          </a:p>
          <a:p>
            <a:pPr eaLnBrk="1" hangingPunct="1">
              <a:lnSpc>
                <a:spcPct val="90000"/>
              </a:lnSpc>
              <a:buNone/>
            </a:pPr>
            <a:r>
              <a:rPr lang="zh-CN" altLang="zh-CN" sz="2400" b="1" dirty="0"/>
              <a:t>             </a:t>
            </a:r>
            <a:r>
              <a:rPr lang="zh-CN" altLang="en-US" sz="2400" b="1" dirty="0"/>
              <a:t>一般用电阻率来表示材料的导电性能，电阻率越低，材料的导电性越好。</a:t>
            </a:r>
          </a:p>
          <a:p>
            <a:pPr eaLnBrk="1" hangingPunct="1">
              <a:lnSpc>
                <a:spcPct val="90000"/>
              </a:lnSpc>
              <a:buNone/>
            </a:pPr>
            <a:r>
              <a:rPr lang="zh-CN" altLang="zh-CN" sz="2400" b="1" dirty="0"/>
              <a:t>           </a:t>
            </a:r>
            <a:r>
              <a:rPr lang="zh-CN" altLang="en-US" sz="2400" b="1" dirty="0"/>
              <a:t>金属及其合金一般具有良好的导电性，而高分子材料和陶瓷材料一般都是绝缘体，但是有些高分子复合材料却具有良好的导电性，某些特殊成分的陶瓷材料则是具有一定导电性的半导体。</a:t>
            </a:r>
          </a:p>
          <a:p>
            <a:pPr eaLnBrk="1" hangingPunct="1">
              <a:lnSpc>
                <a:spcPct val="90000"/>
              </a:lnSpc>
              <a:buNone/>
            </a:pPr>
            <a:r>
              <a:rPr lang="zh-CN" altLang="zh-CN" sz="2400" b="1" dirty="0">
                <a:solidFill>
                  <a:srgbClr val="FF0000"/>
                </a:solidFill>
              </a:rPr>
              <a:t>             </a:t>
            </a:r>
            <a:r>
              <a:rPr lang="zh-CN" altLang="en-US" sz="2400" b="1" dirty="0">
                <a:solidFill>
                  <a:srgbClr val="FF0000"/>
                </a:solidFill>
              </a:rPr>
              <a:t>通常金属的电阻率随温度的升高而增加，而非金属材料则与此相反。</a:t>
            </a:r>
          </a:p>
          <a:p>
            <a:pPr eaLnBrk="1" hangingPunct="1">
              <a:lnSpc>
                <a:spcPct val="90000"/>
              </a:lnSpc>
              <a:buNone/>
            </a:pPr>
            <a:r>
              <a:rPr lang="zh-CN" altLang="zh-CN" sz="2400" b="1" dirty="0"/>
              <a:t>     (8) </a:t>
            </a:r>
            <a:r>
              <a:rPr lang="zh-CN" altLang="en-US" sz="2400" b="1" dirty="0"/>
              <a:t>介电常数</a:t>
            </a:r>
          </a:p>
          <a:p>
            <a:pPr eaLnBrk="1" hangingPunct="1">
              <a:lnSpc>
                <a:spcPct val="90000"/>
              </a:lnSpc>
              <a:buNone/>
            </a:pPr>
            <a:r>
              <a:rPr lang="zh-CN" altLang="zh-CN" sz="2400" b="1" dirty="0"/>
              <a:t>            </a:t>
            </a:r>
            <a:r>
              <a:rPr lang="zh-CN" altLang="en-US" sz="2400" b="1" dirty="0"/>
              <a:t>虽然绝缘体不能导电，但它们对电场并不是毫无反应的。</a:t>
            </a:r>
            <a:r>
              <a:rPr lang="zh-CN" altLang="en-US" sz="2400" b="1" dirty="0">
                <a:solidFill>
                  <a:srgbClr val="FF0000"/>
                </a:solidFill>
              </a:rPr>
              <a:t>表示绝缘材料电性能的物理量称为介电常数</a:t>
            </a:r>
            <a:r>
              <a:rPr lang="zh-CN" altLang="zh-CN" sz="2400" b="1" i="1" dirty="0">
                <a:solidFill>
                  <a:srgbClr val="FF0000"/>
                </a:solidFill>
              </a:rPr>
              <a:t>ε</a:t>
            </a:r>
            <a:r>
              <a:rPr lang="zh-CN" altLang="en-US" sz="2400" b="1" dirty="0"/>
              <a:t>，单位是</a:t>
            </a:r>
            <a:r>
              <a:rPr lang="zh-CN" altLang="zh-CN" sz="2400" b="1" dirty="0"/>
              <a:t>F/m</a:t>
            </a:r>
            <a:r>
              <a:rPr lang="zh-CN" altLang="en-US" sz="2400" b="1" dirty="0"/>
              <a:t>。</a:t>
            </a:r>
          </a:p>
          <a:p>
            <a:pPr eaLnBrk="1" hangingPunct="1">
              <a:lnSpc>
                <a:spcPct val="90000"/>
              </a:lnSpc>
              <a:buNone/>
            </a:pPr>
            <a:r>
              <a:rPr lang="zh-CN" altLang="zh-CN" sz="2400" b="1" dirty="0"/>
              <a:t>              </a:t>
            </a:r>
            <a:r>
              <a:rPr lang="zh-CN" altLang="en-US" sz="2400" b="1" dirty="0"/>
              <a:t>绝缘材料的介电常数</a:t>
            </a:r>
            <a:r>
              <a:rPr lang="zh-CN" altLang="zh-CN" sz="2400" b="1" dirty="0"/>
              <a:t>ε</a:t>
            </a:r>
            <a:r>
              <a:rPr lang="zh-CN" altLang="en-US" sz="2400" b="1" dirty="0"/>
              <a:t>与真空介电常数</a:t>
            </a:r>
            <a:r>
              <a:rPr lang="zh-CN" altLang="zh-CN" sz="2400" b="1" i="1" dirty="0"/>
              <a:t>ε</a:t>
            </a:r>
            <a:r>
              <a:rPr lang="zh-CN" altLang="zh-CN" sz="2000" b="1" baseline="-25000" dirty="0"/>
              <a:t>0</a:t>
            </a:r>
            <a:r>
              <a:rPr lang="zh-CN" altLang="en-US" sz="2400" b="1" dirty="0"/>
              <a:t>之比，称为该材料的相对介电常数。</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55650" y="260350"/>
            <a:ext cx="7056438" cy="5762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40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化学性能</a:t>
            </a:r>
          </a:p>
        </p:txBody>
      </p:sp>
      <p:sp>
        <p:nvSpPr>
          <p:cNvPr id="2" name="Rectangle 3"/>
          <p:cNvSpPr>
            <a:spLocks noGrp="1"/>
          </p:cNvSpPr>
          <p:nvPr>
            <p:ph idx="1"/>
          </p:nvPr>
        </p:nvSpPr>
        <p:spPr>
          <a:xfrm>
            <a:off x="684213" y="981075"/>
            <a:ext cx="8064500" cy="5327650"/>
          </a:xfrm>
        </p:spPr>
        <p:txBody>
          <a:bodyPr vert="horz" wrap="square" lIns="91440" tIns="45720" rIns="91440" bIns="45720" anchor="t"/>
          <a:lstStyle/>
          <a:p>
            <a:pPr eaLnBrk="1" hangingPunct="1">
              <a:lnSpc>
                <a:spcPct val="80000"/>
              </a:lnSpc>
              <a:buNone/>
            </a:pPr>
            <a:r>
              <a:rPr lang="zh-CN" altLang="zh-CN" sz="2400" dirty="0"/>
              <a:t>   </a:t>
            </a:r>
            <a:r>
              <a:rPr lang="zh-CN" altLang="en-US" sz="2400" b="1" dirty="0"/>
              <a:t>（</a:t>
            </a:r>
            <a:r>
              <a:rPr lang="zh-CN" altLang="zh-CN" sz="2400" b="1" dirty="0"/>
              <a:t>1</a:t>
            </a:r>
            <a:r>
              <a:rPr lang="zh-CN" altLang="en-US" sz="2400" b="1" dirty="0"/>
              <a:t>）耐腐蚀性</a:t>
            </a:r>
          </a:p>
          <a:p>
            <a:pPr eaLnBrk="1" hangingPunct="1">
              <a:lnSpc>
                <a:spcPct val="80000"/>
              </a:lnSpc>
              <a:buNone/>
            </a:pPr>
            <a:r>
              <a:rPr lang="zh-CN" altLang="zh-CN" sz="2400" b="1" dirty="0"/>
              <a:t>             </a:t>
            </a:r>
            <a:r>
              <a:rPr lang="zh-CN" altLang="en-US" sz="2400" b="1" dirty="0"/>
              <a:t>耐腐蚀性是指材料抵抗介质侵蚀的能力，材料的耐蚀性常用每年腐蚀深度（渗蚀度）</a:t>
            </a:r>
            <a:r>
              <a:rPr lang="zh-CN" altLang="zh-CN" sz="2400" b="1" i="1" dirty="0"/>
              <a:t>K</a:t>
            </a:r>
            <a:r>
              <a:rPr lang="zh-CN" altLang="zh-CN" sz="2400" b="1" dirty="0"/>
              <a:t>a</a:t>
            </a:r>
            <a:r>
              <a:rPr lang="zh-CN" altLang="en-US" sz="2400" b="1" dirty="0"/>
              <a:t>（</a:t>
            </a:r>
            <a:r>
              <a:rPr lang="zh-CN" altLang="zh-CN" sz="2400" b="1" dirty="0"/>
              <a:t>mm/</a:t>
            </a:r>
            <a:r>
              <a:rPr lang="zh-CN" altLang="en-US" sz="2400" b="1" dirty="0"/>
              <a:t>年）一般非金属材料的耐腐蚀性比金属材料高得多。对金属材料而言，其腐蚀形式主要有两种，一种是化学腐蚀，另一种是电化学腐蚀。化学腐蚀是金属直接与周围介质发生纯化学作用，例如钢的氧化反应。电化学腐蚀是金属在酸、碱、盐等电介质溶液中由于原电池的作用而引起的腐蚀。</a:t>
            </a:r>
          </a:p>
          <a:p>
            <a:pPr eaLnBrk="1" hangingPunct="1">
              <a:lnSpc>
                <a:spcPct val="80000"/>
              </a:lnSpc>
              <a:buNone/>
            </a:pPr>
            <a:r>
              <a:rPr lang="zh-CN" altLang="zh-CN" sz="2400" b="1" dirty="0"/>
              <a:t>            </a:t>
            </a:r>
            <a:r>
              <a:rPr lang="zh-CN" altLang="en-US" sz="2400" b="1" dirty="0"/>
              <a:t>提高材料的耐腐蚀性的方法很多，如均匀化处理、表面处理等都可以提高材料的耐腐蚀性。</a:t>
            </a:r>
          </a:p>
          <a:p>
            <a:pPr eaLnBrk="1" hangingPunct="1">
              <a:lnSpc>
                <a:spcPct val="80000"/>
              </a:lnSpc>
              <a:buNone/>
            </a:pPr>
            <a:r>
              <a:rPr lang="zh-CN" altLang="zh-CN" sz="2400" b="1" dirty="0"/>
              <a:t>   </a:t>
            </a:r>
            <a:r>
              <a:rPr lang="zh-CN" altLang="en-US" sz="2400" b="1" dirty="0"/>
              <a:t>（</a:t>
            </a:r>
            <a:r>
              <a:rPr lang="zh-CN" altLang="zh-CN" sz="2400" b="1" dirty="0"/>
              <a:t>2</a:t>
            </a:r>
            <a:r>
              <a:rPr lang="zh-CN" altLang="en-US" sz="2400" b="1" dirty="0"/>
              <a:t>）高温抗氧化性</a:t>
            </a:r>
          </a:p>
          <a:p>
            <a:pPr eaLnBrk="1" hangingPunct="1">
              <a:lnSpc>
                <a:spcPct val="80000"/>
              </a:lnSpc>
              <a:buNone/>
            </a:pPr>
            <a:r>
              <a:rPr lang="zh-CN" altLang="zh-CN" sz="2400" b="1" dirty="0"/>
              <a:t>            </a:t>
            </a:r>
            <a:r>
              <a:rPr lang="zh-CN" altLang="en-US" sz="2400" b="1" dirty="0"/>
              <a:t>对于象发动机这样在高温下工作的设备而言，除了要在高温下保持基本力学性能外，还要具备抗氧化性能。所谓高温抗氧化性通常是指材料在迅速氧化后，能在表面形成一层连续而致密并与母体结合牢靠的膜，从而阻止进一步氧化的特性。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idx="1"/>
          </p:nvPr>
        </p:nvSpPr>
        <p:spPr>
          <a:xfrm>
            <a:off x="685800" y="620713"/>
            <a:ext cx="7989888" cy="5903912"/>
          </a:xfrm>
        </p:spPr>
        <p:txBody>
          <a:bodyPr vert="horz" wrap="square" lIns="91440" tIns="45720" rIns="91440" bIns="45720" anchor="t"/>
          <a:lstStyle/>
          <a:p>
            <a:pPr eaLnBrk="1" hangingPunct="1">
              <a:buNone/>
            </a:pPr>
            <a:r>
              <a:rPr lang="zh-CN" altLang="zh-CN" sz="2000" dirty="0"/>
              <a:t>     </a:t>
            </a:r>
            <a:r>
              <a:rPr lang="zh-CN" altLang="en-US" sz="2000" b="1" dirty="0"/>
              <a:t>（</a:t>
            </a:r>
            <a:r>
              <a:rPr lang="zh-CN" altLang="zh-CN" sz="2000" b="1" dirty="0"/>
              <a:t>3</a:t>
            </a:r>
            <a:r>
              <a:rPr lang="zh-CN" altLang="en-US" sz="2000" b="1" dirty="0"/>
              <a:t>）抗老化性能</a:t>
            </a:r>
          </a:p>
          <a:p>
            <a:pPr eaLnBrk="1" hangingPunct="1">
              <a:buNone/>
            </a:pPr>
            <a:r>
              <a:rPr lang="zh-CN" altLang="zh-CN" sz="2000" b="1" dirty="0"/>
              <a:t>             </a:t>
            </a:r>
            <a:r>
              <a:rPr lang="zh-CN" altLang="en-US" sz="2000" b="1" dirty="0"/>
              <a:t>塑料在长期贮存和使用过程中，由于受到氧、光、热等因素的综合作用，分子链逐渐产生交联与裂解，性能逐渐恶化，直至丧失使用价值的现象，称为老化。有的塑料老化后变硬、变脆、开裂，这是大分子链之间产生交联的结果；有的塑料老化后变软、变粘，这是大分子链断开，产生</a:t>
            </a:r>
            <a:r>
              <a:rPr lang="zh-CN" altLang="en-US" sz="2000" b="1" dirty="0">
                <a:latin typeface="Arial" panose="020B0604020202020204" pitchFamily="34" charset="0"/>
              </a:rPr>
              <a:t>“</a:t>
            </a:r>
            <a:r>
              <a:rPr lang="zh-CN" altLang="en-US" sz="2000" b="1" dirty="0"/>
              <a:t>裂解</a:t>
            </a:r>
            <a:r>
              <a:rPr lang="zh-CN" altLang="en-US" sz="2000" b="1" dirty="0">
                <a:latin typeface="Arial" panose="020B0604020202020204" pitchFamily="34" charset="0"/>
              </a:rPr>
              <a:t>”</a:t>
            </a:r>
            <a:r>
              <a:rPr lang="zh-CN" altLang="en-US" sz="2000" b="1" dirty="0"/>
              <a:t>的结果。高分子材料抵抗老化的能力称为抗老化性能。</a:t>
            </a:r>
          </a:p>
          <a:p>
            <a:pPr eaLnBrk="1" hangingPunct="1">
              <a:buNone/>
            </a:pPr>
            <a:r>
              <a:rPr lang="zh-CN" altLang="en-US" sz="2000" b="1" dirty="0"/>
              <a:t>              通过改变高聚物的结构，添加防老化剂和表面处理等方法可以提高高分子材料的抗老化性能。</a:t>
            </a:r>
          </a:p>
          <a:p>
            <a:pPr eaLnBrk="1" hangingPunct="1">
              <a:buNone/>
            </a:pPr>
            <a:r>
              <a:rPr lang="zh-CN" altLang="en-US" sz="2000" b="1" dirty="0"/>
              <a:t>   （</a:t>
            </a:r>
            <a:r>
              <a:rPr lang="zh-CN" altLang="zh-CN" sz="2000" b="1" dirty="0"/>
              <a:t>4</a:t>
            </a:r>
            <a:r>
              <a:rPr lang="zh-CN" altLang="en-US" sz="2000" b="1" dirty="0"/>
              <a:t>）降解性</a:t>
            </a:r>
          </a:p>
          <a:p>
            <a:pPr eaLnBrk="1" hangingPunct="1">
              <a:buNone/>
            </a:pPr>
            <a:r>
              <a:rPr lang="zh-CN" altLang="zh-CN" sz="2000" b="1" dirty="0"/>
              <a:t>              </a:t>
            </a:r>
            <a:r>
              <a:rPr lang="zh-CN" altLang="en-US" sz="2000" b="1" dirty="0"/>
              <a:t>随着高分子技术的发展，一次性使用的塑料制品越来越多，但由于这些一次性塑料常常可以几十年不分解，在给人们带来了方便的同时也给环境造成了极大的污染。</a:t>
            </a:r>
            <a:r>
              <a:rPr lang="zh-CN" altLang="en-US" sz="2000" b="1" dirty="0">
                <a:solidFill>
                  <a:srgbClr val="FF0000"/>
                </a:solidFill>
              </a:rPr>
              <a:t>所谓降解性就是指塑料在自然环境下能否迅速分解的能力。</a:t>
            </a:r>
          </a:p>
          <a:p>
            <a:pPr eaLnBrk="1" hangingPunct="1">
              <a:buNone/>
            </a:pPr>
            <a:r>
              <a:rPr lang="zh-CN" altLang="zh-CN" sz="2000" b="1" dirty="0"/>
              <a:t>             </a:t>
            </a:r>
            <a:r>
              <a:rPr lang="zh-CN" altLang="en-US" sz="2000" b="1" dirty="0"/>
              <a:t>最常见的降解方式是碳化。碳化时，聚合物中的侧基或氢原子被热扰动完全扯开，只剩下主链的碳原子。现在也常常利用聚合物纤维通过碳化来生成复合材料用的石墨纤维。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684213" y="260350"/>
            <a:ext cx="6694488" cy="37147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40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工艺性能</a:t>
            </a:r>
          </a:p>
        </p:txBody>
      </p:sp>
      <p:sp>
        <p:nvSpPr>
          <p:cNvPr id="2" name="Rectangle 3"/>
          <p:cNvSpPr>
            <a:spLocks noGrp="1"/>
          </p:cNvSpPr>
          <p:nvPr>
            <p:ph idx="1"/>
          </p:nvPr>
        </p:nvSpPr>
        <p:spPr>
          <a:xfrm>
            <a:off x="685800" y="908050"/>
            <a:ext cx="7772400" cy="5689600"/>
          </a:xfrm>
        </p:spPr>
        <p:txBody>
          <a:bodyPr vert="horz" wrap="square" lIns="91440" tIns="45720" rIns="91440" bIns="45720" anchor="t"/>
          <a:lstStyle/>
          <a:p>
            <a:pPr eaLnBrk="1" hangingPunct="1">
              <a:lnSpc>
                <a:spcPct val="80000"/>
              </a:lnSpc>
              <a:buNone/>
            </a:pPr>
            <a:endParaRPr lang="zh-CN" altLang="zh-CN" sz="2000" dirty="0"/>
          </a:p>
          <a:p>
            <a:pPr eaLnBrk="1" hangingPunct="1">
              <a:buNone/>
            </a:pPr>
            <a:r>
              <a:rPr lang="zh-CN" altLang="zh-CN" sz="2000" dirty="0"/>
              <a:t>             </a:t>
            </a:r>
            <a:r>
              <a:rPr lang="zh-CN" altLang="en-US" sz="2000" b="1" dirty="0"/>
              <a:t>材料工艺性能的好坏，直接影响到制造零件的工艺方法和质量以及制造成本。所以，选材时必须充分考虑工艺性能。</a:t>
            </a:r>
          </a:p>
          <a:p>
            <a:pPr eaLnBrk="1" hangingPunct="1">
              <a:buNone/>
            </a:pPr>
            <a:r>
              <a:rPr lang="zh-CN" altLang="zh-CN" sz="2000" b="1" dirty="0"/>
              <a:t>    </a:t>
            </a:r>
            <a:r>
              <a:rPr lang="zh-CN" altLang="en-US" sz="2000" b="1" dirty="0"/>
              <a:t>（</a:t>
            </a:r>
            <a:r>
              <a:rPr lang="zh-CN" altLang="zh-CN" sz="2000" b="1" dirty="0"/>
              <a:t>1</a:t>
            </a:r>
            <a:r>
              <a:rPr lang="zh-CN" altLang="en-US" sz="2000" b="1" dirty="0"/>
              <a:t>）铸造性</a:t>
            </a:r>
          </a:p>
          <a:p>
            <a:pPr eaLnBrk="1" hangingPunct="1">
              <a:buNone/>
            </a:pPr>
            <a:r>
              <a:rPr lang="zh-CN" altLang="zh-CN" sz="2000" b="1" dirty="0"/>
              <a:t>            </a:t>
            </a:r>
            <a:r>
              <a:rPr lang="zh-CN" altLang="en-US" sz="2000" b="1" dirty="0"/>
              <a:t>铸造性是指浇注铸件时，材料能充满比较复杂的铸型并获得优质铸件的能力。</a:t>
            </a:r>
          </a:p>
          <a:p>
            <a:pPr eaLnBrk="1" hangingPunct="1">
              <a:buNone/>
            </a:pPr>
            <a:r>
              <a:rPr lang="zh-CN" altLang="zh-CN" sz="2000" b="1" dirty="0"/>
              <a:t>            </a:t>
            </a:r>
            <a:r>
              <a:rPr lang="zh-CN" altLang="en-US" sz="2000" b="1" dirty="0"/>
              <a:t>对金属材料而言，</a:t>
            </a:r>
            <a:r>
              <a:rPr lang="zh-CN" altLang="en-US" sz="2000" b="1" dirty="0">
                <a:solidFill>
                  <a:srgbClr val="FF0000"/>
                </a:solidFill>
              </a:rPr>
              <a:t>铸造性主要包括流动性、收缩率、偏析倾向等指标</a:t>
            </a:r>
            <a:r>
              <a:rPr lang="zh-CN" altLang="en-US" sz="2000" b="1" dirty="0"/>
              <a:t>。流动性好、收缩率小、偏析倾向小的材料其铸造性也好。</a:t>
            </a:r>
          </a:p>
          <a:p>
            <a:pPr eaLnBrk="1" hangingPunct="1">
              <a:buNone/>
            </a:pPr>
            <a:r>
              <a:rPr lang="zh-CN" altLang="en-US" sz="2000" b="1" dirty="0"/>
              <a:t>（</a:t>
            </a:r>
            <a:r>
              <a:rPr lang="zh-CN" altLang="zh-CN" sz="2000" b="1" dirty="0"/>
              <a:t>2</a:t>
            </a:r>
            <a:r>
              <a:rPr lang="zh-CN" altLang="en-US" sz="2000" b="1" dirty="0"/>
              <a:t>）可锻性</a:t>
            </a:r>
          </a:p>
          <a:p>
            <a:pPr eaLnBrk="1" hangingPunct="1">
              <a:buNone/>
            </a:pPr>
            <a:r>
              <a:rPr lang="zh-CN" altLang="zh-CN" sz="2000" b="1" dirty="0"/>
              <a:t>              </a:t>
            </a:r>
            <a:r>
              <a:rPr lang="zh-CN" altLang="en-US" sz="2000" b="1" dirty="0"/>
              <a:t>可锻性是指材料是否易于进行压力加工的性能。可锻性好坏主要以材料的塑性和变形抗力来衡量。一般来说，钢的可锻性较好，而铸铁不能进行任何压力加工。</a:t>
            </a:r>
          </a:p>
          <a:p>
            <a:pPr eaLnBrk="1" hangingPunct="1">
              <a:buNone/>
            </a:pPr>
            <a:r>
              <a:rPr lang="zh-CN" altLang="zh-CN" sz="2000" b="1" dirty="0"/>
              <a:t>             </a:t>
            </a:r>
            <a:r>
              <a:rPr lang="zh-CN" altLang="en-US" sz="2000" b="1" dirty="0"/>
              <a:t>热塑性塑料可经过挤压和压塑成型。</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idx="1"/>
          </p:nvPr>
        </p:nvSpPr>
        <p:spPr>
          <a:xfrm>
            <a:off x="405130" y="265430"/>
            <a:ext cx="8062595" cy="6170295"/>
          </a:xfrm>
        </p:spPr>
        <p:txBody>
          <a:bodyPr vert="horz" wrap="square" lIns="91440" tIns="45720" rIns="91440" bIns="45720" anchor="t"/>
          <a:lstStyle/>
          <a:p>
            <a:pPr eaLnBrk="1" hangingPunct="1">
              <a:lnSpc>
                <a:spcPct val="90000"/>
              </a:lnSpc>
              <a:buNone/>
            </a:pPr>
            <a:r>
              <a:rPr lang="zh-CN" altLang="zh-CN" sz="2800" b="1" dirty="0"/>
              <a:t>   </a:t>
            </a:r>
            <a:r>
              <a:rPr lang="zh-CN" altLang="en-US" sz="2800" b="1" dirty="0"/>
              <a:t>（</a:t>
            </a:r>
            <a:r>
              <a:rPr lang="zh-CN" altLang="zh-CN" sz="2800" b="1" dirty="0"/>
              <a:t>3</a:t>
            </a:r>
            <a:r>
              <a:rPr lang="zh-CN" altLang="en-US" sz="2800" b="1" dirty="0"/>
              <a:t>）可焊性</a:t>
            </a:r>
            <a:br>
              <a:rPr lang="zh-CN" altLang="en-US" sz="2800" b="1" dirty="0"/>
            </a:br>
            <a:r>
              <a:rPr lang="zh-CN" altLang="en-US" sz="2800" b="1" dirty="0"/>
              <a:t>       可焊性是指材料是否易于焊接在一起并能保证焊缝质量的性能，一般用焊接处出现各种缺陷的倾向来衡量。</a:t>
            </a:r>
            <a:r>
              <a:rPr lang="zh-CN" altLang="en-US" sz="2800" b="1" dirty="0">
                <a:solidFill>
                  <a:srgbClr val="FF0000"/>
                </a:solidFill>
              </a:rPr>
              <a:t>低碳钢具有优良的可焊性，而铸铁和铝合金的可焊性就很差。</a:t>
            </a:r>
            <a:r>
              <a:rPr lang="zh-CN" altLang="en-US" sz="2800" b="1" dirty="0"/>
              <a:t>某些工程塑料也有良好的可焊性，但与金属的焊接机制及工艺方法并不相同。</a:t>
            </a:r>
          </a:p>
          <a:p>
            <a:pPr eaLnBrk="1" hangingPunct="1">
              <a:lnSpc>
                <a:spcPct val="90000"/>
              </a:lnSpc>
              <a:buNone/>
            </a:pPr>
            <a:r>
              <a:rPr lang="zh-CN" altLang="zh-CN" sz="2800" b="1" dirty="0"/>
              <a:t>   </a:t>
            </a:r>
            <a:r>
              <a:rPr lang="zh-CN" altLang="en-US" sz="2800" b="1" dirty="0"/>
              <a:t>（</a:t>
            </a:r>
            <a:r>
              <a:rPr lang="zh-CN" altLang="zh-CN" sz="2800" b="1" dirty="0"/>
              <a:t>4</a:t>
            </a:r>
            <a:r>
              <a:rPr lang="zh-CN" altLang="en-US" sz="2800" b="1" dirty="0"/>
              <a:t>）切削加工性</a:t>
            </a:r>
          </a:p>
          <a:p>
            <a:pPr eaLnBrk="1" hangingPunct="1">
              <a:lnSpc>
                <a:spcPct val="90000"/>
              </a:lnSpc>
              <a:buNone/>
            </a:pPr>
            <a:r>
              <a:rPr lang="zh-CN" altLang="zh-CN" sz="2800" b="1" dirty="0"/>
              <a:t>            </a:t>
            </a:r>
            <a:r>
              <a:rPr lang="zh-CN" altLang="en-US" sz="2800" b="1" dirty="0"/>
              <a:t>切削加工性是指材料是否易于切削加工的性能。它与材料种类、成分、硬度、韧性、导热性及内部组织状态等许多因素有关。有利切削的硬度为</a:t>
            </a:r>
            <a:r>
              <a:rPr lang="zh-CN" altLang="zh-CN" sz="2800" b="1" dirty="0"/>
              <a:t>HB160</a:t>
            </a:r>
            <a:r>
              <a:rPr lang="zh-CN" altLang="en-US" sz="2800" b="1" dirty="0"/>
              <a:t>～</a:t>
            </a:r>
            <a:r>
              <a:rPr lang="zh-CN" altLang="zh-CN" sz="2800" b="1" dirty="0"/>
              <a:t>230</a:t>
            </a:r>
            <a:r>
              <a:rPr lang="zh-CN" altLang="en-US" sz="2800" b="1" dirty="0"/>
              <a:t>，切削加工性好的材料，切削容易，刀具磨损小，加工表面光洁。金属和塑料相比，切削工艺有不同的要求。</a:t>
            </a:r>
          </a:p>
          <a:p>
            <a:pPr eaLnBrk="1" hangingPunct="1">
              <a:lnSpc>
                <a:spcPct val="90000"/>
              </a:lnSpc>
              <a:buNone/>
            </a:pPr>
            <a:r>
              <a:rPr lang="zh-CN" altLang="en-US" sz="2800" b="1" dirty="0"/>
              <a:t>  （ </a:t>
            </a:r>
            <a:r>
              <a:rPr lang="en-US" altLang="zh-CN" sz="2800" b="1" dirty="0"/>
              <a:t>5</a:t>
            </a:r>
            <a:r>
              <a:rPr lang="zh-CN" altLang="en-US" sz="2800" b="1" dirty="0"/>
              <a:t>）热处理性能 </a:t>
            </a:r>
          </a:p>
          <a:p>
            <a:pPr eaLnBrk="1" hangingPunct="1">
              <a:lnSpc>
                <a:spcPct val="90000"/>
              </a:lnSpc>
            </a:pPr>
            <a:endParaRPr lang="zh-CN" altLang="zh-CN" sz="2800" b="1"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theme1.xml><?xml version="1.0" encoding="utf-8"?>
<a:theme xmlns:a="http://schemas.openxmlformats.org/drawingml/2006/main" name="1_Soaring">
  <a:themeElements>
    <a:clrScheme name="1_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1_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1_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1_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1_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1_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空演示文稿">
  <a:themeElements>
    <a:clrScheme name="空演示文稿.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演示文稿.pot">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空演示文稿.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po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po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po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po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po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FF"/>
    </a:dk2>
    <a:lt2>
      <a:srgbClr val="FFCC66"/>
    </a:lt2>
    <a:accent1>
      <a:srgbClr val="00FFFF"/>
    </a:accent1>
    <a:accent2>
      <a:srgbClr val="FFFF00"/>
    </a:accent2>
    <a:accent3>
      <a:srgbClr val="AAAAFF"/>
    </a:accent3>
    <a:accent4>
      <a:srgbClr val="DADADA"/>
    </a:accent4>
    <a:accent5>
      <a:srgbClr val="AAFFFF"/>
    </a:accent5>
    <a:accent6>
      <a:srgbClr val="E7E700"/>
    </a:accent6>
    <a:hlink>
      <a:srgbClr val="FF0033"/>
    </a:hlink>
    <a:folHlink>
      <a:srgbClr val="FFFF00"/>
    </a:folHlink>
  </a:clrScheme>
</a:themeOverride>
</file>

<file path=ppt/theme/themeOverride2.xml><?xml version="1.0" encoding="utf-8"?>
<a:themeOverride xmlns:a="http://schemas.openxmlformats.org/drawingml/2006/main">
  <a:clrScheme name="">
    <a:dk1>
      <a:srgbClr val="000000"/>
    </a:dk1>
    <a:lt1>
      <a:srgbClr val="FFFFFF"/>
    </a:lt1>
    <a:dk2>
      <a:srgbClr val="0000FF"/>
    </a:dk2>
    <a:lt2>
      <a:srgbClr val="FFCC66"/>
    </a:lt2>
    <a:accent1>
      <a:srgbClr val="00FFFF"/>
    </a:accent1>
    <a:accent2>
      <a:srgbClr val="FFFF00"/>
    </a:accent2>
    <a:accent3>
      <a:srgbClr val="AAAAFF"/>
    </a:accent3>
    <a:accent4>
      <a:srgbClr val="DADADA"/>
    </a:accent4>
    <a:accent5>
      <a:srgbClr val="AAFFFF"/>
    </a:accent5>
    <a:accent6>
      <a:srgbClr val="E7E700"/>
    </a:accent6>
    <a:hlink>
      <a:srgbClr val="FF0033"/>
    </a:hlink>
    <a:folHlink>
      <a:srgbClr val="FFFF00"/>
    </a:folHlink>
  </a:clrScheme>
</a:themeOverride>
</file>

<file path=ppt/theme/themeOverride3.xml><?xml version="1.0" encoding="utf-8"?>
<a:themeOverride xmlns:a="http://schemas.openxmlformats.org/drawingml/2006/main">
  <a:clrScheme name="">
    <a:dk1>
      <a:srgbClr val="000000"/>
    </a:dk1>
    <a:lt1>
      <a:srgbClr val="FFFFFF"/>
    </a:lt1>
    <a:dk2>
      <a:srgbClr val="0000FF"/>
    </a:dk2>
    <a:lt2>
      <a:srgbClr val="FFCC66"/>
    </a:lt2>
    <a:accent1>
      <a:srgbClr val="00FFFF"/>
    </a:accent1>
    <a:accent2>
      <a:srgbClr val="FFFF00"/>
    </a:accent2>
    <a:accent3>
      <a:srgbClr val="AAAAFF"/>
    </a:accent3>
    <a:accent4>
      <a:srgbClr val="DADADA"/>
    </a:accent4>
    <a:accent5>
      <a:srgbClr val="AAFFFF"/>
    </a:accent5>
    <a:accent6>
      <a:srgbClr val="E7E700"/>
    </a:accent6>
    <a:hlink>
      <a:srgbClr val="FF0033"/>
    </a:hlink>
    <a:folHlink>
      <a:srgbClr val="FFFF00"/>
    </a:folHlink>
  </a:clrScheme>
</a:themeOverride>
</file>

<file path=docProps/app.xml><?xml version="1.0" encoding="utf-8"?>
<Properties xmlns="http://schemas.openxmlformats.org/officeDocument/2006/extended-properties" xmlns:vt="http://schemas.openxmlformats.org/officeDocument/2006/docPropsVTypes">
  <TotalTime>619</TotalTime>
  <Words>7831</Words>
  <Application>Microsoft Office PowerPoint</Application>
  <PresentationFormat>全屏显示(4:3)</PresentationFormat>
  <Paragraphs>363</Paragraphs>
  <Slides>77</Slides>
  <Notes>2</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77</vt:i4>
      </vt:variant>
    </vt:vector>
  </HeadingPairs>
  <TitlesOfParts>
    <vt:vector size="92" baseType="lpstr">
      <vt:lpstr>仿宋_GB2312</vt:lpstr>
      <vt:lpstr>黑体</vt:lpstr>
      <vt:lpstr>华文新魏</vt:lpstr>
      <vt:lpstr>华文行楷</vt:lpstr>
      <vt:lpstr>华文中宋</vt:lpstr>
      <vt:lpstr>楷体_GB2312</vt:lpstr>
      <vt:lpstr>隶书</vt:lpstr>
      <vt:lpstr>宋体</vt:lpstr>
      <vt:lpstr>Arial</vt:lpstr>
      <vt:lpstr>Cambria Math</vt:lpstr>
      <vt:lpstr>Times New Roman</vt:lpstr>
      <vt:lpstr>Wingdings</vt:lpstr>
      <vt:lpstr>1_Soaring</vt:lpstr>
      <vt:lpstr>空演示文稿</vt:lpstr>
      <vt:lpstr>WPS 公式 3.0</vt:lpstr>
      <vt:lpstr>机械工程材料与 成型技术 </vt:lpstr>
      <vt:lpstr>相 关 事 宜</vt:lpstr>
      <vt:lpstr>绪   论</vt:lpstr>
      <vt:lpstr>PowerPoint 演示文稿</vt:lpstr>
      <vt:lpstr>材料是人类生产和生活所必须的物质基础。</vt:lpstr>
      <vt:lpstr>PowerPoint 演示文稿</vt:lpstr>
      <vt:lpstr>材料的发展水平和利用程度已成为人类文明进步的标志。 </vt:lpstr>
      <vt:lpstr>PowerPoint 演示文稿</vt:lpstr>
      <vt:lpstr>没有高温高强度的结构材料，就不可能有今天的航空工业和宇航工业。 </vt:lpstr>
      <vt:lpstr>没有低消耗的光导纤维，也就没有现代的光纤通讯。 </vt:lpstr>
      <vt:lpstr>中华民族在人类历史上为材料的发展和应用作出过重大贡献。</vt:lpstr>
      <vt:lpstr>4000年前的夏朝我们的祖先已经能够炼铜，到殷、商时期，我国的青铜冶炼和铸造技术已达到很高水平。 </vt:lpstr>
      <vt:lpstr>越王勾践剑</vt:lpstr>
      <vt:lpstr>古代剑刃制造中的特殊技术</vt:lpstr>
      <vt:lpstr>我国从春秋战国时期便开始大量使用铁器，明朝科学家宋应星在《天工开物》一书中就记载了古代的渗碳热处理等工艺。这说明早在欧洲工业革命之前,我国在金属材料及热处理方面就已经有了较高成就. </vt:lpstr>
      <vt:lpstr>新中国成立后，先后建起了鞍山、攀枝花、宝钢等大型钢铁基地。钢产量由49年的15.8万吨上升到现在的一亿吨。  </vt:lpstr>
      <vt:lpstr>PowerPoint 演示文稿</vt:lpstr>
      <vt:lpstr>中国的航天事业-“神舟”号飞船</vt:lpstr>
      <vt:lpstr>PowerPoint 演示文稿</vt:lpstr>
      <vt:lpstr>1912年发现了X-射线对晶体的作用并在随后被用于晶体衍射分析，使人们对固体材料微观结构的认识从最初的假想到科学的现实。 </vt:lpstr>
      <vt:lpstr>1932年发明了电子显微镜，把人们带到了微观世界的更深层次（10-7m）. </vt:lpstr>
      <vt:lpstr>PowerPoint 演示文稿</vt:lpstr>
      <vt:lpstr>基本术语</vt:lpstr>
      <vt:lpstr>钢的宏观组织、显微组织和电镜组织</vt:lpstr>
      <vt:lpstr>PowerPoint 演示文稿</vt:lpstr>
      <vt:lpstr>2、材料科学</vt:lpstr>
      <vt:lpstr>二、工程材料的分类</vt:lpstr>
      <vt:lpstr>机械工程材料分类图</vt:lpstr>
      <vt:lpstr>金属材料</vt:lpstr>
      <vt:lpstr>铁及铁合金称为黑色金属，即钢铁材料，其世界年产量已达10亿吨，在机械产品中的用量已占整个用材的60%以上。 </vt:lpstr>
      <vt:lpstr>金属材料制品</vt:lpstr>
      <vt:lpstr>陶瓷材料</vt:lpstr>
      <vt:lpstr>传统陶瓷又称普通陶瓷, 是以天然材料(如黏土、石英、长石等)为原料的陶瓷, 主要用作建筑材料使用. 特种陶瓷又称精细陶瓷，是以人工合成材料为原料的陶瓷，常用作工程上的耐热、耐蚀、耐磨零件。 </vt:lpstr>
      <vt:lpstr>高分子材料 </vt:lpstr>
      <vt:lpstr>高分子材料在机械、电气、纺织、汽车、飞机、轮船等制造工业和化学、交通运输、航空航天等工业中被广泛应用。 </vt:lpstr>
      <vt:lpstr>复合材料 </vt:lpstr>
      <vt:lpstr>PowerPoint 演示文稿</vt:lpstr>
      <vt:lpstr>三、工程材料的应用和发展</vt:lpstr>
      <vt:lpstr>随着经济的飞速发展和科学技术的进步，对材料的要求越来越苛刻，结构材料向高比强、高刚度、高韧性、耐高温、耐腐蚀、抗辐照和多功能方向发展. </vt:lpstr>
      <vt:lpstr>新材料在不断地涌现。</vt:lpstr>
      <vt:lpstr>机械工业是材料应用的重要领域。 </vt:lpstr>
      <vt:lpstr>PowerPoint 演示文稿</vt:lpstr>
      <vt:lpstr>四、机械工程材料课程的性质和任务</vt:lpstr>
      <vt:lpstr>PowerPoint 演示文稿</vt:lpstr>
      <vt:lpstr>第一章  材料的性能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塑性：材料受力破坏前可承受最大塑性变形的能力.指标为： </vt:lpstr>
      <vt:lpstr>PowerPoint 演示文稿</vt:lpstr>
      <vt:lpstr>韧脆转变温度</vt:lpstr>
      <vt:lpstr>TITANIC</vt:lpstr>
      <vt:lpstr>Titanic 号钢板（左图）和近代船用钢板（右图）的冲击试验结果</vt:lpstr>
      <vt:lpstr>PowerPoint 演示文稿</vt:lpstr>
      <vt:lpstr>PowerPoint 演示文稿</vt:lpstr>
      <vt:lpstr>疲劳断口</vt:lpstr>
      <vt:lpstr>五、硬度</vt:lpstr>
      <vt:lpstr>    </vt:lpstr>
      <vt:lpstr>PowerPoint 演示文稿</vt:lpstr>
      <vt:lpstr>洛氏硬度</vt:lpstr>
      <vt:lpstr>PowerPoint 演示文稿</vt:lpstr>
      <vt:lpstr>维氏硬度</vt:lpstr>
      <vt:lpstr>PowerPoint 演示文稿</vt:lpstr>
      <vt:lpstr>六、断裂韧性：材料抵抗内部裂纹失稳扩展的能力 </vt:lpstr>
      <vt:lpstr>物理性能 </vt:lpstr>
      <vt:lpstr>PowerPoint 演示文稿</vt:lpstr>
      <vt:lpstr>PowerPoint 演示文稿</vt:lpstr>
      <vt:lpstr>PowerPoint 演示文稿</vt:lpstr>
      <vt:lpstr>化学性能</vt:lpstr>
      <vt:lpstr>PowerPoint 演示文稿</vt:lpstr>
      <vt:lpstr>工艺性能</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金属的结晶</dc:title>
  <dc:creator>yys</dc:creator>
  <cp:lastModifiedBy>志学 王</cp:lastModifiedBy>
  <cp:revision>793</cp:revision>
  <dcterms:created xsi:type="dcterms:W3CDTF">2002-05-18T17:18:00Z</dcterms:created>
  <dcterms:modified xsi:type="dcterms:W3CDTF">2026-08-26T12:59:29Z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2052-11.3.0.8632</vt:lpwstr>
  </property>
</Properties>
</file>