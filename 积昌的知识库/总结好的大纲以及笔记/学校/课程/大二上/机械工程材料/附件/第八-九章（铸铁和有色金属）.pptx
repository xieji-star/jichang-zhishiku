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 id="2147483672" r:id="rId2"/>
  </p:sldMasterIdLst>
  <p:sldIdLst>
    <p:sldId id="297" r:id="rId3"/>
    <p:sldId id="267" r:id="rId4"/>
    <p:sldId id="298" r:id="rId5"/>
    <p:sldId id="299" r:id="rId6"/>
    <p:sldId id="307" r:id="rId7"/>
    <p:sldId id="300" r:id="rId8"/>
    <p:sldId id="271" r:id="rId9"/>
    <p:sldId id="260" r:id="rId10"/>
    <p:sldId id="308" r:id="rId11"/>
    <p:sldId id="309" r:id="rId12"/>
    <p:sldId id="314" r:id="rId13"/>
    <p:sldId id="274" r:id="rId14"/>
    <p:sldId id="316" r:id="rId15"/>
    <p:sldId id="313" r:id="rId16"/>
    <p:sldId id="317" r:id="rId17"/>
    <p:sldId id="318" r:id="rId18"/>
    <p:sldId id="278" r:id="rId19"/>
    <p:sldId id="386" r:id="rId20"/>
    <p:sldId id="319" r:id="rId21"/>
    <p:sldId id="320" r:id="rId22"/>
    <p:sldId id="277" r:id="rId23"/>
    <p:sldId id="276" r:id="rId24"/>
    <p:sldId id="387" r:id="rId25"/>
    <p:sldId id="321" r:id="rId26"/>
    <p:sldId id="283" r:id="rId27"/>
    <p:sldId id="322" r:id="rId28"/>
    <p:sldId id="380" r:id="rId29"/>
    <p:sldId id="381" r:id="rId30"/>
    <p:sldId id="382" r:id="rId31"/>
    <p:sldId id="385" r:id="rId32"/>
    <p:sldId id="328" r:id="rId33"/>
    <p:sldId id="333" r:id="rId34"/>
    <p:sldId id="334" r:id="rId35"/>
    <p:sldId id="335" r:id="rId36"/>
    <p:sldId id="336" r:id="rId37"/>
    <p:sldId id="337" r:id="rId38"/>
    <p:sldId id="338" r:id="rId39"/>
    <p:sldId id="339" r:id="rId40"/>
    <p:sldId id="340" r:id="rId41"/>
    <p:sldId id="347" r:id="rId42"/>
    <p:sldId id="348" r:id="rId43"/>
    <p:sldId id="349" r:id="rId44"/>
    <p:sldId id="350" r:id="rId45"/>
    <p:sldId id="351" r:id="rId46"/>
    <p:sldId id="352" r:id="rId47"/>
    <p:sldId id="353" r:id="rId48"/>
    <p:sldId id="354" r:id="rId49"/>
    <p:sldId id="355" r:id="rId50"/>
    <p:sldId id="356" r:id="rId51"/>
    <p:sldId id="357" r:id="rId52"/>
    <p:sldId id="358" r:id="rId53"/>
    <p:sldId id="359" r:id="rId54"/>
    <p:sldId id="360" r:id="rId55"/>
    <p:sldId id="361" r:id="rId56"/>
    <p:sldId id="362" r:id="rId57"/>
    <p:sldId id="363" r:id="rId58"/>
    <p:sldId id="364" r:id="rId59"/>
    <p:sldId id="365" r:id="rId60"/>
    <p:sldId id="366" r:id="rId61"/>
    <p:sldId id="367" r:id="rId62"/>
    <p:sldId id="368" r:id="rId63"/>
    <p:sldId id="369" r:id="rId64"/>
    <p:sldId id="370" r:id="rId65"/>
    <p:sldId id="371" r:id="rId66"/>
    <p:sldId id="372" r:id="rId67"/>
    <p:sldId id="373" r:id="rId68"/>
    <p:sldId id="375" r:id="rId69"/>
    <p:sldId id="376" r:id="rId70"/>
    <p:sldId id="377" r:id="rId71"/>
    <p:sldId id="378" r:id="rId72"/>
    <p:sldId id="379" r:id="rId7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10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9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B2"/>
    <a:srgbClr val="F096E1"/>
    <a:srgbClr val="FDF1FB"/>
    <a:srgbClr val="E1FFFF"/>
    <a:srgbClr val="CCFF33"/>
    <a:srgbClr val="80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517"/>
    <p:restoredTop sz="90465"/>
  </p:normalViewPr>
  <p:slideViewPr>
    <p:cSldViewPr showGuides="1">
      <p:cViewPr>
        <p:scale>
          <a:sx n="75" d="100"/>
          <a:sy n="75" d="100"/>
        </p:scale>
        <p:origin x="33" y="504"/>
      </p:cViewPr>
      <p:guideLst>
        <p:guide orient="horz" pos="209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grpSp>
        <p:nvGrpSpPr>
          <p:cNvPr id="5122" name="Group 2"/>
          <p:cNvGrpSpPr/>
          <p:nvPr/>
        </p:nvGrpSpPr>
        <p:grpSpPr>
          <a:xfrm>
            <a:off x="-1035050" y="1552575"/>
            <a:ext cx="10179050" cy="5305425"/>
            <a:chOff x="-652" y="978"/>
            <a:chExt cx="6412" cy="3342"/>
          </a:xfrm>
        </p:grpSpPr>
        <p:sp>
          <p:nvSpPr>
            <p:cNvPr id="11" name="Freeform 3"/>
            <p:cNvSpPr/>
            <p:nvPr/>
          </p:nvSpPr>
          <p:spPr bwMode="auto">
            <a:xfrm>
              <a:off x="2061" y="1707"/>
              <a:ext cx="3699" cy="2613"/>
            </a:xfrm>
            <a:custGeom>
              <a:avLst/>
              <a:gdLst/>
              <a:ahLst/>
              <a:cxnLst>
                <a:cxn ang="0">
                  <a:pos x="1523" y="2611"/>
                </a:cxn>
                <a:cxn ang="0">
                  <a:pos x="3698" y="2612"/>
                </a:cxn>
                <a:cxn ang="0">
                  <a:pos x="3698" y="2228"/>
                </a:cxn>
                <a:cxn ang="0">
                  <a:pos x="0" y="0"/>
                </a:cxn>
                <a:cxn ang="0">
                  <a:pos x="160" y="118"/>
                </a:cxn>
                <a:cxn ang="0">
                  <a:pos x="292" y="219"/>
                </a:cxn>
                <a:cxn ang="0">
                  <a:pos x="441" y="347"/>
                </a:cxn>
                <a:cxn ang="0">
                  <a:pos x="585" y="482"/>
                </a:cxn>
                <a:cxn ang="0">
                  <a:pos x="796" y="711"/>
                </a:cxn>
                <a:cxn ang="0">
                  <a:pos x="983" y="955"/>
                </a:cxn>
                <a:cxn ang="0">
                  <a:pos x="1119" y="1168"/>
                </a:cxn>
                <a:cxn ang="0">
                  <a:pos x="1238" y="1388"/>
                </a:cxn>
                <a:cxn ang="0">
                  <a:pos x="1331" y="1608"/>
                </a:cxn>
                <a:cxn ang="0">
                  <a:pos x="1400" y="1809"/>
                </a:cxn>
                <a:cxn ang="0">
                  <a:pos x="1447" y="1979"/>
                </a:cxn>
                <a:cxn ang="0">
                  <a:pos x="1490" y="2190"/>
                </a:cxn>
                <a:cxn ang="0">
                  <a:pos x="1511" y="2374"/>
                </a:cxn>
                <a:cxn ang="0">
                  <a:pos x="1523" y="2611"/>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Arc 4"/>
            <p:cNvSpPr/>
            <p:nvPr/>
          </p:nvSpPr>
          <p:spPr bwMode="auto">
            <a:xfrm>
              <a:off x="-652" y="978"/>
              <a:ext cx="4237" cy="3342"/>
            </a:xfrm>
            <a:custGeom>
              <a:avLst/>
              <a:gdLst>
                <a:gd name="G0" fmla="+- 0 0 0"/>
                <a:gd name="G1" fmla="+- 21231 0 0"/>
                <a:gd name="G2" fmla="+- 21600 0 0"/>
                <a:gd name="T0" fmla="*/ 3977 w 21600"/>
                <a:gd name="T1" fmla="*/ 0 h 21231"/>
                <a:gd name="T2" fmla="*/ 21600 w 21600"/>
                <a:gd name="T3" fmla="*/ 21231 h 21231"/>
                <a:gd name="T4" fmla="*/ 0 w 21600"/>
                <a:gd name="T5" fmla="*/ 21231 h 21231"/>
              </a:gdLst>
              <a:ahLst/>
              <a:cxnLst>
                <a:cxn ang="0">
                  <a:pos x="T0" y="T1"/>
                </a:cxn>
                <a:cxn ang="0">
                  <a:pos x="T2" y="T3"/>
                </a:cxn>
                <a:cxn ang="0">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close/>
                </a:path>
              </a:pathLst>
            </a:custGeom>
            <a:noFill/>
            <a:ln w="12700" cap="rnd">
              <a:solidFill>
                <a:schemeClr val="accent2"/>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4581" name="Rectangle 5"/>
          <p:cNvSpPr>
            <a:spLocks noGrp="1" noChangeArrowheads="1"/>
          </p:cNvSpPr>
          <p:nvPr>
            <p:ph type="ctrTitle" sz="quarter"/>
          </p:nvPr>
        </p:nvSpPr>
        <p:spPr>
          <a:xfrm>
            <a:off x="1293813" y="762000"/>
            <a:ext cx="7772400" cy="1143000"/>
          </a:xfrm>
        </p:spPr>
        <p:txBody>
          <a:bodyPr anchor="b"/>
          <a:lstStyle>
            <a:lvl1pPr>
              <a:defRPr/>
            </a:lvl1pPr>
          </a:lstStyle>
          <a:p>
            <a:r>
              <a:rPr lang="zh-CN" altLang="en-US"/>
              <a:t>单击此处编辑母版标题样式</a:t>
            </a:r>
          </a:p>
        </p:txBody>
      </p:sp>
      <p:sp>
        <p:nvSpPr>
          <p:cNvPr id="24582"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anose="05000000000000000000" pitchFamily="2" charset="2"/>
              <a:buNone/>
              <a:defRPr/>
            </a:lvl1pPr>
          </a:lstStyle>
          <a:p>
            <a:r>
              <a:rPr lang="zh-CN" altLang="en-US"/>
              <a:t>单击此处编辑母版副标题样式</a:t>
            </a:r>
          </a:p>
        </p:txBody>
      </p:sp>
      <p:sp>
        <p:nvSpPr>
          <p:cNvPr id="13" name="Rectangle 7"/>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4" name="Rectangle 8"/>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2075" tIns="46038" rIns="92075" bIns="46038"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5" name="Rectangle 9"/>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2075" tIns="46038" rIns="92075" bIns="46038" numCol="1" anchor="ctr" anchorCtr="0" compatLnSpc="1"/>
          <a:lstStyle/>
          <a:p>
            <a:pPr algn="r"/>
            <a:fld id="{9A0DB2DC-4C9A-4742-B13C-FB6460FD3503}"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5143499" y="964075"/>
            <a:ext cx="3490723" cy="3739896"/>
          </a:xfrm>
        </p:spPr>
        <p:txBody>
          <a:bodyPr/>
          <a:lstStyle/>
          <a:p>
            <a:r>
              <a:rPr lang="zh-CN" altLang="en-US"/>
              <a:t>单击此处编辑母版标题样式</a:t>
            </a:r>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143500" y="4822842"/>
            <a:ext cx="3154680" cy="1380744"/>
          </a:xfrm>
        </p:spPr>
        <p:txBody>
          <a:bodyPr anchor="t" anchorCtr="0">
            <a:normAutofit/>
          </a:bodyPr>
          <a:lstStyle>
            <a:lvl1pPr marL="0" indent="0" algn="l">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630936" y="964074"/>
            <a:ext cx="405246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7481150"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87996844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内容">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548640" y="365760"/>
            <a:ext cx="8055864" cy="1132258"/>
          </a:xfrm>
        </p:spPr>
        <p:txBody>
          <a:body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8640" y="1658679"/>
            <a:ext cx="8085582" cy="4925000"/>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7771963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18032"/>
            <a:ext cx="8229600" cy="786384"/>
          </a:xfrm>
        </p:spPr>
        <p:txBody>
          <a:bodyPr anchor="b">
            <a:normAutofit/>
          </a:bodyPr>
          <a:lstStyle>
            <a:lvl1pPr algn="ctr">
              <a:defRPr sz="3300">
                <a:solidFill>
                  <a:schemeClr val="tx1"/>
                </a:solidFill>
              </a:defRPr>
            </a:lvl1pPr>
          </a:lstStyle>
          <a:p>
            <a:r>
              <a:rPr lang="zh-CN" altLang="en-US"/>
              <a:t>单击此处编辑母版标题样式</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72630"/>
            <a:ext cx="8229600" cy="480373"/>
          </a:xfrm>
        </p:spPr>
        <p:txBody>
          <a:bodyPr anchor="t">
            <a:normAutofit/>
          </a:bodyPr>
          <a:lstStyle>
            <a:lvl1pPr marL="0" indent="0" algn="ctr">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1"/>
            <a:ext cx="9143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485020" y="5832832"/>
            <a:ext cx="1503444"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3" y="498994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90817644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628651" y="2578609"/>
            <a:ext cx="5909501" cy="3592629"/>
          </a:xfrm>
        </p:spPr>
        <p:txBody>
          <a:bodyPr>
            <a:normAutofit/>
          </a:bodyPr>
          <a:lstStyle>
            <a:lvl1pPr>
              <a:defRPr sz="4500"/>
            </a:lvl1pPr>
          </a:lstStyle>
          <a:p>
            <a:r>
              <a:rPr lang="zh-CN" altLang="en-US"/>
              <a:t>单击此处编辑母版标题样式</a:t>
            </a:r>
            <a:endParaRPr lang="en-US"/>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3" y="171450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2990850" y="368301"/>
            <a:ext cx="5531644" cy="1014413"/>
          </a:xfrm>
        </p:spPr>
        <p:txBody>
          <a:bodyPr anchor="ctr">
            <a:normAutofit/>
          </a:bodyPr>
          <a:lstStyle>
            <a:lvl1pPr algn="r">
              <a:defRPr sz="1500"/>
            </a:lvl1pPr>
          </a:lstStyle>
          <a:p>
            <a:pPr lvl="0"/>
            <a:r>
              <a:rPr lang="zh-CN" altLang="en-US"/>
              <a:t>单击此处编辑母版文本样式</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28197446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628650" y="859537"/>
            <a:ext cx="7159752" cy="3675885"/>
          </a:xfrm>
        </p:spPr>
        <p:txBody>
          <a:bodyPr anchor="t">
            <a:normAutofit/>
          </a:bodyPr>
          <a:lstStyle>
            <a:lvl1pPr>
              <a:defRPr sz="4500"/>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3" y="514350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37273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964461" y="1296084"/>
            <a:ext cx="3264994"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2400">
                <a:solidFill>
                  <a:schemeClr val="tx1"/>
                </a:solidFill>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901292" y="1296084"/>
            <a:ext cx="3243834" cy="4265835"/>
          </a:xfrm>
        </p:spPr>
        <p:txBody>
          <a:bodyPr anchor="b" anchorCtr="0"/>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2193747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795528" y="4608576"/>
            <a:ext cx="3127248" cy="1609344"/>
          </a:xfrm>
        </p:spPr>
        <p:txBody>
          <a:bodyPr anchor="t" anchorCtr="0">
            <a:noAutofit/>
          </a:bodyPr>
          <a:lstStyle>
            <a:lvl1pPr algn="ctr">
              <a:defRPr sz="3300">
                <a:solidFill>
                  <a:schemeClr val="tx1"/>
                </a:solidFill>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942976" y="1097280"/>
            <a:ext cx="2832353"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5356098" y="841248"/>
            <a:ext cx="3161538"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4722815"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23139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89788" y="2615184"/>
            <a:ext cx="2859786" cy="3557016"/>
          </a:xfrm>
        </p:spPr>
        <p:txBody>
          <a:bodyPr>
            <a:normAutofit/>
          </a:bodyPr>
          <a:lstStyle>
            <a:lvl1pPr>
              <a:defRPr sz="2400">
                <a:solidFill>
                  <a:schemeClr val="tx1"/>
                </a:solidFill>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139804" y="841248"/>
            <a:ext cx="3717131" cy="3556000"/>
          </a:xfrm>
        </p:spPr>
        <p:txBody>
          <a:bodyPr/>
          <a:lstStyle>
            <a:lvl1pPr>
              <a:defRPr>
                <a:solidFill>
                  <a:schemeClr val="tx1"/>
                </a:solidFill>
              </a:defRPr>
            </a:lvl1pPr>
            <a:lvl2pPr>
              <a:defRPr sz="1050">
                <a:solidFill>
                  <a:schemeClr val="tx1"/>
                </a:solidFill>
              </a:defRPr>
            </a:lvl2pPr>
            <a:lvl3pPr>
              <a:defRPr sz="1050">
                <a:solidFill>
                  <a:schemeClr val="tx1"/>
                </a:solidFill>
              </a:defRPr>
            </a:lvl3pPr>
            <a:lvl4pPr>
              <a:defRPr sz="1050">
                <a:solidFill>
                  <a:schemeClr val="tx1"/>
                </a:solidFill>
              </a:defRPr>
            </a:lvl4pPr>
            <a:lvl5pPr>
              <a:defRPr sz="105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376215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96130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841248"/>
            <a:ext cx="2249424" cy="5184648"/>
          </a:xfrm>
        </p:spPr>
        <p:txBody>
          <a:bodyPr anchor="t" anchorCtr="0">
            <a:normAutofit/>
          </a:bodyPr>
          <a:lstStyle>
            <a:lvl1pPr>
              <a:defRPr sz="2400">
                <a:solidFill>
                  <a:schemeClr val="tx1"/>
                </a:solidFill>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500194" y="841248"/>
            <a:ext cx="4695116" cy="5184648"/>
          </a:xfrm>
        </p:spPr>
        <p:txBody>
          <a:bodyPr/>
          <a:lstStyle>
            <a:lvl1pPr>
              <a:defRPr>
                <a:solidFill>
                  <a:schemeClr val="tx1"/>
                </a:solidFill>
              </a:defRPr>
            </a:lvl1pPr>
            <a:lvl2pPr>
              <a:defRPr sz="1050">
                <a:solidFill>
                  <a:schemeClr val="tx1"/>
                </a:solidFill>
              </a:defRPr>
            </a:lvl2pPr>
            <a:lvl3pPr>
              <a:defRPr sz="1050">
                <a:solidFill>
                  <a:schemeClr val="tx1"/>
                </a:solidFill>
              </a:defRPr>
            </a:lvl3pPr>
            <a:lvl4pPr>
              <a:defRPr sz="1050">
                <a:solidFill>
                  <a:schemeClr val="tx1"/>
                </a:solidFill>
              </a:defRPr>
            </a:lvl4pPr>
            <a:lvl5pPr>
              <a:defRPr sz="1050">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313665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9054421"/>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23364" y="990512"/>
            <a:ext cx="1924195" cy="1858941"/>
          </a:xfrm>
        </p:spPr>
        <p:txBody>
          <a:bodyPr anchor="b"/>
          <a:lstStyle>
            <a:lvl1pPr>
              <a:defRPr lang="en-US" sz="2400" kern="1200" dirty="0">
                <a:solidFill>
                  <a:schemeClr val="tx1"/>
                </a:solidFill>
                <a:latin typeface="+mj-lt"/>
                <a:ea typeface="+mj-ea"/>
                <a:cs typeface="+mj-cs"/>
              </a:defRPr>
            </a:lvl1pPr>
          </a:lstStyle>
          <a:p>
            <a:r>
              <a:rPr lang="zh-CN" altLang="en-US"/>
              <a:t>单击此处编辑母版标题样式</a:t>
            </a:r>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 y="0"/>
            <a:ext cx="6244742"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24204" y="3011335"/>
            <a:ext cx="1919983" cy="2656250"/>
          </a:xfrm>
        </p:spPr>
        <p:txBody>
          <a:bodyPr vert="horz" lIns="91440" tIns="45720" rIns="91440" bIns="45720" rtlCol="0">
            <a:normAutofit/>
          </a:bodyPr>
          <a:lstStyle>
            <a:lvl1pPr marL="0" indent="0">
              <a:buNone/>
              <a:defRPr lang="en-US" dirty="0"/>
            </a:lvl1pPr>
            <a:lvl2pPr marL="171450" indent="0">
              <a:buNone/>
              <a:defRPr lang="en-US" sz="1050" dirty="0"/>
            </a:lvl2pPr>
            <a:lvl3pPr marL="342900" indent="0">
              <a:buNone/>
              <a:defRPr lang="en-US" sz="1050" dirty="0"/>
            </a:lvl3pPr>
            <a:lvl4pPr marL="514350" indent="0">
              <a:buNone/>
              <a:defRPr lang="en-US" sz="1050" dirty="0"/>
            </a:lvl4pPr>
            <a:lvl5pPr marL="685800" indent="0">
              <a:buNone/>
              <a:defRPr lang="en-US" sz="1050" dirty="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7347733" y="1638599"/>
            <a:ext cx="2973522" cy="273844"/>
          </a:xfrm>
        </p:spPr>
        <p:txBody>
          <a:bodyPr/>
          <a:lstStyle>
            <a:lvl1pPr algn="l">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7481150" y="4732736"/>
            <a:ext cx="2706690" cy="273844"/>
          </a:xfrm>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8634222" y="6356351"/>
            <a:ext cx="430965" cy="365125"/>
          </a:xfrm>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624042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325611"/>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977640" y="548640"/>
            <a:ext cx="4569919" cy="1143000"/>
          </a:xfrm>
        </p:spPr>
        <p:txBody>
          <a:bodyPr anchor="b">
            <a:noAutofit/>
          </a:bodyPr>
          <a:lstStyle>
            <a:lvl1pPr>
              <a:defRPr sz="2400">
                <a:solidFill>
                  <a:schemeClr val="tx1"/>
                </a:solidFill>
              </a:defRPr>
            </a:lvl1pPr>
          </a:lstStyle>
          <a:p>
            <a:r>
              <a:rPr lang="zh-CN" altLang="en-US"/>
              <a:t>单击此处编辑母版标题样式</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59541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977640" y="1828800"/>
            <a:ext cx="4553712"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359786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7481150"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7347734" y="1638598"/>
            <a:ext cx="2973522"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536985721"/>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48640"/>
            <a:ext cx="4601718" cy="1143000"/>
          </a:xfrm>
        </p:spPr>
        <p:txBody>
          <a:bodyPr anchor="b">
            <a:noAutofit/>
          </a:bodyPr>
          <a:lstStyle>
            <a:lvl1pPr>
              <a:defRPr sz="2400">
                <a:solidFill>
                  <a:schemeClr val="tx1"/>
                </a:solidFill>
              </a:defRPr>
            </a:lvl1pPr>
          </a:lstStyle>
          <a:p>
            <a:r>
              <a:rPr lang="zh-CN" altLang="en-US"/>
              <a:t>单击此处编辑母版标题样式</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828800"/>
            <a:ext cx="4601718"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50408" y="0"/>
            <a:ext cx="3593592"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55365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1086645"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220061" y="1638598"/>
            <a:ext cx="2973522"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38338" y="6356351"/>
            <a:ext cx="430965" cy="365125"/>
          </a:xfrm>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50736860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5143500" cy="932688"/>
          </a:xfrm>
        </p:spPr>
        <p:txBody>
          <a:bodyPr anchor="b">
            <a:noAutofit/>
          </a:bodyPr>
          <a:lstStyle>
            <a:lvl1pPr>
              <a:defRPr sz="2400">
                <a:solidFill>
                  <a:schemeClr val="tx1"/>
                </a:solidFill>
              </a:defRPr>
            </a:lvl1pPr>
          </a:lstStyle>
          <a:p>
            <a:r>
              <a:rPr lang="zh-CN" altLang="en-US"/>
              <a:t>单击此处编辑母版标题样式</a:t>
            </a: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380744"/>
            <a:ext cx="51435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8800" y="0"/>
            <a:ext cx="307520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605832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1086645"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220061" y="1638598"/>
            <a:ext cx="2973522"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38338" y="6356351"/>
            <a:ext cx="430965" cy="365125"/>
          </a:xfrm>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64019686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83414"/>
            <a:ext cx="3271266" cy="1262639"/>
          </a:xfrm>
        </p:spPr>
        <p:txBody>
          <a:bodyPr anchor="b">
            <a:noAutofit/>
          </a:bodyPr>
          <a:lstStyle>
            <a:lvl1pPr>
              <a:defRPr sz="2400">
                <a:solidFill>
                  <a:schemeClr val="tx1"/>
                </a:solidFill>
              </a:defRPr>
            </a:lvl1pPr>
          </a:lstStyle>
          <a:p>
            <a:r>
              <a:rPr lang="zh-CN" altLang="en-US"/>
              <a:t>单击此处编辑母版标题样式</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1" y="1979461"/>
            <a:ext cx="3270647"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09110" y="0"/>
            <a:ext cx="483489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4299095"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1086645"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220061" y="1638598"/>
            <a:ext cx="2973522"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38338" y="6356351"/>
            <a:ext cx="430965" cy="365125"/>
          </a:xfrm>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92273807"/>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20040"/>
            <a:ext cx="3429000" cy="932688"/>
          </a:xfrm>
        </p:spPr>
        <p:txBody>
          <a:bodyPr anchor="b"/>
          <a:lstStyle>
            <a:lvl1pPr>
              <a:defRPr sz="2400">
                <a:solidFill>
                  <a:schemeClr val="tx1"/>
                </a:solidFill>
              </a:defRPr>
            </a:lvl1pPr>
          </a:lstStyle>
          <a:p>
            <a:r>
              <a:rPr lang="zh-CN" altLang="en-US"/>
              <a:t>单击此处编辑母版标题样式</a:t>
            </a: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48640" y="1380744"/>
            <a:ext cx="3429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438291" y="0"/>
            <a:ext cx="47057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443379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1086645" y="4732736"/>
            <a:ext cx="2706690" cy="273844"/>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220061" y="1638598"/>
            <a:ext cx="2973522"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38338" y="6356351"/>
            <a:ext cx="430965" cy="365125"/>
          </a:xfrm>
        </p:spPr>
        <p:txBody>
          <a:body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74648512"/>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5012268"/>
            <a:ext cx="2804922" cy="1390330"/>
          </a:xfrm>
        </p:spPr>
        <p:txBody>
          <a:bodyPr anchor="t">
            <a:normAutofit/>
          </a:bodyPr>
          <a:lstStyle>
            <a:lvl1pPr>
              <a:defRPr sz="2400">
                <a:solidFill>
                  <a:schemeClr val="tx1"/>
                </a:solidFill>
              </a:defRPr>
            </a:lvl1pPr>
          </a:lstStyle>
          <a:p>
            <a:r>
              <a:rPr lang="zh-CN" altLang="en-US"/>
              <a:t>单击此处编辑母版标题样式</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9144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587902" y="5729950"/>
            <a:ext cx="1709209" cy="273844"/>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4740" y="5012267"/>
            <a:ext cx="4800600" cy="1390330"/>
          </a:xfrm>
        </p:spPr>
        <p:txBody>
          <a:bodyPr>
            <a:noAutofit/>
          </a:bodyPr>
          <a:lstStyle>
            <a:lvl1pPr marL="0" indent="0">
              <a:buFont typeface="Arial" panose="020B0604020202020204" pitchFamily="34" charset="0"/>
              <a:buNone/>
              <a:defRPr sz="1350">
                <a:solidFill>
                  <a:schemeClr val="tx1"/>
                </a:solidFill>
              </a:defRPr>
            </a:lvl1pPr>
            <a:lvl2pPr marL="171450" indent="0">
              <a:buFont typeface="Arial" panose="020B0604020202020204" pitchFamily="34" charset="0"/>
              <a:buNone/>
              <a:defRPr sz="1200">
                <a:solidFill>
                  <a:schemeClr val="tx1"/>
                </a:solidFill>
              </a:defRPr>
            </a:lvl2pPr>
            <a:lvl3pPr marL="342900" indent="0">
              <a:buFont typeface="Arial" panose="020B0604020202020204" pitchFamily="34" charset="0"/>
              <a:buNone/>
              <a:defRPr sz="1050">
                <a:solidFill>
                  <a:schemeClr val="tx1"/>
                </a:solidFill>
              </a:defRPr>
            </a:lvl3pPr>
            <a:lvl4pPr marL="514350" indent="0">
              <a:buFont typeface="Arial" panose="020B0604020202020204" pitchFamily="34" charset="0"/>
              <a:buNone/>
              <a:defRPr sz="900">
                <a:solidFill>
                  <a:schemeClr val="tx1"/>
                </a:solidFill>
              </a:defRPr>
            </a:lvl4pPr>
            <a:lvl5pPr marL="685800" indent="0">
              <a:buFont typeface="Arial" panose="020B0604020202020204" pitchFamily="34" charset="0"/>
              <a:buNone/>
              <a:defRPr sz="825">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8229128" y="5480714"/>
            <a:ext cx="1210734" cy="273844"/>
          </a:xfrm>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12613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0061" y="4882896"/>
            <a:ext cx="2743202" cy="1453896"/>
          </a:xfrm>
        </p:spPr>
        <p:txBody>
          <a:bodyPr anchor="t">
            <a:normAutofit/>
          </a:bodyPr>
          <a:lstStyle>
            <a:lvl1pPr algn="ctr">
              <a:defRPr sz="2400">
                <a:solidFill>
                  <a:schemeClr val="tx1"/>
                </a:solidFill>
              </a:defRPr>
            </a:lvl1pPr>
          </a:lstStyle>
          <a:p>
            <a:r>
              <a:rPr lang="zh-CN" altLang="en-US"/>
              <a:t>单击此处编辑母版标题样式</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548641" y="548643"/>
            <a:ext cx="2617631"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703320" y="549275"/>
            <a:ext cx="4920854"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348458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13311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8623" y="559341"/>
            <a:ext cx="8066753" cy="932688"/>
          </a:xfrm>
        </p:spPr>
        <p:txBody>
          <a:bodyPr anchor="b"/>
          <a:lstStyle/>
          <a:p>
            <a:r>
              <a:rPr lang="zh-CN" altLang="en-US"/>
              <a:t>单击此处编辑母版标题样式</a:t>
            </a:r>
            <a:endParaRPr lang="en-US"/>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220061" y="1638598"/>
            <a:ext cx="2973522" cy="273844"/>
          </a:xfrm>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1086646" y="4640587"/>
            <a:ext cx="2706690" cy="273844"/>
          </a:xfrm>
        </p:spPr>
        <p:txBody>
          <a:bodyPr/>
          <a:lstStyle>
            <a:lvl1pPr algn="l">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66427" y="6264202"/>
            <a:ext cx="430965" cy="365125"/>
          </a:xfrm>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713653"/>
            <a:ext cx="3290259" cy="46129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4244196" y="1713654"/>
            <a:ext cx="4899803"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14313" lvl="0" indent="-214313"/>
            <a:r>
              <a:rPr lang="en-US"/>
              <a:t> </a:t>
            </a:r>
          </a:p>
        </p:txBody>
      </p:sp>
    </p:spTree>
    <p:extLst>
      <p:ext uri="{BB962C8B-B14F-4D97-AF65-F5344CB8AC3E}">
        <p14:creationId xmlns:p14="http://schemas.microsoft.com/office/powerpoint/2010/main" val="2191775249"/>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1543050" y="4937761"/>
            <a:ext cx="5240653" cy="1353312"/>
          </a:xfrm>
        </p:spPr>
        <p:txBody>
          <a:bodyPr anchor="t">
            <a:normAutofit/>
          </a:bodyPr>
          <a:lstStyle>
            <a:lvl1pPr>
              <a:lnSpc>
                <a:spcPct val="110000"/>
              </a:lnSpc>
              <a:spcBef>
                <a:spcPts val="750"/>
              </a:spcBef>
              <a:defRPr sz="2100" cap="none" baseline="0">
                <a:latin typeface="+mn-lt"/>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1543050" y="549022"/>
            <a:ext cx="7091363" cy="4333875"/>
          </a:xfrm>
        </p:spPr>
        <p:txBody>
          <a:bodyPr anchor="b">
            <a:normAutofit/>
          </a:bodyPr>
          <a:lstStyle>
            <a:lvl1pPr>
              <a:defRPr sz="174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0287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19739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459486" y="-1228126"/>
            <a:ext cx="798957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1968104" y="2268749"/>
            <a:ext cx="5207793" cy="3954255"/>
          </a:xfrm>
        </p:spPr>
        <p:txBody>
          <a:bodyPr anchor="ctr" anchorCtr="0">
            <a:noAutofit/>
          </a:bodyPr>
          <a:lstStyle>
            <a:lvl1pPr marL="0" indent="0" algn="ctr">
              <a:lnSpc>
                <a:spcPct val="110000"/>
              </a:lnSpc>
              <a:buNone/>
              <a:defRPr sz="3300" b="0" cap="all" baseline="0">
                <a:solidFill>
                  <a:schemeClr val="tx1"/>
                </a:solidFill>
              </a:defRPr>
            </a:lvl1pPr>
            <a:lvl2pPr marL="171450" indent="0" algn="ctr">
              <a:lnSpc>
                <a:spcPct val="110000"/>
              </a:lnSpc>
              <a:buNone/>
              <a:defRPr sz="3300" b="0" cap="all" baseline="0">
                <a:solidFill>
                  <a:schemeClr val="tx1"/>
                </a:solidFill>
              </a:defRPr>
            </a:lvl2pPr>
            <a:lvl3pPr marL="342900" indent="0" algn="ctr">
              <a:lnSpc>
                <a:spcPct val="110000"/>
              </a:lnSpc>
              <a:buNone/>
              <a:defRPr sz="3300" b="0" cap="all" baseline="0">
                <a:solidFill>
                  <a:schemeClr val="tx1"/>
                </a:solidFill>
              </a:defRPr>
            </a:lvl3pPr>
            <a:lvl4pPr marL="514350" indent="0" algn="ctr">
              <a:lnSpc>
                <a:spcPct val="110000"/>
              </a:lnSpc>
              <a:buNone/>
              <a:defRPr sz="3300" b="0" cap="all" baseline="0">
                <a:solidFill>
                  <a:schemeClr val="tx1"/>
                </a:solidFill>
              </a:defRPr>
            </a:lvl4pPr>
            <a:lvl5pPr marL="685800" indent="0" algn="ctr">
              <a:lnSpc>
                <a:spcPct val="110000"/>
              </a:lnSpc>
              <a:buNone/>
              <a:defRPr sz="33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1533205" y="-116541"/>
            <a:ext cx="6077590" cy="7883029"/>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50">
              <a:solidFill>
                <a:schemeClr val="tx1"/>
              </a:solidFill>
            </a:endParaRPr>
          </a:p>
        </p:txBody>
      </p:sp>
    </p:spTree>
    <p:extLst>
      <p:ext uri="{BB962C8B-B14F-4D97-AF65-F5344CB8AC3E}">
        <p14:creationId xmlns:p14="http://schemas.microsoft.com/office/powerpoint/2010/main" val="3736218818"/>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205126" y="5669280"/>
            <a:ext cx="4733748" cy="466344"/>
          </a:xfrm>
        </p:spPr>
        <p:txBody>
          <a:bodyPr anchor="ctr">
            <a:normAutofit/>
          </a:bodyPr>
          <a:lstStyle>
            <a:lvl1pPr algn="ctr">
              <a:lnSpc>
                <a:spcPct val="110000"/>
              </a:lnSpc>
              <a:spcBef>
                <a:spcPts val="750"/>
              </a:spcBef>
              <a:defRPr sz="135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1947851" y="1744578"/>
            <a:ext cx="5248298" cy="3507906"/>
          </a:xfrm>
        </p:spPr>
        <p:txBody>
          <a:bodyPr anchor="b">
            <a:normAutofit/>
          </a:bodyPr>
          <a:lstStyle>
            <a:lvl1pPr algn="ctr">
              <a:lnSpc>
                <a:spcPct val="100000"/>
              </a:lnSpc>
              <a:spcBef>
                <a:spcPts val="0"/>
              </a:spcBef>
              <a:defRPr sz="45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1287380" y="-368135"/>
            <a:ext cx="6569242" cy="7883029"/>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75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1210029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zh-CN" altLang="en-US"/>
              <a:t>单击此处编辑母版标题样式</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548878" y="2103439"/>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4713710" y="2103122"/>
            <a:ext cx="3886200" cy="435133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972158961"/>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zh-CN" altLang="en-US"/>
              <a:t>单击此处编辑母版标题样式</a:t>
            </a:r>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48641" y="2103120"/>
            <a:ext cx="3868340" cy="559834"/>
          </a:xfrm>
        </p:spPr>
        <p:txBody>
          <a:bodyPr anchor="b">
            <a:norm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548879" y="2743201"/>
            <a:ext cx="3867890" cy="3763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732020" y="2103120"/>
            <a:ext cx="3887391" cy="559834"/>
          </a:xfrm>
        </p:spPr>
        <p:txBody>
          <a:bodyPr anchor="b">
            <a:norm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4732021" y="2743201"/>
            <a:ext cx="3887391" cy="3763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075985606"/>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548640" y="365760"/>
            <a:ext cx="8055864" cy="1132258"/>
          </a:xfrm>
        </p:spPr>
        <p:txBody>
          <a:bodyPr/>
          <a:lstStyle>
            <a:lvl1pPr>
              <a:defRPr>
                <a:solidFill>
                  <a:schemeClr val="tx1"/>
                </a:solidFill>
              </a:defRPr>
            </a:lvl1pPr>
          </a:lstStyle>
          <a:p>
            <a:r>
              <a:rPr lang="zh-CN" altLang="en-US"/>
              <a:t>单击此处编辑母版标题样式</a:t>
            </a:r>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01346812"/>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751677914"/>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0937" y="457200"/>
            <a:ext cx="5506730" cy="1133856"/>
          </a:xfrm>
          <a:noFill/>
        </p:spPr>
        <p:txBody>
          <a:bodyPr anchor="b">
            <a:noAutofit/>
          </a:bodyPr>
          <a:lstStyle>
            <a:lvl1pPr>
              <a:defRPr sz="4500">
                <a:solidFill>
                  <a:schemeClr val="tx1"/>
                </a:solidFill>
              </a:defRPr>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0936" y="2624328"/>
            <a:ext cx="7818120" cy="3200400"/>
          </a:xfrm>
          <a:noFill/>
        </p:spPr>
        <p:txBody>
          <a:bodyPr/>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466782240"/>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548640" y="365760"/>
            <a:ext cx="8055864" cy="1132258"/>
          </a:xfrm>
        </p:spPr>
        <p:txBody>
          <a:bodyPr/>
          <a:lstStyle>
            <a:lvl1pPr>
              <a:defRPr lang="en-US" dirty="0"/>
            </a:lvl1p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548640" y="2301837"/>
            <a:ext cx="8055863" cy="3921165"/>
          </a:xfrm>
          <a:noFill/>
        </p:spPr>
        <p:txBody>
          <a:bodyPr/>
          <a:lstStyle>
            <a:lvl1pPr marL="0" indent="0">
              <a:buNone/>
              <a:defRPr>
                <a:solidFill>
                  <a:schemeClr val="tx1"/>
                </a:solidFill>
              </a:defRPr>
            </a:lvl1pPr>
            <a:lvl2pPr marL="171450" indent="0">
              <a:buNone/>
              <a:defRPr>
                <a:solidFill>
                  <a:schemeClr val="tx1"/>
                </a:solidFill>
              </a:defRPr>
            </a:lvl2pPr>
            <a:lvl3pPr marL="342900" indent="0">
              <a:buNone/>
              <a:defRPr>
                <a:solidFill>
                  <a:schemeClr val="tx1"/>
                </a:solidFill>
              </a:defRPr>
            </a:lvl3pPr>
            <a:lvl4pPr marL="514350" indent="0">
              <a:buNone/>
              <a:defRPr>
                <a:solidFill>
                  <a:schemeClr val="tx1"/>
                </a:solidFill>
              </a:defRPr>
            </a:lvl4pPr>
            <a:lvl5pPr marL="685800" indent="0">
              <a:buNone/>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89732767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51726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tileRect/>
        </a:gradFill>
        <a:effectLst/>
      </p:bgPr>
    </p:bg>
    <p:spTree>
      <p:nvGrpSpPr>
        <p:cNvPr id="1" name=""/>
        <p:cNvGrpSpPr/>
        <p:nvPr/>
      </p:nvGrpSpPr>
      <p:grpSpPr>
        <a:xfrm>
          <a:off x="0" y="0"/>
          <a:ext cx="0" cy="0"/>
          <a:chOff x="0" y="0"/>
          <a:chExt cx="0" cy="0"/>
        </a:xfrm>
      </p:grpSpPr>
      <p:grpSp>
        <p:nvGrpSpPr>
          <p:cNvPr id="3074" name="Group 2"/>
          <p:cNvGrpSpPr/>
          <p:nvPr/>
        </p:nvGrpSpPr>
        <p:grpSpPr>
          <a:xfrm>
            <a:off x="0" y="1588"/>
            <a:ext cx="9132888" cy="6845300"/>
            <a:chOff x="0" y="1"/>
            <a:chExt cx="5753" cy="4312"/>
          </a:xfrm>
        </p:grpSpPr>
        <p:sp>
          <p:nvSpPr>
            <p:cNvPr id="23555" name="Freeform 3"/>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556" name="Arc 4"/>
            <p:cNvSpPr/>
            <p:nvPr/>
          </p:nvSpPr>
          <p:spPr bwMode="auto">
            <a:xfrm>
              <a:off x="0" y="1"/>
              <a:ext cx="5298" cy="43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accent2"/>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0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3557"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a:t>单击此处编辑母版标题样式</a:t>
            </a:r>
          </a:p>
        </p:txBody>
      </p:sp>
      <p:sp>
        <p:nvSpPr>
          <p:cNvPr id="23558" name="Rectangle 6"/>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lgn="l">
              <a:spcBef>
                <a:spcPct val="0"/>
              </a:spcBef>
              <a:defRPr kumimoji="0" sz="1400" b="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559" name="Rectangle 7"/>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kumimoji="0" sz="1400" b="0">
                <a:solidFill>
                  <a:schemeClr val="tx1"/>
                </a:solidFill>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3560" name="Rectangle 8"/>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2075" tIns="46038" rIns="92075" bIns="46038" numCol="1" anchor="ctr" anchorCtr="0" compatLnSpc="1"/>
          <a:lstStyle>
            <a:lvl1pPr algn="r">
              <a:defRPr sz="1400"/>
            </a:lvl1pPr>
          </a:lstStyle>
          <a:p>
            <a:pPr lvl="0" eaLnBrk="1" hangingPunct="1"/>
            <a:fld id="{9A0DB2DC-4C9A-4742-B13C-FB6460FD3503}" type="slidenum">
              <a:rPr lang="en-US" altLang="zh-CN">
                <a:latin typeface="Times New Roman" panose="02020603050405020304" pitchFamily="18" charset="0"/>
              </a:rPr>
              <a:t>‹#›</a:t>
            </a:fld>
            <a:endParaRPr lang="en-US" altLang="zh-CN">
              <a:latin typeface="Times New Roman" panose="02020603050405020304" pitchFamily="18" charset="0"/>
            </a:endParaRPr>
          </a:p>
        </p:txBody>
      </p:sp>
      <p:sp>
        <p:nvSpPr>
          <p:cNvPr id="3079" name="Rectangle 9"/>
          <p:cNvSpPr>
            <a:spLocks noGrp="1"/>
          </p:cNvSpPr>
          <p:nvPr>
            <p:ph type="body" idx="1"/>
          </p:nvPr>
        </p:nvSpPr>
        <p:spPr>
          <a:xfrm>
            <a:off x="685800" y="1981200"/>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628650" y="584991"/>
            <a:ext cx="7886700" cy="1116811"/>
          </a:xfrm>
          <a:prstGeom prst="rect">
            <a:avLst/>
          </a:prstGeom>
        </p:spPr>
        <p:txBody>
          <a:bodyPr vert="horz" lIns="91440" tIns="45720" rIns="91440" bIns="45720" rtlCol="0" anchor="b">
            <a:normAutofit/>
          </a:bodyPr>
          <a:lstStyle/>
          <a:p>
            <a:r>
              <a:rPr lang="zh-CN" altLang="en-US"/>
              <a:t>单击此处编辑母版标题样式</a:t>
            </a:r>
            <a:endParaRPr lang="en-US"/>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220061" y="1638598"/>
            <a:ext cx="2973522" cy="273844"/>
          </a:xfrm>
          <a:prstGeom prst="rect">
            <a:avLst/>
          </a:prstGeom>
        </p:spPr>
        <p:txBody>
          <a:bodyPr vert="horz" lIns="91440" tIns="45720" rIns="91440" bIns="45720" rtlCol="0" anchor="ctr"/>
          <a:lstStyle>
            <a:lvl1pPr algn="r" rtl="0">
              <a:defRPr sz="750">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628650" y="2061470"/>
            <a:ext cx="7886700" cy="411480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7481150" y="4732736"/>
            <a:ext cx="2706690" cy="273844"/>
          </a:xfrm>
          <a:prstGeom prst="rect">
            <a:avLst/>
          </a:prstGeom>
        </p:spPr>
        <p:txBody>
          <a:bodyPr vert="horz" lIns="91440" tIns="45720" rIns="91440" bIns="45720" rtlCol="0" anchor="ctr"/>
          <a:lstStyle>
            <a:lvl1pPr algn="r" rtl="0">
              <a:defRPr sz="75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宋体" panose="02010600030101010101" pitchFamily="2" charset="-122"/>
              <a:cs typeface="+mn-cs"/>
            </a:endParaRPr>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8634222" y="6356351"/>
            <a:ext cx="430965" cy="365125"/>
          </a:xfrm>
          <a:prstGeom prst="rect">
            <a:avLst/>
          </a:prstGeom>
        </p:spPr>
        <p:txBody>
          <a:bodyPr vert="horz" lIns="91440" tIns="45720" rIns="91440" bIns="45720" rtlCol="0" anchor="ctr"/>
          <a:lstStyle>
            <a:lvl1pPr algn="ctr" rtl="0">
              <a:defRPr sz="750">
                <a:solidFill>
                  <a:schemeClr val="tx1"/>
                </a:solidFill>
              </a:defRPr>
            </a:lvl1pPr>
          </a:lstStyle>
          <a:p>
            <a:pPr lvl="0" eaLnBrk="1" hangingPunct="1"/>
            <a:fld id="{9A0DB2DC-4C9A-4742-B13C-FB6460FD3503}" type="slidenum">
              <a:rPr lang="en-US" altLang="zh-CN" smtClean="0">
                <a:latin typeface="Times New Roman" panose="02020603050405020304" pitchFamily="18" charset="0"/>
              </a:rPr>
              <a:t>‹#›</a:t>
            </a:fld>
            <a:endParaRPr lang="en-US" altLang="zh-CN">
              <a:latin typeface="Times New Roman" panose="02020603050405020304" pitchFamily="18" charset="0"/>
            </a:endParaRPr>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3" y="1824111"/>
            <a:ext cx="91439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2090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Lst>
  <p:hf sldNum="0" hdr="0" ftr="0" dt="0"/>
  <p:txStyles>
    <p:titleStyle>
      <a:lvl1pPr algn="l" defTabSz="685800" rtl="0" eaLnBrk="1" latinLnBrk="0" hangingPunct="1">
        <a:lnSpc>
          <a:spcPct val="90000"/>
        </a:lnSpc>
        <a:spcBef>
          <a:spcPct val="0"/>
        </a:spcBef>
        <a:buNone/>
        <a:defRPr sz="3300" kern="1200" cap="all" baseline="0">
          <a:solidFill>
            <a:schemeClr val="tx1"/>
          </a:solidFill>
          <a:latin typeface="+mj-lt"/>
          <a:ea typeface="+mj-ea"/>
          <a:cs typeface="+mj-cs"/>
        </a:defRPr>
      </a:lvl1pPr>
    </p:titleStyle>
    <p:bodyStyle>
      <a:lvl1pPr marL="0" indent="0" algn="l" defTabSz="685800" rtl="0" eaLnBrk="1" latinLnBrk="0" hangingPunct="1">
        <a:lnSpc>
          <a:spcPct val="110000"/>
        </a:lnSpc>
        <a:spcBef>
          <a:spcPts val="750"/>
        </a:spcBef>
        <a:buSzPct val="80000"/>
        <a:buFont typeface="Arial" panose="020B0604020202020204" pitchFamily="34" charset="0"/>
        <a:buNone/>
        <a:defRPr sz="1350" kern="1200">
          <a:solidFill>
            <a:schemeClr val="tx1"/>
          </a:solidFill>
          <a:latin typeface="+mn-lt"/>
          <a:ea typeface="+mn-ea"/>
          <a:cs typeface="+mn-cs"/>
        </a:defRPr>
      </a:lvl1pPr>
      <a:lvl2pPr marL="377190" indent="-171450" algn="l" defTabSz="685800" rtl="0" eaLnBrk="1" latinLnBrk="0" hangingPunct="1">
        <a:lnSpc>
          <a:spcPct val="110000"/>
        </a:lnSpc>
        <a:spcBef>
          <a:spcPts val="375"/>
        </a:spcBef>
        <a:buSzPct val="80000"/>
        <a:buFont typeface="Goudy Old Style" panose="02020502050305020303" pitchFamily="18" charset="0"/>
        <a:buChar char="–"/>
        <a:defRPr sz="1200" i="1" kern="1200">
          <a:solidFill>
            <a:schemeClr val="tx1"/>
          </a:solidFill>
          <a:latin typeface="+mn-lt"/>
          <a:ea typeface="+mn-ea"/>
          <a:cs typeface="+mn-cs"/>
        </a:defRPr>
      </a:lvl2pPr>
      <a:lvl3pPr marL="617220" indent="-171450" algn="l" defTabSz="685800" rtl="0" eaLnBrk="1" latinLnBrk="0" hangingPunct="1">
        <a:lnSpc>
          <a:spcPct val="110000"/>
        </a:lnSpc>
        <a:spcBef>
          <a:spcPts val="375"/>
        </a:spcBef>
        <a:buSzPct val="80000"/>
        <a:buFont typeface="Arial" panose="020B0604020202020204" pitchFamily="34" charset="0"/>
        <a:buChar char="•"/>
        <a:defRPr sz="1050" kern="1200">
          <a:solidFill>
            <a:schemeClr val="tx1"/>
          </a:solidFill>
          <a:latin typeface="+mn-lt"/>
          <a:ea typeface="+mn-ea"/>
          <a:cs typeface="+mn-cs"/>
        </a:defRPr>
      </a:lvl3pPr>
      <a:lvl4pPr marL="822960" indent="-171450" algn="l" defTabSz="685800" rtl="0" eaLnBrk="1" latinLnBrk="0" hangingPunct="1">
        <a:lnSpc>
          <a:spcPct val="110000"/>
        </a:lnSpc>
        <a:spcBef>
          <a:spcPts val="375"/>
        </a:spcBef>
        <a:buSzPct val="80000"/>
        <a:buFont typeface="Goudy Old Style" panose="02020502050305020303" pitchFamily="18" charset="0"/>
        <a:buChar char="–"/>
        <a:defRPr sz="1050" i="1" kern="1200">
          <a:solidFill>
            <a:schemeClr val="tx1"/>
          </a:solidFill>
          <a:latin typeface="+mn-lt"/>
          <a:ea typeface="+mn-ea"/>
          <a:cs typeface="+mn-cs"/>
        </a:defRPr>
      </a:lvl4pPr>
      <a:lvl5pPr marL="1028700" indent="-171450" algn="l" defTabSz="685800" rtl="0" eaLnBrk="1" latinLnBrk="0" hangingPunct="1">
        <a:lnSpc>
          <a:spcPct val="110000"/>
        </a:lnSpc>
        <a:spcBef>
          <a:spcPts val="375"/>
        </a:spcBef>
        <a:buSzPct val="80000"/>
        <a:buFont typeface="Arial" panose="020B0604020202020204" pitchFamily="34" charset="0"/>
        <a:buChar char="•"/>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6.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6.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9.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36.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9.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36.xm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9.jpeg"/><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9.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image" Target="../media/image34.jpeg"/><Relationship Id="rId1" Type="http://schemas.openxmlformats.org/officeDocument/2006/relationships/slideLayout" Target="../slideLayouts/slideLayout39.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36.xml"/><Relationship Id="rId4" Type="http://schemas.openxmlformats.org/officeDocument/2006/relationships/image" Target="../media/image49.jpeg"/></Relationships>
</file>

<file path=ppt/slides/_rels/slide2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36.xml"/><Relationship Id="rId4" Type="http://schemas.openxmlformats.org/officeDocument/2006/relationships/image" Target="../media/image5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jpeg"/></Relationships>
</file>

<file path=ppt/slides/_rels/slide4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2.xml"/><Relationship Id="rId4" Type="http://schemas.openxmlformats.org/officeDocument/2006/relationships/image" Target="../media/image79.jpeg"/></Relationships>
</file>

<file path=ppt/slides/_rels/slide4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2.xml"/><Relationship Id="rId4" Type="http://schemas.openxmlformats.org/officeDocument/2006/relationships/image" Target="../media/image96.jpeg"/></Relationships>
</file>

<file path=ppt/slides/_rels/slide57.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image" Target="../media/image100.jpe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6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Layout" Target="../slideLayouts/slideLayout2.xml"/><Relationship Id="rId4" Type="http://schemas.openxmlformats.org/officeDocument/2006/relationships/image" Target="../media/image107.jpeg"/></Relationships>
</file>

<file path=ppt/slides/_rels/slide6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6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65.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1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42938" y="2000250"/>
            <a:ext cx="7772400" cy="1143000"/>
          </a:xfrm>
          <a:prstGeom prst="rect">
            <a:avLst/>
          </a:prstGeom>
        </p:spPr>
        <p:txBody>
          <a:bodyPr>
            <a:normAutofit fontScale="97500" lnSpcReduction="10000"/>
          </a:bodyPr>
          <a:lstStyle/>
          <a:p>
            <a:pPr marR="0" algn="ctr" defTabSz="914400" fontAlgn="auto">
              <a:spcAft>
                <a:spcPts val="0"/>
              </a:spcAft>
              <a:buClrTx/>
              <a:buSzTx/>
              <a:buFontTx/>
              <a:buNone/>
              <a:defRPr/>
            </a:pPr>
            <a:r>
              <a:rPr kumimoji="0" lang="zh-CN" altLang="en-US" sz="7200" b="1" kern="1200" cap="none" spc="0" normalizeH="0" baseline="0" noProof="0" dirty="0">
                <a:latin typeface="华文新魏" panose="02010800040101010101" pitchFamily="2" charset="-122"/>
                <a:ea typeface="华文新魏" panose="02010800040101010101" pitchFamily="2" charset="-122"/>
                <a:cs typeface="+mj-cs"/>
              </a:rPr>
              <a:t>第四章  金属材料</a:t>
            </a:r>
          </a:p>
        </p:txBody>
      </p:sp>
      <p:sp>
        <p:nvSpPr>
          <p:cNvPr id="3" name="Rectangle 18"/>
          <p:cNvSpPr txBox="1">
            <a:spLocks noChangeArrowheads="1"/>
          </p:cNvSpPr>
          <p:nvPr/>
        </p:nvSpPr>
        <p:spPr bwMode="auto">
          <a:xfrm>
            <a:off x="2214563" y="3286125"/>
            <a:ext cx="5124450" cy="914400"/>
          </a:xfrm>
          <a:prstGeom prst="rect">
            <a:avLst/>
          </a:prstGeom>
          <a:noFill/>
          <a:ln w="9525">
            <a:noFill/>
            <a:miter lim="800000"/>
          </a:ln>
          <a:effectLst/>
        </p:spPr>
        <p:txBody>
          <a:bodyPr lIns="92075" tIns="46038" rIns="92075" bIns="46038" anchor="ctr"/>
          <a:lstStyle/>
          <a:p>
            <a:pPr marR="0" algn="ctr" defTabSz="914400">
              <a:buClrTx/>
              <a:buSzTx/>
              <a:buFontTx/>
              <a:buNone/>
              <a:defRPr/>
            </a:pPr>
            <a:r>
              <a:rPr kumimoji="1" lang="zh-CN" altLang="en-US" sz="5400" b="1" kern="0" cap="none" spc="0" normalizeH="0" baseline="0" noProof="0" dirty="0">
                <a:solidFill>
                  <a:srgbClr val="FF0000"/>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mj-cs"/>
              </a:rPr>
              <a:t>铸铁和有色金属</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p:cNvSpPr>
          <p:nvPr>
            <p:ph idx="1"/>
          </p:nvPr>
        </p:nvSpPr>
        <p:spPr>
          <a:xfrm>
            <a:off x="285750" y="1071563"/>
            <a:ext cx="8572500" cy="1357312"/>
          </a:xfrm>
          <a:ln/>
        </p:spPr>
        <p:txBody>
          <a:bodyPr vert="horz" wrap="square" lIns="91440" tIns="45720" rIns="91440" bIns="45720" anchor="t" anchorCtr="0"/>
          <a:lstStyle/>
          <a:p>
            <a:pPr marL="0" indent="-457200" eaLnBrk="1" hangingPunct="1">
              <a:lnSpc>
                <a:spcPct val="140000"/>
              </a:lnSpc>
              <a:buNone/>
            </a:pPr>
            <a:r>
              <a:rPr lang="zh-CN" altLang="en-US" sz="2800" b="1" dirty="0">
                <a:solidFill>
                  <a:srgbClr val="FF0000"/>
                </a:solidFill>
                <a:ea typeface="华文中宋" panose="02010600040101010101" pitchFamily="2" charset="-122"/>
              </a:rPr>
              <a:t>　　铸铁是含碳量大于</a:t>
            </a:r>
            <a:r>
              <a:rPr lang="en-US" altLang="zh-CN" sz="2800" b="1">
                <a:solidFill>
                  <a:srgbClr val="FF0000"/>
                </a:solidFill>
                <a:ea typeface="华文中宋" panose="02010600040101010101" pitchFamily="2" charset="-122"/>
              </a:rPr>
              <a:t>2.11%</a:t>
            </a:r>
            <a:r>
              <a:rPr lang="zh-CN" altLang="en-US" sz="2800" b="1" dirty="0">
                <a:solidFill>
                  <a:srgbClr val="FF0000"/>
                </a:solidFill>
                <a:ea typeface="华文中宋" panose="02010600040101010101" pitchFamily="2" charset="-122"/>
              </a:rPr>
              <a:t>并含有较多硅、锰、硫、磷等元素的多元铁基合金。</a:t>
            </a:r>
          </a:p>
        </p:txBody>
      </p:sp>
      <p:sp>
        <p:nvSpPr>
          <p:cNvPr id="7171" name="Rectangle 8"/>
          <p:cNvSpPr/>
          <p:nvPr/>
        </p:nvSpPr>
        <p:spPr>
          <a:xfrm>
            <a:off x="685800" y="3306763"/>
            <a:ext cx="4114800" cy="3170237"/>
          </a:xfrm>
          <a:prstGeom prst="rect">
            <a:avLst/>
          </a:prstGeom>
          <a:noFill/>
          <a:ln w="9525">
            <a:noFill/>
          </a:ln>
        </p:spPr>
        <p:txBody>
          <a:bodyPr/>
          <a:lstStyle/>
          <a:p>
            <a:pPr marL="342900" indent="-342900">
              <a:lnSpc>
                <a:spcPct val="160000"/>
              </a:lnSpc>
              <a:spcBef>
                <a:spcPct val="20000"/>
              </a:spcBef>
              <a:buClr>
                <a:schemeClr val="accent2"/>
              </a:buClr>
              <a:buSzPct val="80000"/>
              <a:buFont typeface="Wingdings" panose="05000000000000000000" pitchFamily="2" charset="2"/>
              <a:buChar char="l"/>
            </a:pPr>
            <a:endParaRPr lang="zh-CN" altLang="zh-CN" sz="3200" dirty="0">
              <a:latin typeface="Times New Roman" panose="02020603050405020304" pitchFamily="18" charset="0"/>
            </a:endParaRPr>
          </a:p>
        </p:txBody>
      </p:sp>
      <p:sp>
        <p:nvSpPr>
          <p:cNvPr id="8" name="Rectangle 18"/>
          <p:cNvSpPr txBox="1">
            <a:spLocks noChangeArrowheads="1"/>
          </p:cNvSpPr>
          <p:nvPr/>
        </p:nvSpPr>
        <p:spPr bwMode="auto">
          <a:xfrm>
            <a:off x="2428875" y="214313"/>
            <a:ext cx="4267200" cy="914400"/>
          </a:xfrm>
          <a:prstGeom prst="rect">
            <a:avLst/>
          </a:prstGeom>
          <a:noFill/>
          <a:ln w="9525">
            <a:noFill/>
            <a:miter lim="800000"/>
          </a:ln>
          <a:effectLst/>
        </p:spPr>
        <p:txBody>
          <a:bodyPr lIns="92075" tIns="46038" rIns="92075" bIns="46038" anchor="ctr"/>
          <a:lstStyle/>
          <a:p>
            <a:pPr marR="0" algn="ctr" defTabSz="914400">
              <a:buClrTx/>
              <a:buSzTx/>
              <a:buFontTx/>
              <a:buNone/>
              <a:defRPr/>
            </a:pPr>
            <a:r>
              <a:rPr kumimoji="1" lang="zh-CN" altLang="en-US" sz="4400" b="1" kern="0" cap="none" spc="0" normalizeH="0" baseline="0" noProof="0" dirty="0">
                <a:solidFill>
                  <a:srgbClr val="0000B2"/>
                </a:solidFill>
                <a:effectLst>
                  <a:outerShdw blurRad="38100" dist="38100" dir="2700000" algn="tl">
                    <a:srgbClr val="000000"/>
                  </a:outerShdw>
                </a:effectLst>
                <a:latin typeface="华文宋体" panose="02010600040101010101" pitchFamily="2" charset="-122"/>
                <a:ea typeface="华文宋体" panose="02010600040101010101" pitchFamily="2" charset="-122"/>
                <a:cs typeface="+mj-cs"/>
              </a:rPr>
              <a:t>第二节  铸铁</a:t>
            </a:r>
          </a:p>
        </p:txBody>
      </p:sp>
      <p:sp>
        <p:nvSpPr>
          <p:cNvPr id="7173" name="矩形 9"/>
          <p:cNvSpPr/>
          <p:nvPr/>
        </p:nvSpPr>
        <p:spPr>
          <a:xfrm>
            <a:off x="357188" y="2357438"/>
            <a:ext cx="8358187" cy="4229100"/>
          </a:xfrm>
          <a:prstGeom prst="rect">
            <a:avLst/>
          </a:prstGeom>
          <a:noFill/>
          <a:ln w="9525">
            <a:noFill/>
          </a:ln>
        </p:spPr>
        <p:txBody>
          <a:bodyPr>
            <a:spAutoFit/>
          </a:bodyPr>
          <a:lstStyle/>
          <a:p>
            <a:pPr>
              <a:lnSpc>
                <a:spcPct val="140000"/>
              </a:lnSpc>
              <a:spcBef>
                <a:spcPct val="20000"/>
              </a:spcBef>
            </a:pPr>
            <a:r>
              <a:rPr lang="zh-CN" altLang="en-US" sz="2400" dirty="0">
                <a:latin typeface="华文中宋" panose="02010600040101010101" pitchFamily="2" charset="-122"/>
                <a:ea typeface="华文中宋" panose="02010600040101010101" pitchFamily="2" charset="-122"/>
              </a:rPr>
              <a:t>　　铸铁是历史上使用得较早的材料，也是最便宜的金属材料之一。</a:t>
            </a:r>
            <a:r>
              <a:rPr lang="zh-CN" altLang="en-US" sz="2400" dirty="0">
                <a:solidFill>
                  <a:srgbClr val="FF0000"/>
                </a:solidFill>
                <a:latin typeface="华文中宋" panose="02010600040101010101" pitchFamily="2" charset="-122"/>
                <a:ea typeface="华文中宋" panose="02010600040101010101" pitchFamily="2" charset="-122"/>
              </a:rPr>
              <a:t>同时它具有优良的铸造性、切削加工性、减摩性、吸振性、低的缺口敏感性、</a:t>
            </a:r>
            <a:r>
              <a:rPr lang="zh-CN" altLang="en-US" sz="2400" b="1" dirty="0">
                <a:solidFill>
                  <a:srgbClr val="FF0000"/>
                </a:solidFill>
                <a:latin typeface="华文中宋" panose="02010600040101010101" pitchFamily="2" charset="-122"/>
                <a:ea typeface="华文中宋" panose="02010600040101010101" pitchFamily="2" charset="-122"/>
              </a:rPr>
              <a:t>生产简便、成本低廉等</a:t>
            </a:r>
            <a:r>
              <a:rPr lang="zh-CN" altLang="en-US" sz="2400" dirty="0">
                <a:solidFill>
                  <a:srgbClr val="FF0000"/>
                </a:solidFill>
                <a:latin typeface="华文中宋" panose="02010600040101010101" pitchFamily="2" charset="-122"/>
                <a:ea typeface="华文中宋" panose="02010600040101010101" pitchFamily="2" charset="-122"/>
              </a:rPr>
              <a:t>优点，</a:t>
            </a:r>
            <a:r>
              <a:rPr lang="zh-CN" altLang="en-US" sz="2400" b="1" dirty="0">
                <a:solidFill>
                  <a:srgbClr val="FF0000"/>
                </a:solidFill>
                <a:latin typeface="华文中宋" panose="02010600040101010101" pitchFamily="2" charset="-122"/>
                <a:ea typeface="华文中宋" panose="02010600040101010101" pitchFamily="2" charset="-122"/>
              </a:rPr>
              <a:t>是应用最广泛的材料之一</a:t>
            </a:r>
            <a:r>
              <a:rPr lang="zh-CN" altLang="en-US" sz="2400" dirty="0">
                <a:latin typeface="华文中宋" panose="02010600040101010101" pitchFamily="2" charset="-122"/>
                <a:ea typeface="华文中宋" panose="02010600040101010101" pitchFamily="2" charset="-122"/>
              </a:rPr>
              <a:t>。比如，在汽车发动机中，铸铁占</a:t>
            </a:r>
            <a:r>
              <a:rPr lang="en-US" altLang="zh-CN" sz="2400" dirty="0">
                <a:latin typeface="华文中宋" panose="02010600040101010101" pitchFamily="2" charset="-122"/>
                <a:ea typeface="华文中宋" panose="02010600040101010101" pitchFamily="2" charset="-122"/>
              </a:rPr>
              <a:t>80%</a:t>
            </a:r>
            <a:r>
              <a:rPr lang="zh-CN" altLang="en-US" sz="2400" dirty="0">
                <a:latin typeface="华文中宋" panose="02010600040101010101" pitchFamily="2" charset="-122"/>
                <a:ea typeface="华文中宋" panose="02010600040101010101" pitchFamily="2" charset="-122"/>
              </a:rPr>
              <a:t>。同钢一样，铸铁也是</a:t>
            </a:r>
            <a:r>
              <a:rPr lang="en-US" altLang="zh-CN" sz="2400" dirty="0">
                <a:latin typeface="华文中宋" panose="02010600040101010101" pitchFamily="2" charset="-122"/>
                <a:ea typeface="华文中宋" panose="02010600040101010101" pitchFamily="2" charset="-122"/>
              </a:rPr>
              <a:t>Fe</a:t>
            </a:r>
            <a:r>
              <a:rPr lang="zh-CN" altLang="en-US" sz="2400" dirty="0">
                <a:latin typeface="华文中宋" panose="02010600040101010101" pitchFamily="2" charset="-122"/>
                <a:ea typeface="华文中宋" panose="02010600040101010101" pitchFamily="2" charset="-122"/>
              </a:rPr>
              <a:t>、</a:t>
            </a:r>
            <a:r>
              <a:rPr lang="en-US" altLang="zh-CN" sz="2400" dirty="0">
                <a:latin typeface="华文中宋" panose="02010600040101010101" pitchFamily="2" charset="-122"/>
                <a:ea typeface="华文中宋" panose="02010600040101010101" pitchFamily="2" charset="-122"/>
              </a:rPr>
              <a:t>C</a:t>
            </a:r>
            <a:r>
              <a:rPr lang="zh-CN" altLang="en-US" sz="2400" dirty="0">
                <a:latin typeface="华文中宋" panose="02010600040101010101" pitchFamily="2" charset="-122"/>
                <a:ea typeface="华文中宋" panose="02010600040101010101" pitchFamily="2" charset="-122"/>
              </a:rPr>
              <a:t>元素为主的铁基材料，但是它含碳量很高（碳含量大于</a:t>
            </a:r>
            <a:r>
              <a:rPr lang="en-US" altLang="zh-CN" sz="2400" dirty="0">
                <a:latin typeface="华文中宋" panose="02010600040101010101" pitchFamily="2" charset="-122"/>
                <a:ea typeface="华文中宋" panose="02010600040101010101" pitchFamily="2" charset="-122"/>
              </a:rPr>
              <a:t>2.11</a:t>
            </a:r>
            <a:r>
              <a:rPr lang="zh-CN" altLang="en-US" sz="2400" dirty="0">
                <a:latin typeface="华文中宋" panose="02010600040101010101" pitchFamily="2" charset="-122"/>
                <a:ea typeface="华文中宋" panose="02010600040101010101" pitchFamily="2" charset="-122"/>
              </a:rPr>
              <a:t>％），达到亚共晶、共晶或过共晶成分，而且铸铁成型制成零件毛坯只能用铸造方法，不能用锻造或轧制方法。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1"/>
          <p:cNvSpPr/>
          <p:nvPr/>
        </p:nvSpPr>
        <p:spPr>
          <a:xfrm>
            <a:off x="285750" y="261938"/>
            <a:ext cx="2338388" cy="523875"/>
          </a:xfrm>
          <a:prstGeom prst="rect">
            <a:avLst/>
          </a:prstGeom>
          <a:noFill/>
          <a:ln w="9525">
            <a:noFill/>
          </a:ln>
        </p:spPr>
        <p:txBody>
          <a:bodyPr wrap="none">
            <a:spAutoFit/>
          </a:bodyPr>
          <a:lstStyle/>
          <a:p>
            <a:r>
              <a:rPr lang="zh-CN" altLang="en-US" sz="2800" b="1" dirty="0">
                <a:solidFill>
                  <a:srgbClr val="FF0000"/>
                </a:solidFill>
                <a:latin typeface="Calibri" panose="020F0502020204030204" pitchFamily="34" charset="0"/>
                <a:ea typeface="华文中宋" panose="02010600040101010101" pitchFamily="2" charset="-122"/>
              </a:rPr>
              <a:t>铸铁应用举例</a:t>
            </a:r>
            <a:endParaRPr lang="zh-CN" altLang="en-US" dirty="0">
              <a:latin typeface="Times New Roman" panose="02020603050405020304" pitchFamily="18" charset="0"/>
            </a:endParaRPr>
          </a:p>
        </p:txBody>
      </p:sp>
      <p:pic>
        <p:nvPicPr>
          <p:cNvPr id="8195" name="Picture 29" descr="铸铁曲轴1"/>
          <p:cNvPicPr>
            <a:picLocks noChangeAspect="1"/>
          </p:cNvPicPr>
          <p:nvPr/>
        </p:nvPicPr>
        <p:blipFill>
          <a:blip r:embed="rId2"/>
          <a:stretch>
            <a:fillRect/>
          </a:stretch>
        </p:blipFill>
        <p:spPr>
          <a:xfrm>
            <a:off x="500063" y="4357688"/>
            <a:ext cx="8277225" cy="2022475"/>
          </a:xfrm>
          <a:prstGeom prst="rect">
            <a:avLst/>
          </a:prstGeom>
          <a:noFill/>
          <a:ln w="38100" cap="flat" cmpd="sng">
            <a:solidFill>
              <a:srgbClr val="FF00FF"/>
            </a:solidFill>
            <a:prstDash val="solid"/>
            <a:miter/>
            <a:headEnd type="none" w="med" len="med"/>
            <a:tailEnd type="none" w="med" len="med"/>
          </a:ln>
        </p:spPr>
      </p:pic>
      <p:sp>
        <p:nvSpPr>
          <p:cNvPr id="8196" name="Text Box 30"/>
          <p:cNvSpPr txBox="1"/>
          <p:nvPr/>
        </p:nvSpPr>
        <p:spPr>
          <a:xfrm>
            <a:off x="533400" y="4429125"/>
            <a:ext cx="1447800" cy="457200"/>
          </a:xfrm>
          <a:prstGeom prst="rect">
            <a:avLst/>
          </a:prstGeom>
          <a:noFill/>
          <a:ln w="38100">
            <a:noFill/>
          </a:ln>
        </p:spPr>
        <p:txBody>
          <a:bodyPr>
            <a:spAutoFit/>
          </a:bodyPr>
          <a:lstStyle/>
          <a:p>
            <a:pPr algn="ctr">
              <a:spcBef>
                <a:spcPct val="50000"/>
              </a:spcBef>
            </a:pPr>
            <a:r>
              <a:rPr lang="zh-CN" altLang="en-US" sz="2400" b="1" dirty="0">
                <a:solidFill>
                  <a:srgbClr val="800000"/>
                </a:solidFill>
                <a:latin typeface="Times New Roman" panose="02020603050405020304" pitchFamily="18" charset="0"/>
              </a:rPr>
              <a:t>铸铁曲轴</a:t>
            </a:r>
          </a:p>
        </p:txBody>
      </p:sp>
      <p:pic>
        <p:nvPicPr>
          <p:cNvPr id="8197" name="Picture 2" descr="http://lt.asiapump.cn/upload/2010/0712/BZ5142QL58OLu17.jpg"/>
          <p:cNvPicPr>
            <a:picLocks noChangeAspect="1"/>
          </p:cNvPicPr>
          <p:nvPr/>
        </p:nvPicPr>
        <p:blipFill>
          <a:blip r:embed="rId3"/>
          <a:stretch>
            <a:fillRect/>
          </a:stretch>
        </p:blipFill>
        <p:spPr>
          <a:xfrm>
            <a:off x="500063" y="1071563"/>
            <a:ext cx="4762500" cy="2638425"/>
          </a:xfrm>
          <a:prstGeom prst="rect">
            <a:avLst/>
          </a:prstGeom>
          <a:noFill/>
          <a:ln w="9525" cap="flat" cmpd="sng">
            <a:solidFill>
              <a:srgbClr val="FF0000"/>
            </a:solidFill>
            <a:prstDash val="solid"/>
            <a:miter/>
            <a:headEnd type="none" w="med" len="med"/>
            <a:tailEnd type="none" w="med" len="med"/>
          </a:ln>
        </p:spPr>
      </p:pic>
      <p:sp>
        <p:nvSpPr>
          <p:cNvPr id="6" name="矩形 5"/>
          <p:cNvSpPr/>
          <p:nvPr/>
        </p:nvSpPr>
        <p:spPr>
          <a:xfrm>
            <a:off x="571500" y="3071813"/>
            <a:ext cx="1620838"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机床床身</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8199" name="Picture 4" descr="http://fs01.bokee.net/userfilespace/2008/07/27/dsnj1209990.jpg"/>
          <p:cNvPicPr>
            <a:picLocks noChangeAspect="1"/>
          </p:cNvPicPr>
          <p:nvPr/>
        </p:nvPicPr>
        <p:blipFill>
          <a:blip r:embed="rId4"/>
          <a:stretch>
            <a:fillRect/>
          </a:stretch>
        </p:blipFill>
        <p:spPr>
          <a:xfrm>
            <a:off x="5429250" y="214313"/>
            <a:ext cx="3600450" cy="3225800"/>
          </a:xfrm>
          <a:prstGeom prst="rect">
            <a:avLst/>
          </a:prstGeom>
          <a:noFill/>
          <a:ln w="9525" cap="flat" cmpd="sng">
            <a:solidFill>
              <a:srgbClr val="FF0000"/>
            </a:solidFill>
            <a:prstDash val="solid"/>
            <a:miter/>
            <a:headEnd type="none" w="med" len="med"/>
            <a:tailEnd type="none" w="med" len="med"/>
          </a:ln>
        </p:spPr>
      </p:pic>
      <p:sp>
        <p:nvSpPr>
          <p:cNvPr id="8200" name="矩形 7"/>
          <p:cNvSpPr/>
          <p:nvPr/>
        </p:nvSpPr>
        <p:spPr>
          <a:xfrm>
            <a:off x="5857875" y="3500438"/>
            <a:ext cx="2954338" cy="461962"/>
          </a:xfrm>
          <a:prstGeom prst="rect">
            <a:avLst/>
          </a:prstGeom>
          <a:noFill/>
          <a:ln w="9525">
            <a:noFill/>
          </a:ln>
        </p:spPr>
        <p:txBody>
          <a:bodyPr wrap="none">
            <a:spAutoFit/>
          </a:bodyPr>
          <a:lstStyle/>
          <a:p>
            <a:r>
              <a:rPr lang="zh-CN" altLang="en-US" sz="2400" b="1" dirty="0">
                <a:latin typeface="Times New Roman" panose="02020603050405020304" pitchFamily="18" charset="0"/>
              </a:rPr>
              <a:t>单缸柴油发动机缸体</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8"/>
          <p:cNvSpPr txBox="1">
            <a:spLocks noChangeArrowheads="1"/>
          </p:cNvSpPr>
          <p:nvPr/>
        </p:nvSpPr>
        <p:spPr>
          <a:xfrm>
            <a:off x="142875" y="242888"/>
            <a:ext cx="3400425" cy="685800"/>
          </a:xfrm>
          <a:prstGeom prst="rect">
            <a:avLst/>
          </a:prstGeom>
        </p:spPr>
        <p:txBody>
          <a:bodyPr/>
          <a:lstStyle/>
          <a:p>
            <a:pPr marR="0" algn="ctr" defTabSz="914400" fontAlgn="auto">
              <a:spcAft>
                <a:spcPts val="0"/>
              </a:spcAft>
              <a:buClrTx/>
              <a:buSzTx/>
              <a:buFontTx/>
              <a:buNone/>
              <a:defRPr/>
            </a:pPr>
            <a:r>
              <a:rPr kumimoji="0" lang="en-US" altLang="zh-CN" sz="3600" b="1" kern="1200" cap="none" spc="0" normalizeH="0" baseline="0" noProof="0" dirty="0">
                <a:solidFill>
                  <a:srgbClr val="0000FF"/>
                </a:solidFill>
                <a:latin typeface="华文宋体" panose="02010600040101010101" pitchFamily="2" charset="-122"/>
                <a:ea typeface="华文宋体" panose="02010600040101010101" pitchFamily="2" charset="-122"/>
                <a:cs typeface="+mj-cs"/>
              </a:rPr>
              <a:t>4.2.1 </a:t>
            </a:r>
            <a:r>
              <a:rPr kumimoji="0" lang="zh-CN" altLang="en-US" sz="3600" b="1" kern="1200" cap="none" spc="0" normalizeH="0" baseline="0" noProof="0" dirty="0">
                <a:solidFill>
                  <a:srgbClr val="0000FF"/>
                </a:solidFill>
                <a:latin typeface="华文宋体" panose="02010600040101010101" pitchFamily="2" charset="-122"/>
                <a:ea typeface="华文宋体" panose="02010600040101010101" pitchFamily="2" charset="-122"/>
                <a:cs typeface="+mj-cs"/>
              </a:rPr>
              <a:t>铸铁分类</a:t>
            </a:r>
          </a:p>
        </p:txBody>
      </p:sp>
      <p:sp>
        <p:nvSpPr>
          <p:cNvPr id="4" name="Rectangle 7"/>
          <p:cNvSpPr txBox="1">
            <a:spLocks noChangeArrowheads="1"/>
          </p:cNvSpPr>
          <p:nvPr/>
        </p:nvSpPr>
        <p:spPr>
          <a:xfrm>
            <a:off x="285750" y="928688"/>
            <a:ext cx="8572500" cy="1143000"/>
          </a:xfrm>
          <a:prstGeom prst="rect">
            <a:avLst/>
          </a:prstGeom>
          <a:noFill/>
        </p:spPr>
        <p:txBody>
          <a:bodyPr>
            <a:normAutofit/>
          </a:bodyPr>
          <a:lstStyle/>
          <a:p>
            <a:pPr marR="0" indent="-457200" defTabSz="914400" fontAlgn="auto">
              <a:lnSpc>
                <a:spcPct val="140000"/>
              </a:lnSpc>
              <a:spcBef>
                <a:spcPct val="20000"/>
              </a:spcBef>
              <a:spcAft>
                <a:spcPts val="0"/>
              </a:spcAft>
              <a:buClrTx/>
              <a:buSzTx/>
              <a:buFont typeface="Arial" panose="020B0604020202020204" pitchFamily="34" charset="0"/>
              <a:buNone/>
              <a:defRPr/>
            </a:pPr>
            <a:r>
              <a:rPr kumimoji="0" lang="zh-CN" altLang="en-US" sz="2400" b="1" kern="1200" cap="none" spc="0" normalizeH="0" baseline="0" noProof="0" dirty="0">
                <a:solidFill>
                  <a:srgbClr val="FF0000"/>
                </a:solidFill>
                <a:latin typeface="+mn-lt"/>
                <a:ea typeface="华文中宋" panose="02010600040101010101" pitchFamily="2" charset="-122"/>
                <a:cs typeface="+mn-cs"/>
              </a:rPr>
              <a:t>　　铸铁分类方法较多，按铸铁的使用性能、断口特点或成分特征，可将铸铁分为</a:t>
            </a:r>
            <a:r>
              <a:rPr kumimoji="0" lang="en-US" altLang="zh-CN" sz="2400" b="1" kern="1200" cap="none" spc="0" normalizeH="0" baseline="0" noProof="0" dirty="0">
                <a:solidFill>
                  <a:srgbClr val="FF0000"/>
                </a:solidFill>
                <a:latin typeface="+mn-lt"/>
                <a:ea typeface="华文中宋" panose="02010600040101010101" pitchFamily="2" charset="-122"/>
                <a:cs typeface="+mn-cs"/>
              </a:rPr>
              <a:t>5</a:t>
            </a:r>
            <a:r>
              <a:rPr kumimoji="0" lang="zh-CN" altLang="en-US" sz="2400" b="1" kern="1200" cap="none" spc="0" normalizeH="0" baseline="0" noProof="0" dirty="0">
                <a:solidFill>
                  <a:srgbClr val="FF0000"/>
                </a:solidFill>
                <a:latin typeface="+mn-lt"/>
                <a:ea typeface="华文中宋" panose="02010600040101010101" pitchFamily="2" charset="-122"/>
                <a:cs typeface="+mn-cs"/>
              </a:rPr>
              <a:t>类。</a:t>
            </a:r>
          </a:p>
        </p:txBody>
      </p:sp>
      <p:sp>
        <p:nvSpPr>
          <p:cNvPr id="5" name="矩形 4"/>
          <p:cNvSpPr/>
          <p:nvPr/>
        </p:nvSpPr>
        <p:spPr>
          <a:xfrm>
            <a:off x="571500" y="2214563"/>
            <a:ext cx="215900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1</a:t>
            </a: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、灰口铸铁</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矩形 5"/>
          <p:cNvSpPr/>
          <p:nvPr/>
        </p:nvSpPr>
        <p:spPr>
          <a:xfrm>
            <a:off x="571500" y="3119438"/>
            <a:ext cx="215900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2</a:t>
            </a: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、球墨铸铁</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矩形 6"/>
          <p:cNvSpPr/>
          <p:nvPr/>
        </p:nvSpPr>
        <p:spPr>
          <a:xfrm>
            <a:off x="571500" y="4000500"/>
            <a:ext cx="215900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3</a:t>
            </a: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、白口铸铁</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571500" y="4905375"/>
            <a:ext cx="215900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4</a:t>
            </a: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、可锻铸铁</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矩形 8"/>
          <p:cNvSpPr/>
          <p:nvPr/>
        </p:nvSpPr>
        <p:spPr>
          <a:xfrm>
            <a:off x="571500" y="5762625"/>
            <a:ext cx="215900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5</a:t>
            </a:r>
            <a:r>
              <a:rPr kumimoji="1" lang="zh-CN" altLang="en-US" sz="28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、合金铸铁</a:t>
            </a:r>
            <a:endParaRPr kumimoji="1" lang="zh-CN" altLang="en-US" sz="1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Rectangle 7"/>
          <p:cNvSpPr txBox="1">
            <a:spLocks noChangeArrowheads="1"/>
          </p:cNvSpPr>
          <p:nvPr/>
        </p:nvSpPr>
        <p:spPr>
          <a:xfrm>
            <a:off x="3214688" y="2214563"/>
            <a:ext cx="5500688" cy="428625"/>
          </a:xfrm>
          <a:prstGeom prst="rect">
            <a:avLst/>
          </a:prstGeom>
          <a:noFill/>
        </p:spPr>
        <p:txBody>
          <a:bodyPr/>
          <a:lstStyle/>
          <a:p>
            <a:pPr marR="0" indent="-457200" algn="just" defTabSz="914400" fontAlgn="auto">
              <a:lnSpc>
                <a:spcPct val="140000"/>
              </a:lnSpc>
              <a:spcBef>
                <a:spcPct val="20000"/>
              </a:spcBef>
              <a:spcAft>
                <a:spcPts val="0"/>
              </a:spcAft>
              <a:buClrTx/>
              <a:buSzTx/>
              <a:buFont typeface="Arial" panose="020B0604020202020204" pitchFamily="34" charset="0"/>
              <a:buNone/>
              <a:defRPr/>
            </a:pPr>
            <a:r>
              <a:rPr kumimoji="0" lang="zh-CN" altLang="en-US" sz="1800" b="1" kern="1200" cap="none" spc="0" normalizeH="0" baseline="0" noProof="0" dirty="0">
                <a:solidFill>
                  <a:srgbClr val="FF0000"/>
                </a:solidFill>
                <a:latin typeface="+mn-lt"/>
                <a:ea typeface="华文中宋" panose="02010600040101010101" pitchFamily="2" charset="-122"/>
                <a:cs typeface="+mn-cs"/>
              </a:rPr>
              <a:t>断口呈暗灰色，碳全部或大部分以片状石墨形式存在　</a:t>
            </a:r>
          </a:p>
        </p:txBody>
      </p:sp>
      <p:sp>
        <p:nvSpPr>
          <p:cNvPr id="11" name="Rectangle 7"/>
          <p:cNvSpPr txBox="1">
            <a:spLocks noChangeArrowheads="1"/>
          </p:cNvSpPr>
          <p:nvPr/>
        </p:nvSpPr>
        <p:spPr>
          <a:xfrm>
            <a:off x="3214688" y="3071813"/>
            <a:ext cx="5500688" cy="428625"/>
          </a:xfrm>
          <a:prstGeom prst="rect">
            <a:avLst/>
          </a:prstGeom>
          <a:noFill/>
        </p:spPr>
        <p:txBody>
          <a:bodyPr/>
          <a:lstStyle/>
          <a:p>
            <a:pPr marR="0" indent="-457200" algn="just" defTabSz="914400" fontAlgn="auto">
              <a:lnSpc>
                <a:spcPct val="140000"/>
              </a:lnSpc>
              <a:spcBef>
                <a:spcPct val="20000"/>
              </a:spcBef>
              <a:spcAft>
                <a:spcPts val="0"/>
              </a:spcAft>
              <a:buClrTx/>
              <a:buSzTx/>
              <a:buFont typeface="Arial" panose="020B0604020202020204" pitchFamily="34" charset="0"/>
              <a:buNone/>
              <a:defRPr/>
            </a:pPr>
            <a:r>
              <a:rPr kumimoji="0" lang="zh-CN" altLang="en-US" sz="1800" b="1" kern="1200" cap="none" spc="0" normalizeH="0" baseline="0" noProof="0" dirty="0">
                <a:solidFill>
                  <a:srgbClr val="FF0000"/>
                </a:solidFill>
                <a:latin typeface="+mn-lt"/>
                <a:ea typeface="华文中宋" panose="02010600040101010101" pitchFamily="2" charset="-122"/>
                <a:cs typeface="+mn-cs"/>
              </a:rPr>
              <a:t>铁液经球化处理，石墨全部或大部分以球状形式存在　</a:t>
            </a:r>
          </a:p>
        </p:txBody>
      </p:sp>
      <p:sp>
        <p:nvSpPr>
          <p:cNvPr id="12" name="Rectangle 7"/>
          <p:cNvSpPr txBox="1">
            <a:spLocks noChangeArrowheads="1"/>
          </p:cNvSpPr>
          <p:nvPr/>
        </p:nvSpPr>
        <p:spPr>
          <a:xfrm>
            <a:off x="3214688" y="3929063"/>
            <a:ext cx="5500688" cy="785813"/>
          </a:xfrm>
          <a:prstGeom prst="rect">
            <a:avLst/>
          </a:prstGeom>
          <a:noFill/>
        </p:spPr>
        <p:txBody>
          <a:bodyPr/>
          <a:lstStyle/>
          <a:p>
            <a:pPr marR="0" indent="-457200" algn="just" defTabSz="914400" fontAlgn="auto">
              <a:lnSpc>
                <a:spcPct val="140000"/>
              </a:lnSpc>
              <a:spcBef>
                <a:spcPct val="20000"/>
              </a:spcBef>
              <a:spcAft>
                <a:spcPts val="0"/>
              </a:spcAft>
              <a:buClrTx/>
              <a:buSzTx/>
              <a:buFont typeface="Arial" panose="020B0604020202020204" pitchFamily="34" charset="0"/>
              <a:buNone/>
              <a:defRPr/>
            </a:pPr>
            <a:r>
              <a:rPr kumimoji="0" lang="zh-CN" altLang="en-US" sz="1800" b="1" kern="1200" cap="none" spc="0" normalizeH="0" baseline="0" noProof="0" dirty="0">
                <a:solidFill>
                  <a:srgbClr val="FF0000"/>
                </a:solidFill>
                <a:latin typeface="+mn-lt"/>
                <a:ea typeface="华文中宋" panose="02010600040101010101" pitchFamily="2" charset="-122"/>
                <a:cs typeface="+mn-cs"/>
              </a:rPr>
              <a:t>断口呈银白色，碳除少量溶于铁素体外，其余以渗碳体形式存在　</a:t>
            </a:r>
          </a:p>
        </p:txBody>
      </p:sp>
      <p:sp>
        <p:nvSpPr>
          <p:cNvPr id="13" name="Rectangle 7"/>
          <p:cNvSpPr txBox="1">
            <a:spLocks noChangeArrowheads="1"/>
          </p:cNvSpPr>
          <p:nvPr/>
        </p:nvSpPr>
        <p:spPr>
          <a:xfrm>
            <a:off x="3214688" y="4857750"/>
            <a:ext cx="5500688" cy="785813"/>
          </a:xfrm>
          <a:prstGeom prst="rect">
            <a:avLst/>
          </a:prstGeom>
          <a:noFill/>
        </p:spPr>
        <p:txBody>
          <a:bodyPr/>
          <a:lstStyle/>
          <a:p>
            <a:pPr marR="0" indent="-457200" algn="just" defTabSz="914400" fontAlgn="auto">
              <a:lnSpc>
                <a:spcPct val="140000"/>
              </a:lnSpc>
              <a:spcBef>
                <a:spcPct val="20000"/>
              </a:spcBef>
              <a:spcAft>
                <a:spcPts val="0"/>
              </a:spcAft>
              <a:buClrTx/>
              <a:buSzTx/>
              <a:buFont typeface="Arial" panose="020B0604020202020204" pitchFamily="34" charset="0"/>
              <a:buNone/>
              <a:defRPr/>
            </a:pPr>
            <a:r>
              <a:rPr kumimoji="0" lang="zh-CN" altLang="en-US" sz="1800" b="1" kern="1200" cap="none" spc="0" normalizeH="0" baseline="0" noProof="0" dirty="0">
                <a:solidFill>
                  <a:srgbClr val="FF0000"/>
                </a:solidFill>
                <a:latin typeface="+mn-lt"/>
                <a:ea typeface="华文中宋" panose="02010600040101010101" pitchFamily="2" charset="-122"/>
                <a:cs typeface="+mn-cs"/>
              </a:rPr>
              <a:t>白口铸铁通过石墨化或氧化脱碳的可锻处理，石墨呈团絮状。虽有较高的韧性，但不可锻。</a:t>
            </a:r>
          </a:p>
        </p:txBody>
      </p:sp>
      <p:sp>
        <p:nvSpPr>
          <p:cNvPr id="14" name="Rectangle 7"/>
          <p:cNvSpPr txBox="1">
            <a:spLocks noChangeArrowheads="1"/>
          </p:cNvSpPr>
          <p:nvPr/>
        </p:nvSpPr>
        <p:spPr>
          <a:xfrm>
            <a:off x="3214688" y="5786438"/>
            <a:ext cx="5500688" cy="428625"/>
          </a:xfrm>
          <a:prstGeom prst="rect">
            <a:avLst/>
          </a:prstGeom>
          <a:noFill/>
        </p:spPr>
        <p:txBody>
          <a:bodyPr/>
          <a:lstStyle/>
          <a:p>
            <a:pPr marR="0" indent="-457200" algn="just" defTabSz="914400" fontAlgn="auto">
              <a:lnSpc>
                <a:spcPct val="140000"/>
              </a:lnSpc>
              <a:spcBef>
                <a:spcPct val="20000"/>
              </a:spcBef>
              <a:spcAft>
                <a:spcPts val="0"/>
              </a:spcAft>
              <a:buClrTx/>
              <a:buSzTx/>
              <a:buFont typeface="Arial" panose="020B0604020202020204" pitchFamily="34" charset="0"/>
              <a:buNone/>
              <a:defRPr/>
            </a:pPr>
            <a:r>
              <a:rPr kumimoji="0" lang="zh-CN" altLang="en-US" sz="1800" b="1" kern="1200" cap="none" spc="0" normalizeH="0" baseline="0" noProof="0" dirty="0">
                <a:solidFill>
                  <a:srgbClr val="FF0000"/>
                </a:solidFill>
                <a:latin typeface="+mn-lt"/>
                <a:ea typeface="华文中宋" panose="02010600040101010101" pitchFamily="2" charset="-122"/>
                <a:cs typeface="+mn-cs"/>
              </a:rPr>
              <a:t>低合金、中合金（</a:t>
            </a:r>
            <a:r>
              <a:rPr kumimoji="0" lang="en-US" altLang="zh-CN" sz="1800" b="1" kern="1200" cap="none" spc="0" normalizeH="0" baseline="0" noProof="0" dirty="0">
                <a:solidFill>
                  <a:srgbClr val="FF0000"/>
                </a:solidFill>
                <a:latin typeface="+mn-lt"/>
                <a:ea typeface="华文中宋" panose="02010600040101010101" pitchFamily="2" charset="-122"/>
                <a:cs typeface="+mn-cs"/>
              </a:rPr>
              <a:t>5</a:t>
            </a:r>
            <a:r>
              <a:rPr kumimoji="0" lang="zh-CN" altLang="en-US" sz="1800" b="1" kern="1200" cap="none" spc="0" normalizeH="0" baseline="0" noProof="0" dirty="0">
                <a:solidFill>
                  <a:srgbClr val="FF0000"/>
                </a:solidFill>
                <a:latin typeface="+mn-lt"/>
                <a:ea typeface="华文中宋" panose="02010600040101010101" pitchFamily="2" charset="-122"/>
                <a:cs typeface="+mn-cs"/>
              </a:rPr>
              <a:t>－</a:t>
            </a:r>
            <a:r>
              <a:rPr kumimoji="0" lang="en-US" altLang="zh-CN" sz="1800" b="1" kern="1200" cap="none" spc="0" normalizeH="0" baseline="0" noProof="0" dirty="0">
                <a:solidFill>
                  <a:srgbClr val="FF0000"/>
                </a:solidFill>
                <a:latin typeface="+mn-lt"/>
                <a:ea typeface="华文中宋" panose="02010600040101010101" pitchFamily="2" charset="-122"/>
                <a:cs typeface="+mn-cs"/>
              </a:rPr>
              <a:t>10%</a:t>
            </a:r>
            <a:r>
              <a:rPr kumimoji="0" lang="zh-CN" altLang="en-US" sz="1800" b="1" kern="1200" cap="none" spc="0" normalizeH="0" baseline="0" noProof="0" dirty="0">
                <a:solidFill>
                  <a:srgbClr val="FF0000"/>
                </a:solidFill>
                <a:latin typeface="+mn-lt"/>
                <a:ea typeface="华文中宋" panose="02010600040101010101" pitchFamily="2" charset="-122"/>
                <a:cs typeface="+mn-cs"/>
              </a:rPr>
              <a:t>）和高合金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http://www.instrument.com.cn/bbs/images/upfile/20089992038.jpg"/>
          <p:cNvPicPr>
            <a:picLocks noChangeAspect="1"/>
          </p:cNvPicPr>
          <p:nvPr/>
        </p:nvPicPr>
        <p:blipFill>
          <a:blip r:embed="rId2"/>
          <a:stretch>
            <a:fillRect/>
          </a:stretch>
        </p:blipFill>
        <p:spPr>
          <a:xfrm>
            <a:off x="357188" y="214313"/>
            <a:ext cx="3600450" cy="2700337"/>
          </a:xfrm>
          <a:prstGeom prst="rect">
            <a:avLst/>
          </a:prstGeom>
          <a:noFill/>
          <a:ln w="9525">
            <a:noFill/>
          </a:ln>
        </p:spPr>
      </p:pic>
      <p:sp>
        <p:nvSpPr>
          <p:cNvPr id="6" name="矩形 5"/>
          <p:cNvSpPr/>
          <p:nvPr/>
        </p:nvSpPr>
        <p:spPr>
          <a:xfrm>
            <a:off x="357188" y="2500313"/>
            <a:ext cx="1211263" cy="400050"/>
          </a:xfrm>
          <a:prstGeom prst="rect">
            <a:avLst/>
          </a:prstGeom>
          <a:solidFill>
            <a:srgbClr val="FFFF00"/>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灰口铸铁</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244" name="Picture 7" descr="http://www.chinabaike.com/uploads/allimg/110401/04200155D-5.jpg"/>
          <p:cNvPicPr>
            <a:picLocks noChangeAspect="1"/>
          </p:cNvPicPr>
          <p:nvPr/>
        </p:nvPicPr>
        <p:blipFill>
          <a:blip r:embed="rId3"/>
          <a:stretch>
            <a:fillRect/>
          </a:stretch>
        </p:blipFill>
        <p:spPr>
          <a:xfrm>
            <a:off x="4143375" y="500063"/>
            <a:ext cx="4562475" cy="2105025"/>
          </a:xfrm>
          <a:prstGeom prst="rect">
            <a:avLst/>
          </a:prstGeom>
          <a:noFill/>
          <a:ln w="9525">
            <a:noFill/>
          </a:ln>
        </p:spPr>
      </p:pic>
      <p:sp>
        <p:nvSpPr>
          <p:cNvPr id="8" name="矩形 7"/>
          <p:cNvSpPr/>
          <p:nvPr/>
        </p:nvSpPr>
        <p:spPr>
          <a:xfrm>
            <a:off x="5857875" y="2714625"/>
            <a:ext cx="1211263" cy="400050"/>
          </a:xfrm>
          <a:prstGeom prst="rect">
            <a:avLst/>
          </a:prstGeom>
          <a:solidFill>
            <a:srgbClr val="FFFF00"/>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白口铸铁</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246" name="Picture 9" descr="http://www.71zd.com/gyzl/UploadFiles/200902/20090210103137237.gif"/>
          <p:cNvPicPr>
            <a:picLocks noChangeAspect="1"/>
          </p:cNvPicPr>
          <p:nvPr/>
        </p:nvPicPr>
        <p:blipFill>
          <a:blip r:embed="rId4"/>
          <a:srcRect b="13345"/>
          <a:stretch>
            <a:fillRect/>
          </a:stretch>
        </p:blipFill>
        <p:spPr>
          <a:xfrm>
            <a:off x="1857375" y="3286125"/>
            <a:ext cx="5400675" cy="2763838"/>
          </a:xfrm>
          <a:prstGeom prst="rect">
            <a:avLst/>
          </a:prstGeom>
          <a:noFill/>
          <a:ln w="9525">
            <a:noFill/>
          </a:ln>
        </p:spPr>
      </p:pic>
      <p:sp>
        <p:nvSpPr>
          <p:cNvPr id="10" name="矩形 9"/>
          <p:cNvSpPr/>
          <p:nvPr/>
        </p:nvSpPr>
        <p:spPr>
          <a:xfrm>
            <a:off x="3857625" y="6143625"/>
            <a:ext cx="1211263" cy="400050"/>
          </a:xfrm>
          <a:prstGeom prst="rect">
            <a:avLst/>
          </a:prstGeom>
          <a:solidFill>
            <a:srgbClr val="FFFF00"/>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1" i="0" u="none" strike="noStrike" kern="0" cap="none" spc="0" normalizeH="0" baseline="0" noProof="0" dirty="0">
                <a:ln>
                  <a:noFill/>
                </a:ln>
                <a:solidFill>
                  <a:schemeClr val="tx1"/>
                </a:solidFill>
                <a:effectLst/>
                <a:uLnTx/>
                <a:uFillTx/>
                <a:latin typeface="Times New Roman" panose="02020603050405020304"/>
                <a:ea typeface="华文中宋" panose="02010600040101010101" pitchFamily="2" charset="-122"/>
                <a:cs typeface="+mn-cs"/>
              </a:rPr>
              <a:t>球墨铸铁</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表格 11265"/>
          <p:cNvGraphicFramePr/>
          <p:nvPr>
            <p:extLst>
              <p:ext uri="{D42A27DB-BD31-4B8C-83A1-F6EECF244321}">
                <p14:modId xmlns:p14="http://schemas.microsoft.com/office/powerpoint/2010/main" val="36658484"/>
              </p:ext>
            </p:extLst>
          </p:nvPr>
        </p:nvGraphicFramePr>
        <p:xfrm>
          <a:off x="571500" y="548680"/>
          <a:ext cx="8072438" cy="6213957"/>
        </p:xfrm>
        <a:graphic>
          <a:graphicData uri="http://schemas.openxmlformats.org/drawingml/2006/table">
            <a:tbl>
              <a:tblPr/>
              <a:tblGrid>
                <a:gridCol w="1185863">
                  <a:extLst>
                    <a:ext uri="{9D8B030D-6E8A-4147-A177-3AD203B41FA5}">
                      <a16:colId xmlns:a16="http://schemas.microsoft.com/office/drawing/2014/main" val="20000"/>
                    </a:ext>
                  </a:extLst>
                </a:gridCol>
                <a:gridCol w="750887">
                  <a:extLst>
                    <a:ext uri="{9D8B030D-6E8A-4147-A177-3AD203B41FA5}">
                      <a16:colId xmlns:a16="http://schemas.microsoft.com/office/drawing/2014/main" val="20001"/>
                    </a:ext>
                  </a:extLst>
                </a:gridCol>
                <a:gridCol w="2063750">
                  <a:extLst>
                    <a:ext uri="{9D8B030D-6E8A-4147-A177-3AD203B41FA5}">
                      <a16:colId xmlns:a16="http://schemas.microsoft.com/office/drawing/2014/main" val="20002"/>
                    </a:ext>
                  </a:extLst>
                </a:gridCol>
                <a:gridCol w="2786063">
                  <a:extLst>
                    <a:ext uri="{9D8B030D-6E8A-4147-A177-3AD203B41FA5}">
                      <a16:colId xmlns:a16="http://schemas.microsoft.com/office/drawing/2014/main" val="20003"/>
                    </a:ext>
                  </a:extLst>
                </a:gridCol>
                <a:gridCol w="1285875">
                  <a:extLst>
                    <a:ext uri="{9D8B030D-6E8A-4147-A177-3AD203B41FA5}">
                      <a16:colId xmlns:a16="http://schemas.microsoft.com/office/drawing/2014/main" val="20004"/>
                    </a:ext>
                  </a:extLst>
                </a:gridCol>
              </a:tblGrid>
              <a:tr h="620713">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铸铁</a:t>
                      </a:r>
                      <a:endParaRPr lang="zh-CN" altLang="en-US" sz="1600" dirty="0">
                        <a:cs typeface="Times New Roman" panose="02020603050405020304" pitchFamily="18" charset="0"/>
                      </a:endParaRPr>
                    </a:p>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名称</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石墨</a:t>
                      </a:r>
                      <a:endParaRPr lang="zh-CN" altLang="en-US" sz="1600" dirty="0">
                        <a:cs typeface="Times New Roman" panose="02020603050405020304" pitchFamily="18" charset="0"/>
                      </a:endParaRPr>
                    </a:p>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形态</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基体</a:t>
                      </a:r>
                      <a:endParaRPr lang="zh-CN" altLang="en-US" sz="1600" dirty="0">
                        <a:cs typeface="Times New Roman" panose="02020603050405020304" pitchFamily="18" charset="0"/>
                      </a:endParaRPr>
                    </a:p>
                    <a:p>
                      <a:pPr marL="0" lvl="0" indent="0" algn="ctr" eaLnBrk="1" hangingPunct="1">
                        <a:spcBef>
                          <a:spcPts val="5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组织</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编</a:t>
                      </a:r>
                      <a:r>
                        <a:rPr lang="zh-CN" altLang="en-US" sz="1600" b="1" dirty="0">
                          <a:solidFill>
                            <a:srgbClr val="0000FF"/>
                          </a:solidFill>
                          <a:cs typeface="Times New Roman" panose="02020603050405020304" pitchFamily="18" charset="0"/>
                        </a:rPr>
                        <a:t> </a:t>
                      </a:r>
                      <a:r>
                        <a:rPr lang="zh-CN" altLang="en-US" sz="1600" b="1" dirty="0">
                          <a:solidFill>
                            <a:srgbClr val="0000FF"/>
                          </a:solidFill>
                          <a:latin typeface="Times New Roman" panose="02020603050405020304" pitchFamily="18" charset="0"/>
                          <a:cs typeface="Times New Roman" panose="02020603050405020304" pitchFamily="18" charset="0"/>
                        </a:rPr>
                        <a:t>号</a:t>
                      </a:r>
                      <a:r>
                        <a:rPr lang="zh-CN" altLang="en-US" sz="1600" b="1" dirty="0">
                          <a:solidFill>
                            <a:srgbClr val="0000FF"/>
                          </a:solidFill>
                          <a:cs typeface="Times New Roman" panose="02020603050405020304" pitchFamily="18" charset="0"/>
                        </a:rPr>
                        <a:t> </a:t>
                      </a:r>
                      <a:r>
                        <a:rPr lang="zh-CN" altLang="en-US" sz="1600" b="1" dirty="0">
                          <a:solidFill>
                            <a:srgbClr val="0000FF"/>
                          </a:solidFill>
                          <a:latin typeface="Times New Roman" panose="02020603050405020304" pitchFamily="18" charset="0"/>
                          <a:cs typeface="Times New Roman" panose="02020603050405020304" pitchFamily="18" charset="0"/>
                        </a:rPr>
                        <a:t>方</a:t>
                      </a:r>
                      <a:r>
                        <a:rPr lang="zh-CN" altLang="en-US" sz="1600" b="1" dirty="0">
                          <a:solidFill>
                            <a:srgbClr val="0000FF"/>
                          </a:solidFill>
                          <a:cs typeface="Times New Roman" panose="02020603050405020304" pitchFamily="18" charset="0"/>
                        </a:rPr>
                        <a:t> </a:t>
                      </a:r>
                      <a:r>
                        <a:rPr lang="zh-CN" altLang="en-US" sz="1600" b="1" dirty="0">
                          <a:solidFill>
                            <a:srgbClr val="0000FF"/>
                          </a:solidFill>
                          <a:latin typeface="Times New Roman" panose="02020603050405020304" pitchFamily="18" charset="0"/>
                          <a:cs typeface="Times New Roman" panose="02020603050405020304" pitchFamily="18" charset="0"/>
                        </a:rPr>
                        <a:t>法</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0000FF"/>
                          </a:solidFill>
                          <a:latin typeface="Times New Roman" panose="02020603050405020304" pitchFamily="18" charset="0"/>
                          <a:cs typeface="Times New Roman" panose="02020603050405020304" pitchFamily="18" charset="0"/>
                        </a:rPr>
                        <a:t>牌号实例</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012">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灰铸铁</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片状</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HT + </a:t>
                      </a:r>
                      <a:r>
                        <a:rPr lang="zh-CN" altLang="en-US" sz="1600" b="1" dirty="0">
                          <a:solidFill>
                            <a:srgbClr val="FF0000"/>
                          </a:solidFill>
                          <a:latin typeface="Times New Roman" panose="02020603050405020304" pitchFamily="18" charset="0"/>
                          <a:cs typeface="Times New Roman" panose="02020603050405020304" pitchFamily="18" charset="0"/>
                        </a:rPr>
                        <a:t>一组数字</a:t>
                      </a:r>
                      <a:endParaRPr lang="zh-CN" altLang="en-US" sz="1600" dirty="0">
                        <a:cs typeface="Times New Roman" panose="02020603050405020304" pitchFamily="18" charset="0"/>
                      </a:endParaRPr>
                    </a:p>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数字表示最低抗拉强度值（</a:t>
                      </a:r>
                      <a:r>
                        <a:rPr lang="en-US" altLang="zh-CN" sz="1600" b="1" err="1">
                          <a:solidFill>
                            <a:srgbClr val="FF0000"/>
                          </a:solidFill>
                          <a:latin typeface="Times New Roman" panose="02020603050405020304" pitchFamily="18" charset="0"/>
                          <a:cs typeface="Times New Roman" panose="02020603050405020304" pitchFamily="18" charset="0"/>
                        </a:rPr>
                        <a:t>Mpa</a:t>
                      </a:r>
                      <a:r>
                        <a:rPr lang="zh-CN" altLang="en-US" sz="1600" b="1" dirty="0">
                          <a:solidFill>
                            <a:srgbClr val="FF0000"/>
                          </a:solidFill>
                          <a:latin typeface="Times New Roman" panose="02020603050405020304" pitchFamily="18" charset="0"/>
                          <a:cs typeface="Times New Roman" panose="02020603050405020304" pitchFamily="18" charset="0"/>
                        </a:rPr>
                        <a:t>）</a:t>
                      </a:r>
                      <a:endParaRPr lang="zh-CN" altLang="en-US" sz="1600" dirty="0">
                        <a:cs typeface="Times New Roman" panose="02020603050405020304" pitchFamily="18" charset="0"/>
                      </a:endParaRPr>
                    </a:p>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“HT”</a:t>
                      </a:r>
                      <a:r>
                        <a:rPr lang="zh-CN" altLang="en-US" sz="1600" b="1" dirty="0">
                          <a:solidFill>
                            <a:srgbClr val="FF0000"/>
                          </a:solidFill>
                          <a:latin typeface="Times New Roman" panose="02020603050405020304" pitchFamily="18" charset="0"/>
                          <a:cs typeface="Times New Roman" panose="02020603050405020304" pitchFamily="18" charset="0"/>
                        </a:rPr>
                        <a:t>表示灰铸铁代号</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HT100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4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HT150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48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HT200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5300">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可锻铸铁</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团</a:t>
                      </a:r>
                      <a:endParaRPr lang="zh-CN" altLang="en-US" sz="1600" dirty="0">
                        <a:cs typeface="Times New Roman" panose="02020603050405020304" pitchFamily="18" charset="0"/>
                      </a:endParaRPr>
                    </a:p>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絮</a:t>
                      </a:r>
                      <a:endParaRPr lang="zh-CN" altLang="en-US" sz="1600" dirty="0">
                        <a:cs typeface="Times New Roman" panose="02020603050405020304" pitchFamily="18" charset="0"/>
                      </a:endParaRPr>
                    </a:p>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状</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dirty="0">
                          <a:solidFill>
                            <a:srgbClr val="FF0000"/>
                          </a:solidFill>
                          <a:latin typeface="Times New Roman" panose="02020603050405020304" pitchFamily="18" charset="0"/>
                          <a:cs typeface="Times New Roman" panose="02020603050405020304" pitchFamily="18" charset="0"/>
                        </a:rPr>
                        <a:t>KTH +</a:t>
                      </a:r>
                      <a:r>
                        <a:rPr lang="zh-CN" altLang="en-US" sz="1600" b="1" dirty="0">
                          <a:solidFill>
                            <a:srgbClr val="FF0000"/>
                          </a:solidFill>
                          <a:latin typeface="Times New Roman" panose="02020603050405020304" pitchFamily="18" charset="0"/>
                          <a:cs typeface="Times New Roman" panose="02020603050405020304" pitchFamily="18" charset="0"/>
                        </a:rPr>
                        <a:t>两组数字</a:t>
                      </a:r>
                      <a:endParaRPr lang="zh-CN" altLang="en-US" sz="1600" dirty="0">
                        <a:cs typeface="Times New Roman" panose="02020603050405020304" pitchFamily="18" charset="0"/>
                      </a:endParaRPr>
                    </a:p>
                    <a:p>
                      <a:pPr marL="0" lvl="0" indent="0" algn="ctr" eaLnBrk="1" hangingPunct="1">
                        <a:spcBef>
                          <a:spcPts val="675"/>
                        </a:spcBef>
                        <a:buFontTx/>
                        <a:buNone/>
                      </a:pPr>
                      <a:r>
                        <a:rPr lang="en-US" altLang="zh-CN" sz="1600" b="1" dirty="0">
                          <a:solidFill>
                            <a:srgbClr val="FF0000"/>
                          </a:solidFill>
                          <a:latin typeface="Times New Roman" panose="02020603050405020304" pitchFamily="18" charset="0"/>
                          <a:cs typeface="Times New Roman" panose="02020603050405020304" pitchFamily="18" charset="0"/>
                        </a:rPr>
                        <a:t>KTB +</a:t>
                      </a:r>
                      <a:r>
                        <a:rPr lang="zh-CN" altLang="en-US" sz="1600" b="1" dirty="0">
                          <a:solidFill>
                            <a:srgbClr val="FF0000"/>
                          </a:solidFill>
                          <a:latin typeface="Times New Roman" panose="02020603050405020304" pitchFamily="18" charset="0"/>
                          <a:cs typeface="Times New Roman" panose="02020603050405020304" pitchFamily="18" charset="0"/>
                        </a:rPr>
                        <a:t>两组数字</a:t>
                      </a:r>
                      <a:endParaRPr lang="zh-CN" altLang="en-US" sz="1600" dirty="0">
                        <a:cs typeface="Times New Roman" panose="02020603050405020304" pitchFamily="18" charset="0"/>
                      </a:endParaRPr>
                    </a:p>
                    <a:p>
                      <a:pPr marL="0" lvl="0" indent="0" algn="ctr" eaLnBrk="1" hangingPunct="1">
                        <a:spcBef>
                          <a:spcPts val="675"/>
                        </a:spcBef>
                        <a:buFontTx/>
                        <a:buNone/>
                      </a:pPr>
                      <a:r>
                        <a:rPr lang="en-US" altLang="zh-CN" sz="1600" b="1" dirty="0">
                          <a:solidFill>
                            <a:srgbClr val="FF0000"/>
                          </a:solidFill>
                          <a:latin typeface="Times New Roman" panose="02020603050405020304" pitchFamily="18" charset="0"/>
                          <a:cs typeface="Times New Roman" panose="02020603050405020304" pitchFamily="18" charset="0"/>
                        </a:rPr>
                        <a:t>KTZ +</a:t>
                      </a:r>
                      <a:r>
                        <a:rPr lang="zh-CN" altLang="en-US" sz="1600" b="1" dirty="0">
                          <a:solidFill>
                            <a:srgbClr val="FF0000"/>
                          </a:solidFill>
                          <a:latin typeface="Times New Roman" panose="02020603050405020304" pitchFamily="18" charset="0"/>
                          <a:cs typeface="Times New Roman" panose="02020603050405020304" pitchFamily="18" charset="0"/>
                        </a:rPr>
                        <a:t>两组数字</a:t>
                      </a:r>
                      <a:endParaRPr lang="en-US" altLang="zh-CN" sz="1600" b="1" dirty="0">
                        <a:solidFill>
                          <a:srgbClr val="FF0000"/>
                        </a:solidFill>
                        <a:latin typeface="Times New Roman" panose="02020603050405020304" pitchFamily="18" charset="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第一组数字表示最低抗拉强度值，</a:t>
                      </a:r>
                      <a:r>
                        <a:rPr lang="en-US" altLang="zh-CN" sz="1600" b="1" dirty="0">
                          <a:latin typeface="Times New Roman" panose="02020603050405020304" pitchFamily="18" charset="0"/>
                          <a:cs typeface="Times New Roman" panose="02020603050405020304" pitchFamily="18" charset="0"/>
                        </a:rPr>
                        <a:t>MPa</a:t>
                      </a:r>
                      <a:r>
                        <a:rPr lang="zh-CN" altLang="en-US" sz="1600" b="1" dirty="0">
                          <a:latin typeface="Times New Roman" panose="02020603050405020304" pitchFamily="18" charset="0"/>
                          <a:cs typeface="Times New Roman" panose="02020603050405020304" pitchFamily="18" charset="0"/>
                        </a:rPr>
                        <a:t>；</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　第二组数字表示最低伸长率值，</a:t>
                      </a:r>
                      <a:r>
                        <a:rPr lang="en-US" altLang="zh-CN" sz="1600" b="1" dirty="0">
                          <a:latin typeface="Times New Roman" panose="02020603050405020304" pitchFamily="18" charset="0"/>
                          <a:cs typeface="Times New Roman" panose="02020603050405020304" pitchFamily="18" charset="0"/>
                        </a:rPr>
                        <a:t>%</a:t>
                      </a:r>
                      <a:r>
                        <a:rPr lang="zh-CN" altLang="en-US" sz="1600" b="1" dirty="0">
                          <a:latin typeface="Times New Roman" panose="02020603050405020304" pitchFamily="18" charset="0"/>
                          <a:cs typeface="Times New Roman" panose="02020603050405020304" pitchFamily="18" charset="0"/>
                        </a:rPr>
                        <a:t>。</a:t>
                      </a:r>
                      <a:endParaRPr lang="zh-CN" altLang="en-US"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KTH300-06</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00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zh-CN" altLang="en-US" sz="1600" b="1" dirty="0">
                          <a:solidFill>
                            <a:srgbClr val="FF0000"/>
                          </a:solidFill>
                          <a:latin typeface="Times New Roman" panose="02020603050405020304" pitchFamily="18" charset="0"/>
                          <a:cs typeface="Times New Roman" panose="02020603050405020304" pitchFamily="18" charset="0"/>
                        </a:rPr>
                        <a:t>表</a:t>
                      </a:r>
                      <a:r>
                        <a:rPr lang="en-US" altLang="zh-CN" sz="1600" b="1">
                          <a:solidFill>
                            <a:srgbClr val="FF0000"/>
                          </a:solidFill>
                          <a:latin typeface="Times New Roman" panose="02020603050405020304" pitchFamily="18" charset="0"/>
                          <a:cs typeface="Times New Roman" panose="02020603050405020304" pitchFamily="18" charset="0"/>
                        </a:rPr>
                        <a:t>F</a:t>
                      </a:r>
                      <a:r>
                        <a:rPr lang="zh-CN" altLang="en-US" sz="1600" b="1" dirty="0">
                          <a:solidFill>
                            <a:srgbClr val="FF0000"/>
                          </a:solidFill>
                          <a:latin typeface="Times New Roman" panose="02020603050405020304" pitchFamily="18" charset="0"/>
                          <a:cs typeface="Times New Roman" panose="02020603050405020304" pitchFamily="18" charset="0"/>
                        </a:rPr>
                        <a:t>心</a:t>
                      </a:r>
                      <a:r>
                        <a:rPr lang="en-US" altLang="zh-CN" sz="1600" b="1">
                          <a:solidFill>
                            <a:srgbClr val="FF0000"/>
                          </a:solidFill>
                          <a:latin typeface="Times New Roman" panose="02020603050405020304" pitchFamily="18" charset="0"/>
                          <a:cs typeface="Times New Roman" panose="02020603050405020304" pitchFamily="18" charset="0"/>
                        </a:rPr>
                        <a:t>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KTB350-04</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53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KTZ450-06</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7500">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球墨铸铁</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球状</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dirty="0">
                          <a:latin typeface="Times New Roman" panose="02020603050405020304" pitchFamily="18" charset="0"/>
                          <a:cs typeface="Times New Roman" panose="02020603050405020304" pitchFamily="18" charset="0"/>
                        </a:rPr>
                        <a:t>QT + </a:t>
                      </a:r>
                      <a:r>
                        <a:rPr lang="zh-CN" altLang="en-US" sz="1600" b="1" dirty="0">
                          <a:latin typeface="Times New Roman" panose="02020603050405020304" pitchFamily="18" charset="0"/>
                          <a:cs typeface="Times New Roman" panose="02020603050405020304" pitchFamily="18" charset="0"/>
                        </a:rPr>
                        <a:t>两组数字</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　第一组数字表示最低抗拉强度值，</a:t>
                      </a:r>
                      <a:r>
                        <a:rPr lang="en-US" altLang="zh-CN" sz="1600" b="1" dirty="0">
                          <a:latin typeface="Times New Roman" panose="02020603050405020304" pitchFamily="18" charset="0"/>
                          <a:cs typeface="Times New Roman" panose="02020603050405020304" pitchFamily="18" charset="0"/>
                        </a:rPr>
                        <a:t>MPa</a:t>
                      </a:r>
                      <a:r>
                        <a:rPr lang="zh-CN" altLang="en-US" sz="1600" b="1" dirty="0">
                          <a:latin typeface="Times New Roman" panose="02020603050405020304" pitchFamily="18" charset="0"/>
                          <a:cs typeface="Times New Roman" panose="02020603050405020304" pitchFamily="18" charset="0"/>
                        </a:rPr>
                        <a:t>；</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　第二组数字表示最低伸长率值，</a:t>
                      </a:r>
                      <a:r>
                        <a:rPr lang="en-US" altLang="zh-CN" sz="1600" b="1" dirty="0">
                          <a:latin typeface="Times New Roman" panose="02020603050405020304" pitchFamily="18" charset="0"/>
                          <a:cs typeface="Times New Roman" panose="02020603050405020304" pitchFamily="18" charset="0"/>
                        </a:rPr>
                        <a:t>%</a:t>
                      </a:r>
                      <a:r>
                        <a:rPr lang="zh-CN" altLang="en-US" sz="1600" b="1" dirty="0">
                          <a:latin typeface="Times New Roman" panose="02020603050405020304" pitchFamily="18" charset="0"/>
                          <a:cs typeface="Times New Roman" panose="02020603050405020304" pitchFamily="18" charset="0"/>
                        </a:rPr>
                        <a:t>。</a:t>
                      </a:r>
                      <a:endParaRPr lang="zh-CN" altLang="en-US" sz="1600" dirty="0">
                        <a:cs typeface="Times New Roman" panose="02020603050405020304" pitchFamily="18" charset="0"/>
                      </a:endParaRPr>
                    </a:p>
                    <a:p>
                      <a:pPr marL="0" lvl="0" indent="0" algn="ctr" eaLnBrk="1" hangingPunct="1">
                        <a:spcBef>
                          <a:spcPct val="0"/>
                        </a:spcBef>
                        <a:buFontTx/>
                        <a:buNone/>
                      </a:pPr>
                      <a:r>
                        <a:rPr lang="en-US" altLang="zh-CN" sz="1600" b="1" dirty="0">
                          <a:latin typeface="Times New Roman" panose="02020603050405020304" pitchFamily="18" charset="0"/>
                          <a:cs typeface="Times New Roman" panose="02020603050405020304" pitchFamily="18" charset="0"/>
                        </a:rPr>
                        <a:t>“QT”</a:t>
                      </a:r>
                      <a:r>
                        <a:rPr lang="zh-CN" altLang="en-US" sz="1600" b="1" dirty="0">
                          <a:latin typeface="Times New Roman" panose="02020603050405020304" pitchFamily="18" charset="0"/>
                          <a:cs typeface="Times New Roman" panose="02020603050405020304" pitchFamily="18" charset="0"/>
                        </a:rPr>
                        <a:t>表示</a:t>
                      </a:r>
                      <a:r>
                        <a:rPr lang="zh-CN" altLang="en-US" sz="1600" b="1" dirty="0">
                          <a:cs typeface="Times New Roman" panose="02020603050405020304" pitchFamily="18" charset="0"/>
                        </a:rPr>
                        <a:t> </a:t>
                      </a:r>
                      <a:r>
                        <a:rPr lang="zh-CN" altLang="en-US" sz="1600" b="1" dirty="0">
                          <a:latin typeface="Times New Roman" panose="02020603050405020304" pitchFamily="18" charset="0"/>
                          <a:cs typeface="Times New Roman" panose="02020603050405020304" pitchFamily="18" charset="0"/>
                        </a:rPr>
                        <a:t>球墨铸铁代号</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latin typeface="Times New Roman" panose="02020603050405020304" pitchFamily="18" charset="0"/>
                          <a:cs typeface="Times New Roman" panose="02020603050405020304" pitchFamily="18" charset="0"/>
                        </a:rPr>
                        <a:t>QT400-15</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75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latin typeface="Times New Roman" panose="02020603050405020304" pitchFamily="18" charset="0"/>
                          <a:cs typeface="Times New Roman" panose="02020603050405020304" pitchFamily="18" charset="0"/>
                        </a:rPr>
                        <a:t>QT600-3</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8286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latin typeface="Times New Roman" panose="02020603050405020304" pitchFamily="18" charset="0"/>
                          <a:cs typeface="Times New Roman" panose="02020603050405020304" pitchFamily="18" charset="0"/>
                        </a:rPr>
                        <a:t>QT700-2</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7500">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蠕墨铸铁</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蠕</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虫</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状</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err="1">
                          <a:latin typeface="Times New Roman" panose="02020603050405020304" pitchFamily="18" charset="0"/>
                          <a:cs typeface="Times New Roman" panose="02020603050405020304" pitchFamily="18" charset="0"/>
                        </a:rPr>
                        <a:t>RuT</a:t>
                      </a:r>
                      <a:r>
                        <a:rPr lang="en-US" altLang="zh-CN" sz="1600" b="1">
                          <a:latin typeface="Times New Roman" panose="02020603050405020304" pitchFamily="18" charset="0"/>
                          <a:cs typeface="Times New Roman" panose="02020603050405020304" pitchFamily="18" charset="0"/>
                        </a:rPr>
                        <a:t> + </a:t>
                      </a:r>
                      <a:r>
                        <a:rPr lang="zh-CN" altLang="en-US" sz="1600" b="1" dirty="0">
                          <a:latin typeface="Times New Roman" panose="02020603050405020304" pitchFamily="18" charset="0"/>
                          <a:cs typeface="Times New Roman" panose="02020603050405020304" pitchFamily="18" charset="0"/>
                        </a:rPr>
                        <a:t>一组数字</a:t>
                      </a:r>
                      <a:endParaRPr lang="zh-CN" altLang="en-US" sz="1600" dirty="0">
                        <a:cs typeface="Times New Roman" panose="02020603050405020304" pitchFamily="18" charset="0"/>
                      </a:endParaRPr>
                    </a:p>
                    <a:p>
                      <a:pPr marL="0" lvl="0" indent="0" algn="ctr" eaLnBrk="1" hangingPunct="1">
                        <a:spcBef>
                          <a:spcPct val="0"/>
                        </a:spcBef>
                        <a:buFontTx/>
                        <a:buNone/>
                      </a:pPr>
                      <a:r>
                        <a:rPr lang="zh-CN" altLang="en-US" sz="1600" b="1" dirty="0">
                          <a:latin typeface="Times New Roman" panose="02020603050405020304" pitchFamily="18" charset="0"/>
                          <a:cs typeface="Times New Roman" panose="02020603050405020304" pitchFamily="18" charset="0"/>
                        </a:rPr>
                        <a:t>数字表示最低抗拉强度值</a:t>
                      </a:r>
                      <a:r>
                        <a:rPr lang="en-US" altLang="zh-CN" sz="1600" b="1">
                          <a:latin typeface="Times New Roman" panose="02020603050405020304" pitchFamily="18" charset="0"/>
                          <a:cs typeface="Times New Roman" panose="02020603050405020304" pitchFamily="18" charset="0"/>
                        </a:rPr>
                        <a:t>,  </a:t>
                      </a:r>
                      <a:r>
                        <a:rPr lang="en-US" altLang="zh-CN" sz="1600" b="1" err="1">
                          <a:latin typeface="Times New Roman" panose="02020603050405020304" pitchFamily="18" charset="0"/>
                          <a:cs typeface="Times New Roman" panose="02020603050405020304" pitchFamily="18" charset="0"/>
                        </a:rPr>
                        <a:t>MPa</a:t>
                      </a:r>
                      <a:r>
                        <a:rPr lang="zh-CN" altLang="en-US" sz="1600" b="1" dirty="0">
                          <a:latin typeface="Times New Roman" panose="02020603050405020304" pitchFamily="18" charset="0"/>
                          <a:cs typeface="Times New Roman" panose="02020603050405020304" pitchFamily="18" charset="0"/>
                        </a:rPr>
                        <a:t>。</a:t>
                      </a:r>
                      <a:endParaRPr lang="zh-CN" altLang="en-US" sz="1600" dirty="0">
                        <a:cs typeface="Times New Roman" panose="02020603050405020304" pitchFamily="18" charset="0"/>
                      </a:endParaRPr>
                    </a:p>
                    <a:p>
                      <a:pPr marL="0" lvl="0" indent="0" algn="ctr" eaLnBrk="1" hangingPunct="1">
                        <a:spcBef>
                          <a:spcPct val="0"/>
                        </a:spcBef>
                        <a:buFontTx/>
                        <a:buNone/>
                      </a:pPr>
                      <a:r>
                        <a:rPr lang="en-US" altLang="zh-CN" sz="1600" b="1">
                          <a:latin typeface="Times New Roman" panose="02020603050405020304" pitchFamily="18" charset="0"/>
                          <a:cs typeface="Times New Roman" panose="02020603050405020304" pitchFamily="18" charset="0"/>
                        </a:rPr>
                        <a:t>“</a:t>
                      </a:r>
                      <a:r>
                        <a:rPr lang="en-US" altLang="zh-CN" sz="1600" b="1" err="1">
                          <a:latin typeface="Times New Roman" panose="02020603050405020304" pitchFamily="18" charset="0"/>
                          <a:cs typeface="Times New Roman" panose="02020603050405020304" pitchFamily="18" charset="0"/>
                        </a:rPr>
                        <a:t>RuT</a:t>
                      </a:r>
                      <a:r>
                        <a:rPr lang="en-US" altLang="zh-CN" sz="1600" b="1">
                          <a:latin typeface="Times New Roman" panose="02020603050405020304" pitchFamily="18" charset="0"/>
                          <a:cs typeface="Times New Roman" panose="02020603050405020304" pitchFamily="18" charset="0"/>
                        </a:rPr>
                        <a:t>”</a:t>
                      </a:r>
                      <a:r>
                        <a:rPr lang="zh-CN" altLang="en-US" sz="1600" b="1" dirty="0">
                          <a:latin typeface="Times New Roman" panose="02020603050405020304" pitchFamily="18" charset="0"/>
                          <a:cs typeface="Times New Roman" panose="02020603050405020304" pitchFamily="18" charset="0"/>
                        </a:rPr>
                        <a:t>表示蠕墨铸铁代号</a:t>
                      </a:r>
                      <a:endParaRPr lang="zh-CN" altLang="en-US" sz="1600" dirty="0">
                        <a:ea typeface="Times New Roman" panose="02020603050405020304" pitchFamily="18" charset="0"/>
                      </a:endParaRPr>
                    </a:p>
                  </a:txBody>
                  <a:tcPr marL="0" marR="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latin typeface="Times New Roman" panose="02020603050405020304" pitchFamily="18" charset="0"/>
                          <a:cs typeface="Times New Roman" panose="02020603050405020304" pitchFamily="18" charset="0"/>
                        </a:rPr>
                        <a:t>RuT260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7500">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F+P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latin typeface="Times New Roman" panose="02020603050405020304" pitchFamily="18" charset="0"/>
                          <a:cs typeface="Times New Roman" panose="02020603050405020304" pitchFamily="18" charset="0"/>
                        </a:rPr>
                        <a:t>RuT300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397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a:solidFill>
                            <a:srgbClr val="FF0000"/>
                          </a:solidFill>
                          <a:latin typeface="Times New Roman" panose="02020603050405020304" pitchFamily="18" charset="0"/>
                          <a:cs typeface="Times New Roman" panose="02020603050405020304" pitchFamily="18" charset="0"/>
                        </a:rPr>
                        <a:t>P</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ts val="675"/>
                        </a:spcBef>
                        <a:buFontTx/>
                        <a:buNone/>
                      </a:pPr>
                      <a:r>
                        <a:rPr lang="en-US" altLang="zh-CN" sz="1600" b="1" dirty="0">
                          <a:latin typeface="Times New Roman" panose="02020603050405020304" pitchFamily="18" charset="0"/>
                          <a:cs typeface="Times New Roman" panose="02020603050405020304" pitchFamily="18" charset="0"/>
                        </a:rPr>
                        <a:t>RuT420</a:t>
                      </a:r>
                      <a:endParaRPr lang="zh-CN" altLang="zh-CN" sz="1600" dirty="0">
                        <a:ea typeface="Times New Roman" panose="02020603050405020304" pitchFamily="18" charset="0"/>
                      </a:endParaRPr>
                    </a:p>
                  </a:txBody>
                  <a:tcPr marL="57549" marR="57549" marT="28775" marB="28775"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3" name="矩形 2"/>
          <p:cNvSpPr/>
          <p:nvPr/>
        </p:nvSpPr>
        <p:spPr>
          <a:xfrm>
            <a:off x="2714625" y="142875"/>
            <a:ext cx="3954463" cy="461963"/>
          </a:xfrm>
          <a:prstGeom prst="rect">
            <a:avLst/>
          </a:prstGeom>
          <a:solidFill>
            <a:srgbClr val="FFFF00"/>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华文中宋" panose="02010600040101010101" pitchFamily="2" charset="-122"/>
                <a:cs typeface="+mj-cs"/>
              </a:rPr>
              <a:t>铸铁的分类与牌号表示方法</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j-cs"/>
              </a:rPr>
              <a:t> </a:t>
            </a:r>
            <a:endPar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214313" y="228600"/>
            <a:ext cx="5000625" cy="762000"/>
          </a:xfrm>
          <a:ln/>
        </p:spPr>
        <p:txBody>
          <a:bodyPr vert="horz" wrap="square" lIns="91440" tIns="45720" rIns="91440" bIns="45720" anchor="ctr" anchorCtr="0"/>
          <a:lstStyle/>
          <a:p>
            <a:pPr algn="l" eaLnBrk="1" hangingPunct="1"/>
            <a:r>
              <a:rPr lang="en-US" altLang="zh-CN" sz="3200" b="1">
                <a:solidFill>
                  <a:srgbClr val="0000FF"/>
                </a:solidFill>
                <a:ea typeface="华文中宋" panose="02010600040101010101" pitchFamily="2" charset="-122"/>
              </a:rPr>
              <a:t>4.2.3 </a:t>
            </a:r>
            <a:r>
              <a:rPr lang="zh-CN" altLang="en-US" sz="3200" b="1" dirty="0">
                <a:solidFill>
                  <a:srgbClr val="0000FF"/>
                </a:solidFill>
                <a:latin typeface="Times New Roman" panose="02020603050405020304" pitchFamily="18" charset="0"/>
                <a:ea typeface="华文中宋" panose="02010600040101010101" pitchFamily="2" charset="-122"/>
              </a:rPr>
              <a:t>铸铁的特点及分类</a:t>
            </a:r>
          </a:p>
        </p:txBody>
      </p:sp>
      <p:sp>
        <p:nvSpPr>
          <p:cNvPr id="19459" name="Rectangle 3"/>
          <p:cNvSpPr>
            <a:spLocks noGrp="1"/>
          </p:cNvSpPr>
          <p:nvPr>
            <p:ph idx="1"/>
          </p:nvPr>
        </p:nvSpPr>
        <p:spPr>
          <a:xfrm>
            <a:off x="228600" y="1066800"/>
            <a:ext cx="8763000" cy="2862263"/>
          </a:xfrm>
          <a:ln/>
        </p:spPr>
        <p:txBody>
          <a:bodyPr vert="horz" wrap="square" lIns="91440" tIns="45720" rIns="91440" bIns="45720" anchor="t" anchorCtr="0"/>
          <a:lstStyle/>
          <a:p>
            <a:pPr eaLnBrk="1" hangingPunct="1">
              <a:lnSpc>
                <a:spcPct val="140000"/>
              </a:lnSpc>
              <a:buNone/>
            </a:pPr>
            <a:r>
              <a:rPr lang="zh-CN" altLang="en-US" sz="2800" b="1" dirty="0">
                <a:ea typeface="华文中宋" panose="02010600040101010101" pitchFamily="2" charset="-122"/>
              </a:rPr>
              <a:t>工业上使用的铸铁主要是灰口铸铁。</a:t>
            </a:r>
          </a:p>
          <a:p>
            <a:pPr eaLnBrk="1" hangingPunct="1">
              <a:lnSpc>
                <a:spcPct val="140000"/>
              </a:lnSpc>
              <a:buNone/>
            </a:pPr>
            <a:r>
              <a:rPr lang="en-US" altLang="zh-CN" sz="2800" b="1">
                <a:solidFill>
                  <a:srgbClr val="0000FF"/>
                </a:solidFill>
                <a:ea typeface="华文中宋" panose="02010600040101010101" pitchFamily="2" charset="-122"/>
              </a:rPr>
              <a:t>1</a:t>
            </a:r>
            <a:r>
              <a:rPr lang="zh-CN" altLang="en-US" sz="2800" b="1" dirty="0">
                <a:solidFill>
                  <a:srgbClr val="0000FF"/>
                </a:solidFill>
                <a:ea typeface="华文中宋" panose="02010600040101010101" pitchFamily="2" charset="-122"/>
              </a:rPr>
              <a:t>、铸铁的组织特点</a:t>
            </a:r>
          </a:p>
          <a:p>
            <a:pPr algn="ctr" eaLnBrk="1" hangingPunct="1">
              <a:lnSpc>
                <a:spcPct val="140000"/>
              </a:lnSpc>
              <a:buNone/>
            </a:pPr>
            <a:r>
              <a:rPr lang="zh-CN" altLang="en-US" sz="2800" b="1" dirty="0">
                <a:solidFill>
                  <a:srgbClr val="0000B2"/>
                </a:solidFill>
                <a:ea typeface="华文中宋" panose="02010600040101010101" pitchFamily="2" charset="-122"/>
              </a:rPr>
              <a:t>钢的基体</a:t>
            </a:r>
            <a:r>
              <a:rPr lang="en-US" altLang="zh-CN" sz="2800" b="1">
                <a:solidFill>
                  <a:srgbClr val="0000B2"/>
                </a:solidFill>
                <a:ea typeface="华文中宋" panose="02010600040101010101" pitchFamily="2" charset="-122"/>
              </a:rPr>
              <a:t>+G</a:t>
            </a:r>
            <a:r>
              <a:rPr lang="zh-CN" altLang="en-US" sz="2800" b="1" dirty="0">
                <a:solidFill>
                  <a:srgbClr val="0000B2"/>
                </a:solidFill>
                <a:ea typeface="华文中宋" panose="02010600040101010101" pitchFamily="2" charset="-122"/>
              </a:rPr>
              <a:t>（石墨）</a:t>
            </a:r>
          </a:p>
          <a:p>
            <a:pPr eaLnBrk="1" hangingPunct="1">
              <a:lnSpc>
                <a:spcPct val="140000"/>
              </a:lnSpc>
              <a:buNone/>
            </a:pPr>
            <a:r>
              <a:rPr lang="zh-CN" altLang="en-US" sz="2800" b="1" dirty="0">
                <a:ea typeface="华文中宋" panose="02010600040101010101" pitchFamily="2" charset="-122"/>
              </a:rPr>
              <a:t>基体组织有</a:t>
            </a:r>
            <a:r>
              <a:rPr lang="zh-CN" altLang="en-US" sz="2800" b="1" dirty="0">
                <a:solidFill>
                  <a:srgbClr val="FF0000"/>
                </a:solidFill>
                <a:ea typeface="华文中宋" panose="02010600040101010101" pitchFamily="2" charset="-122"/>
              </a:rPr>
              <a:t>铁素体、珠光体和铁素体加珠光体</a:t>
            </a:r>
            <a:r>
              <a:rPr lang="zh-CN" altLang="en-US" sz="2800" b="1" dirty="0">
                <a:ea typeface="华文中宋" panose="02010600040101010101" pitchFamily="2" charset="-122"/>
              </a:rPr>
              <a:t>三种</a:t>
            </a:r>
            <a:r>
              <a:rPr lang="zh-CN" altLang="en-US" sz="2800" b="1" dirty="0">
                <a:solidFill>
                  <a:srgbClr val="CCFF33"/>
                </a:solidFill>
                <a:ea typeface="华文中宋" panose="02010600040101010101" pitchFamily="2" charset="-122"/>
              </a:rPr>
              <a:t>。</a:t>
            </a:r>
          </a:p>
        </p:txBody>
      </p:sp>
      <p:grpSp>
        <p:nvGrpSpPr>
          <p:cNvPr id="19460" name="Group 12"/>
          <p:cNvGrpSpPr/>
          <p:nvPr/>
        </p:nvGrpSpPr>
        <p:grpSpPr>
          <a:xfrm>
            <a:off x="785813" y="4000500"/>
            <a:ext cx="7489825" cy="2549525"/>
            <a:chOff x="624" y="2592"/>
            <a:chExt cx="4718" cy="1606"/>
          </a:xfrm>
        </p:grpSpPr>
        <p:pic>
          <p:nvPicPr>
            <p:cNvPr id="19461" name="Picture 4" descr="image033"/>
            <p:cNvPicPr>
              <a:picLocks noChangeAspect="1"/>
            </p:cNvPicPr>
            <p:nvPr/>
          </p:nvPicPr>
          <p:blipFill>
            <a:blip r:embed="rId2"/>
            <a:stretch>
              <a:fillRect/>
            </a:stretch>
          </p:blipFill>
          <p:spPr>
            <a:xfrm>
              <a:off x="624" y="2592"/>
              <a:ext cx="1308" cy="1360"/>
            </a:xfrm>
            <a:prstGeom prst="rect">
              <a:avLst/>
            </a:prstGeom>
            <a:noFill/>
            <a:ln w="28575" cap="flat" cmpd="sng">
              <a:solidFill>
                <a:srgbClr val="FFCC00"/>
              </a:solidFill>
              <a:prstDash val="solid"/>
              <a:miter/>
              <a:headEnd type="none" w="med" len="med"/>
              <a:tailEnd type="none" w="med" len="med"/>
            </a:ln>
          </p:spPr>
        </p:pic>
        <p:pic>
          <p:nvPicPr>
            <p:cNvPr id="19462" name="Picture 5" descr="image036"/>
            <p:cNvPicPr>
              <a:picLocks noChangeAspect="1"/>
            </p:cNvPicPr>
            <p:nvPr/>
          </p:nvPicPr>
          <p:blipFill>
            <a:blip r:embed="rId3"/>
            <a:stretch>
              <a:fillRect/>
            </a:stretch>
          </p:blipFill>
          <p:spPr>
            <a:xfrm>
              <a:off x="2256" y="2592"/>
              <a:ext cx="1403" cy="1360"/>
            </a:xfrm>
            <a:prstGeom prst="rect">
              <a:avLst/>
            </a:prstGeom>
            <a:noFill/>
            <a:ln w="28575" cap="flat" cmpd="sng">
              <a:solidFill>
                <a:srgbClr val="FFCC00"/>
              </a:solidFill>
              <a:prstDash val="solid"/>
              <a:miter/>
              <a:headEnd type="none" w="med" len="med"/>
              <a:tailEnd type="none" w="med" len="med"/>
            </a:ln>
          </p:spPr>
        </p:pic>
        <p:pic>
          <p:nvPicPr>
            <p:cNvPr id="19463" name="Picture 6" descr="F+P+G"/>
            <p:cNvPicPr>
              <a:picLocks noChangeAspect="1"/>
            </p:cNvPicPr>
            <p:nvPr/>
          </p:nvPicPr>
          <p:blipFill>
            <a:blip r:embed="rId4"/>
            <a:stretch>
              <a:fillRect/>
            </a:stretch>
          </p:blipFill>
          <p:spPr>
            <a:xfrm>
              <a:off x="4032" y="2592"/>
              <a:ext cx="1310" cy="1358"/>
            </a:xfrm>
            <a:prstGeom prst="rect">
              <a:avLst/>
            </a:prstGeom>
            <a:noFill/>
            <a:ln w="28575" cap="flat" cmpd="sng">
              <a:solidFill>
                <a:srgbClr val="FFCC00"/>
              </a:solidFill>
              <a:prstDash val="solid"/>
              <a:miter/>
              <a:headEnd type="none" w="med" len="med"/>
              <a:tailEnd type="none" w="med" len="med"/>
            </a:ln>
          </p:spPr>
        </p:pic>
        <p:sp>
          <p:nvSpPr>
            <p:cNvPr id="19464" name="Text Box 9"/>
            <p:cNvSpPr txBox="1"/>
            <p:nvPr/>
          </p:nvSpPr>
          <p:spPr>
            <a:xfrm>
              <a:off x="1104" y="3948"/>
              <a:ext cx="432" cy="250"/>
            </a:xfrm>
            <a:prstGeom prst="rect">
              <a:avLst/>
            </a:prstGeom>
            <a:noFill/>
            <a:ln w="9525">
              <a:noFill/>
            </a:ln>
          </p:spPr>
          <p:txBody>
            <a:bodyPr>
              <a:spAutoFit/>
            </a:bodyPr>
            <a:lstStyle/>
            <a:p>
              <a:pPr algn="ctr">
                <a:spcBef>
                  <a:spcPct val="50000"/>
                </a:spcBef>
              </a:pPr>
              <a:r>
                <a:rPr lang="en-US" altLang="zh-CN" sz="2000" b="1">
                  <a:solidFill>
                    <a:srgbClr val="FF0000"/>
                  </a:solidFill>
                  <a:latin typeface="Times New Roman" panose="02020603050405020304" pitchFamily="18" charset="0"/>
                </a:rPr>
                <a:t>F+G</a:t>
              </a:r>
            </a:p>
          </p:txBody>
        </p:sp>
        <p:sp>
          <p:nvSpPr>
            <p:cNvPr id="19465" name="Text Box 10"/>
            <p:cNvSpPr txBox="1"/>
            <p:nvPr/>
          </p:nvSpPr>
          <p:spPr>
            <a:xfrm>
              <a:off x="4416" y="3936"/>
              <a:ext cx="672" cy="250"/>
            </a:xfrm>
            <a:prstGeom prst="rect">
              <a:avLst/>
            </a:prstGeom>
            <a:noFill/>
            <a:ln w="9525">
              <a:noFill/>
            </a:ln>
          </p:spPr>
          <p:txBody>
            <a:bodyPr>
              <a:spAutoFit/>
            </a:bodyPr>
            <a:lstStyle/>
            <a:p>
              <a:pPr algn="ctr">
                <a:spcBef>
                  <a:spcPct val="50000"/>
                </a:spcBef>
              </a:pPr>
              <a:r>
                <a:rPr lang="en-US" altLang="zh-CN" sz="2000" b="1">
                  <a:solidFill>
                    <a:srgbClr val="FF0000"/>
                  </a:solidFill>
                  <a:latin typeface="Times New Roman" panose="02020603050405020304" pitchFamily="18" charset="0"/>
                </a:rPr>
                <a:t>F+P+G</a:t>
              </a:r>
            </a:p>
          </p:txBody>
        </p:sp>
        <p:sp>
          <p:nvSpPr>
            <p:cNvPr id="19466" name="Text Box 11"/>
            <p:cNvSpPr txBox="1"/>
            <p:nvPr/>
          </p:nvSpPr>
          <p:spPr>
            <a:xfrm>
              <a:off x="2736" y="3936"/>
              <a:ext cx="432" cy="250"/>
            </a:xfrm>
            <a:prstGeom prst="rect">
              <a:avLst/>
            </a:prstGeom>
            <a:noFill/>
            <a:ln w="9525">
              <a:noFill/>
            </a:ln>
          </p:spPr>
          <p:txBody>
            <a:bodyPr>
              <a:spAutoFit/>
            </a:bodyPr>
            <a:lstStyle/>
            <a:p>
              <a:pPr algn="ctr">
                <a:spcBef>
                  <a:spcPct val="50000"/>
                </a:spcBef>
              </a:pPr>
              <a:r>
                <a:rPr lang="en-US" altLang="zh-CN" sz="2000" b="1">
                  <a:solidFill>
                    <a:srgbClr val="FF0000"/>
                  </a:solidFill>
                  <a:latin typeface="Times New Roman" panose="02020603050405020304" pitchFamily="18" charset="0"/>
                </a:rPr>
                <a:t>P+G</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p:cNvSpPr>
            <a:spLocks noGrp="1"/>
          </p:cNvSpPr>
          <p:nvPr>
            <p:ph idx="1"/>
          </p:nvPr>
        </p:nvSpPr>
        <p:spPr>
          <a:xfrm>
            <a:off x="228600" y="3733800"/>
            <a:ext cx="8915400" cy="2971800"/>
          </a:xfrm>
          <a:ln/>
        </p:spPr>
        <p:txBody>
          <a:bodyPr vert="horz" wrap="square" lIns="91440" tIns="45720" rIns="91440" bIns="45720" anchor="t" anchorCtr="0"/>
          <a:lstStyle/>
          <a:p>
            <a:pPr eaLnBrk="1" hangingPunct="1">
              <a:lnSpc>
                <a:spcPct val="140000"/>
              </a:lnSpc>
              <a:buNone/>
            </a:pPr>
            <a:r>
              <a:rPr lang="en-US" altLang="zh-CN" sz="2800" b="1" dirty="0">
                <a:solidFill>
                  <a:srgbClr val="FF0000"/>
                </a:solidFill>
                <a:ea typeface="华文中宋" panose="02010600040101010101" pitchFamily="2" charset="-122"/>
              </a:rPr>
              <a:t>⑵ </a:t>
            </a:r>
            <a:r>
              <a:rPr lang="zh-CN" altLang="en-US" sz="2800" b="1" dirty="0">
                <a:solidFill>
                  <a:srgbClr val="FF0000"/>
                </a:solidFill>
                <a:ea typeface="华文中宋" panose="02010600040101010101" pitchFamily="2" charset="-122"/>
              </a:rPr>
              <a:t>耐磨性能好。</a:t>
            </a:r>
            <a:r>
              <a:rPr lang="zh-CN" altLang="en-US" sz="2800" b="1" dirty="0">
                <a:ea typeface="华文中宋" panose="02010600040101010101" pitchFamily="2" charset="-122"/>
              </a:rPr>
              <a:t>由于石墨本身有润滑作用。</a:t>
            </a:r>
          </a:p>
          <a:p>
            <a:pPr eaLnBrk="1" hangingPunct="1">
              <a:lnSpc>
                <a:spcPct val="140000"/>
              </a:lnSpc>
              <a:buNone/>
            </a:pPr>
            <a:r>
              <a:rPr lang="zh-CN" altLang="en-US" sz="2800" b="1" dirty="0">
                <a:solidFill>
                  <a:srgbClr val="FF0000"/>
                </a:solidFill>
                <a:ea typeface="华文中宋" panose="02010600040101010101" pitchFamily="2" charset="-122"/>
              </a:rPr>
              <a:t>⑶ 消振性能好。</a:t>
            </a:r>
            <a:r>
              <a:rPr lang="zh-CN" altLang="en-US" sz="2800" b="1" dirty="0">
                <a:ea typeface="华文中宋" panose="02010600040101010101" pitchFamily="2" charset="-122"/>
              </a:rPr>
              <a:t>由于石墨可以吸收振动能量。</a:t>
            </a:r>
          </a:p>
          <a:p>
            <a:pPr eaLnBrk="1" hangingPunct="1">
              <a:lnSpc>
                <a:spcPct val="140000"/>
              </a:lnSpc>
              <a:buNone/>
            </a:pPr>
            <a:r>
              <a:rPr lang="zh-CN" altLang="en-US" sz="2800" b="1" dirty="0">
                <a:solidFill>
                  <a:srgbClr val="FF0000"/>
                </a:solidFill>
                <a:ea typeface="华文中宋" panose="02010600040101010101" pitchFamily="2" charset="-122"/>
              </a:rPr>
              <a:t>⑷ 铸造性能好。</a:t>
            </a:r>
            <a:r>
              <a:rPr lang="zh-CN" altLang="en-US" sz="2800" b="1" dirty="0">
                <a:ea typeface="华文中宋" panose="02010600040101010101" pitchFamily="2" charset="-122"/>
              </a:rPr>
              <a:t>由于铸铁硅含量高</a:t>
            </a:r>
            <a:r>
              <a:rPr lang="en-US" altLang="zh-CN" sz="2800" b="1" dirty="0">
                <a:ea typeface="华文中宋" panose="02010600040101010101" pitchFamily="2" charset="-122"/>
              </a:rPr>
              <a:t>, </a:t>
            </a:r>
            <a:r>
              <a:rPr lang="zh-CN" altLang="en-US" sz="2800" b="1" dirty="0">
                <a:ea typeface="华文中宋" panose="02010600040101010101" pitchFamily="2" charset="-122"/>
              </a:rPr>
              <a:t>成分接近于共晶</a:t>
            </a:r>
            <a:r>
              <a:rPr lang="en-US" altLang="zh-CN" sz="2800" b="1" dirty="0">
                <a:ea typeface="华文中宋" panose="02010600040101010101" pitchFamily="2" charset="-122"/>
              </a:rPr>
              <a:t>.</a:t>
            </a:r>
          </a:p>
          <a:p>
            <a:pPr eaLnBrk="1" hangingPunct="1">
              <a:lnSpc>
                <a:spcPct val="140000"/>
              </a:lnSpc>
              <a:buNone/>
            </a:pPr>
            <a:r>
              <a:rPr lang="en-US" altLang="zh-CN" sz="2800" b="1" dirty="0">
                <a:solidFill>
                  <a:srgbClr val="FF0000"/>
                </a:solidFill>
                <a:ea typeface="华文中宋" panose="02010600040101010101" pitchFamily="2" charset="-122"/>
              </a:rPr>
              <a:t>⑸ </a:t>
            </a:r>
            <a:r>
              <a:rPr lang="zh-CN" altLang="en-US" sz="2800" b="1" dirty="0">
                <a:solidFill>
                  <a:srgbClr val="FF0000"/>
                </a:solidFill>
                <a:ea typeface="华文中宋" panose="02010600040101010101" pitchFamily="2" charset="-122"/>
              </a:rPr>
              <a:t>切削性能好。</a:t>
            </a:r>
            <a:r>
              <a:rPr lang="zh-CN" altLang="en-US" sz="2800" b="1" dirty="0">
                <a:ea typeface="华文中宋" panose="02010600040101010101" pitchFamily="2" charset="-122"/>
              </a:rPr>
              <a:t>由于石墨使车屑容易脆断，不粘刀。</a:t>
            </a:r>
          </a:p>
        </p:txBody>
      </p:sp>
      <p:sp>
        <p:nvSpPr>
          <p:cNvPr id="20483" name="Rectangle 7"/>
          <p:cNvSpPr/>
          <p:nvPr/>
        </p:nvSpPr>
        <p:spPr>
          <a:xfrm>
            <a:off x="228600" y="152400"/>
            <a:ext cx="3962400" cy="3886200"/>
          </a:xfrm>
          <a:prstGeom prst="rect">
            <a:avLst/>
          </a:prstGeom>
          <a:noFill/>
          <a:ln w="9525">
            <a:noFill/>
          </a:ln>
        </p:spPr>
        <p:txBody>
          <a:bodyPr/>
          <a:lstStyle/>
          <a:p>
            <a:pPr marL="342900" indent="-342900">
              <a:spcBef>
                <a:spcPct val="20000"/>
              </a:spcBef>
              <a:buClr>
                <a:schemeClr val="accent2"/>
              </a:buClr>
              <a:buSzPct val="80000"/>
            </a:pPr>
            <a:r>
              <a:rPr lang="en-US" altLang="zh-CN" sz="2800" b="1">
                <a:solidFill>
                  <a:srgbClr val="0000FF"/>
                </a:solidFill>
                <a:latin typeface="Times New Roman" panose="02020603050405020304" pitchFamily="18" charset="0"/>
                <a:ea typeface="华文中宋" panose="02010600040101010101" pitchFamily="2" charset="-122"/>
              </a:rPr>
              <a:t>2</a:t>
            </a:r>
            <a:r>
              <a:rPr lang="zh-CN" altLang="en-US" sz="2800" b="1" dirty="0">
                <a:solidFill>
                  <a:srgbClr val="0000FF"/>
                </a:solidFill>
                <a:latin typeface="Times New Roman" panose="02020603050405020304" pitchFamily="18" charset="0"/>
                <a:ea typeface="华文中宋" panose="02010600040101010101" pitchFamily="2" charset="-122"/>
              </a:rPr>
              <a:t>、铸铁的性能特点</a:t>
            </a:r>
          </a:p>
          <a:p>
            <a:pPr marL="342900" indent="-342900">
              <a:lnSpc>
                <a:spcPct val="140000"/>
              </a:lnSpc>
              <a:spcBef>
                <a:spcPct val="20000"/>
              </a:spcBef>
              <a:buClr>
                <a:schemeClr val="accent2"/>
              </a:buClr>
              <a:buSzPct val="80000"/>
            </a:pPr>
            <a:r>
              <a:rPr lang="zh-CN" altLang="en-US" sz="2800" b="1" dirty="0">
                <a:solidFill>
                  <a:srgbClr val="FF0000"/>
                </a:solidFill>
                <a:latin typeface="Times New Roman" panose="02020603050405020304" pitchFamily="18" charset="0"/>
                <a:ea typeface="华文中宋" panose="02010600040101010101" pitchFamily="2" charset="-122"/>
              </a:rPr>
              <a:t>⑴ 力学性能低。</a:t>
            </a:r>
            <a:r>
              <a:rPr lang="zh-CN" altLang="en-US" sz="2800" b="1" dirty="0">
                <a:latin typeface="Times New Roman" panose="02020603050405020304" pitchFamily="18" charset="0"/>
                <a:ea typeface="华文中宋" panose="02010600040101010101" pitchFamily="2" charset="-122"/>
              </a:rPr>
              <a:t>由于石墨相当于钢基体中的裂纹或空洞，破坏了基体的连续性，且易导致应力集中。</a:t>
            </a:r>
            <a:endParaRPr lang="zh-CN" altLang="en-US" sz="2800" dirty="0">
              <a:latin typeface="Times New Roman" panose="02020603050405020304" pitchFamily="18" charset="0"/>
            </a:endParaRPr>
          </a:p>
        </p:txBody>
      </p:sp>
      <p:grpSp>
        <p:nvGrpSpPr>
          <p:cNvPr id="20484" name="Group 9"/>
          <p:cNvGrpSpPr/>
          <p:nvPr/>
        </p:nvGrpSpPr>
        <p:grpSpPr>
          <a:xfrm>
            <a:off x="4219575" y="357188"/>
            <a:ext cx="4495800" cy="3352800"/>
            <a:chOff x="2640" y="240"/>
            <a:chExt cx="2832" cy="2112"/>
          </a:xfrm>
        </p:grpSpPr>
        <p:pic>
          <p:nvPicPr>
            <p:cNvPr id="20485" name="Picture 4" descr="铸铁与铸钢的强度比较"/>
            <p:cNvPicPr>
              <a:picLocks noChangeAspect="1"/>
            </p:cNvPicPr>
            <p:nvPr/>
          </p:nvPicPr>
          <p:blipFill>
            <a:blip r:embed="rId2"/>
            <a:stretch>
              <a:fillRect/>
            </a:stretch>
          </p:blipFill>
          <p:spPr>
            <a:xfrm>
              <a:off x="2640" y="240"/>
              <a:ext cx="2832" cy="2112"/>
            </a:xfrm>
            <a:prstGeom prst="rect">
              <a:avLst/>
            </a:prstGeom>
            <a:noFill/>
            <a:ln w="38100" cap="flat" cmpd="sng">
              <a:solidFill>
                <a:srgbClr val="FF00FF"/>
              </a:solidFill>
              <a:prstDash val="solid"/>
              <a:miter/>
              <a:headEnd type="none" w="med" len="med"/>
              <a:tailEnd type="none" w="med" len="med"/>
            </a:ln>
          </p:spPr>
        </p:pic>
        <p:sp>
          <p:nvSpPr>
            <p:cNvPr id="20486" name="Text Box 8"/>
            <p:cNvSpPr txBox="1"/>
            <p:nvPr/>
          </p:nvSpPr>
          <p:spPr>
            <a:xfrm>
              <a:off x="3204" y="2100"/>
              <a:ext cx="1968" cy="250"/>
            </a:xfrm>
            <a:prstGeom prst="rect">
              <a:avLst/>
            </a:prstGeom>
            <a:noFill/>
            <a:ln w="9525">
              <a:noFill/>
            </a:ln>
          </p:spPr>
          <p:txBody>
            <a:bodyPr>
              <a:spAutoFit/>
            </a:bodyPr>
            <a:lstStyle/>
            <a:p>
              <a:pPr algn="ctr">
                <a:spcBef>
                  <a:spcPct val="50000"/>
                </a:spcBef>
              </a:pPr>
              <a:r>
                <a:rPr lang="zh-CN" altLang="en-US" sz="2000" b="1" dirty="0">
                  <a:solidFill>
                    <a:srgbClr val="800000"/>
                  </a:solidFill>
                  <a:latin typeface="Times New Roman" panose="02020603050405020304" pitchFamily="18" charset="0"/>
                </a:rPr>
                <a:t>铸铁与铸钢的强度比较</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2875" y="142875"/>
            <a:ext cx="2857500" cy="628650"/>
          </a:xfrm>
          <a:prstGeom prst="rect">
            <a:avLst/>
          </a:prstGeom>
        </p:spPr>
        <p:txBody>
          <a:bodyPr/>
          <a:lstStyle/>
          <a:p>
            <a:pPr marR="0" defTabSz="914400">
              <a:buClrTx/>
              <a:buSzTx/>
              <a:buFontTx/>
              <a:buNone/>
              <a:defRPr/>
            </a:pPr>
            <a:r>
              <a:rPr kumimoji="0" lang="en-US" altLang="zh-CN" sz="3200" b="1" kern="1200" cap="none" spc="0" normalizeH="0" baseline="0" noProof="0" dirty="0">
                <a:solidFill>
                  <a:srgbClr val="0000FF"/>
                </a:solidFill>
                <a:latin typeface="+mj-lt"/>
                <a:ea typeface="华文中宋" panose="02010600040101010101" pitchFamily="2" charset="-122"/>
                <a:cs typeface="+mj-cs"/>
              </a:rPr>
              <a:t>4.2.4 </a:t>
            </a:r>
            <a:r>
              <a:rPr kumimoji="0" lang="zh-CN" altLang="en-US" sz="3200" b="1" kern="1200" cap="none" spc="0" normalizeH="0" baseline="0" noProof="0" dirty="0">
                <a:solidFill>
                  <a:srgbClr val="0000FF"/>
                </a:solidFill>
                <a:latin typeface="+mj-lt"/>
                <a:ea typeface="华文中宋" panose="02010600040101010101" pitchFamily="2" charset="-122"/>
                <a:cs typeface="+mj-cs"/>
              </a:rPr>
              <a:t>常用</a:t>
            </a:r>
            <a:r>
              <a:rPr kumimoji="0" lang="zh-CN" altLang="en-US" sz="3200" b="1" kern="1200" cap="none" spc="0" normalizeH="0" baseline="0" noProof="0" dirty="0">
                <a:solidFill>
                  <a:srgbClr val="0000FF"/>
                </a:solidFill>
                <a:latin typeface="Times New Roman" panose="02020603050405020304" pitchFamily="18" charset="0"/>
                <a:ea typeface="华文中宋" panose="02010600040101010101" pitchFamily="2" charset="-122"/>
                <a:cs typeface="+mj-cs"/>
              </a:rPr>
              <a:t>铸铁</a:t>
            </a:r>
          </a:p>
        </p:txBody>
      </p:sp>
      <p:sp>
        <p:nvSpPr>
          <p:cNvPr id="3" name="矩形 2"/>
          <p:cNvSpPr/>
          <p:nvPr/>
        </p:nvSpPr>
        <p:spPr>
          <a:xfrm>
            <a:off x="142875" y="714375"/>
            <a:ext cx="2236788"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3366FF"/>
              </a:buClr>
              <a:buSzPct val="80000"/>
              <a:buFontTx/>
              <a:buNone/>
              <a:defRPr/>
            </a:pPr>
            <a:r>
              <a:rPr kumimoji="1" lang="zh-CN" altLang="en-US" sz="3200" b="1" i="0" u="none" strike="noStrike" kern="0" cap="none" spc="0" normalizeH="0" baseline="0" noProof="0" dirty="0">
                <a:ln>
                  <a:noFill/>
                </a:ln>
                <a:solidFill>
                  <a:srgbClr val="FF0000"/>
                </a:solidFill>
                <a:effectLst/>
                <a:uLnTx/>
                <a:uFillTx/>
                <a:latin typeface="Times New Roman" panose="02020603050405020304"/>
                <a:ea typeface="华文中宋" panose="02010600040101010101" pitchFamily="2" charset="-122"/>
                <a:cs typeface="+mn-cs"/>
              </a:rPr>
              <a:t>一、灰铸铁</a:t>
            </a:r>
          </a:p>
        </p:txBody>
      </p:sp>
      <p:sp>
        <p:nvSpPr>
          <p:cNvPr id="22532" name="矩形 3"/>
          <p:cNvSpPr/>
          <p:nvPr/>
        </p:nvSpPr>
        <p:spPr>
          <a:xfrm>
            <a:off x="357188" y="1357313"/>
            <a:ext cx="8215312" cy="830262"/>
          </a:xfrm>
          <a:prstGeom prst="rect">
            <a:avLst/>
          </a:prstGeom>
          <a:noFill/>
          <a:ln w="9525">
            <a:noFill/>
          </a:ln>
        </p:spPr>
        <p:txBody>
          <a:bodyPr>
            <a:spAutoFit/>
          </a:bodyPr>
          <a:lstStyle/>
          <a:p>
            <a:r>
              <a:rPr lang="zh-CN" altLang="en-US" sz="2400" b="1" dirty="0">
                <a:latin typeface="华文中宋" panose="02010600040101010101" pitchFamily="2" charset="-122"/>
                <a:ea typeface="华文中宋" panose="02010600040101010101" pitchFamily="2" charset="-122"/>
              </a:rPr>
              <a:t>　　灰口铸铁是价格最便宜、应用最广泛的一种铸铁，在各类铸铁的总产量中，灰口铸铁占</a:t>
            </a:r>
            <a:r>
              <a:rPr lang="en-US" altLang="zh-CN" sz="2400" b="1">
                <a:latin typeface="华文中宋" panose="02010600040101010101" pitchFamily="2" charset="-122"/>
                <a:ea typeface="华文中宋" panose="02010600040101010101" pitchFamily="2" charset="-122"/>
              </a:rPr>
              <a:t>80%</a:t>
            </a:r>
            <a:r>
              <a:rPr lang="zh-CN" altLang="en-US" sz="2400" b="1" dirty="0">
                <a:latin typeface="华文中宋" panose="02010600040101010101" pitchFamily="2" charset="-122"/>
                <a:ea typeface="华文中宋" panose="02010600040101010101" pitchFamily="2" charset="-122"/>
              </a:rPr>
              <a:t>以上。 </a:t>
            </a:r>
          </a:p>
        </p:txBody>
      </p:sp>
      <p:sp>
        <p:nvSpPr>
          <p:cNvPr id="22533" name="矩形 4"/>
          <p:cNvSpPr/>
          <p:nvPr/>
        </p:nvSpPr>
        <p:spPr>
          <a:xfrm>
            <a:off x="2928938" y="811213"/>
            <a:ext cx="5724525" cy="461962"/>
          </a:xfrm>
          <a:prstGeom prst="rect">
            <a:avLst/>
          </a:prstGeom>
          <a:solidFill>
            <a:srgbClr val="FFFF00"/>
          </a:solidFill>
          <a:ln w="9525">
            <a:noFill/>
          </a:ln>
        </p:spPr>
        <p:txBody>
          <a:bodyPr wrap="none">
            <a:spAutoFit/>
          </a:bodyPr>
          <a:lstStyle/>
          <a:p>
            <a:r>
              <a:rPr lang="zh-CN" altLang="en-US" sz="2400" b="1" dirty="0">
                <a:latin typeface="Times New Roman" panose="02020603050405020304" pitchFamily="18" charset="0"/>
                <a:ea typeface="华文中宋" panose="02010600040101010101" pitchFamily="2" charset="-122"/>
              </a:rPr>
              <a:t>灰铸铁是指石墨呈片状分布的灰口铸铁。</a:t>
            </a:r>
            <a:endParaRPr lang="zh-CN" altLang="en-US" sz="2400" dirty="0">
              <a:latin typeface="Times New Roman" panose="02020603050405020304" pitchFamily="18" charset="0"/>
            </a:endParaRPr>
          </a:p>
        </p:txBody>
      </p:sp>
      <p:sp>
        <p:nvSpPr>
          <p:cNvPr id="6" name="矩形 5"/>
          <p:cNvSpPr/>
          <p:nvPr/>
        </p:nvSpPr>
        <p:spPr>
          <a:xfrm>
            <a:off x="142875" y="2324100"/>
            <a:ext cx="2174875"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0000FF"/>
                </a:solidFill>
                <a:effectLst/>
                <a:uLnTx/>
                <a:uFillTx/>
                <a:latin typeface="华文宋体" panose="02010600040101010101" pitchFamily="2" charset="-122"/>
                <a:ea typeface="华文宋体" panose="02010600040101010101" pitchFamily="2" charset="-122"/>
                <a:cs typeface="+mn-cs"/>
              </a:rPr>
              <a:t>1</a:t>
            </a:r>
            <a:r>
              <a:rPr kumimoji="0" lang="zh-CN" altLang="en-US" sz="2400" b="1" i="0" u="none" strike="noStrike" kern="0" cap="none" spc="0" normalizeH="0" baseline="0" noProof="0" dirty="0">
                <a:ln>
                  <a:noFill/>
                </a:ln>
                <a:solidFill>
                  <a:srgbClr val="0000FF"/>
                </a:solidFill>
                <a:effectLst/>
                <a:uLnTx/>
                <a:uFillTx/>
                <a:latin typeface="华文宋体" panose="02010600040101010101" pitchFamily="2" charset="-122"/>
                <a:ea typeface="华文宋体" panose="02010600040101010101" pitchFamily="2" charset="-122"/>
                <a:cs typeface="+mn-cs"/>
              </a:rPr>
              <a:t>、成分和牌号</a:t>
            </a:r>
            <a:endParaRPr kumimoji="1" lang="zh-CN" altLang="en-US" sz="2400" b="1" i="0" u="none" strike="noStrike" kern="1200" cap="none" spc="0" normalizeH="0" baseline="0" noProof="0" dirty="0">
              <a:ln>
                <a:noFill/>
              </a:ln>
              <a:solidFill>
                <a:srgbClr val="0000FF"/>
              </a:solidFill>
              <a:effectLst/>
              <a:uLnTx/>
              <a:uFillTx/>
              <a:latin typeface="华文宋体" panose="02010600040101010101" pitchFamily="2" charset="-122"/>
              <a:ea typeface="华文宋体" panose="02010600040101010101" pitchFamily="2" charset="-122"/>
              <a:cs typeface="+mn-cs"/>
            </a:endParaRPr>
          </a:p>
        </p:txBody>
      </p:sp>
      <p:sp>
        <p:nvSpPr>
          <p:cNvPr id="7" name="矩形 6"/>
          <p:cNvSpPr/>
          <p:nvPr/>
        </p:nvSpPr>
        <p:spPr>
          <a:xfrm>
            <a:off x="214313" y="2811463"/>
            <a:ext cx="4572000" cy="1617663"/>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2.5</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4.0%C</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1.0</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3.0%Si</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0.25</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1.0%Mn</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0.02</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0.20%S</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0.05</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0.50%P</a:t>
            </a:r>
            <a:endParaRPr kumimoji="1" lang="zh-CN" altLang="en-US" sz="23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2536" name="矩形 7"/>
          <p:cNvSpPr/>
          <p:nvPr/>
        </p:nvSpPr>
        <p:spPr>
          <a:xfrm>
            <a:off x="214313" y="4448175"/>
            <a:ext cx="4714875" cy="2124075"/>
          </a:xfrm>
          <a:prstGeom prst="rect">
            <a:avLst/>
          </a:prstGeom>
          <a:noFill/>
          <a:ln w="9525">
            <a:noFill/>
          </a:ln>
        </p:spPr>
        <p:txBody>
          <a:bodyPr>
            <a:spAutoFit/>
          </a:bodyPr>
          <a:lstStyle/>
          <a:p>
            <a:pPr>
              <a:lnSpc>
                <a:spcPct val="150000"/>
              </a:lnSpc>
              <a:buFont typeface="Wingdings" panose="05000000000000000000" pitchFamily="2" charset="2"/>
              <a:buChar char="Ø"/>
            </a:pPr>
            <a:r>
              <a:rPr lang="zh-CN" altLang="en-US" sz="2200" b="1" dirty="0">
                <a:latin typeface="Times New Roman" panose="02020603050405020304" pitchFamily="18" charset="0"/>
              </a:rPr>
              <a:t>　</a:t>
            </a:r>
            <a:r>
              <a:rPr lang="en-US" altLang="zh-CN" sz="2200" b="1">
                <a:latin typeface="Times New Roman" panose="02020603050405020304" pitchFamily="18" charset="0"/>
              </a:rPr>
              <a:t>HT</a:t>
            </a:r>
            <a:r>
              <a:rPr lang="zh-CN" altLang="en-US" sz="2200" b="1" dirty="0">
                <a:latin typeface="Times New Roman" panose="02020603050405020304" pitchFamily="18" charset="0"/>
              </a:rPr>
              <a:t>＋三位数字</a:t>
            </a:r>
            <a:endParaRPr lang="en-US" altLang="zh-CN" sz="2200" b="1">
              <a:latin typeface="Times New Roman" panose="02020603050405020304" pitchFamily="18" charset="0"/>
            </a:endParaRPr>
          </a:p>
          <a:p>
            <a:pPr>
              <a:lnSpc>
                <a:spcPct val="150000"/>
              </a:lnSpc>
            </a:pPr>
            <a:r>
              <a:rPr lang="en-US" altLang="zh-CN" sz="2200" b="1">
                <a:solidFill>
                  <a:srgbClr val="FF0000"/>
                </a:solidFill>
                <a:latin typeface="Times New Roman" panose="02020603050405020304" pitchFamily="18" charset="0"/>
              </a:rPr>
              <a:t>HT</a:t>
            </a:r>
            <a:r>
              <a:rPr lang="zh-CN" altLang="en-US" sz="2200" b="1" dirty="0">
                <a:solidFill>
                  <a:srgbClr val="FF0000"/>
                </a:solidFill>
                <a:latin typeface="Times New Roman" panose="02020603050405020304" pitchFamily="18" charset="0"/>
              </a:rPr>
              <a:t>为灰铁汉语拼音的字首</a:t>
            </a:r>
            <a:endParaRPr lang="en-US" altLang="zh-CN" sz="2200" b="1">
              <a:solidFill>
                <a:srgbClr val="FF0000"/>
              </a:solidFill>
              <a:latin typeface="Times New Roman" panose="02020603050405020304" pitchFamily="18" charset="0"/>
            </a:endParaRPr>
          </a:p>
          <a:p>
            <a:pPr>
              <a:lnSpc>
                <a:spcPct val="150000"/>
              </a:lnSpc>
            </a:pPr>
            <a:r>
              <a:rPr lang="zh-CN" altLang="en-US" sz="2200" b="1" dirty="0">
                <a:solidFill>
                  <a:srgbClr val="FF0000"/>
                </a:solidFill>
                <a:latin typeface="Times New Roman" panose="02020603050405020304" pitchFamily="18" charset="0"/>
              </a:rPr>
              <a:t>后续的三位数表示直径为</a:t>
            </a:r>
            <a:r>
              <a:rPr lang="en-US" altLang="zh-CN" sz="2200" b="1">
                <a:solidFill>
                  <a:srgbClr val="FF0000"/>
                </a:solidFill>
                <a:latin typeface="Times New Roman" panose="02020603050405020304" pitchFamily="18" charset="0"/>
              </a:rPr>
              <a:t>30mm</a:t>
            </a:r>
            <a:r>
              <a:rPr lang="zh-CN" altLang="en-US" sz="2200" b="1" dirty="0">
                <a:solidFill>
                  <a:srgbClr val="FF0000"/>
                </a:solidFill>
                <a:latin typeface="Times New Roman" panose="02020603050405020304" pitchFamily="18" charset="0"/>
              </a:rPr>
              <a:t>铸件试样的最低抗拉强度</a:t>
            </a:r>
            <a:r>
              <a:rPr lang="en-US" altLang="zh-CN" sz="2200" b="1" err="1">
                <a:solidFill>
                  <a:srgbClr val="FF0000"/>
                </a:solidFill>
                <a:latin typeface="Times New Roman" panose="02020603050405020304" pitchFamily="18" charset="0"/>
                <a:cs typeface="Times New Roman" panose="02020603050405020304" pitchFamily="18" charset="0"/>
              </a:rPr>
              <a:t>σ</a:t>
            </a:r>
            <a:r>
              <a:rPr lang="en-US" altLang="zh-CN" sz="2200" b="1" baseline="-25000" err="1">
                <a:solidFill>
                  <a:srgbClr val="FF0000"/>
                </a:solidFill>
                <a:latin typeface="Times New Roman" panose="02020603050405020304" pitchFamily="18" charset="0"/>
                <a:cs typeface="Times New Roman" panose="02020603050405020304" pitchFamily="18" charset="0"/>
              </a:rPr>
              <a:t>b</a:t>
            </a:r>
            <a:r>
              <a:rPr lang="zh-CN" altLang="en-US" sz="2200" b="1" dirty="0">
                <a:solidFill>
                  <a:srgbClr val="FF0000"/>
                </a:solidFill>
                <a:latin typeface="Times New Roman" panose="02020603050405020304" pitchFamily="18" charset="0"/>
                <a:cs typeface="Times New Roman" panose="02020603050405020304" pitchFamily="18" charset="0"/>
              </a:rPr>
              <a:t>（</a:t>
            </a:r>
            <a:r>
              <a:rPr lang="en-US" altLang="zh-CN" sz="2200" b="1" err="1">
                <a:solidFill>
                  <a:srgbClr val="FF0000"/>
                </a:solidFill>
                <a:latin typeface="Times New Roman" panose="02020603050405020304" pitchFamily="18" charset="0"/>
                <a:cs typeface="Times New Roman" panose="02020603050405020304" pitchFamily="18" charset="0"/>
              </a:rPr>
              <a:t>MPa</a:t>
            </a:r>
            <a:r>
              <a:rPr lang="zh-CN" altLang="en-US" sz="2200" b="1" dirty="0">
                <a:solidFill>
                  <a:srgbClr val="FF0000"/>
                </a:solidFill>
                <a:latin typeface="Times New Roman" panose="02020603050405020304" pitchFamily="18" charset="0"/>
                <a:cs typeface="Times New Roman" panose="02020603050405020304" pitchFamily="18" charset="0"/>
              </a:rPr>
              <a:t>）</a:t>
            </a:r>
            <a:endParaRPr lang="zh-CN" altLang="en-US" sz="2200" b="1" dirty="0">
              <a:solidFill>
                <a:srgbClr val="FF0000"/>
              </a:solidFill>
              <a:latin typeface="Times New Roman" panose="02020603050405020304" pitchFamily="18" charset="0"/>
            </a:endParaRPr>
          </a:p>
        </p:txBody>
      </p:sp>
      <p:pic>
        <p:nvPicPr>
          <p:cNvPr id="22537" name="Picture 6" descr="旋转 castings3"/>
          <p:cNvPicPr>
            <a:picLocks noChangeAspect="1"/>
          </p:cNvPicPr>
          <p:nvPr/>
        </p:nvPicPr>
        <p:blipFill>
          <a:blip r:embed="rId2"/>
          <a:stretch>
            <a:fillRect/>
          </a:stretch>
        </p:blipFill>
        <p:spPr>
          <a:xfrm>
            <a:off x="5332413" y="2511425"/>
            <a:ext cx="3240087" cy="3775075"/>
          </a:xfrm>
          <a:prstGeom prst="rect">
            <a:avLst/>
          </a:prstGeom>
          <a:noFill/>
          <a:ln w="38100" cap="flat" cmpd="sng">
            <a:solidFill>
              <a:srgbClr val="CC99FF"/>
            </a:solidFill>
            <a:prstDash val="solid"/>
            <a:miter/>
            <a:headEnd type="none" w="med" len="med"/>
            <a:tailEnd type="none" w="med" len="med"/>
          </a:ln>
        </p:spPr>
      </p:pic>
      <p:sp>
        <p:nvSpPr>
          <p:cNvPr id="11" name="Text Box 7"/>
          <p:cNvSpPr txBox="1">
            <a:spLocks noChangeArrowheads="1"/>
          </p:cNvSpPr>
          <p:nvPr/>
        </p:nvSpPr>
        <p:spPr bwMode="auto">
          <a:xfrm>
            <a:off x="6072188" y="5818188"/>
            <a:ext cx="1914525" cy="396875"/>
          </a:xfrm>
          <a:prstGeom prst="rect">
            <a:avLst/>
          </a:prstGeom>
          <a:solidFill>
            <a:srgbClr val="FFFF00"/>
          </a:solidFill>
          <a:ln w="9525">
            <a:noFill/>
            <a:miter lim="800000"/>
          </a:ln>
          <a:effectLst/>
        </p:spPr>
        <p:txBody>
          <a:bodyPr>
            <a:spAutoFit/>
          </a:bodyPr>
          <a:lstStyle/>
          <a:p>
            <a:pPr marR="0" defTabSz="914400">
              <a:spcBef>
                <a:spcPct val="50000"/>
              </a:spcBef>
              <a:buClrTx/>
              <a:buSzTx/>
              <a:buFontTx/>
              <a:buNone/>
              <a:defRPr/>
            </a:pPr>
            <a:r>
              <a:rPr kumimoji="1" lang="zh-CN" altLang="en-US" sz="20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灰铸铁齿轮箱</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2875" y="214313"/>
            <a:ext cx="220345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2</a:t>
            </a:r>
            <a:r>
              <a:rPr kumimoji="0" lang="zh-CN" altLang="en-US"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、组织特点</a:t>
            </a:r>
            <a:endParaRPr kumimoji="1" lang="zh-CN" altLang="en-US" sz="28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
        <p:nvSpPr>
          <p:cNvPr id="23555" name="矩形 2"/>
          <p:cNvSpPr/>
          <p:nvPr/>
        </p:nvSpPr>
        <p:spPr>
          <a:xfrm>
            <a:off x="214313" y="835025"/>
            <a:ext cx="4500562" cy="2308225"/>
          </a:xfrm>
          <a:prstGeom prst="rect">
            <a:avLst/>
          </a:prstGeom>
          <a:noFill/>
          <a:ln w="9525">
            <a:noFill/>
          </a:ln>
        </p:spPr>
        <p:txBody>
          <a:bodyPr>
            <a:spAutoFit/>
          </a:bodyPr>
          <a:lstStyle/>
          <a:p>
            <a:pPr>
              <a:lnSpc>
                <a:spcPct val="150000"/>
              </a:lnSpc>
            </a:pPr>
            <a:r>
              <a:rPr lang="zh-CN" altLang="en-US" sz="2400" b="1" dirty="0">
                <a:latin typeface="Times New Roman" panose="02020603050405020304" pitchFamily="18" charset="0"/>
                <a:ea typeface="华文中宋" panose="02010600040101010101" pitchFamily="2" charset="-122"/>
              </a:rPr>
              <a:t>灰铸铁的组织是由液态铁水缓慢冷却时通过石墨化过程形成的，其基体组织有</a:t>
            </a:r>
            <a:r>
              <a:rPr lang="zh-CN" altLang="en-US" sz="2400" b="1" dirty="0">
                <a:solidFill>
                  <a:srgbClr val="FF0000"/>
                </a:solidFill>
                <a:latin typeface="Times New Roman" panose="02020603050405020304" pitchFamily="18" charset="0"/>
                <a:ea typeface="华文中宋" panose="02010600040101010101" pitchFamily="2" charset="-122"/>
              </a:rPr>
              <a:t>铁素体、珠光体和铁素体加珠光体</a:t>
            </a:r>
            <a:r>
              <a:rPr lang="zh-CN" altLang="en-US" sz="2400" b="1" dirty="0">
                <a:latin typeface="Times New Roman" panose="02020603050405020304" pitchFamily="18" charset="0"/>
                <a:ea typeface="华文中宋" panose="02010600040101010101" pitchFamily="2" charset="-122"/>
              </a:rPr>
              <a:t>三种。</a:t>
            </a:r>
            <a:endParaRPr lang="zh-CN" altLang="en-US" sz="2400" dirty="0">
              <a:latin typeface="Times New Roman" panose="02020603050405020304" pitchFamily="18" charset="0"/>
            </a:endParaRPr>
          </a:p>
        </p:txBody>
      </p:sp>
      <p:pic>
        <p:nvPicPr>
          <p:cNvPr id="23556" name="Picture 4" descr="1-1"/>
          <p:cNvPicPr>
            <a:picLocks noChangeAspect="1"/>
          </p:cNvPicPr>
          <p:nvPr/>
        </p:nvPicPr>
        <p:blipFill>
          <a:blip r:embed="rId2"/>
          <a:stretch>
            <a:fillRect/>
          </a:stretch>
        </p:blipFill>
        <p:spPr>
          <a:xfrm>
            <a:off x="4857750" y="142875"/>
            <a:ext cx="3987800" cy="3127375"/>
          </a:xfrm>
          <a:prstGeom prst="rect">
            <a:avLst/>
          </a:prstGeom>
          <a:noFill/>
          <a:ln w="38100" cap="flat" cmpd="sng">
            <a:solidFill>
              <a:srgbClr val="FF0000"/>
            </a:solidFill>
            <a:prstDash val="solid"/>
            <a:miter/>
            <a:headEnd type="none" w="med" len="med"/>
            <a:tailEnd type="none" w="med" len="med"/>
          </a:ln>
        </p:spPr>
      </p:pic>
      <p:pic>
        <p:nvPicPr>
          <p:cNvPr id="23557" name="Picture 5" descr="2-2"/>
          <p:cNvPicPr>
            <a:picLocks noChangeAspect="1"/>
          </p:cNvPicPr>
          <p:nvPr/>
        </p:nvPicPr>
        <p:blipFill>
          <a:blip r:embed="rId3"/>
          <a:stretch>
            <a:fillRect/>
          </a:stretch>
        </p:blipFill>
        <p:spPr>
          <a:xfrm>
            <a:off x="323850" y="3505200"/>
            <a:ext cx="3962400" cy="3117850"/>
          </a:xfrm>
          <a:prstGeom prst="rect">
            <a:avLst/>
          </a:prstGeom>
          <a:noFill/>
          <a:ln w="38100" cap="flat" cmpd="sng">
            <a:solidFill>
              <a:srgbClr val="FF9900"/>
            </a:solidFill>
            <a:prstDash val="solid"/>
            <a:miter/>
            <a:headEnd type="none" w="med" len="med"/>
            <a:tailEnd type="none" w="med" len="med"/>
          </a:ln>
        </p:spPr>
      </p:pic>
      <p:pic>
        <p:nvPicPr>
          <p:cNvPr id="23558" name="Picture 6" descr="3-3"/>
          <p:cNvPicPr>
            <a:picLocks noChangeAspect="1"/>
          </p:cNvPicPr>
          <p:nvPr/>
        </p:nvPicPr>
        <p:blipFill>
          <a:blip r:embed="rId4"/>
          <a:stretch>
            <a:fillRect/>
          </a:stretch>
        </p:blipFill>
        <p:spPr>
          <a:xfrm>
            <a:off x="4881563" y="3505200"/>
            <a:ext cx="3976687" cy="3121025"/>
          </a:xfrm>
          <a:prstGeom prst="rect">
            <a:avLst/>
          </a:prstGeom>
          <a:noFill/>
          <a:ln w="38100" cap="flat" cmpd="sng">
            <a:solidFill>
              <a:srgbClr val="FF9900"/>
            </a:solidFill>
            <a:prstDash val="solid"/>
            <a:miter/>
            <a:headEnd type="none" w="med" len="med"/>
            <a:tailEnd type="none" w="med" len="med"/>
          </a:ln>
        </p:spPr>
      </p:pic>
      <p:sp>
        <p:nvSpPr>
          <p:cNvPr id="23559" name="矩形 6"/>
          <p:cNvSpPr/>
          <p:nvPr/>
        </p:nvSpPr>
        <p:spPr>
          <a:xfrm>
            <a:off x="4857750" y="142875"/>
            <a:ext cx="1724025" cy="400050"/>
          </a:xfrm>
          <a:prstGeom prst="rect">
            <a:avLst/>
          </a:prstGeom>
          <a:solidFill>
            <a:srgbClr val="FFFF00"/>
          </a:solidFill>
          <a:ln w="9525">
            <a:noFill/>
          </a:ln>
        </p:spPr>
        <p:txBody>
          <a:bodyPr wrap="none">
            <a:spAutoFit/>
          </a:bodyPr>
          <a:lstStyle/>
          <a:p>
            <a:r>
              <a:rPr lang="zh-CN" altLang="en-US" sz="2000" b="1" dirty="0">
                <a:solidFill>
                  <a:srgbClr val="FF0000"/>
                </a:solidFill>
                <a:latin typeface="Times New Roman" panose="02020603050405020304" pitchFamily="18" charset="0"/>
                <a:ea typeface="华文中宋" panose="02010600040101010101" pitchFamily="2" charset="-122"/>
              </a:rPr>
              <a:t>铁素体灰铸铁</a:t>
            </a:r>
            <a:endParaRPr lang="zh-CN" altLang="en-US" sz="2000" dirty="0">
              <a:latin typeface="Times New Roman" panose="02020603050405020304" pitchFamily="18" charset="0"/>
            </a:endParaRPr>
          </a:p>
        </p:txBody>
      </p:sp>
      <p:sp>
        <p:nvSpPr>
          <p:cNvPr id="23560" name="矩形 7"/>
          <p:cNvSpPr/>
          <p:nvPr/>
        </p:nvSpPr>
        <p:spPr>
          <a:xfrm>
            <a:off x="4857750" y="3500438"/>
            <a:ext cx="2749550" cy="400050"/>
          </a:xfrm>
          <a:prstGeom prst="rect">
            <a:avLst/>
          </a:prstGeom>
          <a:solidFill>
            <a:srgbClr val="FFFF00"/>
          </a:solidFill>
          <a:ln w="9525">
            <a:noFill/>
          </a:ln>
        </p:spPr>
        <p:txBody>
          <a:bodyPr wrap="none">
            <a:spAutoFit/>
          </a:bodyPr>
          <a:lstStyle/>
          <a:p>
            <a:r>
              <a:rPr lang="zh-CN" altLang="en-US" sz="2000" b="1" dirty="0">
                <a:solidFill>
                  <a:srgbClr val="FF0000"/>
                </a:solidFill>
                <a:latin typeface="Times New Roman" panose="02020603050405020304" pitchFamily="18" charset="0"/>
                <a:ea typeface="华文中宋" panose="02010600040101010101" pitchFamily="2" charset="-122"/>
              </a:rPr>
              <a:t>铁素体加珠光体灰铸铁</a:t>
            </a:r>
            <a:endParaRPr lang="zh-CN" altLang="en-US" sz="2000" dirty="0">
              <a:latin typeface="Times New Roman" panose="02020603050405020304" pitchFamily="18" charset="0"/>
            </a:endParaRPr>
          </a:p>
        </p:txBody>
      </p:sp>
      <p:sp>
        <p:nvSpPr>
          <p:cNvPr id="23561" name="矩形 8"/>
          <p:cNvSpPr/>
          <p:nvPr/>
        </p:nvSpPr>
        <p:spPr>
          <a:xfrm>
            <a:off x="285750" y="3500438"/>
            <a:ext cx="1724025" cy="400050"/>
          </a:xfrm>
          <a:prstGeom prst="rect">
            <a:avLst/>
          </a:prstGeom>
          <a:solidFill>
            <a:srgbClr val="FFFF00"/>
          </a:solidFill>
          <a:ln w="9525">
            <a:noFill/>
          </a:ln>
        </p:spPr>
        <p:txBody>
          <a:bodyPr wrap="none">
            <a:spAutoFit/>
          </a:bodyPr>
          <a:lstStyle/>
          <a:p>
            <a:r>
              <a:rPr lang="zh-CN" altLang="en-US" sz="2000" b="1" dirty="0">
                <a:solidFill>
                  <a:srgbClr val="FF0000"/>
                </a:solidFill>
                <a:latin typeface="Times New Roman" panose="02020603050405020304" pitchFamily="18" charset="0"/>
                <a:ea typeface="华文中宋" panose="02010600040101010101" pitchFamily="2" charset="-122"/>
              </a:rPr>
              <a:t>珠光体灰铸铁</a:t>
            </a:r>
            <a:endParaRPr lang="zh-CN" altLang="en-US" sz="2000"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4313" y="1357313"/>
            <a:ext cx="8750300" cy="5121275"/>
          </a:xfrm>
          <a:prstGeom prst="rect">
            <a:avLst/>
          </a:prstGeom>
        </p:spPr>
        <p:txBody>
          <a:bodyPr>
            <a:spAutoFit/>
          </a:bodyPr>
          <a:lstStyle/>
          <a:p>
            <a:pPr marL="720090" marR="0" lvl="0" indent="-72009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r>
              <a:rPr kumimoji="1" lang="en-US" altLang="zh-CN"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1</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）力学性能低</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1" lang="en-US" altLang="zh-CN"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其</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抗拉强度和塑性韧性</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都远远低于钢。但是，灰口铸铁在受压时石墨片破坏基体连续性的影响则大为减轻，其</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抗压强度是抗拉强度的</a:t>
            </a:r>
            <a:r>
              <a:rPr kumimoji="1" lang="en-US" altLang="zh-CN"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2.5</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r>
              <a:rPr kumimoji="1" lang="en-US" altLang="zh-CN"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4</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倍</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。所以常用</a:t>
            </a:r>
            <a:r>
              <a:rPr kumimoji="1" lang="zh-CN" altLang="en-US" sz="20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灰口铸铁制造机床床身、底座等耐压零部件</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p>
          <a:p>
            <a:pPr marL="720090" marR="0" lvl="0" indent="-72009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r>
              <a:rPr kumimoji="1" lang="en-US" altLang="zh-CN"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2</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）耐磨性与消震性好</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1" lang="en-US" altLang="zh-CN"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由于铸铁中石墨有利于润滑及贮油，所以耐磨性好。同样，由于石墨的存在，</a:t>
            </a:r>
            <a:r>
              <a:rPr kumimoji="1" lang="zh-CN" altLang="en-US" sz="20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灰口铸铁的消震性优于钢</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p>
          <a:p>
            <a:pPr marL="720090" marR="0" lvl="0" indent="-72009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r>
              <a:rPr kumimoji="1" lang="en-US" altLang="zh-CN"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3</a:t>
            </a:r>
            <a:r>
              <a:rPr kumimoji="1" lang="zh-CN" altLang="en-US" sz="20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）工艺性能好</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endParaRPr kumimoji="1" lang="en-US" altLang="zh-CN"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a:t>
            </a:r>
            <a:r>
              <a:rPr kumimoji="1" lang="zh-CN" altLang="en-US" sz="20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灰口铸铁含碳量高，接近于共晶成分，故熔点比较低，流动性良好，收缩率小，因此适宜于铸造结构复杂或薄壁铸件</a:t>
            </a:r>
            <a:r>
              <a:rPr kumimoji="1" lang="zh-CN" altLang="en-US" sz="20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。另外，由于石墨使切削加工时易于形成断屑，所以灰口铸铁的可切削加工性优于钢。  </a:t>
            </a:r>
          </a:p>
        </p:txBody>
      </p:sp>
      <p:sp>
        <p:nvSpPr>
          <p:cNvPr id="24579" name="矩形 2"/>
          <p:cNvSpPr/>
          <p:nvPr/>
        </p:nvSpPr>
        <p:spPr>
          <a:xfrm>
            <a:off x="214313" y="785813"/>
            <a:ext cx="6929437" cy="493712"/>
          </a:xfrm>
          <a:prstGeom prst="rect">
            <a:avLst/>
          </a:prstGeom>
          <a:noFill/>
          <a:ln w="9525">
            <a:noFill/>
          </a:ln>
        </p:spPr>
        <p:txBody>
          <a:bodyPr>
            <a:spAutoFit/>
          </a:bodyPr>
          <a:lstStyle/>
          <a:p>
            <a:pPr algn="just">
              <a:lnSpc>
                <a:spcPct val="120000"/>
              </a:lnSpc>
            </a:pPr>
            <a:r>
              <a:rPr lang="zh-CN" altLang="en-US" sz="2400" b="1" dirty="0">
                <a:solidFill>
                  <a:srgbClr val="0000FF"/>
                </a:solidFill>
                <a:latin typeface="华文中宋" panose="02010600040101010101" pitchFamily="2" charset="-122"/>
                <a:ea typeface="华文中宋" panose="02010600040101010101" pitchFamily="2" charset="-122"/>
              </a:rPr>
              <a:t>灰口铸铁的性能与普通碳钢相比，具有如下特点：</a:t>
            </a:r>
          </a:p>
        </p:txBody>
      </p:sp>
      <p:sp>
        <p:nvSpPr>
          <p:cNvPr id="4" name="矩形 3"/>
          <p:cNvSpPr/>
          <p:nvPr/>
        </p:nvSpPr>
        <p:spPr>
          <a:xfrm>
            <a:off x="214313" y="190500"/>
            <a:ext cx="220345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3</a:t>
            </a:r>
            <a:r>
              <a:rPr kumimoji="0" lang="zh-CN" altLang="en-US"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、性能特点</a:t>
            </a:r>
            <a:endParaRPr kumimoji="1" lang="zh-CN" altLang="en-US" sz="2800" b="0"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9"/>
          <p:cNvSpPr>
            <a:spLocks noGrp="1" noChangeArrowheads="1"/>
          </p:cNvSpPr>
          <p:nvPr>
            <p:ph idx="1"/>
          </p:nvPr>
        </p:nvSpPr>
        <p:spPr>
          <a:xfrm>
            <a:off x="304800" y="304800"/>
            <a:ext cx="4953000" cy="25527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4</a:t>
            </a:r>
            <a:r>
              <a:rPr kumimoji="0" lang="zh-CN" altLang="en-US" sz="28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、用途</a:t>
            </a:r>
          </a:p>
          <a:p>
            <a:pPr marL="0" marR="0" lvl="0" indent="0" algn="l" defTabSz="914400" rtl="0" eaLnBrk="1" fontAlgn="base" latinLnBrk="0" hangingPunct="1">
              <a:lnSpc>
                <a:spcPct val="140000"/>
              </a:lnSpc>
              <a:spcBef>
                <a:spcPct val="2000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制造承受压力和震动的零件</a:t>
            </a:r>
            <a:r>
              <a:rPr kumimoji="0" lang="en-US" altLang="zh-CN"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如</a:t>
            </a:r>
            <a:r>
              <a:rPr kumimoji="0" lang="zh-CN" altLang="en-US" sz="2800" b="1" i="0" u="none" strike="noStrike" kern="1200" cap="none" spc="0" normalizeH="0" baseline="0" noProof="0" dirty="0">
                <a:ln>
                  <a:noFill/>
                </a:ln>
                <a:solidFill>
                  <a:srgbClr val="FF0000"/>
                </a:solidFill>
                <a:effectLst/>
                <a:uLnTx/>
                <a:uFillTx/>
                <a:latin typeface="+mn-lt"/>
                <a:ea typeface="华文中宋" panose="02010600040101010101" pitchFamily="2" charset="-122"/>
                <a:cs typeface="+mn-cs"/>
              </a:rPr>
              <a:t>机床床身、各种箱体、壳体、泵体、缸体</a:t>
            </a: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a:t>
            </a:r>
            <a:endParaRPr kumimoji="0" lang="zh-CN" altLang="en-US" sz="2800" b="1" i="0" u="none" strike="noStrike" kern="1200" cap="none" spc="0" normalizeH="0" baseline="0" noProof="0" dirty="0">
              <a:ln>
                <a:noFill/>
              </a:ln>
              <a:solidFill>
                <a:schemeClr val="tx2"/>
              </a:solidFill>
              <a:effectLst/>
              <a:uLnTx/>
              <a:uFillTx/>
              <a:latin typeface="+mn-lt"/>
              <a:ea typeface="华文中宋" panose="02010600040101010101" pitchFamily="2" charset="-122"/>
              <a:cs typeface="+mn-cs"/>
            </a:endParaRPr>
          </a:p>
        </p:txBody>
      </p:sp>
      <p:grpSp>
        <p:nvGrpSpPr>
          <p:cNvPr id="28675" name="Group 25"/>
          <p:cNvGrpSpPr/>
          <p:nvPr/>
        </p:nvGrpSpPr>
        <p:grpSpPr>
          <a:xfrm>
            <a:off x="457200" y="457200"/>
            <a:ext cx="8345488" cy="6199188"/>
            <a:chOff x="288" y="288"/>
            <a:chExt cx="5257" cy="3905"/>
          </a:xfrm>
        </p:grpSpPr>
        <p:grpSp>
          <p:nvGrpSpPr>
            <p:cNvPr id="28676" name="Group 11"/>
            <p:cNvGrpSpPr/>
            <p:nvPr/>
          </p:nvGrpSpPr>
          <p:grpSpPr>
            <a:xfrm>
              <a:off x="288" y="2067"/>
              <a:ext cx="5257" cy="2126"/>
              <a:chOff x="288" y="1872"/>
              <a:chExt cx="5257" cy="2126"/>
            </a:xfrm>
          </p:grpSpPr>
          <p:sp>
            <p:nvSpPr>
              <p:cNvPr id="28680" name="Text Box 5"/>
              <p:cNvSpPr txBox="1"/>
              <p:nvPr/>
            </p:nvSpPr>
            <p:spPr>
              <a:xfrm>
                <a:off x="2976" y="3748"/>
                <a:ext cx="2448" cy="250"/>
              </a:xfrm>
              <a:prstGeom prst="rect">
                <a:avLst/>
              </a:prstGeom>
              <a:noFill/>
              <a:ln w="9525">
                <a:noFill/>
              </a:ln>
            </p:spPr>
            <p:txBody>
              <a:bodyPr>
                <a:spAutoFit/>
              </a:bodyPr>
              <a:lstStyle/>
              <a:p>
                <a:pPr algn="ctr">
                  <a:spcBef>
                    <a:spcPct val="50000"/>
                  </a:spcBef>
                </a:pPr>
                <a:r>
                  <a:rPr lang="zh-CN" altLang="en-US" sz="2000" b="1" dirty="0">
                    <a:solidFill>
                      <a:srgbClr val="FF0000"/>
                    </a:solidFill>
                    <a:latin typeface="Times New Roman" panose="02020603050405020304" pitchFamily="18" charset="0"/>
                  </a:rPr>
                  <a:t>大型船用柴油机汽缸体</a:t>
                </a:r>
                <a:r>
                  <a:rPr lang="en-US" altLang="zh-CN" sz="2000" b="1">
                    <a:solidFill>
                      <a:srgbClr val="FF0000"/>
                    </a:solidFill>
                    <a:latin typeface="Times New Roman" panose="02020603050405020304" pitchFamily="18" charset="0"/>
                    <a:ea typeface="楷体_GB2312" pitchFamily="49" charset="-122"/>
                  </a:rPr>
                  <a:t>(HT-300)</a:t>
                </a:r>
              </a:p>
            </p:txBody>
          </p:sp>
          <p:pic>
            <p:nvPicPr>
              <p:cNvPr id="28681" name="Picture 7" descr="1[1]"/>
              <p:cNvPicPr>
                <a:picLocks noChangeAspect="1"/>
              </p:cNvPicPr>
              <p:nvPr/>
            </p:nvPicPr>
            <p:blipFill>
              <a:blip r:embed="rId2"/>
              <a:stretch>
                <a:fillRect/>
              </a:stretch>
            </p:blipFill>
            <p:spPr>
              <a:xfrm>
                <a:off x="288" y="1872"/>
                <a:ext cx="2310" cy="1826"/>
              </a:xfrm>
              <a:prstGeom prst="rect">
                <a:avLst/>
              </a:prstGeom>
              <a:noFill/>
              <a:ln w="38100" cap="flat" cmpd="sng">
                <a:solidFill>
                  <a:schemeClr val="accent1"/>
                </a:solidFill>
                <a:prstDash val="solid"/>
                <a:miter/>
                <a:headEnd type="none" w="med" len="med"/>
                <a:tailEnd type="none" w="med" len="med"/>
              </a:ln>
            </p:spPr>
          </p:pic>
          <p:pic>
            <p:nvPicPr>
              <p:cNvPr id="28682" name="Picture 8" descr="4[1]"/>
              <p:cNvPicPr>
                <a:picLocks noChangeAspect="1"/>
              </p:cNvPicPr>
              <p:nvPr/>
            </p:nvPicPr>
            <p:blipFill>
              <a:blip r:embed="rId3"/>
              <a:stretch>
                <a:fillRect/>
              </a:stretch>
            </p:blipFill>
            <p:spPr>
              <a:xfrm>
                <a:off x="2784" y="1872"/>
                <a:ext cx="2761" cy="1821"/>
              </a:xfrm>
              <a:prstGeom prst="rect">
                <a:avLst/>
              </a:prstGeom>
              <a:noFill/>
              <a:ln w="38100" cap="flat" cmpd="sng">
                <a:solidFill>
                  <a:schemeClr val="accent1"/>
                </a:solidFill>
                <a:prstDash val="solid"/>
                <a:miter/>
                <a:headEnd type="none" w="med" len="med"/>
                <a:tailEnd type="none" w="med" len="med"/>
              </a:ln>
            </p:spPr>
          </p:pic>
          <p:sp>
            <p:nvSpPr>
              <p:cNvPr id="28683" name="Text Box 9"/>
              <p:cNvSpPr txBox="1"/>
              <p:nvPr/>
            </p:nvSpPr>
            <p:spPr>
              <a:xfrm>
                <a:off x="288" y="3748"/>
                <a:ext cx="2304" cy="250"/>
              </a:xfrm>
              <a:prstGeom prst="rect">
                <a:avLst/>
              </a:prstGeom>
              <a:noFill/>
              <a:ln w="9525">
                <a:noFill/>
              </a:ln>
            </p:spPr>
            <p:txBody>
              <a:bodyPr>
                <a:spAutoFit/>
              </a:bodyPr>
              <a:lstStyle/>
              <a:p>
                <a:pPr algn="ctr">
                  <a:spcBef>
                    <a:spcPct val="50000"/>
                  </a:spcBef>
                </a:pPr>
                <a:r>
                  <a:rPr lang="zh-CN" altLang="en-US" sz="2000" b="1" dirty="0">
                    <a:solidFill>
                      <a:srgbClr val="FF0000"/>
                    </a:solidFill>
                    <a:latin typeface="Times New Roman" panose="02020603050405020304" pitchFamily="18" charset="0"/>
                  </a:rPr>
                  <a:t>重型机床床身</a:t>
                </a:r>
                <a:r>
                  <a:rPr lang="en-US" altLang="zh-CN" sz="2000" b="1">
                    <a:solidFill>
                      <a:srgbClr val="FF0000"/>
                    </a:solidFill>
                    <a:latin typeface="Times New Roman" panose="02020603050405020304" pitchFamily="18" charset="0"/>
                    <a:ea typeface="楷体_GB2312" pitchFamily="49" charset="-122"/>
                  </a:rPr>
                  <a:t>(HT-250)</a:t>
                </a:r>
              </a:p>
            </p:txBody>
          </p:sp>
        </p:grpSp>
        <p:grpSp>
          <p:nvGrpSpPr>
            <p:cNvPr id="28677" name="Group 24"/>
            <p:cNvGrpSpPr/>
            <p:nvPr/>
          </p:nvGrpSpPr>
          <p:grpSpPr>
            <a:xfrm>
              <a:off x="3456" y="288"/>
              <a:ext cx="2081" cy="1594"/>
              <a:chOff x="3456" y="288"/>
              <a:chExt cx="2081" cy="1594"/>
            </a:xfrm>
          </p:grpSpPr>
          <p:pic>
            <p:nvPicPr>
              <p:cNvPr id="28678" name="Picture 21" descr="灰铸铁变速箱"/>
              <p:cNvPicPr>
                <a:picLocks noChangeAspect="1"/>
              </p:cNvPicPr>
              <p:nvPr/>
            </p:nvPicPr>
            <p:blipFill>
              <a:blip r:embed="rId4"/>
              <a:stretch>
                <a:fillRect/>
              </a:stretch>
            </p:blipFill>
            <p:spPr>
              <a:xfrm>
                <a:off x="3456" y="288"/>
                <a:ext cx="2081" cy="1586"/>
              </a:xfrm>
              <a:prstGeom prst="rect">
                <a:avLst/>
              </a:prstGeom>
              <a:noFill/>
              <a:ln w="38100" cap="flat" cmpd="sng">
                <a:solidFill>
                  <a:srgbClr val="FF00FF"/>
                </a:solidFill>
                <a:prstDash val="solid"/>
                <a:miter/>
                <a:headEnd type="none" w="med" len="med"/>
                <a:tailEnd type="none" w="med" len="med"/>
              </a:ln>
            </p:spPr>
          </p:pic>
          <p:sp>
            <p:nvSpPr>
              <p:cNvPr id="28679" name="Text Box 23"/>
              <p:cNvSpPr txBox="1"/>
              <p:nvPr/>
            </p:nvSpPr>
            <p:spPr>
              <a:xfrm>
                <a:off x="3456" y="1632"/>
                <a:ext cx="816" cy="250"/>
              </a:xfrm>
              <a:prstGeom prst="rect">
                <a:avLst/>
              </a:prstGeom>
              <a:solidFill>
                <a:srgbClr val="FFFF00"/>
              </a:solidFill>
              <a:ln w="9525">
                <a:noFill/>
              </a:ln>
            </p:spPr>
            <p:txBody>
              <a:bodyPr>
                <a:spAutoFit/>
              </a:bodyPr>
              <a:lstStyle/>
              <a:p>
                <a:pPr>
                  <a:spcBef>
                    <a:spcPct val="50000"/>
                  </a:spcBef>
                </a:pPr>
                <a:r>
                  <a:rPr lang="zh-CN" altLang="en-US" sz="2000" b="1" dirty="0">
                    <a:latin typeface="Times New Roman" panose="02020603050405020304" pitchFamily="18" charset="0"/>
                  </a:rPr>
                  <a:t>变速箱体</a:t>
                </a: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500063" y="500063"/>
          <a:ext cx="8143930" cy="6215104"/>
        </p:xfrm>
        <a:graphic>
          <a:graphicData uri="http://schemas.openxmlformats.org/drawingml/2006/table">
            <a:tbl>
              <a:tblPr/>
              <a:tblGrid>
                <a:gridCol w="723181">
                  <a:extLst>
                    <a:ext uri="{9D8B030D-6E8A-4147-A177-3AD203B41FA5}">
                      <a16:colId xmlns:a16="http://schemas.microsoft.com/office/drawing/2014/main" val="20000"/>
                    </a:ext>
                  </a:extLst>
                </a:gridCol>
                <a:gridCol w="723181">
                  <a:extLst>
                    <a:ext uri="{9D8B030D-6E8A-4147-A177-3AD203B41FA5}">
                      <a16:colId xmlns:a16="http://schemas.microsoft.com/office/drawing/2014/main" val="20001"/>
                    </a:ext>
                  </a:extLst>
                </a:gridCol>
                <a:gridCol w="723181">
                  <a:extLst>
                    <a:ext uri="{9D8B030D-6E8A-4147-A177-3AD203B41FA5}">
                      <a16:colId xmlns:a16="http://schemas.microsoft.com/office/drawing/2014/main" val="20002"/>
                    </a:ext>
                  </a:extLst>
                </a:gridCol>
                <a:gridCol w="1420301">
                  <a:extLst>
                    <a:ext uri="{9D8B030D-6E8A-4147-A177-3AD203B41FA5}">
                      <a16:colId xmlns:a16="http://schemas.microsoft.com/office/drawing/2014/main" val="20003"/>
                    </a:ext>
                  </a:extLst>
                </a:gridCol>
                <a:gridCol w="723181">
                  <a:extLst>
                    <a:ext uri="{9D8B030D-6E8A-4147-A177-3AD203B41FA5}">
                      <a16:colId xmlns:a16="http://schemas.microsoft.com/office/drawing/2014/main" val="20004"/>
                    </a:ext>
                  </a:extLst>
                </a:gridCol>
                <a:gridCol w="697121">
                  <a:extLst>
                    <a:ext uri="{9D8B030D-6E8A-4147-A177-3AD203B41FA5}">
                      <a16:colId xmlns:a16="http://schemas.microsoft.com/office/drawing/2014/main" val="20005"/>
                    </a:ext>
                  </a:extLst>
                </a:gridCol>
                <a:gridCol w="3133784">
                  <a:extLst>
                    <a:ext uri="{9D8B030D-6E8A-4147-A177-3AD203B41FA5}">
                      <a16:colId xmlns:a16="http://schemas.microsoft.com/office/drawing/2014/main" val="20006"/>
                    </a:ext>
                  </a:extLst>
                </a:gridCol>
              </a:tblGrid>
              <a:tr h="298790">
                <a:tc rowSpan="2">
                  <a:txBody>
                    <a:bodyPr/>
                    <a:lstStyle/>
                    <a:p>
                      <a:pPr algn="ctr">
                        <a:lnSpc>
                          <a:spcPct val="120000"/>
                        </a:lnSpc>
                        <a:spcAft>
                          <a:spcPts val="0"/>
                        </a:spcAft>
                      </a:pPr>
                      <a:r>
                        <a:rPr lang="zh-CN" sz="1600" b="1" kern="100" dirty="0">
                          <a:latin typeface="华文中宋" panose="02010600040101010101" pitchFamily="2" charset="-122"/>
                          <a:ea typeface="华文中宋" panose="02010600040101010101" pitchFamily="2" charset="-122"/>
                          <a:cs typeface="Times New Roman" panose="02020603050405020304"/>
                        </a:rPr>
                        <a:t>牌号</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20000"/>
                        </a:lnSpc>
                        <a:spcAft>
                          <a:spcPts val="0"/>
                        </a:spcAft>
                      </a:pPr>
                      <a:r>
                        <a:rPr lang="zh-CN" sz="1600" b="1" kern="100">
                          <a:latin typeface="华文中宋" panose="02010600040101010101" pitchFamily="2" charset="-122"/>
                          <a:ea typeface="华文中宋" panose="02010600040101010101" pitchFamily="2" charset="-122"/>
                          <a:cs typeface="Times New Roman" panose="02020603050405020304"/>
                        </a:rPr>
                        <a:t>铸件壁厚</a:t>
                      </a:r>
                      <a:r>
                        <a:rPr lang="en-US" sz="1600" b="1" kern="100">
                          <a:latin typeface="华文中宋" panose="02010600040101010101" pitchFamily="2" charset="-122"/>
                          <a:ea typeface="华文中宋" panose="02010600040101010101" pitchFamily="2" charset="-122"/>
                          <a:cs typeface="Times New Roman" panose="02020603050405020304"/>
                        </a:rPr>
                        <a:t>/mm</a:t>
                      </a:r>
                      <a:endParaRPr lang="zh-CN" sz="1600" b="1" kern="100">
                        <a:latin typeface="华文中宋" panose="02010600040101010101" pitchFamily="2" charset="-122"/>
                        <a:ea typeface="华文中宋" panose="0201060004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rowSpan="2">
                  <a:txBody>
                    <a:bodyPr/>
                    <a:lstStyle/>
                    <a:p>
                      <a:pPr algn="ctr">
                        <a:lnSpc>
                          <a:spcPct val="120000"/>
                        </a:lnSpc>
                        <a:spcAft>
                          <a:spcPts val="0"/>
                        </a:spcAft>
                      </a:pPr>
                      <a:r>
                        <a:rPr lang="zh-CN" sz="1600" b="1" kern="100">
                          <a:latin typeface="华文中宋" panose="02010600040101010101" pitchFamily="2" charset="-122"/>
                          <a:ea typeface="华文中宋" panose="02010600040101010101" pitchFamily="2" charset="-122"/>
                          <a:cs typeface="Times New Roman" panose="02020603050405020304"/>
                        </a:rPr>
                        <a:t>最小抗拉强度</a:t>
                      </a:r>
                    </a:p>
                    <a:p>
                      <a:pPr algn="ctr">
                        <a:lnSpc>
                          <a:spcPct val="120000"/>
                        </a:lnSpc>
                        <a:spcAft>
                          <a:spcPts val="0"/>
                        </a:spcAft>
                      </a:pPr>
                      <a:r>
                        <a:rPr lang="zh-CN" sz="1600" b="1" kern="100">
                          <a:latin typeface="华文中宋" panose="02010600040101010101" pitchFamily="2" charset="-122"/>
                          <a:ea typeface="华文中宋" panose="02010600040101010101" pitchFamily="2" charset="-122"/>
                          <a:cs typeface="Times New Roman" panose="02020603050405020304"/>
                        </a:rPr>
                        <a:t>σ</a:t>
                      </a:r>
                      <a:r>
                        <a:rPr lang="en-US" sz="1600" b="1" kern="100" baseline="-25000">
                          <a:latin typeface="华文中宋" panose="02010600040101010101" pitchFamily="2" charset="-122"/>
                          <a:ea typeface="华文中宋" panose="02010600040101010101" pitchFamily="2" charset="-122"/>
                          <a:cs typeface="Times New Roman" panose="02020603050405020304"/>
                        </a:rPr>
                        <a:t>b</a:t>
                      </a:r>
                      <a:r>
                        <a:rPr lang="en-US" sz="1600" b="1" kern="100">
                          <a:latin typeface="华文中宋" panose="02010600040101010101" pitchFamily="2" charset="-122"/>
                          <a:ea typeface="华文中宋" panose="02010600040101010101" pitchFamily="2" charset="-122"/>
                          <a:cs typeface="Times New Roman" panose="02020603050405020304"/>
                        </a:rPr>
                        <a:t>/MPa</a:t>
                      </a:r>
                      <a:endParaRPr lang="zh-CN" sz="1600" b="1" kern="100">
                        <a:latin typeface="华文中宋" panose="02010600040101010101" pitchFamily="2" charset="-122"/>
                        <a:ea typeface="华文中宋" panose="0201060004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20000"/>
                        </a:lnSpc>
                        <a:spcAft>
                          <a:spcPts val="0"/>
                        </a:spcAft>
                      </a:pPr>
                      <a:r>
                        <a:rPr lang="zh-CN" sz="1600" b="1" kern="100">
                          <a:latin typeface="华文中宋" panose="02010600040101010101" pitchFamily="2" charset="-122"/>
                          <a:ea typeface="华文中宋" panose="02010600040101010101" pitchFamily="2" charset="-122"/>
                          <a:cs typeface="Times New Roman" panose="02020603050405020304"/>
                        </a:rPr>
                        <a:t>显微组织</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rowSpan="2">
                  <a:txBody>
                    <a:bodyPr/>
                    <a:lstStyle/>
                    <a:p>
                      <a:pPr algn="ctr">
                        <a:lnSpc>
                          <a:spcPct val="120000"/>
                        </a:lnSpc>
                        <a:spcAft>
                          <a:spcPts val="0"/>
                        </a:spcAft>
                      </a:pPr>
                      <a:r>
                        <a:rPr lang="zh-CN" sz="1600" b="1" kern="100" dirty="0">
                          <a:latin typeface="华文中宋" panose="02010600040101010101" pitchFamily="2" charset="-122"/>
                          <a:ea typeface="华文中宋" panose="02010600040101010101" pitchFamily="2" charset="-122"/>
                          <a:cs typeface="Times New Roman" panose="02020603050405020304"/>
                        </a:rPr>
                        <a:t>用途</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89374">
                <a:tc vMerge="1">
                  <a:txBody>
                    <a:bodyPr/>
                    <a:lstStyle/>
                    <a:p>
                      <a:endParaRPr lang="zh-CN"/>
                    </a:p>
                  </a:txBody>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&gt;</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kern="100">
                          <a:latin typeface="Calibri" panose="020F0502020204030204"/>
                          <a:ea typeface="宋体" panose="02010600030101010101" pitchFamily="2" charset="-122"/>
                          <a:cs typeface="Times New Roman" panose="02020603050405020304"/>
                        </a:rPr>
                        <a:t>≤</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lnSpc>
                          <a:spcPct val="120000"/>
                        </a:lnSpc>
                        <a:spcAft>
                          <a:spcPts val="0"/>
                        </a:spcAft>
                      </a:pPr>
                      <a:r>
                        <a:rPr lang="zh-CN" sz="1400" kern="100">
                          <a:latin typeface="Calibri" panose="020F0502020204030204"/>
                          <a:ea typeface="宋体" panose="02010600030101010101" pitchFamily="2" charset="-122"/>
                          <a:cs typeface="Times New Roman" panose="02020603050405020304"/>
                        </a:rPr>
                        <a:t>基体</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kern="100" dirty="0">
                          <a:latin typeface="Calibri" panose="020F0502020204030204"/>
                          <a:ea typeface="宋体" panose="02010600030101010101" pitchFamily="2" charset="-122"/>
                          <a:cs typeface="Times New Roman" panose="02020603050405020304"/>
                        </a:rPr>
                        <a:t>石墨</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1022224">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HT100</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2.5</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20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30</a:t>
                      </a:r>
                      <a:endParaRPr lang="zh-CN" sz="1400" kern="100" dirty="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50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130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100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90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80</a:t>
                      </a:r>
                      <a:endParaRPr lang="zh-CN" sz="1400" kern="100" dirty="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F+P</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粗</a:t>
                      </a:r>
                    </a:p>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b="1" kern="100">
                          <a:latin typeface="Calibri" panose="020F0502020204030204"/>
                          <a:ea typeface="宋体" panose="02010600030101010101" pitchFamily="2" charset="-122"/>
                          <a:cs typeface="Times New Roman" panose="02020603050405020304"/>
                        </a:rPr>
                        <a:t>适于制造载荷小、对摩擦和磨损无特殊要求的不重要的简单铸件，如防护罩、盖、手轮、支架、以及钢锭模、冶矿设备中的高炉平衡锤、炼炉重锤等</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22224">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HT150</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2.5</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20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30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50</a:t>
                      </a:r>
                      <a:endParaRPr lang="zh-CN" sz="1400" kern="100" dirty="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175</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145</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130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120</a:t>
                      </a:r>
                      <a:endParaRPr lang="zh-CN" sz="1400" kern="100" dirty="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dirty="0">
                          <a:solidFill>
                            <a:srgbClr val="FF0000"/>
                          </a:solidFill>
                          <a:latin typeface="Calibri" panose="020F0502020204030204"/>
                          <a:ea typeface="宋体" panose="02010600030101010101" pitchFamily="2" charset="-122"/>
                          <a:cs typeface="Times New Roman" panose="02020603050405020304"/>
                        </a:rPr>
                        <a:t>F+P</a:t>
                      </a:r>
                      <a:endParaRPr lang="zh-CN" sz="1600" b="1" kern="100" dirty="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较粗</a:t>
                      </a:r>
                    </a:p>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b="1" kern="100">
                          <a:latin typeface="Calibri" panose="020F0502020204030204"/>
                          <a:ea typeface="宋体" panose="02010600030101010101" pitchFamily="2" charset="-122"/>
                          <a:cs typeface="Times New Roman" panose="02020603050405020304"/>
                        </a:rPr>
                        <a:t>用于制造承受中等载荷的铸件，如机座、刀架、床身、工作台、箱体、轴承座、支架、带轮、端盖、泵体、阀体、阀盖、进排气管等</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2224">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HT200</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2.5</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50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195</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170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160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dirty="0">
                          <a:solidFill>
                            <a:srgbClr val="FF0000"/>
                          </a:solidFill>
                          <a:latin typeface="Calibri" panose="020F0502020204030204"/>
                          <a:ea typeface="宋体" panose="02010600030101010101" pitchFamily="2" charset="-122"/>
                          <a:cs typeface="Times New Roman" panose="02020603050405020304"/>
                        </a:rPr>
                        <a:t>P</a:t>
                      </a:r>
                      <a:endParaRPr lang="zh-CN" sz="1600" b="1" kern="100" dirty="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中等</a:t>
                      </a:r>
                    </a:p>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b="1" kern="100" dirty="0">
                          <a:latin typeface="Calibri" panose="020F0502020204030204"/>
                          <a:ea typeface="宋体" panose="02010600030101010101" pitchFamily="2" charset="-122"/>
                          <a:cs typeface="Times New Roman" panose="02020603050405020304"/>
                        </a:rPr>
                        <a:t>用于制造承受较大载荷和要求一定气密性或耐蚀性等重要铸件，如机床床身、立柱、齿轮箱、汽缸、活塞、刹车轮、联轴器盘、中等压力阀体等</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2224">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HT250</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4.0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50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270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240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P</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较细</a:t>
                      </a:r>
                    </a:p>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400" b="1" kern="100" dirty="0">
                          <a:latin typeface="Calibri" panose="020F0502020204030204"/>
                          <a:ea typeface="宋体" panose="02010600030101010101" pitchFamily="2" charset="-122"/>
                          <a:cs typeface="Times New Roman" panose="02020603050405020304"/>
                        </a:rPr>
                        <a:t>适于制造汽缸、油缸、衬筒、泵体、阀体、齿轮箱体、齿轮、划线平板、水平仪、内燃机的活塞环等</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69022">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HT300</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50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290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250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S</a:t>
                      </a:r>
                      <a:r>
                        <a:rPr lang="zh-CN" sz="1600" b="1" kern="100">
                          <a:solidFill>
                            <a:srgbClr val="FF0000"/>
                          </a:solidFill>
                          <a:latin typeface="Calibri" panose="020F0502020204030204"/>
                          <a:ea typeface="宋体" panose="02010600030101010101" pitchFamily="2" charset="-122"/>
                          <a:cs typeface="Times New Roman" panose="02020603050405020304"/>
                        </a:rPr>
                        <a:t>或</a:t>
                      </a:r>
                      <a:r>
                        <a:rPr lang="en-US" sz="1600" b="1" kern="100">
                          <a:solidFill>
                            <a:srgbClr val="FF0000"/>
                          </a:solidFill>
                          <a:latin typeface="Calibri" panose="020F0502020204030204"/>
                          <a:ea typeface="宋体" panose="02010600030101010101" pitchFamily="2" charset="-122"/>
                          <a:cs typeface="Times New Roman" panose="02020603050405020304"/>
                        </a:rPr>
                        <a:t>T</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细小</a:t>
                      </a:r>
                    </a:p>
                    <a:p>
                      <a:pPr algn="ctr">
                        <a:lnSpc>
                          <a:spcPct val="120000"/>
                        </a:lnSpc>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20000"/>
                        </a:lnSpc>
                        <a:spcAft>
                          <a:spcPts val="0"/>
                        </a:spcAft>
                      </a:pPr>
                      <a:r>
                        <a:rPr lang="zh-CN" sz="1400" b="1" kern="100" dirty="0">
                          <a:latin typeface="Calibri" panose="020F0502020204030204"/>
                          <a:ea typeface="宋体" panose="02010600030101010101" pitchFamily="2" charset="-122"/>
                          <a:cs typeface="Times New Roman" panose="02020603050405020304"/>
                        </a:rPr>
                        <a:t>适于制造承受高载荷、耐磨和高气密性重要铸件，如重型机床、剪床、压力机及自动车床的床身、机座、机架，高压液压件，活塞环，受力较大的齿轮、凸轮、衬套，大型发动机的曲轴、汽缸体、汽缸套等</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69022">
                <a:tc>
                  <a:txBody>
                    <a:bodyPr/>
                    <a:lstStyle/>
                    <a:p>
                      <a:pPr algn="ctr">
                        <a:lnSpc>
                          <a:spcPct val="120000"/>
                        </a:lnSpc>
                        <a:spcAft>
                          <a:spcPts val="0"/>
                        </a:spcAft>
                      </a:pPr>
                      <a:r>
                        <a:rPr lang="en-US" sz="1600" b="1" kern="100" dirty="0">
                          <a:solidFill>
                            <a:srgbClr val="FF0000"/>
                          </a:solidFill>
                          <a:latin typeface="Calibri" panose="020F0502020204030204"/>
                          <a:ea typeface="宋体" panose="02010600030101010101" pitchFamily="2" charset="-122"/>
                          <a:cs typeface="Times New Roman" panose="02020603050405020304"/>
                        </a:rPr>
                        <a:t>HT350</a:t>
                      </a:r>
                      <a:endParaRPr lang="zh-CN" sz="1600" b="1" kern="100" dirty="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10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20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30</a:t>
                      </a:r>
                      <a:endParaRPr lang="zh-CN" sz="1400" kern="10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a:latin typeface="Calibri" panose="020F0502020204030204"/>
                          <a:ea typeface="宋体" panose="02010600030101010101" pitchFamily="2" charset="-122"/>
                          <a:cs typeface="Times New Roman" panose="02020603050405020304"/>
                        </a:rPr>
                        <a:t>50</a:t>
                      </a:r>
                      <a:endParaRPr lang="zh-CN" sz="1400" kern="10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340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290</a:t>
                      </a:r>
                      <a:endParaRPr lang="zh-CN" sz="1400" kern="100" dirty="0">
                        <a:latin typeface="Calibri" panose="020F0502020204030204"/>
                        <a:ea typeface="宋体" panose="02010600030101010101" pitchFamily="2" charset="-122"/>
                        <a:cs typeface="Times New Roman" panose="02020603050405020304"/>
                      </a:endParaRPr>
                    </a:p>
                    <a:p>
                      <a:pPr algn="ctr">
                        <a:lnSpc>
                          <a:spcPct val="120000"/>
                        </a:lnSpc>
                        <a:spcAft>
                          <a:spcPts val="0"/>
                        </a:spcAft>
                      </a:pPr>
                      <a:r>
                        <a:rPr lang="en-US" sz="1400" kern="100" dirty="0">
                          <a:latin typeface="Calibri" panose="020F0502020204030204"/>
                          <a:ea typeface="宋体" panose="02010600030101010101" pitchFamily="2" charset="-122"/>
                          <a:cs typeface="Times New Roman" panose="02020603050405020304"/>
                        </a:rPr>
                        <a:t>260</a:t>
                      </a:r>
                      <a:endParaRPr lang="zh-CN" sz="1400" kern="100" dirty="0">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en-US" sz="1600" b="1" kern="100">
                          <a:solidFill>
                            <a:srgbClr val="FF0000"/>
                          </a:solidFill>
                          <a:latin typeface="Calibri" panose="020F0502020204030204"/>
                          <a:ea typeface="宋体" panose="02010600030101010101" pitchFamily="2" charset="-122"/>
                          <a:cs typeface="Times New Roman" panose="02020603050405020304"/>
                        </a:rPr>
                        <a:t>S</a:t>
                      </a:r>
                      <a:r>
                        <a:rPr lang="zh-CN" sz="1600" b="1" kern="100">
                          <a:solidFill>
                            <a:srgbClr val="FF0000"/>
                          </a:solidFill>
                          <a:latin typeface="Calibri" panose="020F0502020204030204"/>
                          <a:ea typeface="宋体" panose="02010600030101010101" pitchFamily="2" charset="-122"/>
                          <a:cs typeface="Times New Roman" panose="02020603050405020304"/>
                        </a:rPr>
                        <a:t>或</a:t>
                      </a:r>
                      <a:r>
                        <a:rPr lang="en-US" sz="1600" b="1" kern="100">
                          <a:solidFill>
                            <a:srgbClr val="FF0000"/>
                          </a:solidFill>
                          <a:latin typeface="Calibri" panose="020F0502020204030204"/>
                          <a:ea typeface="宋体" panose="02010600030101010101" pitchFamily="2" charset="-122"/>
                          <a:cs typeface="Times New Roman" panose="02020603050405020304"/>
                        </a:rPr>
                        <a:t>T</a:t>
                      </a:r>
                      <a:endParaRPr lang="zh-CN" sz="1600" b="1" kern="100">
                        <a:solidFill>
                          <a:srgbClr val="FF0000"/>
                        </a:solidFill>
                        <a:latin typeface="Calibri" panose="020F0502020204030204"/>
                        <a:ea typeface="宋体" panose="02010600030101010101" pitchFamily="2" charset="-122"/>
                        <a:cs typeface="Times New Roman" panose="02020603050405020304"/>
                      </a:endParaRP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细小</a:t>
                      </a:r>
                    </a:p>
                    <a:p>
                      <a:pPr algn="ctr">
                        <a:lnSpc>
                          <a:spcPct val="120000"/>
                        </a:lnSpc>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片状</a:t>
                      </a:r>
                    </a:p>
                  </a:txBody>
                  <a:tcPr marL="28566" marR="28566"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7"/>
                  </a:ext>
                </a:extLst>
              </a:tr>
            </a:tbl>
          </a:graphicData>
        </a:graphic>
      </p:graphicFrame>
      <p:sp>
        <p:nvSpPr>
          <p:cNvPr id="6" name="矩形 5"/>
          <p:cNvSpPr/>
          <p:nvPr/>
        </p:nvSpPr>
        <p:spPr>
          <a:xfrm>
            <a:off x="1963738" y="0"/>
            <a:ext cx="5108575"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灰口铸件的分类、牌号、组织及用途</a:t>
            </a:r>
            <a:endParaRPr kumimoji="1" lang="zh-CN" altLang="en-US" sz="24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4313" y="142875"/>
            <a:ext cx="2749550"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3366FF"/>
              </a:buClr>
              <a:buSzPct val="80000"/>
              <a:buFontTx/>
              <a:buNone/>
              <a:defRPr/>
            </a:pPr>
            <a:r>
              <a:rPr kumimoji="1" lang="zh-CN" altLang="en-US" sz="3200" b="1" i="0" u="none" strike="noStrike" kern="0" cap="none" spc="0" normalizeH="0" baseline="0" noProof="0" dirty="0">
                <a:ln>
                  <a:noFill/>
                </a:ln>
                <a:solidFill>
                  <a:srgbClr val="0000FF"/>
                </a:solidFill>
                <a:effectLst/>
                <a:uLnTx/>
                <a:uFillTx/>
                <a:latin typeface="Times New Roman" panose="02020603050405020304"/>
                <a:ea typeface="华文中宋" panose="02010600040101010101" pitchFamily="2" charset="-122"/>
                <a:cs typeface="+mn-cs"/>
              </a:rPr>
              <a:t>二、 球墨铸铁</a:t>
            </a:r>
          </a:p>
        </p:txBody>
      </p:sp>
      <p:sp>
        <p:nvSpPr>
          <p:cNvPr id="3" name="矩形 2"/>
          <p:cNvSpPr/>
          <p:nvPr/>
        </p:nvSpPr>
        <p:spPr>
          <a:xfrm>
            <a:off x="214313" y="714375"/>
            <a:ext cx="8929688" cy="1098550"/>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2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在浇注前向铁水中加入</a:t>
            </a:r>
            <a:r>
              <a:rPr kumimoji="0" lang="zh-CN" altLang="en-US" sz="22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球化剂和孕育剂</a:t>
            </a:r>
            <a:r>
              <a:rPr kumimoji="0" lang="zh-CN" altLang="en-US" sz="22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进行球化处理和孕育处理，则可获得</a:t>
            </a:r>
            <a:r>
              <a:rPr kumimoji="0" lang="zh-CN" altLang="en-US" sz="22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石墨呈球状分布的铸铁</a:t>
            </a:r>
            <a:r>
              <a:rPr kumimoji="0" lang="zh-CN" altLang="en-US" sz="22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，称为</a:t>
            </a:r>
            <a:r>
              <a:rPr kumimoji="0" lang="zh-CN" altLang="en-US" sz="22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球墨铸铁，简称“球铁”。</a:t>
            </a:r>
            <a:endParaRPr kumimoji="1" lang="zh-CN" altLang="en-US" sz="22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sp>
        <p:nvSpPr>
          <p:cNvPr id="4" name="矩形 3"/>
          <p:cNvSpPr/>
          <p:nvPr/>
        </p:nvSpPr>
        <p:spPr>
          <a:xfrm>
            <a:off x="142875" y="1857375"/>
            <a:ext cx="2222500"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1</a:t>
            </a:r>
            <a:r>
              <a:rPr kumimoji="0" lang="zh-CN" altLang="en-US"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、成分和牌号</a:t>
            </a:r>
            <a:endParaRPr kumimoji="1" lang="zh-CN" altLang="en-US" sz="24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
        <p:nvSpPr>
          <p:cNvPr id="5" name="矩形 4"/>
          <p:cNvSpPr/>
          <p:nvPr/>
        </p:nvSpPr>
        <p:spPr>
          <a:xfrm>
            <a:off x="214313" y="2286000"/>
            <a:ext cx="8715375" cy="2518125"/>
          </a:xfrm>
          <a:prstGeom prst="rect">
            <a:avLst/>
          </a:prstGeom>
        </p:spPr>
        <p:txBody>
          <a:bodyPr>
            <a:spAutoFit/>
          </a:body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3.5</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3.9%C</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为了获得共晶成分的铸件</a:t>
            </a:r>
            <a:endPar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endParaRPr>
          </a:p>
          <a:p>
            <a:pPr lvl="0">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0.02</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0.06%RE</a:t>
            </a:r>
            <a:r>
              <a:rPr lang="zh-CN" altLang="en-US" sz="2300" b="1" kern="0" dirty="0">
                <a:solidFill>
                  <a:srgbClr val="FF0000"/>
                </a:solidFill>
                <a:latin typeface="Arial" panose="020B0604020202020204"/>
              </a:rPr>
              <a:t>（</a:t>
            </a:r>
            <a:r>
              <a:rPr lang="zh-CN" altLang="zh-CN" sz="2300" b="1" kern="0" dirty="0">
                <a:solidFill>
                  <a:srgbClr val="FF0000"/>
                </a:solidFill>
                <a:latin typeface="Arial" panose="020B0604020202020204"/>
              </a:rPr>
              <a:t>稀土元素</a:t>
            </a:r>
            <a:r>
              <a:rPr lang="zh-CN" altLang="en-US" sz="2300" b="1" kern="0" dirty="0">
                <a:solidFill>
                  <a:srgbClr val="FF0000"/>
                </a:solidFill>
                <a:latin typeface="Arial" panose="020B0604020202020204"/>
              </a:rPr>
              <a:t>）</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0.03</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0.06%Mg</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球化剂</a:t>
            </a:r>
            <a:endPar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S˂0.06%</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硫与镁、稀土具有很强的亲和力</a:t>
            </a:r>
            <a:endPar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2.0</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2.6%Si</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zh-CN" altLang="en-US" sz="1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镁和稀土是阻止石墨化的元素，需要加入硅铁进行孕育处理</a:t>
            </a:r>
            <a:endParaRPr kumimoji="0" lang="en-US" altLang="zh-CN" sz="18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pP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　</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P˂0.1%</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0.6</a:t>
            </a:r>
            <a:r>
              <a:rPr kumimoji="0" lang="zh-CN" altLang="en-US"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a:t>
            </a:r>
            <a:r>
              <a:rPr kumimoji="0" lang="en-US" altLang="zh-CN" sz="2300" b="1" i="0" u="none" strike="noStrike" kern="0" cap="none" spc="0" normalizeH="0" baseline="0" noProof="0" dirty="0">
                <a:ln>
                  <a:noFill/>
                </a:ln>
                <a:solidFill>
                  <a:srgbClr val="FF0000"/>
                </a:solidFill>
                <a:effectLst/>
                <a:uLnTx/>
                <a:uFillTx/>
                <a:latin typeface="Arial" panose="020B0604020202020204"/>
                <a:ea typeface="宋体" panose="02010600030101010101" pitchFamily="2" charset="-122"/>
                <a:cs typeface="+mn-cs"/>
              </a:rPr>
              <a:t>1.0%Mn</a:t>
            </a:r>
            <a:endParaRPr kumimoji="1" lang="zh-CN" altLang="en-US" sz="23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31750" name="矩形 7"/>
          <p:cNvSpPr/>
          <p:nvPr/>
        </p:nvSpPr>
        <p:spPr>
          <a:xfrm>
            <a:off x="214313" y="4929188"/>
            <a:ext cx="8501062" cy="1708150"/>
          </a:xfrm>
          <a:prstGeom prst="rect">
            <a:avLst/>
          </a:prstGeom>
          <a:noFill/>
          <a:ln w="9525">
            <a:noFill/>
          </a:ln>
        </p:spPr>
        <p:txBody>
          <a:bodyPr>
            <a:spAutoFit/>
          </a:bodyPr>
          <a:lstStyle/>
          <a:p>
            <a:pPr>
              <a:lnSpc>
                <a:spcPct val="150000"/>
              </a:lnSpc>
              <a:buFont typeface="Wingdings" panose="05000000000000000000" pitchFamily="2" charset="2"/>
              <a:buChar char="l"/>
            </a:pPr>
            <a:r>
              <a:rPr lang="zh-CN" altLang="en-US" sz="2200" b="1" dirty="0">
                <a:latin typeface="Times New Roman" panose="02020603050405020304" pitchFamily="18" charset="0"/>
              </a:rPr>
              <a:t>　牌号表示：</a:t>
            </a:r>
            <a:r>
              <a:rPr lang="en-US" altLang="zh-CN" sz="2400" b="1" dirty="0">
                <a:solidFill>
                  <a:srgbClr val="FFCC00"/>
                </a:solidFill>
                <a:latin typeface="Times New Roman" panose="02020603050405020304" pitchFamily="18" charset="0"/>
              </a:rPr>
              <a:t> </a:t>
            </a:r>
            <a:r>
              <a:rPr lang="en-US" altLang="zh-CN" sz="2400" b="1" dirty="0">
                <a:solidFill>
                  <a:srgbClr val="0000FF"/>
                </a:solidFill>
                <a:latin typeface="Times New Roman" panose="02020603050405020304" pitchFamily="18" charset="0"/>
              </a:rPr>
              <a:t>QT</a:t>
            </a:r>
            <a:r>
              <a:rPr lang="zh-CN" altLang="en-US" sz="2400" b="1" dirty="0">
                <a:solidFill>
                  <a:srgbClr val="0000FF"/>
                </a:solidFill>
                <a:latin typeface="Times New Roman" panose="02020603050405020304" pitchFamily="18" charset="0"/>
              </a:rPr>
              <a:t>＋数字－－数字</a:t>
            </a:r>
            <a:endParaRPr lang="en-US" altLang="zh-CN" sz="2200" b="1" dirty="0">
              <a:solidFill>
                <a:srgbClr val="0000FF"/>
              </a:solidFill>
              <a:latin typeface="Times New Roman" panose="02020603050405020304" pitchFamily="18" charset="0"/>
            </a:endParaRPr>
          </a:p>
          <a:p>
            <a:pPr>
              <a:lnSpc>
                <a:spcPct val="150000"/>
              </a:lnSpc>
            </a:pPr>
            <a:r>
              <a:rPr lang="en-US" altLang="zh-CN" sz="2200" b="1" dirty="0">
                <a:solidFill>
                  <a:srgbClr val="FF0000"/>
                </a:solidFill>
                <a:latin typeface="Times New Roman" panose="02020603050405020304" pitchFamily="18" charset="0"/>
              </a:rPr>
              <a:t>QT</a:t>
            </a:r>
            <a:r>
              <a:rPr lang="zh-CN" altLang="en-US" sz="2200" b="1" dirty="0">
                <a:solidFill>
                  <a:srgbClr val="FF0000"/>
                </a:solidFill>
                <a:latin typeface="Times New Roman" panose="02020603050405020304" pitchFamily="18" charset="0"/>
              </a:rPr>
              <a:t>为球铁汉语拼音的字首</a:t>
            </a:r>
            <a:endParaRPr lang="en-US" altLang="zh-CN" sz="2200" b="1" dirty="0">
              <a:solidFill>
                <a:srgbClr val="FF0000"/>
              </a:solidFill>
              <a:latin typeface="Times New Roman" panose="02020603050405020304" pitchFamily="18" charset="0"/>
            </a:endParaRPr>
          </a:p>
          <a:p>
            <a:pPr>
              <a:lnSpc>
                <a:spcPct val="150000"/>
              </a:lnSpc>
            </a:pPr>
            <a:r>
              <a:rPr lang="zh-CN" altLang="en-US" sz="2400" dirty="0">
                <a:latin typeface="Times New Roman" panose="02020603050405020304" pitchFamily="18" charset="0"/>
              </a:rPr>
              <a:t>两组的数字分别表示最低抗拉强度和最低延伸率</a:t>
            </a:r>
            <a:endParaRPr lang="zh-CN" altLang="en-US" sz="2200" b="1" dirty="0">
              <a:solidFill>
                <a:srgbClr val="FF0000"/>
              </a:solidFill>
              <a:latin typeface="Times New Roman" panose="02020603050405020304" pitchFamily="18" charset="0"/>
            </a:endParaRPr>
          </a:p>
        </p:txBody>
      </p:sp>
      <p:sp>
        <p:nvSpPr>
          <p:cNvPr id="31751" name="矩形 6"/>
          <p:cNvSpPr/>
          <p:nvPr/>
        </p:nvSpPr>
        <p:spPr>
          <a:xfrm>
            <a:off x="6716713" y="5253038"/>
            <a:ext cx="1784350" cy="461962"/>
          </a:xfrm>
          <a:prstGeom prst="rect">
            <a:avLst/>
          </a:prstGeom>
          <a:noFill/>
          <a:ln w="9525">
            <a:noFill/>
          </a:ln>
        </p:spPr>
        <p:txBody>
          <a:bodyPr wrap="none">
            <a:spAutoFit/>
          </a:bodyPr>
          <a:lstStyle/>
          <a:p>
            <a:r>
              <a:rPr lang="en-US" altLang="zh-CN" sz="2400" b="1">
                <a:solidFill>
                  <a:srgbClr val="FF0000"/>
                </a:solidFill>
                <a:latin typeface="Times New Roman" panose="02020603050405020304" pitchFamily="18" charset="0"/>
              </a:rPr>
              <a:t> QT400</a:t>
            </a:r>
            <a:r>
              <a:rPr lang="zh-CN" altLang="en-US" sz="2400" b="1" dirty="0">
                <a:solidFill>
                  <a:srgbClr val="FF0000"/>
                </a:solidFill>
                <a:latin typeface="Times New Roman" panose="02020603050405020304" pitchFamily="18" charset="0"/>
              </a:rPr>
              <a:t>－</a:t>
            </a:r>
            <a:r>
              <a:rPr lang="en-US" altLang="zh-CN" sz="2400" b="1">
                <a:solidFill>
                  <a:srgbClr val="FF0000"/>
                </a:solidFill>
                <a:latin typeface="Times New Roman" panose="02020603050405020304" pitchFamily="18" charset="0"/>
              </a:rPr>
              <a:t>17</a:t>
            </a:r>
            <a:endParaRPr lang="zh-CN" altLang="en-US" dirty="0">
              <a:solidFill>
                <a:srgbClr val="FF0000"/>
              </a:solidFill>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3988" y="109538"/>
            <a:ext cx="220345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2</a:t>
            </a:r>
            <a:r>
              <a:rPr kumimoji="0" lang="zh-CN" altLang="en-US"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、组织特征</a:t>
            </a:r>
            <a:endParaRPr kumimoji="1" lang="zh-CN" altLang="en-US" sz="28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grpSp>
        <p:nvGrpSpPr>
          <p:cNvPr id="32771" name="Group 23"/>
          <p:cNvGrpSpPr/>
          <p:nvPr/>
        </p:nvGrpSpPr>
        <p:grpSpPr>
          <a:xfrm>
            <a:off x="296863" y="357188"/>
            <a:ext cx="8847137" cy="6267450"/>
            <a:chOff x="90" y="225"/>
            <a:chExt cx="5573" cy="3948"/>
          </a:xfrm>
        </p:grpSpPr>
        <p:pic>
          <p:nvPicPr>
            <p:cNvPr id="32773" name="Picture 6" descr="8"/>
            <p:cNvPicPr>
              <a:picLocks noChangeAspect="1"/>
            </p:cNvPicPr>
            <p:nvPr/>
          </p:nvPicPr>
          <p:blipFill>
            <a:blip r:embed="rId2"/>
            <a:stretch>
              <a:fillRect/>
            </a:stretch>
          </p:blipFill>
          <p:spPr>
            <a:xfrm>
              <a:off x="90" y="2277"/>
              <a:ext cx="2358" cy="1864"/>
            </a:xfrm>
            <a:prstGeom prst="rect">
              <a:avLst/>
            </a:prstGeom>
            <a:noFill/>
            <a:ln w="57150" cap="flat" cmpd="sng">
              <a:solidFill>
                <a:srgbClr val="FF9900"/>
              </a:solidFill>
              <a:prstDash val="solid"/>
              <a:miter/>
              <a:headEnd type="none" w="med" len="med"/>
              <a:tailEnd type="none" w="med" len="med"/>
            </a:ln>
          </p:spPr>
        </p:pic>
        <p:sp>
          <p:nvSpPr>
            <p:cNvPr id="32774" name="Text Box 9"/>
            <p:cNvSpPr txBox="1"/>
            <p:nvPr/>
          </p:nvSpPr>
          <p:spPr>
            <a:xfrm>
              <a:off x="2475" y="2199"/>
              <a:ext cx="308" cy="1968"/>
            </a:xfrm>
            <a:prstGeom prst="rect">
              <a:avLst/>
            </a:prstGeom>
            <a:noFill/>
            <a:ln w="9525">
              <a:noFill/>
            </a:ln>
          </p:spPr>
          <p:txBody>
            <a:bodyPr vert="eaVert">
              <a:spAutoFit/>
            </a:bodyPr>
            <a:lstStyle/>
            <a:p>
              <a:pPr algn="ctr">
                <a:spcBef>
                  <a:spcPct val="50000"/>
                </a:spcBef>
              </a:pPr>
              <a:r>
                <a:rPr lang="zh-CN" altLang="en-US" sz="2000" b="1" dirty="0">
                  <a:solidFill>
                    <a:schemeClr val="folHlink"/>
                  </a:solidFill>
                  <a:latin typeface="宋体" panose="02010600030101010101" pitchFamily="2" charset="-122"/>
                </a:rPr>
                <a:t>铁素体加珠光体球墨铸铁</a:t>
              </a:r>
              <a:r>
                <a:rPr lang="zh-CN" altLang="en-US" sz="2000" b="1" dirty="0">
                  <a:latin typeface="宋体" panose="02010600030101010101" pitchFamily="2" charset="-122"/>
                </a:rPr>
                <a:t> </a:t>
              </a:r>
            </a:p>
          </p:txBody>
        </p:sp>
        <p:pic>
          <p:nvPicPr>
            <p:cNvPr id="32775" name="Picture 4" descr="6-1"/>
            <p:cNvPicPr>
              <a:picLocks noChangeAspect="1"/>
            </p:cNvPicPr>
            <p:nvPr/>
          </p:nvPicPr>
          <p:blipFill>
            <a:blip r:embed="rId3"/>
            <a:stretch>
              <a:fillRect/>
            </a:stretch>
          </p:blipFill>
          <p:spPr>
            <a:xfrm>
              <a:off x="3039" y="339"/>
              <a:ext cx="2309" cy="1776"/>
            </a:xfrm>
            <a:prstGeom prst="rect">
              <a:avLst/>
            </a:prstGeom>
            <a:noFill/>
            <a:ln w="57150" cap="flat" cmpd="sng">
              <a:solidFill>
                <a:srgbClr val="FF9900"/>
              </a:solidFill>
              <a:prstDash val="solid"/>
              <a:miter/>
              <a:headEnd type="none" w="med" len="med"/>
              <a:tailEnd type="none" w="med" len="med"/>
            </a:ln>
          </p:spPr>
        </p:pic>
        <p:sp>
          <p:nvSpPr>
            <p:cNvPr id="32776" name="Text Box 8"/>
            <p:cNvSpPr txBox="1"/>
            <p:nvPr/>
          </p:nvSpPr>
          <p:spPr>
            <a:xfrm>
              <a:off x="5355" y="225"/>
              <a:ext cx="308" cy="1968"/>
            </a:xfrm>
            <a:prstGeom prst="rect">
              <a:avLst/>
            </a:prstGeom>
            <a:noFill/>
            <a:ln w="9525">
              <a:noFill/>
            </a:ln>
          </p:spPr>
          <p:txBody>
            <a:bodyPr vert="eaVert">
              <a:spAutoFit/>
            </a:bodyPr>
            <a:lstStyle/>
            <a:p>
              <a:pPr algn="ctr">
                <a:spcBef>
                  <a:spcPct val="50000"/>
                </a:spcBef>
              </a:pPr>
              <a:r>
                <a:rPr lang="zh-CN" altLang="en-US" sz="2000" b="1" dirty="0">
                  <a:solidFill>
                    <a:schemeClr val="folHlink"/>
                  </a:solidFill>
                  <a:latin typeface="Times New Roman" panose="02020603050405020304" pitchFamily="18" charset="0"/>
                </a:rPr>
                <a:t>铁素体球墨铸铁</a:t>
              </a:r>
              <a:r>
                <a:rPr lang="zh-CN" altLang="en-US" sz="2000" b="1" dirty="0">
                  <a:latin typeface="Times New Roman" panose="02020603050405020304" pitchFamily="18" charset="0"/>
                  <a:ea typeface="楷体_GB2312" pitchFamily="49" charset="-122"/>
                </a:rPr>
                <a:t> </a:t>
              </a:r>
            </a:p>
          </p:txBody>
        </p:sp>
        <p:pic>
          <p:nvPicPr>
            <p:cNvPr id="32777" name="Picture 5" descr="7"/>
            <p:cNvPicPr>
              <a:picLocks noChangeAspect="1"/>
            </p:cNvPicPr>
            <p:nvPr/>
          </p:nvPicPr>
          <p:blipFill>
            <a:blip r:embed="rId4"/>
            <a:stretch>
              <a:fillRect/>
            </a:stretch>
          </p:blipFill>
          <p:spPr>
            <a:xfrm>
              <a:off x="3040" y="2268"/>
              <a:ext cx="2308" cy="1827"/>
            </a:xfrm>
            <a:prstGeom prst="rect">
              <a:avLst/>
            </a:prstGeom>
            <a:noFill/>
            <a:ln w="57150" cap="flat" cmpd="sng">
              <a:solidFill>
                <a:srgbClr val="FF9900"/>
              </a:solidFill>
              <a:prstDash val="solid"/>
              <a:miter/>
              <a:headEnd type="none" w="med" len="med"/>
              <a:tailEnd type="none" w="med" len="med"/>
            </a:ln>
          </p:spPr>
        </p:pic>
        <p:sp>
          <p:nvSpPr>
            <p:cNvPr id="32778" name="Text Box 10"/>
            <p:cNvSpPr txBox="1"/>
            <p:nvPr/>
          </p:nvSpPr>
          <p:spPr>
            <a:xfrm>
              <a:off x="5355" y="2205"/>
              <a:ext cx="308" cy="1968"/>
            </a:xfrm>
            <a:prstGeom prst="rect">
              <a:avLst/>
            </a:prstGeom>
            <a:noFill/>
            <a:ln w="9525">
              <a:noFill/>
            </a:ln>
          </p:spPr>
          <p:txBody>
            <a:bodyPr vert="eaVert">
              <a:spAutoFit/>
            </a:bodyPr>
            <a:lstStyle/>
            <a:p>
              <a:pPr algn="ctr">
                <a:spcBef>
                  <a:spcPct val="50000"/>
                </a:spcBef>
              </a:pPr>
              <a:r>
                <a:rPr lang="zh-CN" altLang="en-US" sz="2000" b="1" dirty="0">
                  <a:solidFill>
                    <a:schemeClr val="folHlink"/>
                  </a:solidFill>
                  <a:latin typeface="Times New Roman" panose="02020603050405020304" pitchFamily="18" charset="0"/>
                </a:rPr>
                <a:t>珠光体球墨铸铁</a:t>
              </a:r>
              <a:r>
                <a:rPr lang="zh-CN" altLang="en-US" sz="2000" b="1" dirty="0">
                  <a:latin typeface="Times New Roman" panose="02020603050405020304" pitchFamily="18" charset="0"/>
                  <a:ea typeface="楷体_GB2312" pitchFamily="49" charset="-122"/>
                </a:rPr>
                <a:t> </a:t>
              </a:r>
            </a:p>
          </p:txBody>
        </p:sp>
      </p:grpSp>
      <p:sp>
        <p:nvSpPr>
          <p:cNvPr id="32772" name="矩形 12"/>
          <p:cNvSpPr/>
          <p:nvPr/>
        </p:nvSpPr>
        <p:spPr>
          <a:xfrm>
            <a:off x="71438" y="642938"/>
            <a:ext cx="4929187" cy="2862262"/>
          </a:xfrm>
          <a:prstGeom prst="rect">
            <a:avLst/>
          </a:prstGeom>
          <a:noFill/>
          <a:ln w="9525">
            <a:noFill/>
          </a:ln>
        </p:spPr>
        <p:txBody>
          <a:bodyPr>
            <a:spAutoFit/>
          </a:bodyPr>
          <a:lstStyle/>
          <a:p>
            <a:pPr>
              <a:lnSpc>
                <a:spcPct val="150000"/>
              </a:lnSpc>
            </a:pPr>
            <a:r>
              <a:rPr lang="zh-CN" altLang="en-US" sz="2400" b="1" dirty="0">
                <a:latin typeface="华文中宋" panose="02010600040101010101" pitchFamily="2" charset="-122"/>
                <a:ea typeface="华文中宋" panose="02010600040101010101" pitchFamily="2" charset="-122"/>
              </a:rPr>
              <a:t>球墨铸铁的显微组织由</a:t>
            </a:r>
            <a:r>
              <a:rPr lang="zh-CN" altLang="en-US" sz="2400" b="1" dirty="0">
                <a:solidFill>
                  <a:srgbClr val="FF0000"/>
                </a:solidFill>
                <a:latin typeface="华文中宋" panose="02010600040101010101" pitchFamily="2" charset="-122"/>
                <a:ea typeface="华文中宋" panose="02010600040101010101" pitchFamily="2" charset="-122"/>
              </a:rPr>
              <a:t>球形石墨和金属基体</a:t>
            </a:r>
            <a:r>
              <a:rPr lang="zh-CN" altLang="en-US" sz="2400" b="1" dirty="0">
                <a:latin typeface="华文中宋" panose="02010600040101010101" pitchFamily="2" charset="-122"/>
                <a:ea typeface="华文中宋" panose="02010600040101010101" pitchFamily="2" charset="-122"/>
              </a:rPr>
              <a:t>两部分组成。随着成分和冷却速度的不同，球铁在铸态下的金属基体可分为</a:t>
            </a:r>
            <a:r>
              <a:rPr lang="zh-CN" altLang="en-US" sz="2400" b="1" dirty="0">
                <a:solidFill>
                  <a:srgbClr val="FF0000"/>
                </a:solidFill>
                <a:latin typeface="华文中宋" panose="02010600040101010101" pitchFamily="2" charset="-122"/>
                <a:ea typeface="华文中宋" panose="02010600040101010101" pitchFamily="2" charset="-122"/>
              </a:rPr>
              <a:t>铁素体、铁素体加珠光体、珠光体</a:t>
            </a:r>
            <a:r>
              <a:rPr lang="zh-CN" altLang="en-US" sz="2400" b="1" dirty="0">
                <a:latin typeface="华文中宋" panose="02010600040101010101" pitchFamily="2" charset="-122"/>
                <a:ea typeface="华文中宋" panose="02010600040101010101" pitchFamily="2" charset="-122"/>
              </a:rPr>
              <a:t>三种。</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3988" y="261938"/>
            <a:ext cx="2203450" cy="523875"/>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3</a:t>
            </a:r>
            <a:r>
              <a:rPr kumimoji="0" lang="zh-CN" altLang="en-US" sz="28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、性能特点</a:t>
            </a:r>
            <a:endParaRPr kumimoji="1" lang="zh-CN" altLang="en-US" sz="28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
        <p:nvSpPr>
          <p:cNvPr id="3" name="矩形 2"/>
          <p:cNvSpPr/>
          <p:nvPr/>
        </p:nvSpPr>
        <p:spPr>
          <a:xfrm>
            <a:off x="142875" y="955675"/>
            <a:ext cx="8929688" cy="830263"/>
          </a:xfrm>
          <a:prstGeom prst="rect">
            <a:avLst/>
          </a:prstGeom>
        </p:spPr>
        <p:txBody>
          <a:bodyPr anchor="ctr">
            <a:spAutoFit/>
          </a:bodyPr>
          <a:lstStyle/>
          <a:p>
            <a:pPr marL="360045" marR="0" lvl="0" indent="-36004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球状石墨应力集中小，对金属基体的削弱小，基体强度利用率高。与灰口铸铁相比，</a:t>
            </a:r>
            <a:r>
              <a:rPr kumimoji="0" lang="zh-CN" altLang="en-US"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具有较高的强度、硬度和塑性</a:t>
            </a:r>
            <a:r>
              <a:rPr kumimoji="0" lang="zh-CN" altLang="en-US" sz="2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a:t>
            </a:r>
            <a:endParaRPr kumimoji="1" lang="zh-CN" altLang="en-US" sz="24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sp>
        <p:nvSpPr>
          <p:cNvPr id="33796" name="矩形 3"/>
          <p:cNvSpPr/>
          <p:nvPr/>
        </p:nvSpPr>
        <p:spPr>
          <a:xfrm>
            <a:off x="142875" y="2071688"/>
            <a:ext cx="8929688" cy="461962"/>
          </a:xfrm>
          <a:prstGeom prst="rect">
            <a:avLst/>
          </a:prstGeom>
          <a:noFill/>
          <a:ln w="9525">
            <a:noFill/>
          </a:ln>
        </p:spPr>
        <p:txBody>
          <a:bodyPr anchor="ctr" anchorCtr="0">
            <a:spAutoFit/>
          </a:bodyPr>
          <a:lstStyle/>
          <a:p>
            <a:pPr marL="358775" indent="-358775">
              <a:buFont typeface="Wingdings" panose="05000000000000000000" pitchFamily="2" charset="2"/>
              <a:buChar char="Ø"/>
            </a:pPr>
            <a:r>
              <a:rPr lang="zh-CN" altLang="en-US" sz="2400" b="1" dirty="0">
                <a:solidFill>
                  <a:srgbClr val="FF0000"/>
                </a:solidFill>
                <a:latin typeface="华文中宋" panose="02010600040101010101" pitchFamily="2" charset="-122"/>
                <a:ea typeface="华文中宋" panose="02010600040101010101" pitchFamily="2" charset="-122"/>
              </a:rPr>
              <a:t>球状石墨直径越小，越分散，力学性能越好。</a:t>
            </a:r>
          </a:p>
        </p:txBody>
      </p:sp>
      <p:sp>
        <p:nvSpPr>
          <p:cNvPr id="33797" name="矩形 4"/>
          <p:cNvSpPr/>
          <p:nvPr/>
        </p:nvSpPr>
        <p:spPr>
          <a:xfrm>
            <a:off x="142875" y="2895600"/>
            <a:ext cx="8929688" cy="461963"/>
          </a:xfrm>
          <a:prstGeom prst="rect">
            <a:avLst/>
          </a:prstGeom>
          <a:noFill/>
          <a:ln w="9525">
            <a:noFill/>
          </a:ln>
        </p:spPr>
        <p:txBody>
          <a:bodyPr anchor="ctr" anchorCtr="0">
            <a:spAutoFit/>
          </a:bodyPr>
          <a:lstStyle/>
          <a:p>
            <a:pPr marL="358775" indent="-358775">
              <a:buFont typeface="Wingdings" panose="05000000000000000000" pitchFamily="2" charset="2"/>
              <a:buChar char="Ø"/>
            </a:pPr>
            <a:r>
              <a:rPr lang="zh-CN" altLang="en-US" sz="2400" b="1" dirty="0">
                <a:solidFill>
                  <a:srgbClr val="FF0000"/>
                </a:solidFill>
                <a:latin typeface="华文中宋" panose="02010600040101010101" pitchFamily="2" charset="-122"/>
                <a:ea typeface="华文中宋" panose="02010600040101010101" pitchFamily="2" charset="-122"/>
              </a:rPr>
              <a:t>铁素体球墨铸铁</a:t>
            </a:r>
            <a:r>
              <a:rPr lang="zh-CN" altLang="en-US" sz="2400" b="1" dirty="0">
                <a:solidFill>
                  <a:srgbClr val="0000FF"/>
                </a:solidFill>
                <a:latin typeface="华文中宋" panose="02010600040101010101" pitchFamily="2" charset="-122"/>
                <a:ea typeface="华文中宋" panose="02010600040101010101" pitchFamily="2" charset="-122"/>
              </a:rPr>
              <a:t>具有高的塑性和韧性，但强度和硬度较低</a:t>
            </a:r>
            <a:r>
              <a:rPr lang="zh-CN" altLang="en-US" sz="2400" b="1" dirty="0">
                <a:solidFill>
                  <a:srgbClr val="FF0000"/>
                </a:solidFill>
                <a:latin typeface="华文中宋" panose="02010600040101010101" pitchFamily="2" charset="-122"/>
                <a:ea typeface="华文中宋" panose="02010600040101010101" pitchFamily="2" charset="-122"/>
              </a:rPr>
              <a:t>。</a:t>
            </a:r>
          </a:p>
        </p:txBody>
      </p:sp>
      <p:sp>
        <p:nvSpPr>
          <p:cNvPr id="33798" name="矩形 5"/>
          <p:cNvSpPr/>
          <p:nvPr/>
        </p:nvSpPr>
        <p:spPr>
          <a:xfrm>
            <a:off x="142875" y="3681413"/>
            <a:ext cx="8001000" cy="461962"/>
          </a:xfrm>
          <a:prstGeom prst="rect">
            <a:avLst/>
          </a:prstGeom>
          <a:noFill/>
          <a:ln w="9525">
            <a:noFill/>
          </a:ln>
        </p:spPr>
        <p:txBody>
          <a:bodyPr anchor="ctr" anchorCtr="0">
            <a:spAutoFit/>
          </a:bodyPr>
          <a:lstStyle/>
          <a:p>
            <a:pPr marL="358775" indent="-358775">
              <a:buFont typeface="Wingdings" panose="05000000000000000000" pitchFamily="2" charset="2"/>
              <a:buChar char="Ø"/>
            </a:pPr>
            <a:r>
              <a:rPr lang="zh-CN" altLang="en-US" sz="2400" b="1" dirty="0">
                <a:solidFill>
                  <a:srgbClr val="FF0000"/>
                </a:solidFill>
                <a:latin typeface="华文中宋" panose="02010600040101010101" pitchFamily="2" charset="-122"/>
                <a:ea typeface="华文中宋" panose="02010600040101010101" pitchFamily="2" charset="-122"/>
              </a:rPr>
              <a:t>珠光体球墨铸铁</a:t>
            </a:r>
            <a:r>
              <a:rPr lang="zh-CN" altLang="en-US" sz="2400" b="1" dirty="0">
                <a:solidFill>
                  <a:srgbClr val="0000FF"/>
                </a:solidFill>
                <a:latin typeface="华文中宋" panose="02010600040101010101" pitchFamily="2" charset="-122"/>
                <a:ea typeface="华文中宋" panose="02010600040101010101" pitchFamily="2" charset="-122"/>
              </a:rPr>
              <a:t>强度较高，但塑性和韧性较低</a:t>
            </a:r>
            <a:r>
              <a:rPr lang="zh-CN" altLang="en-US" sz="2400" b="1" dirty="0">
                <a:solidFill>
                  <a:srgbClr val="FF0000"/>
                </a:solidFill>
                <a:latin typeface="华文中宋" panose="02010600040101010101" pitchFamily="2" charset="-122"/>
                <a:ea typeface="华文中宋" panose="02010600040101010101" pitchFamily="2" charset="-122"/>
              </a:rPr>
              <a:t>。</a:t>
            </a:r>
          </a:p>
        </p:txBody>
      </p:sp>
      <p:sp>
        <p:nvSpPr>
          <p:cNvPr id="33799" name="矩形 6"/>
          <p:cNvSpPr/>
          <p:nvPr/>
        </p:nvSpPr>
        <p:spPr>
          <a:xfrm>
            <a:off x="142875" y="4456272"/>
            <a:ext cx="8786813" cy="829945"/>
          </a:xfrm>
          <a:prstGeom prst="rect">
            <a:avLst/>
          </a:prstGeom>
          <a:noFill/>
          <a:ln w="9525">
            <a:noFill/>
          </a:ln>
        </p:spPr>
        <p:txBody>
          <a:bodyPr anchor="ctr" anchorCtr="0">
            <a:spAutoFit/>
          </a:bodyPr>
          <a:lstStyle/>
          <a:p>
            <a:pPr marL="358775" indent="-358775">
              <a:buFont typeface="Wingdings" panose="05000000000000000000" pitchFamily="2" charset="2"/>
              <a:buChar char="Ø"/>
            </a:pPr>
            <a:r>
              <a:rPr lang="zh-CN" altLang="en-US" sz="2400" b="1" dirty="0">
                <a:solidFill>
                  <a:srgbClr val="0000FF"/>
                </a:solidFill>
                <a:latin typeface="Times New Roman" panose="02020603050405020304" pitchFamily="18" charset="0"/>
                <a:ea typeface="华文中宋" panose="02010600040101010101" pitchFamily="2" charset="-122"/>
              </a:rPr>
              <a:t>强度是碳钢的</a:t>
            </a:r>
            <a:r>
              <a:rPr lang="en-US" altLang="zh-CN" sz="2400" b="1" dirty="0">
                <a:solidFill>
                  <a:srgbClr val="0000FF"/>
                </a:solidFill>
                <a:latin typeface="Times New Roman" panose="02020603050405020304" pitchFamily="18" charset="0"/>
                <a:ea typeface="华文中宋" panose="02010600040101010101" pitchFamily="2" charset="-122"/>
              </a:rPr>
              <a:t>70~90%</a:t>
            </a:r>
            <a:r>
              <a:rPr lang="zh-CN" altLang="en-US" sz="2400" b="1" dirty="0">
                <a:solidFill>
                  <a:srgbClr val="0000FF"/>
                </a:solidFill>
                <a:latin typeface="Times New Roman" panose="02020603050405020304" pitchFamily="18" charset="0"/>
                <a:ea typeface="华文中宋" panose="02010600040101010101" pitchFamily="2" charset="-122"/>
              </a:rPr>
              <a:t>，可以替代碳钢和合金钢制造受力复杂，强度、韧性和耐磨性要求高的零件。</a:t>
            </a:r>
            <a:endParaRPr lang="zh-CN" altLang="en-US" sz="2400" b="1" dirty="0">
              <a:solidFill>
                <a:srgbClr val="FF0000"/>
              </a:solidFill>
              <a:latin typeface="华文中宋" panose="02010600040101010101" pitchFamily="2" charset="-122"/>
              <a:ea typeface="华文中宋" panose="02010600040101010101" pitchFamily="2" charset="-122"/>
            </a:endParaRPr>
          </a:p>
        </p:txBody>
      </p:sp>
      <p:sp>
        <p:nvSpPr>
          <p:cNvPr id="33800" name="矩形 7"/>
          <p:cNvSpPr/>
          <p:nvPr/>
        </p:nvSpPr>
        <p:spPr>
          <a:xfrm>
            <a:off x="142875" y="5538788"/>
            <a:ext cx="8001000" cy="461962"/>
          </a:xfrm>
          <a:prstGeom prst="rect">
            <a:avLst/>
          </a:prstGeom>
          <a:noFill/>
          <a:ln w="9525">
            <a:noFill/>
          </a:ln>
        </p:spPr>
        <p:txBody>
          <a:bodyPr anchor="ctr" anchorCtr="0">
            <a:spAutoFit/>
          </a:bodyPr>
          <a:lstStyle/>
          <a:p>
            <a:pPr marL="358775" indent="-358775">
              <a:buFont typeface="Wingdings" panose="05000000000000000000" pitchFamily="2" charset="2"/>
              <a:buChar char="Ø"/>
            </a:pPr>
            <a:r>
              <a:rPr lang="zh-CN" altLang="en-US" sz="2400" b="1" dirty="0">
                <a:solidFill>
                  <a:schemeClr val="folHlink"/>
                </a:solidFill>
                <a:latin typeface="Times New Roman" panose="02020603050405020304" pitchFamily="18" charset="0"/>
                <a:ea typeface="华文中宋" panose="02010600040101010101" pitchFamily="2" charset="-122"/>
              </a:rPr>
              <a:t>屈强比</a:t>
            </a:r>
            <a:r>
              <a:rPr lang="en-US" altLang="zh-CN" sz="2400" b="1">
                <a:solidFill>
                  <a:schemeClr val="folHlink"/>
                </a:solidFill>
                <a:latin typeface="Times New Roman" panose="02020603050405020304" pitchFamily="18" charset="0"/>
                <a:ea typeface="华文中宋" panose="02010600040101010101" pitchFamily="2" charset="-122"/>
              </a:rPr>
              <a:t>(</a:t>
            </a:r>
            <a:r>
              <a:rPr lang="en-US" altLang="zh-CN" sz="2400" b="1">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baseline="-30000">
                <a:solidFill>
                  <a:schemeClr val="folHlink"/>
                </a:solidFill>
                <a:latin typeface="Times New Roman" panose="02020603050405020304" pitchFamily="18" charset="0"/>
                <a:ea typeface="华文中宋" panose="02010600040101010101" pitchFamily="2" charset="-122"/>
              </a:rPr>
              <a:t>0.2</a:t>
            </a:r>
            <a:r>
              <a:rPr lang="en-US" altLang="zh-CN" sz="2400" b="1">
                <a:solidFill>
                  <a:schemeClr val="folHlink"/>
                </a:solidFill>
                <a:latin typeface="Times New Roman" panose="02020603050405020304" pitchFamily="18" charset="0"/>
                <a:ea typeface="华文中宋" panose="02010600040101010101" pitchFamily="2" charset="-122"/>
              </a:rPr>
              <a:t> /</a:t>
            </a:r>
            <a:r>
              <a:rPr lang="en-US" altLang="zh-CN" sz="2400" b="1">
                <a:solidFill>
                  <a:schemeClr val="folHlink"/>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2400" b="1" baseline="-30000">
                <a:solidFill>
                  <a:schemeClr val="folHlink"/>
                </a:solidFill>
                <a:latin typeface="Times New Roman" panose="02020603050405020304" pitchFamily="18" charset="0"/>
                <a:ea typeface="华文中宋" panose="02010600040101010101" pitchFamily="2" charset="-122"/>
              </a:rPr>
              <a:t>b</a:t>
            </a:r>
            <a:r>
              <a:rPr lang="en-US" altLang="zh-CN" sz="2400" b="1">
                <a:solidFill>
                  <a:schemeClr val="folHlink"/>
                </a:solidFill>
                <a:latin typeface="Times New Roman" panose="02020603050405020304" pitchFamily="18" charset="0"/>
                <a:ea typeface="华文中宋" panose="02010600040101010101" pitchFamily="2" charset="-122"/>
              </a:rPr>
              <a:t>)</a:t>
            </a:r>
            <a:r>
              <a:rPr lang="zh-CN" altLang="en-US" sz="2400" b="1" dirty="0">
                <a:solidFill>
                  <a:schemeClr val="folHlink"/>
                </a:solidFill>
                <a:latin typeface="Times New Roman" panose="02020603050405020304" pitchFamily="18" charset="0"/>
                <a:ea typeface="华文中宋" panose="02010600040101010101" pitchFamily="2" charset="-122"/>
              </a:rPr>
              <a:t>高</a:t>
            </a:r>
            <a:r>
              <a:rPr lang="en-US" altLang="zh-CN" sz="2400" b="1">
                <a:solidFill>
                  <a:schemeClr val="folHlink"/>
                </a:solidFill>
                <a:latin typeface="Times New Roman" panose="02020603050405020304" pitchFamily="18" charset="0"/>
                <a:ea typeface="华文中宋" panose="02010600040101010101" pitchFamily="2" charset="-122"/>
              </a:rPr>
              <a:t>, </a:t>
            </a:r>
            <a:r>
              <a:rPr lang="zh-CN" altLang="en-US" sz="2400" b="1" dirty="0">
                <a:solidFill>
                  <a:schemeClr val="folHlink"/>
                </a:solidFill>
                <a:latin typeface="Times New Roman" panose="02020603050405020304" pitchFamily="18" charset="0"/>
                <a:ea typeface="华文中宋" panose="02010600040101010101" pitchFamily="2" charset="-122"/>
              </a:rPr>
              <a:t>约为</a:t>
            </a:r>
            <a:r>
              <a:rPr lang="en-US" altLang="zh-CN" sz="2400" b="1">
                <a:solidFill>
                  <a:schemeClr val="folHlink"/>
                </a:solidFill>
                <a:latin typeface="Times New Roman" panose="02020603050405020304" pitchFamily="18" charset="0"/>
                <a:ea typeface="华文中宋" panose="02010600040101010101" pitchFamily="2" charset="-122"/>
              </a:rPr>
              <a:t>0.7~0.8, </a:t>
            </a:r>
            <a:r>
              <a:rPr lang="zh-CN" altLang="en-US" sz="2400" b="1" dirty="0">
                <a:solidFill>
                  <a:schemeClr val="folHlink"/>
                </a:solidFill>
                <a:latin typeface="Times New Roman" panose="02020603050405020304" pitchFamily="18" charset="0"/>
                <a:ea typeface="华文中宋" panose="02010600040101010101" pitchFamily="2" charset="-122"/>
              </a:rPr>
              <a:t>而钢一般只有</a:t>
            </a:r>
            <a:r>
              <a:rPr lang="en-US" altLang="zh-CN" sz="2400" b="1">
                <a:solidFill>
                  <a:schemeClr val="folHlink"/>
                </a:solidFill>
                <a:latin typeface="Times New Roman" panose="02020603050405020304" pitchFamily="18" charset="0"/>
                <a:ea typeface="华文中宋" panose="02010600040101010101" pitchFamily="2" charset="-122"/>
              </a:rPr>
              <a:t>0.3~0.5</a:t>
            </a:r>
            <a:r>
              <a:rPr lang="zh-CN" altLang="en-US" sz="2400" b="1" dirty="0">
                <a:solidFill>
                  <a:schemeClr val="folHlink"/>
                </a:solidFill>
                <a:latin typeface="Times New Roman" panose="02020603050405020304" pitchFamily="18" charset="0"/>
                <a:ea typeface="华文中宋" panose="02010600040101010101" pitchFamily="2" charset="-122"/>
              </a:rPr>
              <a:t>。 </a:t>
            </a:r>
            <a:endParaRPr lang="zh-CN" altLang="en-US" sz="2400" b="1" dirty="0">
              <a:solidFill>
                <a:srgbClr val="FF0000"/>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p:cNvSpPr>
          <p:nvPr>
            <p:ph idx="1"/>
          </p:nvPr>
        </p:nvSpPr>
        <p:spPr>
          <a:xfrm>
            <a:off x="357188" y="1038225"/>
            <a:ext cx="3186112" cy="2319338"/>
          </a:xfrm>
          <a:ln/>
        </p:spPr>
        <p:txBody>
          <a:bodyPr vert="horz" wrap="square" lIns="91440" tIns="45720" rIns="91440" bIns="45720" anchor="t" anchorCtr="0"/>
          <a:lstStyle/>
          <a:p>
            <a:pPr marL="0" indent="0" eaLnBrk="1" hangingPunct="1">
              <a:lnSpc>
                <a:spcPct val="150000"/>
              </a:lnSpc>
              <a:buNone/>
            </a:pPr>
            <a:r>
              <a:rPr lang="zh-CN" altLang="en-US" sz="2800" b="1" dirty="0">
                <a:latin typeface="华文中宋" panose="02010600040101010101" pitchFamily="2" charset="-122"/>
                <a:ea typeface="华文中宋" panose="02010600040101010101" pitchFamily="2" charset="-122"/>
              </a:rPr>
              <a:t>承受震动、载荷大的零件，</a:t>
            </a:r>
            <a:r>
              <a:rPr lang="zh-CN" altLang="en-US" sz="2800" b="1" dirty="0">
                <a:solidFill>
                  <a:srgbClr val="FF0000"/>
                </a:solidFill>
                <a:latin typeface="华文中宋" panose="02010600040101010101" pitchFamily="2" charset="-122"/>
                <a:ea typeface="华文中宋" panose="02010600040101010101" pitchFamily="2" charset="-122"/>
              </a:rPr>
              <a:t>如曲轴、传动齿轮</a:t>
            </a:r>
            <a:r>
              <a:rPr lang="zh-CN" altLang="en-US" sz="2800" b="1" dirty="0">
                <a:latin typeface="华文中宋" panose="02010600040101010101" pitchFamily="2" charset="-122"/>
                <a:ea typeface="华文中宋" panose="02010600040101010101" pitchFamily="2" charset="-122"/>
              </a:rPr>
              <a:t>等。</a:t>
            </a:r>
          </a:p>
        </p:txBody>
      </p:sp>
      <p:grpSp>
        <p:nvGrpSpPr>
          <p:cNvPr id="34819" name="Group 16"/>
          <p:cNvGrpSpPr/>
          <p:nvPr/>
        </p:nvGrpSpPr>
        <p:grpSpPr>
          <a:xfrm>
            <a:off x="152400" y="609600"/>
            <a:ext cx="8845550" cy="5665788"/>
            <a:chOff x="96" y="384"/>
            <a:chExt cx="5572" cy="3569"/>
          </a:xfrm>
        </p:grpSpPr>
        <p:pic>
          <p:nvPicPr>
            <p:cNvPr id="34821" name="Picture 4" descr="8-1"/>
            <p:cNvPicPr>
              <a:picLocks noChangeAspect="1"/>
            </p:cNvPicPr>
            <p:nvPr/>
          </p:nvPicPr>
          <p:blipFill>
            <a:blip r:embed="rId2"/>
            <a:stretch>
              <a:fillRect/>
            </a:stretch>
          </p:blipFill>
          <p:spPr>
            <a:xfrm>
              <a:off x="2448" y="384"/>
              <a:ext cx="3060" cy="2037"/>
            </a:xfrm>
            <a:prstGeom prst="rect">
              <a:avLst/>
            </a:prstGeom>
            <a:noFill/>
            <a:ln w="38100" cap="flat" cmpd="sng">
              <a:solidFill>
                <a:schemeClr val="accent1"/>
              </a:solidFill>
              <a:prstDash val="solid"/>
              <a:miter/>
              <a:headEnd type="none" w="med" len="med"/>
              <a:tailEnd type="none" w="med" len="med"/>
            </a:ln>
          </p:spPr>
        </p:pic>
        <p:sp>
          <p:nvSpPr>
            <p:cNvPr id="34822" name="Text Box 6"/>
            <p:cNvSpPr txBox="1"/>
            <p:nvPr/>
          </p:nvSpPr>
          <p:spPr>
            <a:xfrm>
              <a:off x="4128" y="384"/>
              <a:ext cx="1380" cy="448"/>
            </a:xfrm>
            <a:prstGeom prst="rect">
              <a:avLst/>
            </a:prstGeom>
            <a:solidFill>
              <a:schemeClr val="tx1"/>
            </a:solidFill>
            <a:ln w="9525" cap="flat" cmpd="sng">
              <a:solidFill>
                <a:srgbClr val="333300"/>
              </a:solidFill>
              <a:prstDash val="solid"/>
              <a:miter/>
              <a:headEnd type="none" w="med" len="med"/>
              <a:tailEnd type="none" w="med" len="med"/>
            </a:ln>
          </p:spPr>
          <p:txBody>
            <a:bodyPr>
              <a:spAutoFit/>
            </a:bodyPr>
            <a:lstStyle/>
            <a:p>
              <a:pPr algn="ctr">
                <a:spcBef>
                  <a:spcPct val="50000"/>
                </a:spcBef>
              </a:pPr>
              <a:r>
                <a:rPr lang="zh-CN" altLang="en-US" sz="2000" b="1" dirty="0">
                  <a:solidFill>
                    <a:srgbClr val="800000"/>
                  </a:solidFill>
                  <a:latin typeface="Times New Roman" panose="02020603050405020304" pitchFamily="18" charset="0"/>
                </a:rPr>
                <a:t>核燃料贮存运输容器</a:t>
              </a:r>
              <a:r>
                <a:rPr lang="en-US" altLang="zh-CN" sz="2000" b="1">
                  <a:solidFill>
                    <a:srgbClr val="800000"/>
                  </a:solidFill>
                  <a:latin typeface="Times New Roman" panose="02020603050405020304" pitchFamily="18" charset="0"/>
                  <a:ea typeface="楷体_GB2312" pitchFamily="49" charset="-122"/>
                </a:rPr>
                <a:t>(QT350-22)</a:t>
              </a:r>
            </a:p>
          </p:txBody>
        </p:sp>
        <p:pic>
          <p:nvPicPr>
            <p:cNvPr id="34823" name="Picture 14" descr="铸铁曲轴1"/>
            <p:cNvPicPr>
              <a:picLocks noChangeAspect="1"/>
            </p:cNvPicPr>
            <p:nvPr/>
          </p:nvPicPr>
          <p:blipFill>
            <a:blip r:embed="rId3"/>
            <a:stretch>
              <a:fillRect/>
            </a:stretch>
          </p:blipFill>
          <p:spPr>
            <a:xfrm>
              <a:off x="96" y="2592"/>
              <a:ext cx="5572" cy="1361"/>
            </a:xfrm>
            <a:prstGeom prst="rect">
              <a:avLst/>
            </a:prstGeom>
            <a:noFill/>
            <a:ln w="38100" cap="flat" cmpd="sng">
              <a:solidFill>
                <a:srgbClr val="FF00FF"/>
              </a:solidFill>
              <a:prstDash val="solid"/>
              <a:miter/>
              <a:headEnd type="none" w="med" len="med"/>
              <a:tailEnd type="none" w="med" len="med"/>
            </a:ln>
          </p:spPr>
        </p:pic>
        <p:sp>
          <p:nvSpPr>
            <p:cNvPr id="34824" name="Text Box 15"/>
            <p:cNvSpPr txBox="1"/>
            <p:nvPr/>
          </p:nvSpPr>
          <p:spPr>
            <a:xfrm>
              <a:off x="4656" y="3600"/>
              <a:ext cx="912" cy="288"/>
            </a:xfrm>
            <a:prstGeom prst="rect">
              <a:avLst/>
            </a:prstGeom>
            <a:noFill/>
            <a:ln w="9525">
              <a:noFill/>
            </a:ln>
          </p:spPr>
          <p:txBody>
            <a:bodyPr>
              <a:spAutoFit/>
            </a:bodyPr>
            <a:lstStyle/>
            <a:p>
              <a:pPr>
                <a:spcBef>
                  <a:spcPct val="50000"/>
                </a:spcBef>
              </a:pPr>
              <a:r>
                <a:rPr lang="zh-CN" altLang="en-US" sz="2400" b="1" dirty="0">
                  <a:solidFill>
                    <a:srgbClr val="800000"/>
                  </a:solidFill>
                  <a:latin typeface="Times New Roman" panose="02020603050405020304" pitchFamily="18" charset="0"/>
                </a:rPr>
                <a:t>铸铁曲轴</a:t>
              </a:r>
            </a:p>
          </p:txBody>
        </p:sp>
      </p:grpSp>
      <p:sp>
        <p:nvSpPr>
          <p:cNvPr id="34820" name="矩形 7"/>
          <p:cNvSpPr/>
          <p:nvPr/>
        </p:nvSpPr>
        <p:spPr>
          <a:xfrm>
            <a:off x="401638" y="285750"/>
            <a:ext cx="1670050" cy="584200"/>
          </a:xfrm>
          <a:prstGeom prst="rect">
            <a:avLst/>
          </a:prstGeom>
          <a:noFill/>
          <a:ln w="9525">
            <a:noFill/>
          </a:ln>
        </p:spPr>
        <p:txBody>
          <a:bodyPr wrap="none">
            <a:spAutoFit/>
          </a:bodyPr>
          <a:lstStyle/>
          <a:p>
            <a:pPr marL="342900" indent="-342900">
              <a:spcBef>
                <a:spcPct val="20000"/>
              </a:spcBef>
            </a:pPr>
            <a:r>
              <a:rPr lang="en-US" altLang="zh-CN" sz="3200" b="1">
                <a:solidFill>
                  <a:srgbClr val="0000FF"/>
                </a:solidFill>
                <a:latin typeface="华文中宋" panose="02010600040101010101" pitchFamily="2" charset="-122"/>
                <a:ea typeface="华文中宋" panose="02010600040101010101" pitchFamily="2" charset="-122"/>
              </a:rPr>
              <a:t>4</a:t>
            </a:r>
            <a:r>
              <a:rPr lang="zh-CN" altLang="en-US" sz="3200" b="1" dirty="0">
                <a:solidFill>
                  <a:srgbClr val="0000FF"/>
                </a:solidFill>
                <a:latin typeface="华文中宋" panose="02010600040101010101" pitchFamily="2" charset="-122"/>
                <a:ea typeface="华文中宋" panose="02010600040101010101" pitchFamily="2" charset="-122"/>
              </a:rPr>
              <a:t>、用途</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29" name="表格 35928"/>
          <p:cNvGraphicFramePr/>
          <p:nvPr/>
        </p:nvGraphicFramePr>
        <p:xfrm>
          <a:off x="214313" y="571500"/>
          <a:ext cx="8786813" cy="6134100"/>
        </p:xfrm>
        <a:graphic>
          <a:graphicData uri="http://schemas.openxmlformats.org/drawingml/2006/table">
            <a:tbl>
              <a:tblPr/>
              <a:tblGrid>
                <a:gridCol w="1163638">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881062">
                  <a:extLst>
                    <a:ext uri="{9D8B030D-6E8A-4147-A177-3AD203B41FA5}">
                      <a16:colId xmlns:a16="http://schemas.microsoft.com/office/drawing/2014/main" val="20003"/>
                    </a:ext>
                  </a:extLst>
                </a:gridCol>
                <a:gridCol w="1173163">
                  <a:extLst>
                    <a:ext uri="{9D8B030D-6E8A-4147-A177-3AD203B41FA5}">
                      <a16:colId xmlns:a16="http://schemas.microsoft.com/office/drawing/2014/main" val="20004"/>
                    </a:ext>
                  </a:extLst>
                </a:gridCol>
                <a:gridCol w="1176337">
                  <a:extLst>
                    <a:ext uri="{9D8B030D-6E8A-4147-A177-3AD203B41FA5}">
                      <a16:colId xmlns:a16="http://schemas.microsoft.com/office/drawing/2014/main" val="20005"/>
                    </a:ext>
                  </a:extLst>
                </a:gridCol>
                <a:gridCol w="2087563">
                  <a:extLst>
                    <a:ext uri="{9D8B030D-6E8A-4147-A177-3AD203B41FA5}">
                      <a16:colId xmlns:a16="http://schemas.microsoft.com/office/drawing/2014/main" val="20006"/>
                    </a:ext>
                  </a:extLst>
                </a:gridCol>
              </a:tblGrid>
              <a:tr h="923925">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1600" b="1" dirty="0">
                          <a:solidFill>
                            <a:srgbClr val="0000FF"/>
                          </a:solidFill>
                          <a:cs typeface="Times New Roman" panose="02020603050405020304" pitchFamily="18" charset="0"/>
                        </a:rPr>
                        <a:t>牌号</a:t>
                      </a:r>
                      <a:endParaRPr lang="zh-CN" altLang="en-US" sz="16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抗拉强度</a:t>
                      </a:r>
                    </a:p>
                    <a:p>
                      <a:pPr marL="0" lvl="0" indent="0" algn="ctr" eaLnBrk="1" hangingPunct="1">
                        <a:spcBef>
                          <a:spcPct val="0"/>
                        </a:spcBef>
                        <a:buFontTx/>
                        <a:buNone/>
                      </a:pPr>
                      <a:r>
                        <a:rPr lang="en-US" altLang="zh-CN" sz="2000" b="1" err="1">
                          <a:solidFill>
                            <a:srgbClr val="0000FF"/>
                          </a:solidFill>
                          <a:cs typeface="Times New Roman" panose="02020603050405020304" pitchFamily="18" charset="0"/>
                        </a:rPr>
                        <a:t>σ</a:t>
                      </a:r>
                      <a:r>
                        <a:rPr lang="en-US" altLang="zh-CN" sz="2000" b="1" baseline="-25000" err="1">
                          <a:solidFill>
                            <a:srgbClr val="0000FF"/>
                          </a:solidFill>
                          <a:cs typeface="Times New Roman" panose="02020603050405020304" pitchFamily="18" charset="0"/>
                        </a:rPr>
                        <a:t>b</a:t>
                      </a:r>
                      <a:r>
                        <a:rPr lang="en-US" altLang="zh-CN" sz="2000" b="1" err="1">
                          <a:solidFill>
                            <a:srgbClr val="0000FF"/>
                          </a:solidFill>
                          <a:cs typeface="Times New Roman" panose="02020603050405020304" pitchFamily="18" charset="0"/>
                        </a:rPr>
                        <a:t>/MPa</a:t>
                      </a:r>
                      <a:endParaRPr lang="zh-CN" altLang="zh-CN"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屈服强度</a:t>
                      </a:r>
                    </a:p>
                    <a:p>
                      <a:pPr marL="0" lvl="0" indent="0" algn="ctr" eaLnBrk="1" hangingPunct="1">
                        <a:spcBef>
                          <a:spcPct val="0"/>
                        </a:spcBef>
                        <a:buFontTx/>
                        <a:buNone/>
                      </a:pPr>
                      <a:r>
                        <a:rPr lang="en-US" altLang="zh-CN" sz="2000" b="1">
                          <a:solidFill>
                            <a:srgbClr val="0000FF"/>
                          </a:solidFill>
                          <a:cs typeface="Times New Roman" panose="02020603050405020304" pitchFamily="18" charset="0"/>
                        </a:rPr>
                        <a:t>σ</a:t>
                      </a:r>
                      <a:r>
                        <a:rPr lang="en-US" altLang="zh-CN" sz="2000" b="1" baseline="-25000">
                          <a:solidFill>
                            <a:srgbClr val="0000FF"/>
                          </a:solidFill>
                          <a:cs typeface="Times New Roman" panose="02020603050405020304" pitchFamily="18" charset="0"/>
                        </a:rPr>
                        <a:t>0.2</a:t>
                      </a:r>
                      <a:r>
                        <a:rPr lang="en-US" altLang="zh-CN" sz="2000" b="1">
                          <a:solidFill>
                            <a:srgbClr val="0000FF"/>
                          </a:solidFill>
                          <a:cs typeface="Times New Roman" panose="02020603050405020304" pitchFamily="18" charset="0"/>
                        </a:rPr>
                        <a:t>/MPa</a:t>
                      </a:r>
                      <a:endParaRPr lang="zh-CN" altLang="zh-CN"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伸长率</a:t>
                      </a:r>
                    </a:p>
                    <a:p>
                      <a:pPr marL="0" lvl="0" indent="0" algn="ctr" eaLnBrk="1" hangingPunct="1">
                        <a:spcBef>
                          <a:spcPct val="0"/>
                        </a:spcBef>
                        <a:buFontTx/>
                        <a:buNone/>
                      </a:pPr>
                      <a:r>
                        <a:rPr lang="en-US" altLang="zh-CN" sz="2000" b="1">
                          <a:solidFill>
                            <a:srgbClr val="0000FF"/>
                          </a:solidFill>
                          <a:cs typeface="Times New Roman" panose="02020603050405020304" pitchFamily="18" charset="0"/>
                        </a:rPr>
                        <a:t>δ/%</a:t>
                      </a:r>
                      <a:endParaRPr lang="zh-CN" altLang="zh-CN"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布氏硬度</a:t>
                      </a:r>
                    </a:p>
                    <a:p>
                      <a:pPr marL="0" lvl="0" indent="0" algn="ctr" eaLnBrk="1" hangingPunct="1">
                        <a:spcBef>
                          <a:spcPct val="0"/>
                        </a:spcBef>
                        <a:buFontTx/>
                        <a:buNone/>
                      </a:pPr>
                      <a:r>
                        <a:rPr lang="en-US" altLang="zh-CN" sz="2000" b="1">
                          <a:solidFill>
                            <a:srgbClr val="0000FF"/>
                          </a:solidFill>
                          <a:cs typeface="Times New Roman" panose="02020603050405020304" pitchFamily="18" charset="0"/>
                        </a:rPr>
                        <a:t>HBW</a:t>
                      </a:r>
                      <a:endParaRPr lang="zh-CN" altLang="zh-CN"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基体组织</a:t>
                      </a:r>
                      <a:endParaRPr lang="zh-CN" altLang="en-US"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solidFill>
                            <a:srgbClr val="0000FF"/>
                          </a:solidFill>
                          <a:cs typeface="Times New Roman" panose="02020603050405020304" pitchFamily="18" charset="0"/>
                        </a:rPr>
                        <a:t>应用举例</a:t>
                      </a:r>
                      <a:endParaRPr lang="zh-CN" altLang="en-US" sz="2000" b="1" dirty="0">
                        <a:solidFill>
                          <a:srgbClr val="0000FF"/>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QT400-18</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400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18</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120~175</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F</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cs typeface="Times New Roman" panose="02020603050405020304" pitchFamily="18" charset="0"/>
                        </a:rPr>
                        <a:t>承受冲击和振动的零件，如汽车和拖拉机的轮毂、驱动桥壳体、农机零件，中低压阀门及输气、输水管道</a:t>
                      </a:r>
                      <a:endParaRPr lang="zh-CN" altLang="en-US" sz="2000" b="1"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QT400-15</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400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15</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120~180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F</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3813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QT450-10</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450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310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160~210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F</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38138">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QT500-7</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500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320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7</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170~230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F+P</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4"/>
                  </a:ext>
                </a:extLst>
              </a:tr>
              <a:tr h="75723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QT550-5</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550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350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5</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180~250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F+P</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5"/>
                  </a:ext>
                </a:extLst>
              </a:tr>
              <a:tr h="338138">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QT600-3</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600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370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3</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190~270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P+F</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cs typeface="Times New Roman" panose="02020603050405020304" pitchFamily="18" charset="0"/>
                        </a:rPr>
                        <a:t>负荷大、受力复杂的零件，如汽车、拖拉机的凸轮轴、连杆、曲轴等</a:t>
                      </a:r>
                      <a:endParaRPr lang="zh-CN" altLang="en-US" sz="2000" b="1"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37">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QT700-2</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700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420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225~305</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P</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7"/>
                  </a:ext>
                </a:extLst>
              </a:tr>
              <a:tr h="857250">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QT800-2</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800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480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245~335</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P</a:t>
                      </a:r>
                      <a:r>
                        <a:rPr lang="zh-CN" altLang="en-US" sz="2000" b="1" dirty="0">
                          <a:solidFill>
                            <a:srgbClr val="FF0000"/>
                          </a:solidFill>
                          <a:cs typeface="Times New Roman" panose="02020603050405020304" pitchFamily="18" charset="0"/>
                        </a:rPr>
                        <a:t>或</a:t>
                      </a:r>
                      <a:r>
                        <a:rPr lang="en-US" altLang="zh-CN" sz="2000" b="1">
                          <a:solidFill>
                            <a:srgbClr val="FF0000"/>
                          </a:solidFill>
                          <a:cs typeface="Times New Roman" panose="02020603050405020304" pitchFamily="18" charset="0"/>
                        </a:rPr>
                        <a:t>S</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8"/>
                  </a:ext>
                </a:extLst>
              </a:tr>
              <a:tr h="1533525">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1600" b="1">
                          <a:solidFill>
                            <a:srgbClr val="FF0000"/>
                          </a:solidFill>
                          <a:cs typeface="Times New Roman" panose="02020603050405020304" pitchFamily="18" charset="0"/>
                        </a:rPr>
                        <a:t>QT900-2</a:t>
                      </a:r>
                      <a:endParaRPr lang="zh-CN" altLang="zh-CN" sz="16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900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600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a:cs typeface="Times New Roman" panose="02020603050405020304" pitchFamily="18" charset="0"/>
                        </a:rPr>
                        <a:t>280~360</a:t>
                      </a:r>
                      <a:endParaRPr lang="zh-CN" altLang="zh-CN" sz="2000"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en-US" altLang="zh-CN" sz="2000" b="1">
                          <a:solidFill>
                            <a:srgbClr val="FF0000"/>
                          </a:solidFill>
                          <a:cs typeface="Times New Roman" panose="02020603050405020304" pitchFamily="18" charset="0"/>
                        </a:rPr>
                        <a:t>M</a:t>
                      </a:r>
                      <a:r>
                        <a:rPr lang="zh-CN" altLang="en-US" sz="2000" b="1" baseline="-25000" dirty="0">
                          <a:solidFill>
                            <a:srgbClr val="FF0000"/>
                          </a:solidFill>
                          <a:cs typeface="Times New Roman" panose="02020603050405020304" pitchFamily="18" charset="0"/>
                        </a:rPr>
                        <a:t>回</a:t>
                      </a:r>
                      <a:r>
                        <a:rPr lang="zh-CN" altLang="en-US" sz="2000" b="1" dirty="0">
                          <a:solidFill>
                            <a:srgbClr val="FF0000"/>
                          </a:solidFill>
                          <a:cs typeface="Times New Roman" panose="02020603050405020304" pitchFamily="18" charset="0"/>
                        </a:rPr>
                        <a:t>或</a:t>
                      </a:r>
                      <a:r>
                        <a:rPr lang="en-US" altLang="zh-CN" sz="2000" b="1">
                          <a:solidFill>
                            <a:srgbClr val="FF0000"/>
                          </a:solidFill>
                          <a:cs typeface="Times New Roman" panose="02020603050405020304" pitchFamily="18" charset="0"/>
                        </a:rPr>
                        <a:t>T+S</a:t>
                      </a:r>
                      <a:endParaRPr lang="zh-CN" altLang="zh-CN" sz="2000" b="1" dirty="0">
                        <a:solidFill>
                          <a:srgbClr val="FF0000"/>
                        </a:solidFill>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rtl="0" eaLnBrk="0" fontAlgn="base" hangingPunct="0">
                        <a:spcBef>
                          <a:spcPct val="20000"/>
                        </a:spcBef>
                        <a:spcAft>
                          <a:spcPct val="0"/>
                        </a:spcAft>
                        <a:buClrTx/>
                        <a:buSzTx/>
                        <a:buFont typeface="Arial" panose="020B0604020202020204" pitchFamily="34" charset="0"/>
                        <a:buChar char="•"/>
                        <a:defRPr sz="2800" kern="1200">
                          <a:solidFill>
                            <a:schemeClr val="tx1"/>
                          </a:solidFill>
                          <a:latin typeface="+mn-lt"/>
                          <a:ea typeface="+mn-ea"/>
                          <a:cs typeface="+mn-cs"/>
                        </a:defRPr>
                      </a:lvl1pPr>
                      <a:lvl2pPr marL="742950" lvl="1" indent="-285750" algn="l" rtl="0" eaLnBrk="0" fontAlgn="base" hangingPunct="0">
                        <a:spcBef>
                          <a:spcPct val="20000"/>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1143000" lvl="2" indent="-228600" algn="l" rtl="0" eaLnBrk="0" fontAlgn="base" hangingPunct="0">
                        <a:spcBef>
                          <a:spcPct val="20000"/>
                        </a:spcBef>
                        <a:spcAft>
                          <a:spcPct val="0"/>
                        </a:spcAft>
                        <a:buClrTx/>
                        <a:buSzTx/>
                        <a:buFont typeface="Arial" panose="020B0604020202020204" pitchFamily="34" charset="0"/>
                        <a:buChar char="•"/>
                        <a:defRPr sz="2000" kern="1200">
                          <a:solidFill>
                            <a:schemeClr val="tx1"/>
                          </a:solidFill>
                          <a:latin typeface="+mn-lt"/>
                          <a:ea typeface="+mn-ea"/>
                          <a:cs typeface="+mn-cs"/>
                        </a:defRPr>
                      </a:lvl3pPr>
                      <a:lvl4pPr marL="1600200" lvl="3"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4pPr>
                      <a:lvl5pPr marL="2057400" lvl="4" indent="-228600" algn="l" rtl="0" eaLnBrk="0" fontAlgn="base" hangingPunct="0">
                        <a:spcBef>
                          <a:spcPct val="20000"/>
                        </a:spcBef>
                        <a:spcAft>
                          <a:spcPct val="0"/>
                        </a:spcAft>
                        <a:buClrTx/>
                        <a:buSzTx/>
                        <a:buFont typeface="Arial" panose="020B0604020202020204" pitchFamily="34" charset="0"/>
                        <a:buChar char="»"/>
                        <a:defRPr sz="1800" kern="1200">
                          <a:solidFill>
                            <a:schemeClr val="tx1"/>
                          </a:solidFill>
                          <a:latin typeface="+mn-lt"/>
                          <a:ea typeface="+mn-ea"/>
                          <a:cs typeface="+mn-cs"/>
                        </a:defRPr>
                      </a:lvl5pPr>
                    </a:lstStyle>
                    <a:p>
                      <a:pPr marL="0" lvl="0" indent="0" algn="ctr" eaLnBrk="1" hangingPunct="1">
                        <a:spcBef>
                          <a:spcPct val="0"/>
                        </a:spcBef>
                        <a:buFontTx/>
                        <a:buNone/>
                      </a:pPr>
                      <a:r>
                        <a:rPr lang="zh-CN" altLang="en-US" sz="2000" b="1" dirty="0">
                          <a:cs typeface="Times New Roman" panose="02020603050405020304" pitchFamily="18" charset="0"/>
                        </a:rPr>
                        <a:t>高强度齿轮，如汽车上的螺旋齿轮，拖拉机上的减速齿轮，内燃机曲轴等</a:t>
                      </a:r>
                      <a:endParaRPr lang="zh-CN" altLang="en-US" sz="2000" b="1" dirty="0">
                        <a:ea typeface="Times New Roman" panose="02020603050405020304" pitchFamily="18" charset="0"/>
                      </a:endParaRPr>
                    </a:p>
                  </a:txBody>
                  <a:tcPr marL="57150" marR="57150" marT="9525"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矩形 3"/>
          <p:cNvSpPr/>
          <p:nvPr/>
        </p:nvSpPr>
        <p:spPr>
          <a:xfrm>
            <a:off x="1963738" y="38100"/>
            <a:ext cx="5108575"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球墨铸件的分类、牌号、组织及用途</a:t>
            </a:r>
            <a:endParaRPr kumimoji="1" lang="zh-CN" altLang="en-US" sz="24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4313" y="142875"/>
            <a:ext cx="2749550"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3366FF"/>
              </a:buClr>
              <a:buSzPct val="80000"/>
              <a:buFontTx/>
              <a:buNone/>
              <a:defRPr/>
            </a:pPr>
            <a:r>
              <a:rPr kumimoji="1" lang="zh-CN" altLang="en-US" sz="3200" b="1" i="0" u="none" strike="noStrike" kern="0" cap="none" spc="0" normalizeH="0" baseline="0" noProof="0" dirty="0">
                <a:ln>
                  <a:noFill/>
                </a:ln>
                <a:solidFill>
                  <a:srgbClr val="0000FF"/>
                </a:solidFill>
                <a:effectLst/>
                <a:uLnTx/>
                <a:uFillTx/>
                <a:latin typeface="Times New Roman" panose="02020603050405020304"/>
                <a:ea typeface="华文中宋" panose="02010600040101010101" pitchFamily="2" charset="-122"/>
                <a:cs typeface="+mn-cs"/>
              </a:rPr>
              <a:t>三、 可锻铸铁</a:t>
            </a:r>
          </a:p>
        </p:txBody>
      </p:sp>
      <p:sp>
        <p:nvSpPr>
          <p:cNvPr id="3" name="矩形 2"/>
          <p:cNvSpPr/>
          <p:nvPr/>
        </p:nvSpPr>
        <p:spPr>
          <a:xfrm>
            <a:off x="285750" y="714375"/>
            <a:ext cx="8286750" cy="2308225"/>
          </a:xfrm>
          <a:prstGeom prst="rect">
            <a:avLst/>
          </a:prstGeom>
        </p:spPr>
        <p:txBody>
          <a:bodyPr>
            <a:spAutoFit/>
          </a:bodyPr>
          <a:lstStyle/>
          <a:p>
            <a:pPr marL="0" marR="0" lvl="0" indent="0" algn="just"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可锻铸铁是</a:t>
            </a:r>
            <a:r>
              <a:rPr kumimoji="0" lang="zh-CN" altLang="en-US" sz="2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由白口铸铁经长时间石墨化退火而获得的一种高强度铸铁，</a:t>
            </a: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又叫玛钢。白口铸铁中的渗碳体在退火过程中</a:t>
            </a:r>
            <a:r>
              <a:rPr kumimoji="0" lang="zh-CN" altLang="en-US" sz="2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分解出团絮状石墨</a:t>
            </a:r>
            <a:r>
              <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，所以明显减轻了石墨对基体的割裂。</a:t>
            </a:r>
            <a:r>
              <a:rPr kumimoji="0" lang="zh-CN" altLang="en-US" sz="2400" b="1"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与灰口铸铁相比，可锻铸铁的强度和韧性有明显提高。</a:t>
            </a:r>
            <a:endParaRPr kumimoji="1" lang="zh-CN" altLang="en-US" sz="2400" b="1" i="0" u="none" strike="noStrike" kern="120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endParaRPr>
          </a:p>
        </p:txBody>
      </p:sp>
      <p:sp>
        <p:nvSpPr>
          <p:cNvPr id="36868" name="矩形 7"/>
          <p:cNvSpPr/>
          <p:nvPr/>
        </p:nvSpPr>
        <p:spPr>
          <a:xfrm>
            <a:off x="214313" y="3571875"/>
            <a:ext cx="9110662" cy="2282825"/>
          </a:xfrm>
          <a:prstGeom prst="rect">
            <a:avLst/>
          </a:prstGeom>
          <a:noFill/>
          <a:ln w="9525">
            <a:noFill/>
          </a:ln>
        </p:spPr>
        <p:txBody>
          <a:bodyPr>
            <a:spAutoFit/>
          </a:bodyPr>
          <a:lstStyle/>
          <a:p>
            <a:pPr algn="ctr">
              <a:lnSpc>
                <a:spcPct val="150000"/>
              </a:lnSpc>
            </a:pPr>
            <a:r>
              <a:rPr lang="en-US" altLang="zh-CN" sz="2400" b="1">
                <a:solidFill>
                  <a:srgbClr val="FF0000"/>
                </a:solidFill>
                <a:latin typeface="华文中宋" panose="02010600040101010101" pitchFamily="2" charset="-122"/>
                <a:ea typeface="华文中宋" panose="02010600040101010101" pitchFamily="2" charset="-122"/>
              </a:rPr>
              <a:t>KT</a:t>
            </a:r>
            <a:r>
              <a:rPr lang="zh-CN" altLang="en-US" sz="2400" b="1" dirty="0">
                <a:solidFill>
                  <a:srgbClr val="FF0000"/>
                </a:solidFill>
                <a:latin typeface="华文中宋" panose="02010600040101010101" pitchFamily="2" charset="-122"/>
                <a:ea typeface="华文中宋" panose="02010600040101010101" pitchFamily="2" charset="-122"/>
              </a:rPr>
              <a:t>＋</a:t>
            </a:r>
            <a:r>
              <a:rPr lang="en-US" altLang="zh-CN" sz="2400" b="1">
                <a:solidFill>
                  <a:srgbClr val="FF0000"/>
                </a:solidFill>
                <a:latin typeface="华文中宋" panose="02010600040101010101" pitchFamily="2" charset="-122"/>
                <a:ea typeface="华文中宋" panose="02010600040101010101" pitchFamily="2" charset="-122"/>
              </a:rPr>
              <a:t>H</a:t>
            </a:r>
            <a:r>
              <a:rPr lang="zh-CN" altLang="en-US" sz="2400" b="1" dirty="0">
                <a:solidFill>
                  <a:srgbClr val="FF0000"/>
                </a:solidFill>
                <a:latin typeface="华文中宋" panose="02010600040101010101" pitchFamily="2" charset="-122"/>
                <a:ea typeface="华文中宋" panose="02010600040101010101" pitchFamily="2" charset="-122"/>
              </a:rPr>
              <a:t>、</a:t>
            </a:r>
            <a:r>
              <a:rPr lang="en-US" altLang="zh-CN" sz="2400" b="1">
                <a:solidFill>
                  <a:srgbClr val="FF0000"/>
                </a:solidFill>
                <a:latin typeface="华文中宋" panose="02010600040101010101" pitchFamily="2" charset="-122"/>
                <a:ea typeface="华文中宋" panose="02010600040101010101" pitchFamily="2" charset="-122"/>
              </a:rPr>
              <a:t>Z</a:t>
            </a:r>
            <a:r>
              <a:rPr lang="zh-CN" altLang="en-US" sz="2400" b="1" dirty="0">
                <a:solidFill>
                  <a:srgbClr val="FF0000"/>
                </a:solidFill>
                <a:latin typeface="华文中宋" panose="02010600040101010101" pitchFamily="2" charset="-122"/>
                <a:ea typeface="华文中宋" panose="02010600040101010101" pitchFamily="2" charset="-122"/>
              </a:rPr>
              <a:t>或</a:t>
            </a:r>
            <a:r>
              <a:rPr lang="en-US" altLang="zh-CN" sz="2400" b="1">
                <a:solidFill>
                  <a:srgbClr val="FF0000"/>
                </a:solidFill>
                <a:latin typeface="华文中宋" panose="02010600040101010101" pitchFamily="2" charset="-122"/>
                <a:ea typeface="华文中宋" panose="02010600040101010101" pitchFamily="2" charset="-122"/>
              </a:rPr>
              <a:t>B</a:t>
            </a:r>
            <a:r>
              <a:rPr lang="zh-CN" altLang="en-US" sz="2400" b="1" dirty="0">
                <a:solidFill>
                  <a:srgbClr val="FF0000"/>
                </a:solidFill>
                <a:latin typeface="华文中宋" panose="02010600040101010101" pitchFamily="2" charset="-122"/>
                <a:ea typeface="华文中宋" panose="02010600040101010101" pitchFamily="2" charset="-122"/>
              </a:rPr>
              <a:t>＋数字－－数字</a:t>
            </a:r>
            <a:endParaRPr lang="en-US" altLang="zh-CN" sz="2200" b="1">
              <a:solidFill>
                <a:srgbClr val="FF0000"/>
              </a:solidFill>
              <a:latin typeface="华文中宋" panose="02010600040101010101" pitchFamily="2" charset="-122"/>
              <a:ea typeface="华文中宋" panose="02010600040101010101" pitchFamily="2" charset="-122"/>
            </a:endParaRPr>
          </a:p>
          <a:p>
            <a:pPr>
              <a:lnSpc>
                <a:spcPct val="150000"/>
              </a:lnSpc>
            </a:pPr>
            <a:r>
              <a:rPr lang="zh-CN" altLang="en-US" sz="2400" b="1" dirty="0">
                <a:latin typeface="华文中宋" panose="02010600040101010101" pitchFamily="2" charset="-122"/>
                <a:ea typeface="华文中宋" panose="02010600040101010101" pitchFamily="2" charset="-122"/>
              </a:rPr>
              <a:t>牌号中的“</a:t>
            </a:r>
            <a:r>
              <a:rPr lang="en-US" altLang="zh-CN" sz="2400" b="1">
                <a:latin typeface="华文中宋" panose="02010600040101010101" pitchFamily="2" charset="-122"/>
                <a:ea typeface="华文中宋" panose="02010600040101010101" pitchFamily="2" charset="-122"/>
              </a:rPr>
              <a:t>KT”</a:t>
            </a:r>
            <a:r>
              <a:rPr lang="zh-CN" altLang="en-US" sz="2400" b="1" dirty="0">
                <a:latin typeface="华文中宋" panose="02010600040101010101" pitchFamily="2" charset="-122"/>
                <a:ea typeface="华文中宋" panose="02010600040101010101" pitchFamily="2" charset="-122"/>
              </a:rPr>
              <a:t>表示“可铁”二字汉语拼音的大写字头；</a:t>
            </a:r>
            <a:endParaRPr lang="en-US" altLang="zh-CN" sz="2400" b="1">
              <a:latin typeface="华文中宋" panose="02010600040101010101" pitchFamily="2" charset="-122"/>
              <a:ea typeface="华文中宋" panose="02010600040101010101" pitchFamily="2" charset="-122"/>
            </a:endParaRPr>
          </a:p>
          <a:p>
            <a:pPr>
              <a:lnSpc>
                <a:spcPct val="150000"/>
              </a:lnSpc>
            </a:pPr>
            <a:r>
              <a:rPr lang="zh-CN" altLang="en-US" sz="2400" b="1" dirty="0">
                <a:solidFill>
                  <a:srgbClr val="0000FF"/>
                </a:solidFill>
                <a:latin typeface="华文中宋" panose="02010600040101010101" pitchFamily="2" charset="-122"/>
                <a:ea typeface="华文中宋" panose="02010600040101010101" pitchFamily="2" charset="-122"/>
              </a:rPr>
              <a:t>“</a:t>
            </a:r>
            <a:r>
              <a:rPr lang="en-US" altLang="zh-CN" sz="2400" b="1">
                <a:solidFill>
                  <a:srgbClr val="0000FF"/>
                </a:solidFill>
                <a:latin typeface="华文中宋" panose="02010600040101010101" pitchFamily="2" charset="-122"/>
                <a:ea typeface="华文中宋" panose="02010600040101010101" pitchFamily="2" charset="-122"/>
              </a:rPr>
              <a:t>H”</a:t>
            </a:r>
            <a:r>
              <a:rPr lang="zh-CN" altLang="en-US" sz="2400" b="1" dirty="0">
                <a:solidFill>
                  <a:srgbClr val="0000FF"/>
                </a:solidFill>
                <a:latin typeface="华文中宋" panose="02010600040101010101" pitchFamily="2" charset="-122"/>
                <a:ea typeface="华文中宋" panose="02010600040101010101" pitchFamily="2" charset="-122"/>
              </a:rPr>
              <a:t>表示“黑心”，“</a:t>
            </a:r>
            <a:r>
              <a:rPr lang="en-US" altLang="zh-CN" sz="2400" b="1">
                <a:solidFill>
                  <a:srgbClr val="0000FF"/>
                </a:solidFill>
                <a:latin typeface="华文中宋" panose="02010600040101010101" pitchFamily="2" charset="-122"/>
                <a:ea typeface="华文中宋" panose="02010600040101010101" pitchFamily="2" charset="-122"/>
              </a:rPr>
              <a:t>Z”</a:t>
            </a:r>
            <a:r>
              <a:rPr lang="zh-CN" altLang="en-US" sz="2400" b="1" dirty="0">
                <a:solidFill>
                  <a:srgbClr val="0000FF"/>
                </a:solidFill>
                <a:latin typeface="华文中宋" panose="02010600040101010101" pitchFamily="2" charset="-122"/>
                <a:ea typeface="华文中宋" panose="02010600040101010101" pitchFamily="2" charset="-122"/>
              </a:rPr>
              <a:t>表示珠光体基体，</a:t>
            </a:r>
            <a:r>
              <a:rPr lang="en-US" altLang="zh-CN" sz="2400" b="1">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a:t>
            </a:r>
            <a:r>
              <a:rPr lang="en-US" altLang="zh-CN" sz="2400" b="1">
                <a:solidFill>
                  <a:srgbClr val="0000FF"/>
                </a:solidFill>
                <a:latin typeface="华文中宋" panose="02010600040101010101" pitchFamily="2" charset="-122"/>
                <a:ea typeface="华文中宋" panose="02010600040101010101" pitchFamily="2" charset="-122"/>
              </a:rPr>
              <a:t>B”</a:t>
            </a:r>
            <a:r>
              <a:rPr lang="zh-CN" altLang="en-US" sz="2400" b="1" dirty="0">
                <a:solidFill>
                  <a:srgbClr val="0000FF"/>
                </a:solidFill>
                <a:latin typeface="华文中宋" panose="02010600040101010101" pitchFamily="2" charset="-122"/>
                <a:ea typeface="华文中宋" panose="02010600040101010101" pitchFamily="2" charset="-122"/>
              </a:rPr>
              <a:t>表示白心 ；</a:t>
            </a:r>
            <a:endParaRPr lang="en-US" altLang="zh-CN" sz="2400" b="1">
              <a:latin typeface="华文中宋" panose="02010600040101010101" pitchFamily="2" charset="-122"/>
              <a:ea typeface="华文中宋" panose="02010600040101010101" pitchFamily="2" charset="-122"/>
            </a:endParaRPr>
          </a:p>
          <a:p>
            <a:pPr>
              <a:lnSpc>
                <a:spcPct val="150000"/>
              </a:lnSpc>
            </a:pPr>
            <a:r>
              <a:rPr lang="zh-CN" altLang="en-US" sz="2400" b="1" dirty="0">
                <a:latin typeface="华文中宋" panose="02010600040101010101" pitchFamily="2" charset="-122"/>
                <a:ea typeface="华文中宋" panose="02010600040101010101" pitchFamily="2" charset="-122"/>
              </a:rPr>
              <a:t>牌号后面的两组数字分别表示</a:t>
            </a:r>
            <a:r>
              <a:rPr lang="zh-CN" altLang="en-US" sz="2400" b="1" dirty="0">
                <a:solidFill>
                  <a:srgbClr val="0000FF"/>
                </a:solidFill>
                <a:latin typeface="华文中宋" panose="02010600040101010101" pitchFamily="2" charset="-122"/>
                <a:ea typeface="华文中宋" panose="02010600040101010101" pitchFamily="2" charset="-122"/>
              </a:rPr>
              <a:t>最低抗拉强度和最低延伸率</a:t>
            </a:r>
            <a:r>
              <a:rPr lang="zh-CN" altLang="en-US" sz="2400" b="1" dirty="0">
                <a:latin typeface="华文中宋" panose="02010600040101010101" pitchFamily="2" charset="-122"/>
                <a:ea typeface="华文中宋" panose="02010600040101010101" pitchFamily="2" charset="-122"/>
              </a:rPr>
              <a:t>。 </a:t>
            </a:r>
            <a:endParaRPr lang="en-US" altLang="zh-CN" sz="2200" b="1">
              <a:solidFill>
                <a:srgbClr val="FF0000"/>
              </a:solidFill>
              <a:latin typeface="华文中宋" panose="02010600040101010101" pitchFamily="2" charset="-122"/>
              <a:ea typeface="华文中宋" panose="02010600040101010101" pitchFamily="2" charset="-122"/>
            </a:endParaRPr>
          </a:p>
        </p:txBody>
      </p:sp>
      <p:sp>
        <p:nvSpPr>
          <p:cNvPr id="36869" name="矩形 5"/>
          <p:cNvSpPr/>
          <p:nvPr/>
        </p:nvSpPr>
        <p:spPr>
          <a:xfrm>
            <a:off x="1000125" y="6072188"/>
            <a:ext cx="2105025" cy="461962"/>
          </a:xfrm>
          <a:prstGeom prst="rect">
            <a:avLst/>
          </a:prstGeom>
          <a:noFill/>
          <a:ln w="9525">
            <a:noFill/>
          </a:ln>
        </p:spPr>
        <p:txBody>
          <a:bodyPr wrap="none">
            <a:spAutoFit/>
          </a:bodyPr>
          <a:lstStyle/>
          <a:p>
            <a:r>
              <a:rPr lang="en-US" altLang="zh-CN" sz="2400" b="1">
                <a:solidFill>
                  <a:srgbClr val="FF0000"/>
                </a:solidFill>
                <a:latin typeface="华文中宋" panose="02010600040101010101" pitchFamily="2" charset="-122"/>
                <a:ea typeface="华文中宋" panose="02010600040101010101" pitchFamily="2" charset="-122"/>
              </a:rPr>
              <a:t>KTH350</a:t>
            </a:r>
            <a:r>
              <a:rPr lang="zh-CN" altLang="en-US" sz="2400" b="1" dirty="0">
                <a:solidFill>
                  <a:srgbClr val="FF0000"/>
                </a:solidFill>
                <a:latin typeface="华文中宋" panose="02010600040101010101" pitchFamily="2" charset="-122"/>
                <a:ea typeface="华文中宋" panose="02010600040101010101" pitchFamily="2" charset="-122"/>
              </a:rPr>
              <a:t>－</a:t>
            </a:r>
            <a:r>
              <a:rPr lang="en-US" altLang="zh-CN" sz="2400" b="1">
                <a:solidFill>
                  <a:srgbClr val="FF0000"/>
                </a:solidFill>
                <a:latin typeface="华文中宋" panose="02010600040101010101" pitchFamily="2" charset="-122"/>
                <a:ea typeface="华文中宋" panose="02010600040101010101" pitchFamily="2" charset="-122"/>
              </a:rPr>
              <a:t>10</a:t>
            </a:r>
            <a:endParaRPr lang="zh-CN" altLang="en-US" dirty="0">
              <a:latin typeface="Times New Roman" panose="02020603050405020304" pitchFamily="18" charset="0"/>
            </a:endParaRPr>
          </a:p>
        </p:txBody>
      </p:sp>
      <p:sp>
        <p:nvSpPr>
          <p:cNvPr id="36870" name="矩形 6"/>
          <p:cNvSpPr/>
          <p:nvPr/>
        </p:nvSpPr>
        <p:spPr>
          <a:xfrm>
            <a:off x="3214688" y="6072188"/>
            <a:ext cx="2055812" cy="461962"/>
          </a:xfrm>
          <a:prstGeom prst="rect">
            <a:avLst/>
          </a:prstGeom>
          <a:noFill/>
          <a:ln w="9525">
            <a:noFill/>
          </a:ln>
        </p:spPr>
        <p:txBody>
          <a:bodyPr wrap="none">
            <a:spAutoFit/>
          </a:bodyPr>
          <a:lstStyle/>
          <a:p>
            <a:r>
              <a:rPr lang="en-US" altLang="zh-CN" sz="2400" b="1">
                <a:solidFill>
                  <a:srgbClr val="FF0000"/>
                </a:solidFill>
                <a:latin typeface="华文中宋" panose="02010600040101010101" pitchFamily="2" charset="-122"/>
                <a:ea typeface="华文中宋" panose="02010600040101010101" pitchFamily="2" charset="-122"/>
              </a:rPr>
              <a:t>KTZ550</a:t>
            </a:r>
            <a:r>
              <a:rPr lang="zh-CN" altLang="en-US" sz="2400" b="1" dirty="0">
                <a:solidFill>
                  <a:srgbClr val="FF0000"/>
                </a:solidFill>
                <a:latin typeface="华文中宋" panose="02010600040101010101" pitchFamily="2" charset="-122"/>
                <a:ea typeface="华文中宋" panose="02010600040101010101" pitchFamily="2" charset="-122"/>
              </a:rPr>
              <a:t>－</a:t>
            </a:r>
            <a:r>
              <a:rPr lang="en-US" altLang="zh-CN" sz="2400" b="1">
                <a:solidFill>
                  <a:srgbClr val="FF0000"/>
                </a:solidFill>
                <a:latin typeface="华文中宋" panose="02010600040101010101" pitchFamily="2" charset="-122"/>
                <a:ea typeface="华文中宋" panose="02010600040101010101" pitchFamily="2" charset="-122"/>
              </a:rPr>
              <a:t>04</a:t>
            </a:r>
            <a:endParaRPr lang="zh-CN" altLang="en-US" dirty="0">
              <a:latin typeface="Times New Roman" panose="02020603050405020304" pitchFamily="18" charset="0"/>
            </a:endParaRPr>
          </a:p>
        </p:txBody>
      </p:sp>
      <p:sp>
        <p:nvSpPr>
          <p:cNvPr id="36871" name="矩形 7"/>
          <p:cNvSpPr/>
          <p:nvPr/>
        </p:nvSpPr>
        <p:spPr>
          <a:xfrm>
            <a:off x="5643563" y="6072188"/>
            <a:ext cx="2085975" cy="461962"/>
          </a:xfrm>
          <a:prstGeom prst="rect">
            <a:avLst/>
          </a:prstGeom>
          <a:noFill/>
          <a:ln w="9525">
            <a:noFill/>
          </a:ln>
        </p:spPr>
        <p:txBody>
          <a:bodyPr wrap="none">
            <a:spAutoFit/>
          </a:bodyPr>
          <a:lstStyle/>
          <a:p>
            <a:r>
              <a:rPr lang="en-US" altLang="zh-CN" sz="2400" b="1">
                <a:solidFill>
                  <a:srgbClr val="FF0000"/>
                </a:solidFill>
                <a:latin typeface="华文中宋" panose="02010600040101010101" pitchFamily="2" charset="-122"/>
                <a:ea typeface="华文中宋" panose="02010600040101010101" pitchFamily="2" charset="-122"/>
              </a:rPr>
              <a:t>KTB400</a:t>
            </a:r>
            <a:r>
              <a:rPr lang="zh-CN" altLang="en-US" sz="2400" b="1" dirty="0">
                <a:solidFill>
                  <a:srgbClr val="FF0000"/>
                </a:solidFill>
                <a:latin typeface="华文中宋" panose="02010600040101010101" pitchFamily="2" charset="-122"/>
                <a:ea typeface="华文中宋" panose="02010600040101010101" pitchFamily="2" charset="-122"/>
              </a:rPr>
              <a:t>－</a:t>
            </a:r>
            <a:r>
              <a:rPr lang="en-US" altLang="zh-CN" sz="2400" b="1">
                <a:solidFill>
                  <a:srgbClr val="FF0000"/>
                </a:solidFill>
                <a:latin typeface="华文中宋" panose="02010600040101010101" pitchFamily="2" charset="-122"/>
                <a:ea typeface="华文中宋" panose="02010600040101010101" pitchFamily="2" charset="-122"/>
              </a:rPr>
              <a:t>05</a:t>
            </a:r>
            <a:endParaRPr lang="zh-CN" altLang="en-US" dirty="0">
              <a:latin typeface="Times New Roman" panose="02020603050405020304" pitchFamily="18" charset="0"/>
            </a:endParaRPr>
          </a:p>
        </p:txBody>
      </p:sp>
      <p:sp>
        <p:nvSpPr>
          <p:cNvPr id="36872" name="矩形 8"/>
          <p:cNvSpPr/>
          <p:nvPr/>
        </p:nvSpPr>
        <p:spPr>
          <a:xfrm>
            <a:off x="285750" y="3048000"/>
            <a:ext cx="2676525" cy="523875"/>
          </a:xfrm>
          <a:prstGeom prst="rect">
            <a:avLst/>
          </a:prstGeom>
          <a:noFill/>
          <a:ln w="9525">
            <a:noFill/>
          </a:ln>
        </p:spPr>
        <p:txBody>
          <a:bodyPr wrap="none">
            <a:spAutoFit/>
          </a:bodyPr>
          <a:lstStyle/>
          <a:p>
            <a:r>
              <a:rPr lang="en-US" altLang="zh-CN" sz="2800" b="1">
                <a:solidFill>
                  <a:srgbClr val="0000FF"/>
                </a:solidFill>
                <a:latin typeface="华文中宋" panose="02010600040101010101" pitchFamily="2" charset="-122"/>
                <a:ea typeface="华文中宋" panose="02010600040101010101" pitchFamily="2" charset="-122"/>
              </a:rPr>
              <a:t>1</a:t>
            </a:r>
            <a:r>
              <a:rPr lang="zh-CN" altLang="en-US" sz="2800" b="1" dirty="0">
                <a:solidFill>
                  <a:srgbClr val="0000FF"/>
                </a:solidFill>
                <a:latin typeface="华文中宋" panose="02010600040101010101" pitchFamily="2" charset="-122"/>
                <a:ea typeface="华文中宋" panose="02010600040101010101" pitchFamily="2" charset="-122"/>
              </a:rPr>
              <a:t>、牌号表示：</a:t>
            </a:r>
            <a:r>
              <a:rPr lang="en-US" altLang="zh-CN" sz="2800" b="1">
                <a:solidFill>
                  <a:srgbClr val="0000FF"/>
                </a:solidFill>
                <a:latin typeface="华文中宋" panose="02010600040101010101" pitchFamily="2" charset="-122"/>
                <a:ea typeface="华文中宋" panose="02010600040101010101" pitchFamily="2" charset="-122"/>
              </a:rPr>
              <a:t> </a:t>
            </a:r>
            <a:endParaRPr lang="zh-CN" altLang="en-US" sz="2800" dirty="0">
              <a:solidFill>
                <a:srgbClr val="0000FF"/>
              </a:solidFill>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1"/>
          <p:cNvSpPr/>
          <p:nvPr/>
        </p:nvSpPr>
        <p:spPr>
          <a:xfrm>
            <a:off x="0" y="1211263"/>
            <a:ext cx="5000625" cy="3646487"/>
          </a:xfrm>
          <a:prstGeom prst="rect">
            <a:avLst/>
          </a:prstGeom>
          <a:noFill/>
          <a:ln w="9525">
            <a:noFill/>
          </a:ln>
        </p:spPr>
        <p:txBody>
          <a:bodyPr>
            <a:spAutoFit/>
          </a:bodyPr>
          <a:lstStyle/>
          <a:p>
            <a:pPr marL="358775" indent="-358775">
              <a:lnSpc>
                <a:spcPct val="150000"/>
              </a:lnSpc>
              <a:buFont typeface="Wingdings" panose="05000000000000000000" pitchFamily="2" charset="2"/>
              <a:buChar char="Ø"/>
            </a:pPr>
            <a:r>
              <a:rPr lang="zh-CN" altLang="en-US" sz="2200" b="1" dirty="0">
                <a:latin typeface="华文中宋" panose="02010600040101010101" pitchFamily="2" charset="-122"/>
                <a:ea typeface="华文中宋" panose="02010600040101010101" pitchFamily="2" charset="-122"/>
              </a:rPr>
              <a:t>通常是将白口铸件加热到</a:t>
            </a:r>
            <a:r>
              <a:rPr lang="en-US" altLang="zh-CN" sz="2000" b="1">
                <a:solidFill>
                  <a:srgbClr val="FF0000"/>
                </a:solidFill>
                <a:latin typeface="华文中宋" panose="02010600040101010101" pitchFamily="2" charset="-122"/>
                <a:ea typeface="华文中宋" panose="02010600040101010101" pitchFamily="2" charset="-122"/>
              </a:rPr>
              <a:t>900~980℃</a:t>
            </a:r>
            <a:r>
              <a:rPr lang="zh-CN" altLang="en-US" sz="2200" b="1" dirty="0">
                <a:solidFill>
                  <a:srgbClr val="FF0000"/>
                </a:solidFill>
                <a:latin typeface="华文中宋" panose="02010600040101010101" pitchFamily="2" charset="-122"/>
                <a:ea typeface="华文中宋" panose="02010600040101010101" pitchFamily="2" charset="-122"/>
              </a:rPr>
              <a:t>温度，一般保温</a:t>
            </a:r>
            <a:r>
              <a:rPr lang="en-US" altLang="zh-CN" sz="2200" b="1">
                <a:solidFill>
                  <a:srgbClr val="FF0000"/>
                </a:solidFill>
                <a:latin typeface="华文中宋" panose="02010600040101010101" pitchFamily="2" charset="-122"/>
                <a:ea typeface="华文中宋" panose="02010600040101010101" pitchFamily="2" charset="-122"/>
              </a:rPr>
              <a:t>60~80</a:t>
            </a:r>
            <a:r>
              <a:rPr lang="zh-CN" altLang="en-US" sz="2200" b="1" dirty="0">
                <a:solidFill>
                  <a:srgbClr val="FF0000"/>
                </a:solidFill>
                <a:latin typeface="华文中宋" panose="02010600040101010101" pitchFamily="2" charset="-122"/>
                <a:ea typeface="华文中宋" panose="02010600040101010101" pitchFamily="2" charset="-122"/>
              </a:rPr>
              <a:t>小时，</a:t>
            </a:r>
            <a:r>
              <a:rPr lang="zh-CN" altLang="en-US" sz="2200" b="1" dirty="0">
                <a:latin typeface="华文中宋" panose="02010600040101010101" pitchFamily="2" charset="-122"/>
                <a:ea typeface="华文中宋" panose="02010600040101010101" pitchFamily="2" charset="-122"/>
              </a:rPr>
              <a:t>炉冷使其中渗碳体分解让“第一阶段石墨化”充分进行形成团絮状石墨。</a:t>
            </a:r>
            <a:endParaRPr lang="en-US" altLang="zh-CN" sz="2200" b="1">
              <a:latin typeface="华文中宋" panose="02010600040101010101" pitchFamily="2" charset="-122"/>
              <a:ea typeface="华文中宋" panose="02010600040101010101" pitchFamily="2" charset="-122"/>
            </a:endParaRPr>
          </a:p>
          <a:p>
            <a:pPr marL="358775" indent="-358775">
              <a:lnSpc>
                <a:spcPct val="150000"/>
              </a:lnSpc>
              <a:buFont typeface="Wingdings" panose="05000000000000000000" pitchFamily="2" charset="2"/>
              <a:buChar char="Ø"/>
            </a:pPr>
            <a:r>
              <a:rPr lang="zh-CN" altLang="en-US" sz="2200" b="1" dirty="0">
                <a:latin typeface="华文中宋" panose="02010600040101010101" pitchFamily="2" charset="-122"/>
                <a:ea typeface="华文中宋" panose="02010600040101010101" pitchFamily="2" charset="-122"/>
              </a:rPr>
              <a:t>待</a:t>
            </a:r>
            <a:r>
              <a:rPr lang="zh-CN" altLang="en-US" sz="2200" b="1" dirty="0">
                <a:solidFill>
                  <a:srgbClr val="FF0000"/>
                </a:solidFill>
                <a:latin typeface="华文中宋" panose="02010600040101010101" pitchFamily="2" charset="-122"/>
                <a:ea typeface="华文中宋" panose="02010600040101010101" pitchFamily="2" charset="-122"/>
              </a:rPr>
              <a:t>炉冷至</a:t>
            </a:r>
            <a:r>
              <a:rPr lang="en-US" altLang="zh-CN" sz="2200" b="1">
                <a:solidFill>
                  <a:srgbClr val="FF0000"/>
                </a:solidFill>
                <a:latin typeface="华文中宋" panose="02010600040101010101" pitchFamily="2" charset="-122"/>
                <a:ea typeface="华文中宋" panose="02010600040101010101" pitchFamily="2" charset="-122"/>
              </a:rPr>
              <a:t>770</a:t>
            </a:r>
            <a:r>
              <a:rPr lang="zh-CN" altLang="en-US" sz="2200" b="1" dirty="0">
                <a:solidFill>
                  <a:srgbClr val="FF0000"/>
                </a:solidFill>
                <a:latin typeface="华文中宋" panose="02010600040101010101" pitchFamily="2" charset="-122"/>
                <a:ea typeface="华文中宋" panose="02010600040101010101" pitchFamily="2" charset="-122"/>
              </a:rPr>
              <a:t>－</a:t>
            </a:r>
            <a:r>
              <a:rPr lang="en-US" altLang="zh-CN" sz="2200" b="1">
                <a:solidFill>
                  <a:srgbClr val="FF0000"/>
                </a:solidFill>
                <a:latin typeface="华文中宋" panose="02010600040101010101" pitchFamily="2" charset="-122"/>
                <a:ea typeface="华文中宋" panose="02010600040101010101" pitchFamily="2" charset="-122"/>
              </a:rPr>
              <a:t>650℃</a:t>
            </a:r>
            <a:r>
              <a:rPr lang="zh-CN" altLang="en-US" sz="2200" b="1" dirty="0">
                <a:solidFill>
                  <a:srgbClr val="FF0000"/>
                </a:solidFill>
                <a:latin typeface="华文中宋" panose="02010600040101010101" pitchFamily="2" charset="-122"/>
                <a:ea typeface="华文中宋" panose="02010600040101010101" pitchFamily="2" charset="-122"/>
              </a:rPr>
              <a:t>再长时间保温让“第二阶段石墨化”充分进行，</a:t>
            </a:r>
            <a:r>
              <a:rPr lang="zh-CN" altLang="en-US" sz="2200" b="1" dirty="0">
                <a:latin typeface="华文中宋" panose="02010600040101010101" pitchFamily="2" charset="-122"/>
                <a:ea typeface="华文中宋" panose="02010600040101010101" pitchFamily="2" charset="-122"/>
              </a:rPr>
              <a:t>这样处理后获得“黑心可锻铸铁”</a:t>
            </a:r>
            <a:r>
              <a:rPr lang="zh-CN" altLang="en-US" sz="2000" b="1" dirty="0">
                <a:latin typeface="华文中宋" panose="02010600040101010101" pitchFamily="2" charset="-122"/>
                <a:ea typeface="华文中宋" panose="02010600040101010101" pitchFamily="2" charset="-122"/>
              </a:rPr>
              <a:t>。</a:t>
            </a:r>
            <a:endParaRPr lang="en-US" altLang="zh-CN" sz="2000" b="1">
              <a:latin typeface="华文中宋" panose="02010600040101010101" pitchFamily="2" charset="-122"/>
              <a:ea typeface="华文中宋" panose="02010600040101010101" pitchFamily="2" charset="-122"/>
            </a:endParaRPr>
          </a:p>
        </p:txBody>
      </p:sp>
      <p:pic>
        <p:nvPicPr>
          <p:cNvPr id="37891" name="Picture 10" descr="3"/>
          <p:cNvPicPr>
            <a:picLocks noChangeAspect="1"/>
          </p:cNvPicPr>
          <p:nvPr/>
        </p:nvPicPr>
        <p:blipFill>
          <a:blip r:embed="rId2"/>
          <a:stretch>
            <a:fillRect/>
          </a:stretch>
        </p:blipFill>
        <p:spPr>
          <a:xfrm>
            <a:off x="5186363" y="1409700"/>
            <a:ext cx="3600450" cy="3162300"/>
          </a:xfrm>
          <a:prstGeom prst="rect">
            <a:avLst/>
          </a:prstGeom>
          <a:noFill/>
          <a:ln w="57150" cap="flat" cmpd="sng">
            <a:solidFill>
              <a:srgbClr val="FF9900"/>
            </a:solidFill>
            <a:prstDash val="solid"/>
            <a:miter/>
            <a:headEnd type="none" w="med" len="med"/>
            <a:tailEnd type="none" w="med" len="med"/>
          </a:ln>
        </p:spPr>
      </p:pic>
      <p:sp>
        <p:nvSpPr>
          <p:cNvPr id="37892" name="Text Box 16"/>
          <p:cNvSpPr txBox="1"/>
          <p:nvPr/>
        </p:nvSpPr>
        <p:spPr>
          <a:xfrm>
            <a:off x="5438775" y="4214813"/>
            <a:ext cx="3276600" cy="366712"/>
          </a:xfrm>
          <a:prstGeom prst="rect">
            <a:avLst/>
          </a:prstGeom>
          <a:solidFill>
            <a:srgbClr val="FFFF00"/>
          </a:solidFill>
          <a:ln w="9525">
            <a:noFill/>
          </a:ln>
        </p:spPr>
        <p:txBody>
          <a:bodyPr>
            <a:spAutoFit/>
          </a:bodyPr>
          <a:lstStyle/>
          <a:p>
            <a:pPr>
              <a:spcBef>
                <a:spcPct val="50000"/>
              </a:spcBef>
            </a:pPr>
            <a:r>
              <a:rPr lang="zh-CN" altLang="en-US" sz="1800" b="1" dirty="0">
                <a:solidFill>
                  <a:srgbClr val="800000"/>
                </a:solidFill>
                <a:latin typeface="宋体" panose="02010600030101010101" pitchFamily="2" charset="-122"/>
              </a:rPr>
              <a:t>可锻铸铁石墨化退火工艺曲线</a:t>
            </a:r>
            <a:r>
              <a:rPr lang="zh-CN" altLang="en-US" dirty="0">
                <a:latin typeface="Times New Roman" panose="02020603050405020304" pitchFamily="18" charset="0"/>
              </a:rPr>
              <a:t> </a:t>
            </a:r>
          </a:p>
        </p:txBody>
      </p:sp>
      <p:sp>
        <p:nvSpPr>
          <p:cNvPr id="37893" name="矩形 6"/>
          <p:cNvSpPr/>
          <p:nvPr/>
        </p:nvSpPr>
        <p:spPr>
          <a:xfrm>
            <a:off x="1357313" y="752475"/>
            <a:ext cx="6527800" cy="457200"/>
          </a:xfrm>
          <a:prstGeom prst="rect">
            <a:avLst/>
          </a:prstGeom>
          <a:solidFill>
            <a:srgbClr val="FFFF00"/>
          </a:solidFill>
          <a:ln w="9525">
            <a:noFill/>
          </a:ln>
        </p:spPr>
        <p:txBody>
          <a:bodyPr>
            <a:spAutoFit/>
          </a:bodyPr>
          <a:lstStyle/>
          <a:p>
            <a:r>
              <a:rPr lang="zh-CN" altLang="en-US" sz="2400" b="1" dirty="0">
                <a:solidFill>
                  <a:srgbClr val="000000"/>
                </a:solidFill>
                <a:latin typeface="华文中宋" panose="02010600040101010101" pitchFamily="2" charset="-122"/>
                <a:ea typeface="华文中宋" panose="02010600040101010101" pitchFamily="2" charset="-122"/>
              </a:rPr>
              <a:t>可锻铸铁的石墨是通过白口铸件退火形成的。</a:t>
            </a:r>
            <a:endParaRPr lang="en-US" altLang="zh-CN" sz="2400" b="1">
              <a:solidFill>
                <a:srgbClr val="000000"/>
              </a:solidFill>
              <a:latin typeface="华文中宋" panose="02010600040101010101" pitchFamily="2" charset="-122"/>
              <a:ea typeface="华文中宋" panose="02010600040101010101" pitchFamily="2" charset="-122"/>
            </a:endParaRPr>
          </a:p>
        </p:txBody>
      </p:sp>
      <p:sp>
        <p:nvSpPr>
          <p:cNvPr id="37894" name="矩形 7"/>
          <p:cNvSpPr/>
          <p:nvPr/>
        </p:nvSpPr>
        <p:spPr>
          <a:xfrm>
            <a:off x="0" y="4816475"/>
            <a:ext cx="8715375" cy="1684338"/>
          </a:xfrm>
          <a:prstGeom prst="rect">
            <a:avLst/>
          </a:prstGeom>
          <a:noFill/>
          <a:ln w="9525">
            <a:noFill/>
          </a:ln>
        </p:spPr>
        <p:txBody>
          <a:bodyPr>
            <a:spAutoFit/>
          </a:bodyPr>
          <a:lstStyle/>
          <a:p>
            <a:pPr marL="358775" indent="-358775">
              <a:lnSpc>
                <a:spcPct val="150000"/>
              </a:lnSpc>
              <a:buFont typeface="Wingdings" panose="05000000000000000000" pitchFamily="2" charset="2"/>
              <a:buChar char="Ø"/>
            </a:pPr>
            <a:r>
              <a:rPr lang="zh-CN" altLang="en-US" sz="2400" b="1" dirty="0">
                <a:solidFill>
                  <a:srgbClr val="000000"/>
                </a:solidFill>
                <a:latin typeface="华文中宋" panose="02010600040101010101" pitchFamily="2" charset="-122"/>
                <a:ea typeface="华文中宋" panose="02010600040101010101" pitchFamily="2" charset="-122"/>
              </a:rPr>
              <a:t>若取消第二阶段的</a:t>
            </a:r>
            <a:r>
              <a:rPr lang="en-US" altLang="zh-CN" sz="2400" b="1">
                <a:solidFill>
                  <a:srgbClr val="000000"/>
                </a:solidFill>
                <a:latin typeface="华文中宋" panose="02010600040101010101" pitchFamily="2" charset="-122"/>
                <a:ea typeface="华文中宋" panose="02010600040101010101" pitchFamily="2" charset="-122"/>
              </a:rPr>
              <a:t>770</a:t>
            </a:r>
            <a:r>
              <a:rPr lang="zh-CN" altLang="en-US" sz="2400" b="1" dirty="0">
                <a:solidFill>
                  <a:srgbClr val="000000"/>
                </a:solidFill>
                <a:latin typeface="华文中宋" panose="02010600040101010101" pitchFamily="2" charset="-122"/>
                <a:ea typeface="华文中宋" panose="02010600040101010101" pitchFamily="2" charset="-122"/>
              </a:rPr>
              <a:t>－</a:t>
            </a:r>
            <a:r>
              <a:rPr lang="en-US" altLang="zh-CN" sz="2400" b="1">
                <a:solidFill>
                  <a:srgbClr val="000000"/>
                </a:solidFill>
                <a:latin typeface="华文中宋" panose="02010600040101010101" pitchFamily="2" charset="-122"/>
                <a:ea typeface="华文中宋" panose="02010600040101010101" pitchFamily="2" charset="-122"/>
              </a:rPr>
              <a:t>650℃</a:t>
            </a:r>
            <a:r>
              <a:rPr lang="zh-CN" altLang="en-US" sz="2400" b="1" dirty="0">
                <a:solidFill>
                  <a:srgbClr val="000000"/>
                </a:solidFill>
                <a:latin typeface="华文中宋" panose="02010600040101010101" pitchFamily="2" charset="-122"/>
                <a:ea typeface="华文中宋" panose="02010600040101010101" pitchFamily="2" charset="-122"/>
              </a:rPr>
              <a:t>长时间保温，只让第一阶段石墨化充分进行炉冷后便获得珠光体基体或珠光体与少量铁素体共存的基体加团絮状石墨的“白心可锻铸铁”。 </a:t>
            </a:r>
          </a:p>
        </p:txBody>
      </p:sp>
      <p:sp>
        <p:nvSpPr>
          <p:cNvPr id="37895" name="矩形 8"/>
          <p:cNvSpPr/>
          <p:nvPr/>
        </p:nvSpPr>
        <p:spPr>
          <a:xfrm>
            <a:off x="71438" y="119063"/>
            <a:ext cx="1843087" cy="523875"/>
          </a:xfrm>
          <a:prstGeom prst="rect">
            <a:avLst/>
          </a:prstGeom>
          <a:noFill/>
          <a:ln w="9525">
            <a:noFill/>
          </a:ln>
        </p:spPr>
        <p:txBody>
          <a:bodyPr wrap="none">
            <a:spAutoFit/>
          </a:bodyPr>
          <a:lstStyle/>
          <a:p>
            <a:r>
              <a:rPr lang="en-US" altLang="zh-CN" sz="2800" b="1">
                <a:solidFill>
                  <a:srgbClr val="0000FF"/>
                </a:solidFill>
                <a:latin typeface="华文中宋" panose="02010600040101010101" pitchFamily="2" charset="-122"/>
                <a:ea typeface="华文中宋" panose="02010600040101010101" pitchFamily="2" charset="-122"/>
              </a:rPr>
              <a:t>2</a:t>
            </a:r>
            <a:r>
              <a:rPr lang="zh-CN" altLang="en-US" sz="2800" b="1" dirty="0">
                <a:solidFill>
                  <a:srgbClr val="0000FF"/>
                </a:solidFill>
                <a:latin typeface="华文中宋" panose="02010600040101010101" pitchFamily="2" charset="-122"/>
                <a:ea typeface="华文中宋" panose="02010600040101010101" pitchFamily="2" charset="-122"/>
              </a:rPr>
              <a:t>、热处理</a:t>
            </a:r>
            <a:endParaRPr lang="zh-CN" altLang="en-US" sz="2800" dirty="0">
              <a:solidFill>
                <a:srgbClr val="0000FF"/>
              </a:solidFill>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304800" y="762000"/>
            <a:ext cx="3962400" cy="1447800"/>
          </a:xfrm>
          <a:ln/>
        </p:spPr>
        <p:txBody>
          <a:bodyPr vert="horz" wrap="square" lIns="91440" tIns="45720" rIns="91440" bIns="45720" anchor="ctr" anchorCtr="0"/>
          <a:lstStyle/>
          <a:p>
            <a:pPr eaLnBrk="1" hangingPunct="1"/>
            <a:r>
              <a:rPr lang="en-US" altLang="zh-CN" b="1"/>
              <a:t> </a:t>
            </a:r>
            <a:r>
              <a:rPr lang="zh-CN" altLang="en-US" sz="3600" b="1" dirty="0">
                <a:latin typeface="Times New Roman" panose="02020603050405020304" pitchFamily="18" charset="0"/>
                <a:ea typeface="华文中宋" panose="02010600040101010101" pitchFamily="2" charset="-122"/>
              </a:rPr>
              <a:t>可锻铸铁的显微组织</a:t>
            </a:r>
            <a:r>
              <a:rPr lang="zh-CN" altLang="en-US" b="1" dirty="0"/>
              <a:t> </a:t>
            </a:r>
          </a:p>
        </p:txBody>
      </p:sp>
      <p:grpSp>
        <p:nvGrpSpPr>
          <p:cNvPr id="38915" name="Group 17"/>
          <p:cNvGrpSpPr/>
          <p:nvPr/>
        </p:nvGrpSpPr>
        <p:grpSpPr>
          <a:xfrm>
            <a:off x="304800" y="381000"/>
            <a:ext cx="8555038" cy="6227763"/>
            <a:chOff x="192" y="240"/>
            <a:chExt cx="5389" cy="3923"/>
          </a:xfrm>
        </p:grpSpPr>
        <p:grpSp>
          <p:nvGrpSpPr>
            <p:cNvPr id="38916" name="Group 11"/>
            <p:cNvGrpSpPr/>
            <p:nvPr/>
          </p:nvGrpSpPr>
          <p:grpSpPr>
            <a:xfrm>
              <a:off x="192" y="1776"/>
              <a:ext cx="2614" cy="2064"/>
              <a:chOff x="240" y="1200"/>
              <a:chExt cx="2614" cy="2064"/>
            </a:xfrm>
          </p:grpSpPr>
          <p:pic>
            <p:nvPicPr>
              <p:cNvPr id="38922" name="Picture 4" descr="4"/>
              <p:cNvPicPr>
                <a:picLocks noChangeAspect="1"/>
              </p:cNvPicPr>
              <p:nvPr/>
            </p:nvPicPr>
            <p:blipFill>
              <a:blip r:embed="rId2"/>
              <a:stretch>
                <a:fillRect/>
              </a:stretch>
            </p:blipFill>
            <p:spPr>
              <a:xfrm>
                <a:off x="240" y="1200"/>
                <a:ext cx="2614" cy="2045"/>
              </a:xfrm>
              <a:prstGeom prst="rect">
                <a:avLst/>
              </a:prstGeom>
              <a:noFill/>
              <a:ln w="38100" cap="flat" cmpd="sng">
                <a:solidFill>
                  <a:srgbClr val="FF9900"/>
                </a:solidFill>
                <a:prstDash val="solid"/>
                <a:miter/>
                <a:headEnd type="none" w="med" len="med"/>
                <a:tailEnd type="none" w="med" len="med"/>
              </a:ln>
            </p:spPr>
          </p:pic>
          <p:sp>
            <p:nvSpPr>
              <p:cNvPr id="38923" name="Text Box 6"/>
              <p:cNvSpPr txBox="1"/>
              <p:nvPr/>
            </p:nvSpPr>
            <p:spPr>
              <a:xfrm>
                <a:off x="240" y="2976"/>
                <a:ext cx="1296" cy="288"/>
              </a:xfrm>
              <a:prstGeom prst="rect">
                <a:avLst/>
              </a:prstGeom>
              <a:solidFill>
                <a:srgbClr val="FFFF00"/>
              </a:solidFill>
              <a:ln w="38100">
                <a:noFill/>
              </a:ln>
            </p:spPr>
            <p:txBody>
              <a:bodyPr>
                <a:spAutoFit/>
              </a:bodyPr>
              <a:lstStyle/>
              <a:p>
                <a:pPr algn="ctr">
                  <a:spcBef>
                    <a:spcPct val="50000"/>
                  </a:spcBef>
                </a:pPr>
                <a:r>
                  <a:rPr lang="zh-CN" altLang="en-US" sz="2400" b="1" dirty="0">
                    <a:solidFill>
                      <a:srgbClr val="800000"/>
                    </a:solidFill>
                    <a:latin typeface="Times New Roman" panose="02020603050405020304" pitchFamily="18" charset="0"/>
                  </a:rPr>
                  <a:t>黑心可锻铸铁</a:t>
                </a:r>
                <a:r>
                  <a:rPr lang="zh-CN" altLang="en-US" sz="2400" b="1" dirty="0">
                    <a:latin typeface="Times New Roman" panose="02020603050405020304" pitchFamily="18" charset="0"/>
                    <a:ea typeface="楷体_GB2312" pitchFamily="49" charset="-122"/>
                  </a:rPr>
                  <a:t> </a:t>
                </a:r>
              </a:p>
            </p:txBody>
          </p:sp>
        </p:grpSp>
        <p:pic>
          <p:nvPicPr>
            <p:cNvPr id="38917" name="Picture 5" descr="5-1"/>
            <p:cNvPicPr>
              <a:picLocks noChangeAspect="1"/>
            </p:cNvPicPr>
            <p:nvPr/>
          </p:nvPicPr>
          <p:blipFill>
            <a:blip r:embed="rId3"/>
            <a:stretch>
              <a:fillRect/>
            </a:stretch>
          </p:blipFill>
          <p:spPr>
            <a:xfrm>
              <a:off x="2928" y="240"/>
              <a:ext cx="2642" cy="2066"/>
            </a:xfrm>
            <a:prstGeom prst="rect">
              <a:avLst/>
            </a:prstGeom>
            <a:noFill/>
            <a:ln w="38100" cap="flat" cmpd="sng">
              <a:solidFill>
                <a:srgbClr val="FF9900"/>
              </a:solidFill>
              <a:prstDash val="solid"/>
              <a:miter/>
              <a:headEnd type="none" w="med" len="med"/>
              <a:tailEnd type="none" w="med" len="med"/>
            </a:ln>
          </p:spPr>
        </p:pic>
        <p:sp>
          <p:nvSpPr>
            <p:cNvPr id="38918" name="Text Box 7"/>
            <p:cNvSpPr txBox="1"/>
            <p:nvPr/>
          </p:nvSpPr>
          <p:spPr>
            <a:xfrm>
              <a:off x="2928" y="2016"/>
              <a:ext cx="1493" cy="288"/>
            </a:xfrm>
            <a:prstGeom prst="rect">
              <a:avLst/>
            </a:prstGeom>
            <a:solidFill>
              <a:srgbClr val="FFFF00"/>
            </a:solidFill>
            <a:ln w="38100">
              <a:noFill/>
            </a:ln>
          </p:spPr>
          <p:txBody>
            <a:bodyPr>
              <a:spAutoFit/>
            </a:bodyPr>
            <a:lstStyle/>
            <a:p>
              <a:pPr algn="ctr">
                <a:spcBef>
                  <a:spcPct val="50000"/>
                </a:spcBef>
              </a:pPr>
              <a:r>
                <a:rPr lang="zh-CN" altLang="en-US" sz="2400" b="1" dirty="0">
                  <a:solidFill>
                    <a:srgbClr val="800000"/>
                  </a:solidFill>
                  <a:latin typeface="Times New Roman" panose="02020603050405020304" pitchFamily="18" charset="0"/>
                </a:rPr>
                <a:t>珠光体可锻铸铁</a:t>
              </a:r>
              <a:r>
                <a:rPr lang="zh-CN" altLang="en-US" sz="2400" b="1" dirty="0">
                  <a:latin typeface="Times New Roman" panose="02020603050405020304" pitchFamily="18" charset="0"/>
                  <a:ea typeface="楷体_GB2312" pitchFamily="49" charset="-122"/>
                </a:rPr>
                <a:t> </a:t>
              </a:r>
            </a:p>
          </p:txBody>
        </p:sp>
        <p:grpSp>
          <p:nvGrpSpPr>
            <p:cNvPr id="38919" name="Group 15"/>
            <p:cNvGrpSpPr/>
            <p:nvPr/>
          </p:nvGrpSpPr>
          <p:grpSpPr>
            <a:xfrm>
              <a:off x="2940" y="2400"/>
              <a:ext cx="2641" cy="1763"/>
              <a:chOff x="2940" y="2400"/>
              <a:chExt cx="2641" cy="1763"/>
            </a:xfrm>
          </p:grpSpPr>
          <p:pic>
            <p:nvPicPr>
              <p:cNvPr id="38920" name="Picture 13" descr="可锻铸铁的退火"/>
              <p:cNvPicPr>
                <a:picLocks noChangeAspect="1"/>
              </p:cNvPicPr>
              <p:nvPr/>
            </p:nvPicPr>
            <p:blipFill>
              <a:blip r:embed="rId4"/>
              <a:stretch>
                <a:fillRect/>
              </a:stretch>
            </p:blipFill>
            <p:spPr>
              <a:xfrm>
                <a:off x="2940" y="2400"/>
                <a:ext cx="2641" cy="1763"/>
              </a:xfrm>
              <a:prstGeom prst="rect">
                <a:avLst/>
              </a:prstGeom>
              <a:noFill/>
              <a:ln w="38100" cap="flat" cmpd="sng">
                <a:solidFill>
                  <a:srgbClr val="FF00FF"/>
                </a:solidFill>
                <a:prstDash val="solid"/>
                <a:miter/>
                <a:headEnd type="none" w="med" len="med"/>
                <a:tailEnd type="none" w="med" len="med"/>
              </a:ln>
            </p:spPr>
          </p:pic>
          <p:sp>
            <p:nvSpPr>
              <p:cNvPr id="38921" name="Rectangle 14"/>
              <p:cNvSpPr/>
              <p:nvPr/>
            </p:nvSpPr>
            <p:spPr>
              <a:xfrm>
                <a:off x="2952" y="3984"/>
                <a:ext cx="1488" cy="168"/>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p>
                <a:pPr algn="ctr"/>
                <a:r>
                  <a:rPr lang="zh-CN" altLang="en-US" sz="1800" b="1" dirty="0">
                    <a:solidFill>
                      <a:srgbClr val="800000"/>
                    </a:solidFill>
                    <a:latin typeface="Times New Roman" panose="02020603050405020304" pitchFamily="18" charset="0"/>
                  </a:rPr>
                  <a:t>可锻铸铁的石墨化退火</a:t>
                </a: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a:xfrm>
            <a:off x="304800" y="304800"/>
            <a:ext cx="5029200" cy="563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3</a:t>
            </a:r>
            <a:r>
              <a:rPr kumimoji="0" lang="zh-CN" altLang="en-US" sz="3200" b="1" i="0" u="none" strike="noStrike" kern="1200" cap="none" spc="0" normalizeH="0" baseline="0" noProof="0" dirty="0">
                <a:ln>
                  <a:noFill/>
                </a:ln>
                <a:solidFill>
                  <a:srgbClr val="0000FF"/>
                </a:solidFill>
                <a:effectLst/>
                <a:uLnTx/>
                <a:uFillTx/>
                <a:latin typeface="+mn-lt"/>
                <a:ea typeface="华文中宋" panose="02010600040101010101" pitchFamily="2" charset="-122"/>
                <a:cs typeface="+mn-cs"/>
              </a:rPr>
              <a:t>、用途</a:t>
            </a:r>
          </a:p>
          <a:p>
            <a:pPr marL="0" marR="0" lvl="0" indent="0" algn="l" defTabSz="914400" rtl="0" eaLnBrk="1" fontAlgn="base" latinLnBrk="0" hangingPunct="1">
              <a:lnSpc>
                <a:spcPct val="140000"/>
              </a:lnSpc>
              <a:spcBef>
                <a:spcPct val="20000"/>
              </a:spcBef>
              <a:spcAft>
                <a:spcPct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用于制造形状复杂且承受振动载荷的薄壁小型件，如</a:t>
            </a:r>
            <a:r>
              <a:rPr kumimoji="0" lang="zh-CN" altLang="en-US" sz="2800" b="1" i="0" u="none" strike="noStrike" kern="1200" cap="none" spc="0" normalizeH="0" baseline="0" noProof="0" dirty="0">
                <a:ln>
                  <a:noFill/>
                </a:ln>
                <a:solidFill>
                  <a:schemeClr val="folHlink"/>
                </a:solidFill>
                <a:effectLst/>
                <a:uLnTx/>
                <a:uFillTx/>
                <a:latin typeface="+mn-lt"/>
                <a:ea typeface="华文中宋" panose="02010600040101010101" pitchFamily="2" charset="-122"/>
                <a:cs typeface="+mn-cs"/>
              </a:rPr>
              <a:t>汽车、拖拉机的前后轮壳</a:t>
            </a: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a:t>
            </a:r>
            <a:r>
              <a:rPr kumimoji="0" lang="zh-CN" altLang="en-US" sz="2800" b="1" i="0" u="none" strike="noStrike" kern="1200" cap="none" spc="0" normalizeH="0" baseline="0" noProof="0" dirty="0">
                <a:ln>
                  <a:noFill/>
                </a:ln>
                <a:solidFill>
                  <a:schemeClr val="folHlink"/>
                </a:solidFill>
                <a:effectLst/>
                <a:uLnTx/>
                <a:uFillTx/>
                <a:latin typeface="+mn-lt"/>
                <a:ea typeface="华文中宋" panose="02010600040101010101" pitchFamily="2" charset="-122"/>
                <a:cs typeface="+mn-cs"/>
              </a:rPr>
              <a:t>管接头、低压阀门</a:t>
            </a:r>
            <a:r>
              <a:rPr kumimoji="0" lang="zh-CN" altLang="en-US" sz="2800" b="1" i="0" u="none" strike="noStrike" kern="1200" cap="none" spc="0" normalizeH="0" baseline="0" noProof="0" dirty="0">
                <a:ln>
                  <a:noFill/>
                </a:ln>
                <a:solidFill>
                  <a:schemeClr val="tx1"/>
                </a:solidFill>
                <a:effectLst/>
                <a:uLnTx/>
                <a:uFillTx/>
                <a:latin typeface="+mn-lt"/>
                <a:ea typeface="华文中宋" panose="02010600040101010101" pitchFamily="2" charset="-122"/>
                <a:cs typeface="+mn-cs"/>
              </a:rPr>
              <a:t>等。</a:t>
            </a:r>
          </a:p>
        </p:txBody>
      </p:sp>
      <p:grpSp>
        <p:nvGrpSpPr>
          <p:cNvPr id="39939" name="Group 14"/>
          <p:cNvGrpSpPr/>
          <p:nvPr/>
        </p:nvGrpSpPr>
        <p:grpSpPr>
          <a:xfrm>
            <a:off x="152400" y="3657600"/>
            <a:ext cx="8839200" cy="2911475"/>
            <a:chOff x="114" y="2016"/>
            <a:chExt cx="5568" cy="1834"/>
          </a:xfrm>
        </p:grpSpPr>
        <p:grpSp>
          <p:nvGrpSpPr>
            <p:cNvPr id="39946" name="Group 8"/>
            <p:cNvGrpSpPr/>
            <p:nvPr/>
          </p:nvGrpSpPr>
          <p:grpSpPr>
            <a:xfrm>
              <a:off x="114" y="2016"/>
              <a:ext cx="5568" cy="1817"/>
              <a:chOff x="192" y="2064"/>
              <a:chExt cx="5568" cy="1817"/>
            </a:xfrm>
          </p:grpSpPr>
          <p:pic>
            <p:nvPicPr>
              <p:cNvPr id="39949" name="Picture 4" descr="cast-3-01[1]"/>
              <p:cNvPicPr>
                <a:picLocks noChangeAspect="1"/>
              </p:cNvPicPr>
              <p:nvPr/>
            </p:nvPicPr>
            <p:blipFill>
              <a:blip r:embed="rId2"/>
              <a:stretch>
                <a:fillRect/>
              </a:stretch>
            </p:blipFill>
            <p:spPr>
              <a:xfrm>
                <a:off x="192" y="2064"/>
                <a:ext cx="1918" cy="1812"/>
              </a:xfrm>
              <a:prstGeom prst="rect">
                <a:avLst/>
              </a:prstGeom>
              <a:noFill/>
              <a:ln w="38100">
                <a:noFill/>
              </a:ln>
            </p:spPr>
          </p:pic>
          <p:pic>
            <p:nvPicPr>
              <p:cNvPr id="39950" name="Picture 5" descr="cast-3-03[1]"/>
              <p:cNvPicPr>
                <a:picLocks noChangeAspect="1"/>
              </p:cNvPicPr>
              <p:nvPr/>
            </p:nvPicPr>
            <p:blipFill>
              <a:blip r:embed="rId3"/>
              <a:stretch>
                <a:fillRect/>
              </a:stretch>
            </p:blipFill>
            <p:spPr>
              <a:xfrm>
                <a:off x="1872" y="2064"/>
                <a:ext cx="1918" cy="1812"/>
              </a:xfrm>
              <a:prstGeom prst="rect">
                <a:avLst/>
              </a:prstGeom>
              <a:noFill/>
              <a:ln w="38100">
                <a:noFill/>
              </a:ln>
            </p:spPr>
          </p:pic>
          <p:pic>
            <p:nvPicPr>
              <p:cNvPr id="39951" name="Picture 7" descr="cast-3-07[1]"/>
              <p:cNvPicPr>
                <a:picLocks noChangeAspect="1"/>
              </p:cNvPicPr>
              <p:nvPr/>
            </p:nvPicPr>
            <p:blipFill>
              <a:blip r:embed="rId4"/>
              <a:stretch>
                <a:fillRect/>
              </a:stretch>
            </p:blipFill>
            <p:spPr>
              <a:xfrm>
                <a:off x="3584" y="2064"/>
                <a:ext cx="2176" cy="1817"/>
              </a:xfrm>
              <a:prstGeom prst="rect">
                <a:avLst/>
              </a:prstGeom>
              <a:noFill/>
              <a:ln w="38100">
                <a:noFill/>
              </a:ln>
            </p:spPr>
          </p:pic>
        </p:grpSp>
        <p:sp>
          <p:nvSpPr>
            <p:cNvPr id="39947" name="Text Box 9"/>
            <p:cNvSpPr txBox="1"/>
            <p:nvPr/>
          </p:nvSpPr>
          <p:spPr>
            <a:xfrm>
              <a:off x="2256" y="3600"/>
              <a:ext cx="1758" cy="250"/>
            </a:xfrm>
            <a:prstGeom prst="rect">
              <a:avLst/>
            </a:prstGeom>
            <a:solidFill>
              <a:srgbClr val="FFFF00"/>
            </a:solidFill>
            <a:ln w="38100">
              <a:noFill/>
            </a:ln>
          </p:spPr>
          <p:txBody>
            <a:bodyPr>
              <a:spAutoFit/>
            </a:bodyPr>
            <a:lstStyle/>
            <a:p>
              <a:pPr algn="ctr">
                <a:spcBef>
                  <a:spcPct val="50000"/>
                </a:spcBef>
              </a:pPr>
              <a:r>
                <a:rPr lang="zh-CN" altLang="en-US" sz="2000" b="1" dirty="0">
                  <a:solidFill>
                    <a:srgbClr val="800000"/>
                  </a:solidFill>
                  <a:latin typeface="Times New Roman" panose="02020603050405020304" pitchFamily="18" charset="0"/>
                </a:rPr>
                <a:t>可锻铸铁管件</a:t>
              </a:r>
            </a:p>
          </p:txBody>
        </p:sp>
        <p:sp>
          <p:nvSpPr>
            <p:cNvPr id="39948" name="Rectangle 12"/>
            <p:cNvSpPr/>
            <p:nvPr/>
          </p:nvSpPr>
          <p:spPr>
            <a:xfrm>
              <a:off x="131" y="2016"/>
              <a:ext cx="5537" cy="1824"/>
            </a:xfrm>
            <a:prstGeom prst="rect">
              <a:avLst/>
            </a:prstGeom>
            <a:noFill/>
            <a:ln w="38100"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grpSp>
        <p:nvGrpSpPr>
          <p:cNvPr id="39940" name="Group 23"/>
          <p:cNvGrpSpPr>
            <a:grpSpLocks noChangeAspect="1"/>
          </p:cNvGrpSpPr>
          <p:nvPr/>
        </p:nvGrpSpPr>
        <p:grpSpPr>
          <a:xfrm>
            <a:off x="5734050" y="533400"/>
            <a:ext cx="3238500" cy="2995613"/>
            <a:chOff x="3600" y="324"/>
            <a:chExt cx="1972" cy="1824"/>
          </a:xfrm>
        </p:grpSpPr>
        <p:grpSp>
          <p:nvGrpSpPr>
            <p:cNvPr id="39941" name="Group 20"/>
            <p:cNvGrpSpPr>
              <a:grpSpLocks noChangeAspect="1"/>
            </p:cNvGrpSpPr>
            <p:nvPr/>
          </p:nvGrpSpPr>
          <p:grpSpPr>
            <a:xfrm>
              <a:off x="3604" y="324"/>
              <a:ext cx="1968" cy="1814"/>
              <a:chOff x="3604" y="324"/>
              <a:chExt cx="1968" cy="1814"/>
            </a:xfrm>
          </p:grpSpPr>
          <p:pic>
            <p:nvPicPr>
              <p:cNvPr id="39943" name="Picture 15" descr="可锻铸铁件"/>
              <p:cNvPicPr>
                <a:picLocks noChangeAspect="1"/>
              </p:cNvPicPr>
              <p:nvPr/>
            </p:nvPicPr>
            <p:blipFill>
              <a:blip r:embed="rId5"/>
              <a:stretch>
                <a:fillRect/>
              </a:stretch>
            </p:blipFill>
            <p:spPr>
              <a:xfrm>
                <a:off x="3604" y="336"/>
                <a:ext cx="1152" cy="1800"/>
              </a:xfrm>
              <a:prstGeom prst="rect">
                <a:avLst/>
              </a:prstGeom>
              <a:noFill/>
              <a:ln w="9525">
                <a:noFill/>
              </a:ln>
            </p:spPr>
          </p:pic>
          <p:pic>
            <p:nvPicPr>
              <p:cNvPr id="39944" name="Picture 16" descr="旋转 可锻铸铁件1"/>
              <p:cNvPicPr>
                <a:picLocks noChangeAspect="1"/>
              </p:cNvPicPr>
              <p:nvPr/>
            </p:nvPicPr>
            <p:blipFill>
              <a:blip r:embed="rId6"/>
              <a:stretch>
                <a:fillRect/>
              </a:stretch>
            </p:blipFill>
            <p:spPr>
              <a:xfrm>
                <a:off x="4744" y="336"/>
                <a:ext cx="383" cy="1795"/>
              </a:xfrm>
              <a:prstGeom prst="rect">
                <a:avLst/>
              </a:prstGeom>
              <a:noFill/>
              <a:ln w="9525">
                <a:noFill/>
              </a:ln>
            </p:spPr>
          </p:pic>
          <p:pic>
            <p:nvPicPr>
              <p:cNvPr id="39945" name="Picture 18" descr="旋转 可锻铸铁件４"/>
              <p:cNvPicPr>
                <a:picLocks noChangeAspect="1"/>
              </p:cNvPicPr>
              <p:nvPr/>
            </p:nvPicPr>
            <p:blipFill>
              <a:blip r:embed="rId7"/>
              <a:stretch>
                <a:fillRect/>
              </a:stretch>
            </p:blipFill>
            <p:spPr>
              <a:xfrm>
                <a:off x="5128" y="324"/>
                <a:ext cx="444" cy="1814"/>
              </a:xfrm>
              <a:prstGeom prst="rect">
                <a:avLst/>
              </a:prstGeom>
              <a:noFill/>
              <a:ln w="9525">
                <a:noFill/>
              </a:ln>
            </p:spPr>
          </p:pic>
        </p:grpSp>
        <p:sp>
          <p:nvSpPr>
            <p:cNvPr id="39942" name="Rectangle 21"/>
            <p:cNvSpPr>
              <a:spLocks noChangeAspect="1"/>
            </p:cNvSpPr>
            <p:nvPr/>
          </p:nvSpPr>
          <p:spPr>
            <a:xfrm>
              <a:off x="3600" y="324"/>
              <a:ext cx="1968" cy="1824"/>
            </a:xfrm>
            <a:prstGeom prst="rect">
              <a:avLst/>
            </a:prstGeom>
            <a:noFill/>
            <a:ln w="38100" cap="flat" cmpd="sng">
              <a:solidFill>
                <a:srgbClr val="FF00FF"/>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85750" y="1439863"/>
          <a:ext cx="8572559" cy="4417695"/>
        </p:xfrm>
        <a:graphic>
          <a:graphicData uri="http://schemas.openxmlformats.org/drawingml/2006/table">
            <a:tbl>
              <a:tblPr/>
              <a:tblGrid>
                <a:gridCol w="1273882">
                  <a:extLst>
                    <a:ext uri="{9D8B030D-6E8A-4147-A177-3AD203B41FA5}">
                      <a16:colId xmlns:a16="http://schemas.microsoft.com/office/drawing/2014/main" val="20000"/>
                    </a:ext>
                  </a:extLst>
                </a:gridCol>
                <a:gridCol w="1273882">
                  <a:extLst>
                    <a:ext uri="{9D8B030D-6E8A-4147-A177-3AD203B41FA5}">
                      <a16:colId xmlns:a16="http://schemas.microsoft.com/office/drawing/2014/main" val="20001"/>
                    </a:ext>
                  </a:extLst>
                </a:gridCol>
                <a:gridCol w="711522">
                  <a:extLst>
                    <a:ext uri="{9D8B030D-6E8A-4147-A177-3AD203B41FA5}">
                      <a16:colId xmlns:a16="http://schemas.microsoft.com/office/drawing/2014/main" val="20002"/>
                    </a:ext>
                  </a:extLst>
                </a:gridCol>
                <a:gridCol w="1138437">
                  <a:extLst>
                    <a:ext uri="{9D8B030D-6E8A-4147-A177-3AD203B41FA5}">
                      <a16:colId xmlns:a16="http://schemas.microsoft.com/office/drawing/2014/main" val="20003"/>
                    </a:ext>
                  </a:extLst>
                </a:gridCol>
                <a:gridCol w="1136722">
                  <a:extLst>
                    <a:ext uri="{9D8B030D-6E8A-4147-A177-3AD203B41FA5}">
                      <a16:colId xmlns:a16="http://schemas.microsoft.com/office/drawing/2014/main" val="20004"/>
                    </a:ext>
                  </a:extLst>
                </a:gridCol>
                <a:gridCol w="996131">
                  <a:extLst>
                    <a:ext uri="{9D8B030D-6E8A-4147-A177-3AD203B41FA5}">
                      <a16:colId xmlns:a16="http://schemas.microsoft.com/office/drawing/2014/main" val="20005"/>
                    </a:ext>
                  </a:extLst>
                </a:gridCol>
                <a:gridCol w="996131">
                  <a:extLst>
                    <a:ext uri="{9D8B030D-6E8A-4147-A177-3AD203B41FA5}">
                      <a16:colId xmlns:a16="http://schemas.microsoft.com/office/drawing/2014/main" val="20006"/>
                    </a:ext>
                  </a:extLst>
                </a:gridCol>
                <a:gridCol w="1045852">
                  <a:extLst>
                    <a:ext uri="{9D8B030D-6E8A-4147-A177-3AD203B41FA5}">
                      <a16:colId xmlns:a16="http://schemas.microsoft.com/office/drawing/2014/main" val="20007"/>
                    </a:ext>
                  </a:extLst>
                </a:gridCol>
              </a:tblGrid>
              <a:tr h="489585">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类别</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牌号</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试样直径</a:t>
                      </a:r>
                      <a:r>
                        <a:rPr lang="en-US" sz="1600" b="1" kern="100" dirty="0">
                          <a:solidFill>
                            <a:srgbClr val="0000FF"/>
                          </a:solidFill>
                          <a:latin typeface="Calibri" panose="020F0502020204030204"/>
                          <a:ea typeface="宋体" panose="02010600030101010101" pitchFamily="2" charset="-122"/>
                          <a:cs typeface="Times New Roman" panose="02020603050405020304"/>
                        </a:rPr>
                        <a:t>d/mm</a:t>
                      </a:r>
                      <a:endParaRPr lang="zh-CN" sz="1600" b="1"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抗拉强度</a:t>
                      </a:r>
                      <a:r>
                        <a:rPr lang="en-US" sz="1600" b="1" kern="100" dirty="0" err="1">
                          <a:solidFill>
                            <a:srgbClr val="0000FF"/>
                          </a:solidFill>
                          <a:latin typeface="Calibri" panose="020F0502020204030204"/>
                          <a:ea typeface="宋体" panose="02010600030101010101" pitchFamily="2" charset="-122"/>
                          <a:cs typeface="Times New Roman" panose="02020603050405020304"/>
                        </a:rPr>
                        <a:t>σ</a:t>
                      </a:r>
                      <a:r>
                        <a:rPr lang="en-US" sz="1600" b="1" kern="100" baseline="-25000" dirty="0" err="1">
                          <a:solidFill>
                            <a:srgbClr val="0000FF"/>
                          </a:solidFill>
                          <a:latin typeface="Calibri" panose="020F0502020204030204"/>
                          <a:ea typeface="宋体" panose="02010600030101010101" pitchFamily="2" charset="-122"/>
                          <a:cs typeface="Times New Roman" panose="02020603050405020304"/>
                        </a:rPr>
                        <a:t>b</a:t>
                      </a:r>
                      <a:r>
                        <a:rPr lang="en-US" sz="1600" b="1" kern="100" dirty="0">
                          <a:solidFill>
                            <a:srgbClr val="0000FF"/>
                          </a:solidFill>
                          <a:latin typeface="Calibri" panose="020F0502020204030204"/>
                          <a:ea typeface="宋体" panose="02010600030101010101" pitchFamily="2" charset="-122"/>
                          <a:cs typeface="Times New Roman" panose="02020603050405020304"/>
                        </a:rPr>
                        <a:t>/</a:t>
                      </a:r>
                      <a:r>
                        <a:rPr lang="en-US" sz="1600" b="1" kern="100" dirty="0" err="1">
                          <a:solidFill>
                            <a:srgbClr val="0000FF"/>
                          </a:solidFill>
                          <a:latin typeface="Calibri" panose="020F0502020204030204"/>
                          <a:ea typeface="宋体" panose="02010600030101010101" pitchFamily="2" charset="-122"/>
                          <a:cs typeface="Times New Roman" panose="02020603050405020304"/>
                        </a:rPr>
                        <a:t>MPa</a:t>
                      </a:r>
                      <a:endParaRPr lang="zh-CN" sz="1600" b="1"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屈服强度</a:t>
                      </a:r>
                      <a:r>
                        <a:rPr lang="en-US" sz="1600" b="1" kern="100" dirty="0">
                          <a:solidFill>
                            <a:srgbClr val="0000FF"/>
                          </a:solidFill>
                          <a:latin typeface="Calibri" panose="020F0502020204030204"/>
                          <a:ea typeface="宋体" panose="02010600030101010101" pitchFamily="2" charset="-122"/>
                          <a:cs typeface="Times New Roman" panose="02020603050405020304"/>
                        </a:rPr>
                        <a:t>σ</a:t>
                      </a:r>
                      <a:r>
                        <a:rPr lang="en-US" sz="1600" b="1" kern="100" baseline="-25000" dirty="0">
                          <a:solidFill>
                            <a:srgbClr val="0000FF"/>
                          </a:solidFill>
                          <a:latin typeface="Calibri" panose="020F0502020204030204"/>
                          <a:ea typeface="宋体" panose="02010600030101010101" pitchFamily="2" charset="-122"/>
                          <a:cs typeface="Times New Roman" panose="02020603050405020304"/>
                        </a:rPr>
                        <a:t>0.2</a:t>
                      </a:r>
                      <a:r>
                        <a:rPr lang="en-US" sz="1600" b="1" kern="100" dirty="0">
                          <a:solidFill>
                            <a:srgbClr val="0000FF"/>
                          </a:solidFill>
                          <a:latin typeface="Calibri" panose="020F0502020204030204"/>
                          <a:ea typeface="宋体" panose="02010600030101010101" pitchFamily="2" charset="-122"/>
                          <a:cs typeface="Times New Roman" panose="02020603050405020304"/>
                        </a:rPr>
                        <a:t>/</a:t>
                      </a:r>
                      <a:r>
                        <a:rPr lang="en-US" sz="1600" b="1" kern="100" dirty="0" err="1">
                          <a:solidFill>
                            <a:srgbClr val="0000FF"/>
                          </a:solidFill>
                          <a:latin typeface="Calibri" panose="020F0502020204030204"/>
                          <a:ea typeface="宋体" panose="02010600030101010101" pitchFamily="2" charset="-122"/>
                          <a:cs typeface="Times New Roman" panose="02020603050405020304"/>
                        </a:rPr>
                        <a:t>MPa</a:t>
                      </a:r>
                      <a:endParaRPr lang="zh-CN" sz="1600" b="1"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伸长率</a:t>
                      </a:r>
                      <a:r>
                        <a:rPr lang="en-US" sz="1600" b="1" kern="100" dirty="0">
                          <a:solidFill>
                            <a:srgbClr val="0000FF"/>
                          </a:solidFill>
                          <a:latin typeface="Calibri" panose="020F0502020204030204"/>
                          <a:ea typeface="宋体" panose="02010600030101010101" pitchFamily="2" charset="-122"/>
                          <a:cs typeface="Times New Roman" panose="02020603050405020304"/>
                        </a:rPr>
                        <a:t>δ/%</a:t>
                      </a:r>
                      <a:endParaRPr lang="zh-CN" sz="1600" b="1"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硬度</a:t>
                      </a:r>
                    </a:p>
                    <a:p>
                      <a:pPr algn="ctr">
                        <a:spcAft>
                          <a:spcPts val="0"/>
                        </a:spcAft>
                      </a:pPr>
                      <a:r>
                        <a:rPr lang="en-US" sz="1600" b="1" kern="100" dirty="0">
                          <a:solidFill>
                            <a:srgbClr val="0000FF"/>
                          </a:solidFill>
                          <a:latin typeface="Calibri" panose="020F0502020204030204"/>
                          <a:ea typeface="宋体" panose="02010600030101010101" pitchFamily="2" charset="-122"/>
                          <a:cs typeface="Times New Roman" panose="02020603050405020304"/>
                        </a:rPr>
                        <a:t>HBW</a:t>
                      </a:r>
                      <a:endParaRPr lang="zh-CN" sz="1600" b="1" kern="100" dirty="0">
                        <a:solidFill>
                          <a:srgbClr val="0000FF"/>
                        </a:solidFill>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dirty="0">
                          <a:solidFill>
                            <a:srgbClr val="0000FF"/>
                          </a:solidFill>
                          <a:latin typeface="Calibri" panose="020F0502020204030204"/>
                          <a:ea typeface="宋体" panose="02010600030101010101" pitchFamily="2" charset="-122"/>
                          <a:cs typeface="Times New Roman" panose="02020603050405020304"/>
                        </a:rPr>
                        <a:t>应用举例</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9545">
                <a:tc rowSpan="4">
                  <a:txBody>
                    <a:bodyPr/>
                    <a:lstStyle/>
                    <a:p>
                      <a:pPr algn="ctr">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铁素体可锻铸铁</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KTH300-06</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8">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12</a:t>
                      </a:r>
                      <a:r>
                        <a:rPr lang="zh-CN" sz="1600" kern="100">
                          <a:latin typeface="Calibri" panose="020F0502020204030204"/>
                          <a:ea typeface="宋体" panose="02010600030101010101" pitchFamily="2" charset="-122"/>
                          <a:cs typeface="Times New Roman" panose="02020603050405020304"/>
                        </a:rPr>
                        <a:t>或</a:t>
                      </a:r>
                      <a:r>
                        <a:rPr lang="en-US" sz="1600" kern="100">
                          <a:latin typeface="Calibri" panose="020F0502020204030204"/>
                          <a:ea typeface="宋体" panose="02010600030101010101" pitchFamily="2" charset="-122"/>
                          <a:cs typeface="Times New Roman" panose="02020603050405020304"/>
                        </a:rPr>
                        <a:t>15</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300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6</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ctr">
                        <a:spcAft>
                          <a:spcPts val="0"/>
                        </a:spcAft>
                      </a:pPr>
                      <a:r>
                        <a:rPr lang="zh-CN" sz="1600" kern="100">
                          <a:latin typeface="Calibri" panose="020F0502020204030204"/>
                          <a:ea typeface="宋体" panose="02010600030101010101" pitchFamily="2" charset="-122"/>
                          <a:cs typeface="Times New Roman" panose="02020603050405020304"/>
                        </a:rPr>
                        <a:t>不大于</a:t>
                      </a:r>
                      <a:r>
                        <a:rPr lang="en-US" sz="1600" kern="100">
                          <a:latin typeface="Calibri" panose="020F0502020204030204"/>
                          <a:ea typeface="宋体" panose="02010600030101010101" pitchFamily="2" charset="-122"/>
                          <a:cs typeface="Times New Roman" panose="02020603050405020304"/>
                        </a:rPr>
                        <a:t>150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ctr">
                        <a:spcAft>
                          <a:spcPts val="0"/>
                        </a:spcAft>
                      </a:pPr>
                      <a:r>
                        <a:rPr lang="zh-CN" sz="1600" b="1" kern="100">
                          <a:solidFill>
                            <a:srgbClr val="FF0000"/>
                          </a:solidFill>
                          <a:latin typeface="Calibri" panose="020F0502020204030204"/>
                          <a:ea typeface="宋体" panose="02010600030101010101" pitchFamily="2" charset="-122"/>
                          <a:cs typeface="Times New Roman" panose="02020603050405020304"/>
                        </a:rPr>
                        <a:t>弯头、三通、螺丝扳手、汽车及拖拉机前后轮壳、减速器壳、制动器等</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69545">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KTH330-08</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330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8</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2"/>
                  </a:ext>
                </a:extLst>
              </a:tr>
              <a:tr h="169545">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KTH350-10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dirty="0">
                          <a:latin typeface="Calibri" panose="020F0502020204030204"/>
                          <a:ea typeface="宋体" panose="02010600030101010101" pitchFamily="2" charset="-122"/>
                          <a:cs typeface="Times New Roman" panose="02020603050405020304"/>
                        </a:rPr>
                        <a:t>350</a:t>
                      </a:r>
                      <a:endParaRPr lang="zh-CN" sz="1600" kern="100" dirty="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200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10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3"/>
                  </a:ext>
                </a:extLst>
              </a:tr>
              <a:tr h="781050">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KTH370-12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370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12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4"/>
                  </a:ext>
                </a:extLst>
              </a:tr>
              <a:tr h="169545">
                <a:tc rowSpan="4">
                  <a:txBody>
                    <a:bodyPr/>
                    <a:lstStyle/>
                    <a:p>
                      <a:pPr algn="ctr">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珠光体可锻铸铁</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KTZ450-06</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450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270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6</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150~220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ctr">
                        <a:spcAft>
                          <a:spcPts val="0"/>
                        </a:spcAft>
                      </a:pPr>
                      <a:r>
                        <a:rPr lang="zh-CN" sz="1600" b="1" kern="100" dirty="0">
                          <a:solidFill>
                            <a:srgbClr val="FF0000"/>
                          </a:solidFill>
                          <a:latin typeface="Calibri" panose="020F0502020204030204"/>
                          <a:ea typeface="宋体" panose="02010600030101010101" pitchFamily="2" charset="-122"/>
                          <a:cs typeface="Times New Roman" panose="02020603050405020304"/>
                        </a:rPr>
                        <a:t>曲轴、凸轮轴、连杆、活塞环、耙片、万向接头、棘轮、传动链条等</a:t>
                      </a: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69545">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KTZ550-04</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550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340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4</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180~230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6"/>
                  </a:ext>
                </a:extLst>
              </a:tr>
              <a:tr h="169545">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KTZ650-02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650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430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210~260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7"/>
                  </a:ext>
                </a:extLst>
              </a:tr>
              <a:tr h="621030">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KTZ700-02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700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530</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Calibri" panose="020F0502020204030204"/>
                          <a:ea typeface="宋体" panose="02010600030101010101" pitchFamily="2" charset="-122"/>
                          <a:cs typeface="Times New Roman" panose="02020603050405020304"/>
                        </a:rPr>
                        <a:t>2</a:t>
                      </a:r>
                      <a:endParaRPr lang="zh-CN" sz="1600" kern="10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latin typeface="Calibri" panose="020F0502020204030204"/>
                          <a:ea typeface="宋体" panose="02010600030101010101" pitchFamily="2" charset="-122"/>
                          <a:cs typeface="Times New Roman" panose="02020603050405020304"/>
                        </a:rPr>
                        <a:t>240~290</a:t>
                      </a:r>
                      <a:endParaRPr lang="zh-CN" sz="1600" kern="100" dirty="0">
                        <a:latin typeface="Calibri" panose="020F0502020204030204"/>
                        <a:ea typeface="宋体" panose="02010600030101010101" pitchFamily="2" charset="-122"/>
                        <a:cs typeface="Times New Roman" panose="02020603050405020304"/>
                      </a:endParaRPr>
                    </a:p>
                  </a:txBody>
                  <a:tcPr marL="68580" marR="68580"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8"/>
                  </a:ext>
                </a:extLst>
              </a:tr>
            </a:tbl>
          </a:graphicData>
        </a:graphic>
      </p:graphicFrame>
      <p:sp>
        <p:nvSpPr>
          <p:cNvPr id="5" name="矩形 4"/>
          <p:cNvSpPr/>
          <p:nvPr/>
        </p:nvSpPr>
        <p:spPr>
          <a:xfrm>
            <a:off x="2249488" y="571500"/>
            <a:ext cx="5108575" cy="461963"/>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rPr>
              <a:t>可锻铸铁的分类、牌号、组织及用途</a:t>
            </a:r>
            <a:endParaRPr kumimoji="1" lang="zh-CN" altLang="en-US" sz="2400" b="1" i="0" u="none" strike="noStrike" kern="1200" cap="none" spc="0" normalizeH="0" baseline="0" noProof="0" dirty="0">
              <a:ln>
                <a:noFill/>
              </a:ln>
              <a:solidFill>
                <a:srgbClr val="0000FF"/>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4313" y="142875"/>
            <a:ext cx="2749550" cy="584200"/>
          </a:xfrm>
          <a:prstGeom prst="rect">
            <a:avLst/>
          </a:prstGeom>
        </p:spPr>
        <p:txBody>
          <a:bodyPr wrap="none">
            <a:spAutoFit/>
          </a:bodyPr>
          <a:lstStyle/>
          <a:p>
            <a:pPr marL="342900" marR="0" lvl="0" indent="-342900" algn="l" defTabSz="914400" rtl="0" eaLnBrk="1" fontAlgn="base" latinLnBrk="0" hangingPunct="1">
              <a:lnSpc>
                <a:spcPct val="100000"/>
              </a:lnSpc>
              <a:spcBef>
                <a:spcPct val="20000"/>
              </a:spcBef>
              <a:spcAft>
                <a:spcPct val="0"/>
              </a:spcAft>
              <a:buClr>
                <a:srgbClr val="3366FF"/>
              </a:buClr>
              <a:buSzPct val="80000"/>
              <a:buFontTx/>
              <a:buNone/>
              <a:defRPr/>
            </a:pPr>
            <a:r>
              <a:rPr kumimoji="1" lang="zh-CN" altLang="en-US" sz="3200" b="1" i="0" u="none" strike="noStrike" kern="0" cap="none" spc="0" normalizeH="0" baseline="0" noProof="0" dirty="0">
                <a:ln>
                  <a:noFill/>
                </a:ln>
                <a:solidFill>
                  <a:srgbClr val="0000FF"/>
                </a:solidFill>
                <a:effectLst/>
                <a:uLnTx/>
                <a:uFillTx/>
                <a:latin typeface="Times New Roman" panose="02020603050405020304"/>
                <a:ea typeface="华文中宋" panose="02010600040101010101" pitchFamily="2" charset="-122"/>
                <a:cs typeface="+mn-cs"/>
              </a:rPr>
              <a:t>四、 蠕墨铸铁</a:t>
            </a:r>
          </a:p>
        </p:txBody>
      </p:sp>
      <p:sp>
        <p:nvSpPr>
          <p:cNvPr id="41987" name="矩形 2"/>
          <p:cNvSpPr/>
          <p:nvPr/>
        </p:nvSpPr>
        <p:spPr>
          <a:xfrm>
            <a:off x="63500" y="928688"/>
            <a:ext cx="7508875" cy="461962"/>
          </a:xfrm>
          <a:prstGeom prst="rect">
            <a:avLst/>
          </a:prstGeom>
          <a:noFill/>
          <a:ln w="9525">
            <a:noFill/>
          </a:ln>
        </p:spPr>
        <p:txBody>
          <a:bodyPr wrap="none">
            <a:spAutoFit/>
          </a:bodyPr>
          <a:lstStyle/>
          <a:p>
            <a:pPr>
              <a:buFont typeface="Wingdings" panose="05000000000000000000" pitchFamily="2" charset="2"/>
              <a:buChar char="Ø"/>
            </a:pPr>
            <a:r>
              <a:rPr lang="zh-CN" altLang="en-US" sz="2400" b="1" dirty="0">
                <a:solidFill>
                  <a:srgbClr val="800080"/>
                </a:solidFill>
                <a:latin typeface="Calibri" panose="020F0502020204030204" pitchFamily="34" charset="0"/>
                <a:ea typeface="华文中宋" panose="02010600040101010101" pitchFamily="2" charset="-122"/>
              </a:rPr>
              <a:t>　蠕墨铸铁是液态铁水经蠕化处理和孕育处理得到的</a:t>
            </a:r>
            <a:endParaRPr lang="zh-CN" altLang="en-US" sz="2400" dirty="0">
              <a:latin typeface="Times New Roman" panose="02020603050405020304" pitchFamily="18" charset="0"/>
            </a:endParaRPr>
          </a:p>
        </p:txBody>
      </p:sp>
      <p:sp>
        <p:nvSpPr>
          <p:cNvPr id="41988" name="矩形 3"/>
          <p:cNvSpPr/>
          <p:nvPr/>
        </p:nvSpPr>
        <p:spPr>
          <a:xfrm>
            <a:off x="68263" y="1571625"/>
            <a:ext cx="9124950" cy="552450"/>
          </a:xfrm>
          <a:prstGeom prst="rect">
            <a:avLst/>
          </a:prstGeom>
          <a:noFill/>
          <a:ln w="9525">
            <a:noFill/>
          </a:ln>
        </p:spPr>
        <p:txBody>
          <a:bodyPr wrap="none">
            <a:spAutoFit/>
          </a:bodyPr>
          <a:lstStyle/>
          <a:p>
            <a:pPr>
              <a:lnSpc>
                <a:spcPct val="140000"/>
              </a:lnSpc>
              <a:buFont typeface="Wingdings" panose="05000000000000000000" pitchFamily="2" charset="2"/>
              <a:buChar char="Ø"/>
            </a:pPr>
            <a:r>
              <a:rPr lang="zh-CN" altLang="en-US" sz="2400" b="1" dirty="0">
                <a:latin typeface="Times New Roman" panose="02020603050405020304" pitchFamily="18" charset="0"/>
                <a:ea typeface="华文中宋" panose="02010600040101010101" pitchFamily="2" charset="-122"/>
              </a:rPr>
              <a:t>　蠕化剂为稀土硅铁镁合金、</a:t>
            </a:r>
            <a:r>
              <a:rPr lang="zh-CN" altLang="en-US" sz="2400" b="1" dirty="0">
                <a:solidFill>
                  <a:srgbClr val="000000"/>
                </a:solidFill>
                <a:latin typeface="Times New Roman" panose="02020603050405020304" pitchFamily="18" charset="0"/>
                <a:ea typeface="华文中宋" panose="02010600040101010101" pitchFamily="2" charset="-122"/>
              </a:rPr>
              <a:t>稀土硅铁合金、稀土硅铁钙合金等 </a:t>
            </a:r>
            <a:endParaRPr lang="zh-CN" altLang="en-US" sz="2400" b="1" dirty="0">
              <a:latin typeface="Times New Roman" panose="02020603050405020304" pitchFamily="18" charset="0"/>
              <a:ea typeface="华文中宋" panose="02010600040101010101" pitchFamily="2" charset="-122"/>
            </a:endParaRPr>
          </a:p>
        </p:txBody>
      </p:sp>
      <p:sp>
        <p:nvSpPr>
          <p:cNvPr id="41989" name="矩形 5"/>
          <p:cNvSpPr/>
          <p:nvPr/>
        </p:nvSpPr>
        <p:spPr>
          <a:xfrm>
            <a:off x="71438" y="2233613"/>
            <a:ext cx="8706230" cy="523220"/>
          </a:xfrm>
          <a:prstGeom prst="rect">
            <a:avLst/>
          </a:prstGeom>
          <a:noFill/>
          <a:ln w="9525">
            <a:noFill/>
          </a:ln>
        </p:spPr>
        <p:txBody>
          <a:bodyPr wrap="none">
            <a:spAutoFit/>
          </a:bodyPr>
          <a:lstStyle/>
          <a:p>
            <a:pPr>
              <a:buFont typeface="Wingdings" panose="05000000000000000000" pitchFamily="2" charset="2"/>
              <a:buChar char="Ø"/>
            </a:pPr>
            <a:r>
              <a:rPr lang="zh-CN" altLang="en-US" sz="2400" b="1" dirty="0">
                <a:latin typeface="Times New Roman" panose="02020603050405020304" pitchFamily="18" charset="0"/>
                <a:ea typeface="华文中宋" panose="02010600040101010101" pitchFamily="2" charset="-122"/>
              </a:rPr>
              <a:t>　蠕墨铸铁的组织：</a:t>
            </a:r>
            <a:r>
              <a:rPr lang="zh-CN" altLang="en-US" sz="2400" b="1" dirty="0">
                <a:solidFill>
                  <a:srgbClr val="0000FF"/>
                </a:solidFill>
                <a:latin typeface="Times New Roman" panose="02020603050405020304" pitchFamily="18" charset="0"/>
                <a:ea typeface="华文中宋" panose="02010600040101010101" pitchFamily="2" charset="-122"/>
              </a:rPr>
              <a:t>基体（</a:t>
            </a:r>
            <a:r>
              <a:rPr lang="en-US" altLang="zh-CN" sz="2400" b="1" dirty="0">
                <a:solidFill>
                  <a:srgbClr val="0000FF"/>
                </a:solidFill>
                <a:latin typeface="Times New Roman" panose="02020603050405020304" pitchFamily="18" charset="0"/>
                <a:ea typeface="华文中宋" panose="02010600040101010101" pitchFamily="2" charset="-122"/>
              </a:rPr>
              <a:t>F</a:t>
            </a:r>
            <a:r>
              <a:rPr lang="zh-CN" altLang="en-US" sz="2400" b="1" dirty="0">
                <a:solidFill>
                  <a:srgbClr val="0000FF"/>
                </a:solidFill>
                <a:latin typeface="Times New Roman" panose="02020603050405020304" pitchFamily="18" charset="0"/>
                <a:ea typeface="华文中宋" panose="02010600040101010101" pitchFamily="2" charset="-122"/>
              </a:rPr>
              <a:t>、</a:t>
            </a:r>
            <a:r>
              <a:rPr lang="en-US" altLang="zh-CN" sz="2400" b="1" dirty="0">
                <a:solidFill>
                  <a:srgbClr val="0000FF"/>
                </a:solidFill>
                <a:latin typeface="Times New Roman" panose="02020603050405020304" pitchFamily="18" charset="0"/>
                <a:ea typeface="华文中宋" panose="02010600040101010101" pitchFamily="2" charset="-122"/>
              </a:rPr>
              <a:t>F+P</a:t>
            </a:r>
            <a:r>
              <a:rPr lang="zh-CN" altLang="en-US" sz="2400" b="1" dirty="0">
                <a:solidFill>
                  <a:srgbClr val="0000FF"/>
                </a:solidFill>
                <a:latin typeface="Times New Roman" panose="02020603050405020304" pitchFamily="18" charset="0"/>
                <a:ea typeface="华文中宋" panose="02010600040101010101" pitchFamily="2" charset="-122"/>
              </a:rPr>
              <a:t>、</a:t>
            </a:r>
            <a:r>
              <a:rPr lang="en-US" altLang="zh-CN" sz="2400" b="1" dirty="0">
                <a:solidFill>
                  <a:srgbClr val="0000FF"/>
                </a:solidFill>
                <a:latin typeface="Times New Roman" panose="02020603050405020304" pitchFamily="18" charset="0"/>
                <a:ea typeface="华文中宋" panose="02010600040101010101" pitchFamily="2" charset="-122"/>
              </a:rPr>
              <a:t>P</a:t>
            </a:r>
            <a:r>
              <a:rPr lang="zh-CN" altLang="en-US" sz="2400" b="1" dirty="0">
                <a:solidFill>
                  <a:srgbClr val="0000FF"/>
                </a:solidFill>
                <a:latin typeface="Times New Roman" panose="02020603050405020304" pitchFamily="18" charset="0"/>
                <a:ea typeface="华文中宋" panose="02010600040101010101" pitchFamily="2" charset="-122"/>
              </a:rPr>
              <a:t>）</a:t>
            </a:r>
            <a:r>
              <a:rPr lang="en-US" altLang="zh-CN" sz="2400" b="1" dirty="0">
                <a:solidFill>
                  <a:srgbClr val="0000FF"/>
                </a:solidFill>
                <a:latin typeface="Times New Roman" panose="02020603050405020304" pitchFamily="18" charset="0"/>
                <a:ea typeface="华文中宋" panose="02010600040101010101" pitchFamily="2" charset="-122"/>
              </a:rPr>
              <a:t>+ </a:t>
            </a:r>
            <a:r>
              <a:rPr lang="zh-CN" altLang="en-US" sz="2400" b="1" dirty="0">
                <a:solidFill>
                  <a:srgbClr val="0000FF"/>
                </a:solidFill>
                <a:latin typeface="Times New Roman" panose="02020603050405020304" pitchFamily="18" charset="0"/>
                <a:ea typeface="华文中宋" panose="02010600040101010101" pitchFamily="2" charset="-122"/>
              </a:rPr>
              <a:t>蠕虫状</a:t>
            </a:r>
            <a:r>
              <a:rPr lang="en-US" altLang="zh-CN" sz="2400" b="1" dirty="0">
                <a:solidFill>
                  <a:srgbClr val="0000FF"/>
                </a:solidFill>
                <a:latin typeface="Times New Roman" panose="02020603050405020304" pitchFamily="18" charset="0"/>
                <a:ea typeface="华文中宋" panose="02010600040101010101" pitchFamily="2" charset="-122"/>
              </a:rPr>
              <a:t>G</a:t>
            </a:r>
            <a:r>
              <a:rPr lang="zh-CN" altLang="en-US" sz="2400" b="1" dirty="0">
                <a:solidFill>
                  <a:srgbClr val="0000FF"/>
                </a:solidFill>
                <a:latin typeface="Times New Roman" panose="02020603050405020304" pitchFamily="18" charset="0"/>
                <a:ea typeface="华文中宋" panose="02010600040101010101" pitchFamily="2" charset="-122"/>
              </a:rPr>
              <a:t>（</a:t>
            </a:r>
            <a:r>
              <a:rPr lang="zh-CN" altLang="zh-CN" sz="2400" dirty="0"/>
              <a:t>石墨</a:t>
            </a:r>
            <a:r>
              <a:rPr lang="zh-CN" altLang="en-US" sz="2400" b="1" dirty="0">
                <a:solidFill>
                  <a:srgbClr val="0000FF"/>
                </a:solidFill>
                <a:latin typeface="Times New Roman" panose="02020603050405020304" pitchFamily="18" charset="0"/>
                <a:ea typeface="华文中宋" panose="02010600040101010101" pitchFamily="2" charset="-122"/>
              </a:rPr>
              <a:t>）</a:t>
            </a:r>
            <a:r>
              <a:rPr lang="en-US" altLang="zh-CN" sz="2800" b="1" dirty="0">
                <a:solidFill>
                  <a:srgbClr val="0000FF"/>
                </a:solidFill>
                <a:latin typeface="Times New Roman" panose="02020603050405020304" pitchFamily="18" charset="0"/>
                <a:ea typeface="华文中宋" panose="02010600040101010101" pitchFamily="2" charset="-122"/>
              </a:rPr>
              <a:t> </a:t>
            </a:r>
            <a:endParaRPr lang="zh-CN" altLang="en-US" sz="2400" b="1" dirty="0">
              <a:solidFill>
                <a:srgbClr val="0000FF"/>
              </a:solidFill>
              <a:latin typeface="Times New Roman" panose="02020603050405020304" pitchFamily="18" charset="0"/>
              <a:ea typeface="华文中宋" panose="02010600040101010101" pitchFamily="2" charset="-122"/>
            </a:endParaRPr>
          </a:p>
        </p:txBody>
      </p:sp>
      <p:pic>
        <p:nvPicPr>
          <p:cNvPr id="41990" name="Picture 4" descr="9"/>
          <p:cNvPicPr>
            <a:picLocks noChangeAspect="1"/>
          </p:cNvPicPr>
          <p:nvPr/>
        </p:nvPicPr>
        <p:blipFill>
          <a:blip r:embed="rId2"/>
          <a:stretch>
            <a:fillRect/>
          </a:stretch>
        </p:blipFill>
        <p:spPr>
          <a:xfrm>
            <a:off x="285750" y="3214688"/>
            <a:ext cx="3959225" cy="2930525"/>
          </a:xfrm>
          <a:prstGeom prst="rect">
            <a:avLst/>
          </a:prstGeom>
          <a:noFill/>
          <a:ln w="38100" cap="flat" cmpd="sng">
            <a:solidFill>
              <a:srgbClr val="FF9900"/>
            </a:solidFill>
            <a:prstDash val="solid"/>
            <a:miter/>
            <a:headEnd type="none" w="med" len="med"/>
            <a:tailEnd type="none" w="med" len="med"/>
          </a:ln>
        </p:spPr>
      </p:pic>
      <p:pic>
        <p:nvPicPr>
          <p:cNvPr id="41991" name="Picture 12" descr="蠕墨铸铁（珠光体基体）"/>
          <p:cNvPicPr>
            <a:picLocks noChangeAspect="1"/>
          </p:cNvPicPr>
          <p:nvPr/>
        </p:nvPicPr>
        <p:blipFill>
          <a:blip r:embed="rId3"/>
          <a:stretch>
            <a:fillRect/>
          </a:stretch>
        </p:blipFill>
        <p:spPr>
          <a:xfrm>
            <a:off x="4538663" y="3214688"/>
            <a:ext cx="4319587" cy="2927350"/>
          </a:xfrm>
          <a:prstGeom prst="rect">
            <a:avLst/>
          </a:prstGeom>
          <a:noFill/>
          <a:ln w="38100" cap="flat" cmpd="sng">
            <a:solidFill>
              <a:srgbClr val="FF00FF"/>
            </a:solidFill>
            <a:prstDash val="solid"/>
            <a:miter/>
            <a:headEnd type="none" w="med" len="med"/>
            <a:tailEnd type="none" w="med" len="med"/>
          </a:ln>
        </p:spPr>
      </p:pic>
      <p:sp>
        <p:nvSpPr>
          <p:cNvPr id="41992" name="Rectangle 20"/>
          <p:cNvSpPr/>
          <p:nvPr/>
        </p:nvSpPr>
        <p:spPr>
          <a:xfrm>
            <a:off x="285750" y="5857875"/>
            <a:ext cx="1295400" cy="304800"/>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b="1" dirty="0">
                <a:solidFill>
                  <a:srgbClr val="800000"/>
                </a:solidFill>
                <a:latin typeface="Times New Roman" panose="02020603050405020304" pitchFamily="18" charset="0"/>
              </a:rPr>
              <a:t>铁素体基体</a:t>
            </a:r>
          </a:p>
        </p:txBody>
      </p:sp>
      <p:sp>
        <p:nvSpPr>
          <p:cNvPr id="41993" name="Rectangle 16"/>
          <p:cNvSpPr/>
          <p:nvPr/>
        </p:nvSpPr>
        <p:spPr>
          <a:xfrm>
            <a:off x="7448550" y="3219450"/>
            <a:ext cx="1371600" cy="304800"/>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b="1" dirty="0">
                <a:solidFill>
                  <a:srgbClr val="800000"/>
                </a:solidFill>
                <a:latin typeface="Times New Roman" panose="02020603050405020304" pitchFamily="18" charset="0"/>
              </a:rPr>
              <a:t>珠光体基体</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p:cNvSpPr>
          <p:nvPr>
            <p:ph idx="1"/>
          </p:nvPr>
        </p:nvSpPr>
        <p:spPr>
          <a:xfrm>
            <a:off x="304800" y="333375"/>
            <a:ext cx="8534400" cy="6096000"/>
          </a:xfrm>
          <a:ln/>
        </p:spPr>
        <p:txBody>
          <a:bodyPr vert="horz" wrap="square" lIns="91440" tIns="45720" rIns="91440" bIns="45720" anchor="t" anchorCtr="0"/>
          <a:lstStyle/>
          <a:p>
            <a:pPr marL="0" indent="0" eaLnBrk="1" hangingPunct="1">
              <a:lnSpc>
                <a:spcPct val="140000"/>
              </a:lnSpc>
              <a:buNone/>
            </a:pPr>
            <a:r>
              <a:rPr lang="zh-CN" altLang="en-US" sz="2800" b="1" dirty="0">
                <a:solidFill>
                  <a:srgbClr val="FF0000"/>
                </a:solidFill>
                <a:ea typeface="华文中宋" panose="02010600040101010101" pitchFamily="2" charset="-122"/>
              </a:rPr>
              <a:t>蠕墨铸铁常用于制造承受热循环载荷的零件和结构复杂、强度要求高的铸件。</a:t>
            </a:r>
            <a:r>
              <a:rPr lang="zh-CN" altLang="en-US" sz="2800" b="1" dirty="0">
                <a:solidFill>
                  <a:srgbClr val="0000FF"/>
                </a:solidFill>
                <a:ea typeface="华文中宋" panose="02010600040101010101" pitchFamily="2" charset="-122"/>
              </a:rPr>
              <a:t>如钢锭模、玻璃模具、柴油机汽缸、汽缸盖、排气阀、液压阀的阀体、耐压泵的泵体等。</a:t>
            </a:r>
            <a:r>
              <a:rPr lang="zh-CN" altLang="en-US" sz="2800" b="1" dirty="0">
                <a:ea typeface="华文中宋" panose="02010600040101010101" pitchFamily="2" charset="-122"/>
              </a:rPr>
              <a:t>  </a:t>
            </a:r>
          </a:p>
        </p:txBody>
      </p:sp>
      <p:grpSp>
        <p:nvGrpSpPr>
          <p:cNvPr id="43011" name="Group 25"/>
          <p:cNvGrpSpPr/>
          <p:nvPr/>
        </p:nvGrpSpPr>
        <p:grpSpPr>
          <a:xfrm>
            <a:off x="838200" y="2686050"/>
            <a:ext cx="7696200" cy="3787775"/>
            <a:chOff x="528" y="1692"/>
            <a:chExt cx="4848" cy="2386"/>
          </a:xfrm>
        </p:grpSpPr>
        <p:grpSp>
          <p:nvGrpSpPr>
            <p:cNvPr id="43012" name="Group 24"/>
            <p:cNvGrpSpPr/>
            <p:nvPr/>
          </p:nvGrpSpPr>
          <p:grpSpPr>
            <a:xfrm>
              <a:off x="528" y="2016"/>
              <a:ext cx="2654" cy="2062"/>
              <a:chOff x="528" y="2016"/>
              <a:chExt cx="2654" cy="2062"/>
            </a:xfrm>
          </p:grpSpPr>
          <p:pic>
            <p:nvPicPr>
              <p:cNvPr id="43016" name="Picture 6" descr="i玻璃模具"/>
              <p:cNvPicPr>
                <a:picLocks noChangeAspect="1"/>
              </p:cNvPicPr>
              <p:nvPr/>
            </p:nvPicPr>
            <p:blipFill>
              <a:blip r:embed="rId2"/>
              <a:stretch>
                <a:fillRect/>
              </a:stretch>
            </p:blipFill>
            <p:spPr>
              <a:xfrm>
                <a:off x="528" y="2016"/>
                <a:ext cx="2557" cy="2045"/>
              </a:xfrm>
              <a:prstGeom prst="rect">
                <a:avLst/>
              </a:prstGeom>
              <a:noFill/>
              <a:ln w="38100" cap="flat" cmpd="sng">
                <a:solidFill>
                  <a:srgbClr val="FF00FF"/>
                </a:solidFill>
                <a:prstDash val="solid"/>
                <a:miter/>
                <a:headEnd type="none" w="med" len="med"/>
                <a:tailEnd type="none" w="med" len="med"/>
              </a:ln>
            </p:spPr>
          </p:pic>
          <p:sp>
            <p:nvSpPr>
              <p:cNvPr id="43017" name="Text Box 7"/>
              <p:cNvSpPr txBox="1"/>
              <p:nvPr/>
            </p:nvSpPr>
            <p:spPr>
              <a:xfrm>
                <a:off x="2304" y="3828"/>
                <a:ext cx="878" cy="250"/>
              </a:xfrm>
              <a:prstGeom prst="rect">
                <a:avLst/>
              </a:prstGeom>
              <a:noFill/>
              <a:ln w="9525">
                <a:noFill/>
              </a:ln>
            </p:spPr>
            <p:txBody>
              <a:bodyPr>
                <a:spAutoFit/>
              </a:bodyPr>
              <a:lstStyle/>
              <a:p>
                <a:pPr algn="ctr">
                  <a:spcBef>
                    <a:spcPct val="50000"/>
                  </a:spcBef>
                </a:pPr>
                <a:r>
                  <a:rPr lang="zh-CN" altLang="en-US" sz="2000" b="1" dirty="0">
                    <a:solidFill>
                      <a:srgbClr val="800000"/>
                    </a:solidFill>
                    <a:latin typeface="Times New Roman" panose="02020603050405020304" pitchFamily="18" charset="0"/>
                  </a:rPr>
                  <a:t>玻璃模具</a:t>
                </a:r>
              </a:p>
            </p:txBody>
          </p:sp>
        </p:grpSp>
        <p:grpSp>
          <p:nvGrpSpPr>
            <p:cNvPr id="43013" name="Group 23"/>
            <p:cNvGrpSpPr/>
            <p:nvPr/>
          </p:nvGrpSpPr>
          <p:grpSpPr>
            <a:xfrm>
              <a:off x="3264" y="1692"/>
              <a:ext cx="2112" cy="2380"/>
              <a:chOff x="3264" y="1728"/>
              <a:chExt cx="2112" cy="2380"/>
            </a:xfrm>
          </p:grpSpPr>
          <p:pic>
            <p:nvPicPr>
              <p:cNvPr id="43014" name="Picture 21" descr="蠕墨铸铁制动鼓"/>
              <p:cNvPicPr>
                <a:picLocks noChangeAspect="1"/>
              </p:cNvPicPr>
              <p:nvPr/>
            </p:nvPicPr>
            <p:blipFill>
              <a:blip r:embed="rId3"/>
              <a:stretch>
                <a:fillRect/>
              </a:stretch>
            </p:blipFill>
            <p:spPr>
              <a:xfrm>
                <a:off x="3264" y="1728"/>
                <a:ext cx="2083" cy="2380"/>
              </a:xfrm>
              <a:prstGeom prst="rect">
                <a:avLst/>
              </a:prstGeom>
              <a:noFill/>
              <a:ln w="38100" cap="flat" cmpd="sng">
                <a:solidFill>
                  <a:srgbClr val="FF9900"/>
                </a:solidFill>
                <a:prstDash val="solid"/>
                <a:miter/>
                <a:headEnd type="none" w="med" len="med"/>
                <a:tailEnd type="none" w="med" len="med"/>
              </a:ln>
            </p:spPr>
          </p:pic>
          <p:sp>
            <p:nvSpPr>
              <p:cNvPr id="43015" name="Text Box 22"/>
              <p:cNvSpPr txBox="1"/>
              <p:nvPr/>
            </p:nvSpPr>
            <p:spPr>
              <a:xfrm>
                <a:off x="4704" y="3840"/>
                <a:ext cx="672" cy="250"/>
              </a:xfrm>
              <a:prstGeom prst="rect">
                <a:avLst/>
              </a:prstGeom>
              <a:noFill/>
              <a:ln w="9525">
                <a:noFill/>
              </a:ln>
            </p:spPr>
            <p:txBody>
              <a:bodyPr>
                <a:spAutoFit/>
              </a:bodyPr>
              <a:lstStyle/>
              <a:p>
                <a:pPr algn="r">
                  <a:spcBef>
                    <a:spcPct val="50000"/>
                  </a:spcBef>
                </a:pPr>
                <a:r>
                  <a:rPr lang="zh-CN" altLang="en-US" sz="2000" b="1" dirty="0">
                    <a:solidFill>
                      <a:srgbClr val="800000"/>
                    </a:solidFill>
                    <a:latin typeface="Times New Roman" panose="02020603050405020304" pitchFamily="18" charset="0"/>
                  </a:rPr>
                  <a:t>制动鼓</a:t>
                </a: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8"/>
          <p:cNvSpPr txBox="1">
            <a:spLocks noChangeArrowheads="1"/>
          </p:cNvSpPr>
          <p:nvPr/>
        </p:nvSpPr>
        <p:spPr bwMode="auto">
          <a:xfrm>
            <a:off x="2214563" y="71438"/>
            <a:ext cx="4572000" cy="914400"/>
          </a:xfrm>
          <a:prstGeom prst="rect">
            <a:avLst/>
          </a:prstGeom>
          <a:noFill/>
          <a:ln w="9525">
            <a:noFill/>
            <a:miter lim="800000"/>
          </a:ln>
          <a:effectLst/>
        </p:spPr>
        <p:txBody>
          <a:bodyPr lIns="92075" tIns="46038" rIns="92075" bIns="46038" anchor="ctr"/>
          <a:lstStyle/>
          <a:p>
            <a:pPr marR="0" algn="ctr" defTabSz="914400">
              <a:buClrTx/>
              <a:buSzTx/>
              <a:buFontTx/>
              <a:buNone/>
              <a:defRPr/>
            </a:pPr>
            <a:r>
              <a:rPr kumimoji="1" lang="zh-CN" altLang="en-US" sz="4400" b="1" kern="0" cap="none" spc="0" normalizeH="0" baseline="0" noProof="0" dirty="0">
                <a:solidFill>
                  <a:srgbClr val="0000B2"/>
                </a:solidFill>
                <a:latin typeface="华文中宋" panose="02010600040101010101" pitchFamily="2" charset="-122"/>
                <a:ea typeface="华文中宋" panose="02010600040101010101" pitchFamily="2" charset="-122"/>
                <a:cs typeface="+mj-cs"/>
              </a:rPr>
              <a:t>第三节  有色金属</a:t>
            </a:r>
          </a:p>
        </p:txBody>
      </p:sp>
      <p:sp>
        <p:nvSpPr>
          <p:cNvPr id="44035" name="Rectangle 8"/>
          <p:cNvSpPr/>
          <p:nvPr/>
        </p:nvSpPr>
        <p:spPr>
          <a:xfrm>
            <a:off x="285750" y="857250"/>
            <a:ext cx="8429625" cy="1292225"/>
          </a:xfrm>
          <a:prstGeom prst="rect">
            <a:avLst/>
          </a:prstGeom>
          <a:noFill/>
          <a:ln w="9525">
            <a:noFill/>
          </a:ln>
        </p:spPr>
        <p:txBody>
          <a:bodyPr lIns="92075" tIns="46038" rIns="92075" bIns="46038" anchor="ctr" anchorCtr="0"/>
          <a:lstStyle/>
          <a:p>
            <a:pPr>
              <a:lnSpc>
                <a:spcPct val="140000"/>
              </a:lnSpc>
              <a:spcBef>
                <a:spcPct val="20000"/>
              </a:spcBef>
              <a:buClr>
                <a:schemeClr val="accent2"/>
              </a:buClr>
              <a:buSzPct val="80000"/>
            </a:pPr>
            <a:r>
              <a:rPr lang="zh-CN" altLang="en-US" sz="2400" b="1" dirty="0">
                <a:latin typeface="华文中宋" panose="02010600040101010101" pitchFamily="2" charset="-122"/>
                <a:ea typeface="华文中宋" panose="02010600040101010101" pitchFamily="2" charset="-122"/>
              </a:rPr>
              <a:t>　　在工业生产中，通常把铁及其合金称为黑色金属，把其他非铁金属及其合金称为有色金属。 </a:t>
            </a:r>
          </a:p>
        </p:txBody>
      </p:sp>
      <p:sp>
        <p:nvSpPr>
          <p:cNvPr id="44036" name="矩形 3"/>
          <p:cNvSpPr/>
          <p:nvPr/>
        </p:nvSpPr>
        <p:spPr>
          <a:xfrm>
            <a:off x="357188" y="1928813"/>
            <a:ext cx="8358187" cy="2308225"/>
          </a:xfrm>
          <a:prstGeom prst="rect">
            <a:avLst/>
          </a:prstGeom>
          <a:noFill/>
          <a:ln w="9525">
            <a:noFill/>
          </a:ln>
        </p:spPr>
        <p:txBody>
          <a:bodyPr>
            <a:spAutoFit/>
          </a:bodyPr>
          <a:lstStyle/>
          <a:p>
            <a:pPr algn="just">
              <a:lnSpc>
                <a:spcPct val="150000"/>
              </a:lnSpc>
            </a:pPr>
            <a:r>
              <a:rPr lang="zh-CN" altLang="en-US" sz="2400" b="1" dirty="0">
                <a:solidFill>
                  <a:srgbClr val="003300"/>
                </a:solidFill>
                <a:latin typeface="华文中宋" panose="02010600040101010101" pitchFamily="2" charset="-122"/>
                <a:ea typeface="华文中宋" panose="02010600040101010101" pitchFamily="2" charset="-122"/>
              </a:rPr>
              <a:t>　　与钢铁等黑色金属材料相比，有色金属具有许多优良的特性，</a:t>
            </a:r>
            <a:r>
              <a:rPr lang="zh-CN" altLang="en-US" sz="2400" b="1" dirty="0">
                <a:solidFill>
                  <a:srgbClr val="0000FF"/>
                </a:solidFill>
                <a:latin typeface="华文中宋" panose="02010600040101010101" pitchFamily="2" charset="-122"/>
                <a:ea typeface="华文中宋" panose="02010600040101010101" pitchFamily="2" charset="-122"/>
              </a:rPr>
              <a:t>如特殊的电、磁、热性能，耐蚀性能及高的比强度</a:t>
            </a:r>
            <a:r>
              <a:rPr lang="en-US" altLang="zh-CN" sz="2400" b="1">
                <a:solidFill>
                  <a:srgbClr val="0000FF"/>
                </a:solidFill>
                <a:latin typeface="华文中宋" panose="02010600040101010101" pitchFamily="2" charset="-122"/>
                <a:ea typeface="华文中宋" panose="02010600040101010101" pitchFamily="2" charset="-122"/>
              </a:rPr>
              <a:t>(</a:t>
            </a:r>
            <a:r>
              <a:rPr lang="zh-CN" altLang="en-US" sz="2400" b="1" dirty="0">
                <a:solidFill>
                  <a:srgbClr val="0000FF"/>
                </a:solidFill>
                <a:latin typeface="华文中宋" panose="02010600040101010101" pitchFamily="2" charset="-122"/>
                <a:ea typeface="华文中宋" panose="02010600040101010101" pitchFamily="2" charset="-122"/>
              </a:rPr>
              <a:t>强度与密度之比</a:t>
            </a:r>
            <a:r>
              <a:rPr lang="en-US" altLang="zh-CN" sz="2400" b="1">
                <a:solidFill>
                  <a:srgbClr val="0000FF"/>
                </a:solidFill>
                <a:latin typeface="华文中宋" panose="02010600040101010101" pitchFamily="2" charset="-122"/>
                <a:ea typeface="华文中宋" panose="02010600040101010101" pitchFamily="2" charset="-122"/>
              </a:rPr>
              <a:t>)</a:t>
            </a:r>
            <a:r>
              <a:rPr lang="zh-CN" altLang="en-US" sz="2400" b="1" dirty="0">
                <a:solidFill>
                  <a:srgbClr val="0000FF"/>
                </a:solidFill>
                <a:latin typeface="华文中宋" panose="02010600040101010101" pitchFamily="2" charset="-122"/>
                <a:ea typeface="华文中宋" panose="02010600040101010101" pitchFamily="2" charset="-122"/>
              </a:rPr>
              <a:t>等，</a:t>
            </a:r>
            <a:r>
              <a:rPr lang="zh-CN" altLang="en-US" sz="2400" b="1" dirty="0">
                <a:solidFill>
                  <a:srgbClr val="003300"/>
                </a:solidFill>
                <a:latin typeface="华文中宋" panose="02010600040101010101" pitchFamily="2" charset="-122"/>
                <a:ea typeface="华文中宋" panose="02010600040101010101" pitchFamily="2" charset="-122"/>
              </a:rPr>
              <a:t>是现代工业中不可缺少的材料，在国民经济中占有十分重要的地位。</a:t>
            </a:r>
            <a:endParaRPr lang="zh-CN" altLang="en-US" sz="2400" b="1" dirty="0">
              <a:latin typeface="华文中宋" panose="02010600040101010101" pitchFamily="2" charset="-122"/>
              <a:ea typeface="华文中宋" panose="02010600040101010101" pitchFamily="2" charset="-122"/>
            </a:endParaRPr>
          </a:p>
        </p:txBody>
      </p:sp>
      <p:pic>
        <p:nvPicPr>
          <p:cNvPr id="44037" name="Picture 6" descr="http://jpkc.wxit.js.cn/gccl/01/wangluokecheng/jiang/1gongchengcailiaodejichuzhishi/1-1/sc1-1/2.gif"/>
          <p:cNvPicPr>
            <a:picLocks noChangeAspect="1"/>
          </p:cNvPicPr>
          <p:nvPr/>
        </p:nvPicPr>
        <p:blipFill>
          <a:blip r:embed="rId2"/>
          <a:stretch>
            <a:fillRect/>
          </a:stretch>
        </p:blipFill>
        <p:spPr>
          <a:xfrm>
            <a:off x="4776788" y="4357688"/>
            <a:ext cx="3897312" cy="2419350"/>
          </a:xfrm>
          <a:prstGeom prst="rect">
            <a:avLst/>
          </a:prstGeom>
          <a:noFill/>
          <a:ln w="9525">
            <a:noFill/>
          </a:ln>
        </p:spPr>
      </p:pic>
      <p:pic>
        <p:nvPicPr>
          <p:cNvPr id="44038" name="Picture 8" descr="http://jpkc.wxit.js.cn/gccl/01/wangluokecheng/jiang/1gongchengcailiaodejichuzhishi/1-1/sc1-1/3.jpg"/>
          <p:cNvPicPr>
            <a:picLocks noChangeAspect="1"/>
          </p:cNvPicPr>
          <p:nvPr/>
        </p:nvPicPr>
        <p:blipFill>
          <a:blip r:embed="rId3"/>
          <a:stretch>
            <a:fillRect/>
          </a:stretch>
        </p:blipFill>
        <p:spPr>
          <a:xfrm>
            <a:off x="709613" y="4367213"/>
            <a:ext cx="3790950" cy="2419350"/>
          </a:xfrm>
          <a:prstGeom prst="rect">
            <a:avLst/>
          </a:prstGeom>
          <a:noFill/>
          <a:ln w="9525">
            <a:noFill/>
          </a:ln>
        </p:spPr>
      </p:pic>
      <p:sp>
        <p:nvSpPr>
          <p:cNvPr id="44039" name="矩形 6"/>
          <p:cNvSpPr/>
          <p:nvPr/>
        </p:nvSpPr>
        <p:spPr>
          <a:xfrm>
            <a:off x="6013450" y="4448175"/>
            <a:ext cx="1416050" cy="338138"/>
          </a:xfrm>
          <a:prstGeom prst="rect">
            <a:avLst/>
          </a:prstGeom>
          <a:solidFill>
            <a:srgbClr val="FFFF00"/>
          </a:solidFill>
          <a:ln w="9525">
            <a:noFill/>
          </a:ln>
        </p:spPr>
        <p:txBody>
          <a:bodyPr wrap="none">
            <a:spAutoFit/>
          </a:bodyPr>
          <a:lstStyle/>
          <a:p>
            <a:r>
              <a:rPr lang="zh-CN" altLang="en-US" sz="1600" dirty="0">
                <a:latin typeface="Times New Roman" panose="02020603050405020304" pitchFamily="18" charset="0"/>
              </a:rPr>
              <a:t>轿车材料组成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6" descr="http://www.mte.net.cn/paris/file/0101_new.jpg"/>
          <p:cNvPicPr>
            <a:picLocks noChangeAspect="1"/>
          </p:cNvPicPr>
          <p:nvPr/>
        </p:nvPicPr>
        <p:blipFill>
          <a:blip r:embed="rId2"/>
          <a:stretch>
            <a:fillRect/>
          </a:stretch>
        </p:blipFill>
        <p:spPr>
          <a:xfrm>
            <a:off x="581025" y="1500188"/>
            <a:ext cx="7920038" cy="5089525"/>
          </a:xfrm>
          <a:prstGeom prst="rect">
            <a:avLst/>
          </a:prstGeom>
          <a:noFill/>
          <a:ln w="28575" cap="flat" cmpd="sng">
            <a:solidFill>
              <a:srgbClr val="FF0000"/>
            </a:solidFill>
            <a:prstDash val="solid"/>
            <a:miter/>
            <a:headEnd type="none" w="med" len="med"/>
            <a:tailEnd type="none" w="med" len="med"/>
          </a:ln>
        </p:spPr>
      </p:pic>
      <p:sp>
        <p:nvSpPr>
          <p:cNvPr id="45059" name="矩形 4"/>
          <p:cNvSpPr/>
          <p:nvPr/>
        </p:nvSpPr>
        <p:spPr>
          <a:xfrm>
            <a:off x="571500" y="142875"/>
            <a:ext cx="7929563" cy="1200150"/>
          </a:xfrm>
          <a:prstGeom prst="rect">
            <a:avLst/>
          </a:prstGeom>
          <a:noFill/>
          <a:ln w="9525">
            <a:noFill/>
          </a:ln>
        </p:spPr>
        <p:txBody>
          <a:bodyPr>
            <a:spAutoFit/>
          </a:bodyPr>
          <a:lstStyle/>
          <a:p>
            <a:pPr>
              <a:lnSpc>
                <a:spcPct val="150000"/>
              </a:lnSpc>
            </a:pPr>
            <a:r>
              <a:rPr lang="zh-CN" altLang="en-US"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FF0000"/>
                </a:solidFill>
                <a:latin typeface="华文中宋" panose="02010600040101010101" pitchFamily="2" charset="-122"/>
                <a:ea typeface="华文中宋" panose="02010600040101010101" pitchFamily="2" charset="-122"/>
              </a:rPr>
              <a:t>铝、镁、钛等具有相对密度小，比强度高的特点，</a:t>
            </a:r>
            <a:r>
              <a:rPr lang="zh-CN" altLang="en-US" sz="2400" b="1" dirty="0">
                <a:solidFill>
                  <a:srgbClr val="0000FF"/>
                </a:solidFill>
                <a:latin typeface="华文中宋" panose="02010600040101010101" pitchFamily="2" charset="-122"/>
                <a:ea typeface="华文中宋" panose="02010600040101010101" pitchFamily="2" charset="-122"/>
              </a:rPr>
              <a:t>因而广泛应用于航空、航天、汽车、船舶等行业。</a:t>
            </a:r>
            <a:endParaRPr lang="zh-CN" altLang="en-US" sz="2400" dirty="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1"/>
          <p:cNvSpPr/>
          <p:nvPr/>
        </p:nvSpPr>
        <p:spPr>
          <a:xfrm>
            <a:off x="428625" y="214313"/>
            <a:ext cx="8215313" cy="1200150"/>
          </a:xfrm>
          <a:prstGeom prst="rect">
            <a:avLst/>
          </a:prstGeom>
          <a:noFill/>
          <a:ln w="9525">
            <a:noFill/>
          </a:ln>
        </p:spPr>
        <p:txBody>
          <a:bodyPr>
            <a:spAutoFit/>
          </a:bodyPr>
          <a:lstStyle/>
          <a:p>
            <a:pPr>
              <a:lnSpc>
                <a:spcPct val="150000"/>
              </a:lnSpc>
            </a:pPr>
            <a:r>
              <a:rPr lang="zh-CN" altLang="en-US" sz="2400" b="1" dirty="0">
                <a:solidFill>
                  <a:srgbClr val="FF0000"/>
                </a:solidFill>
                <a:latin typeface="华文中宋" panose="02010600040101010101" pitchFamily="2" charset="-122"/>
                <a:ea typeface="华文中宋" panose="02010600040101010101" pitchFamily="2" charset="-122"/>
              </a:rPr>
              <a:t>　　银、铜、铝等具有优良导电性和导热性的材料，</a:t>
            </a:r>
            <a:r>
              <a:rPr lang="zh-CN" altLang="en-US" sz="2400" b="1" dirty="0">
                <a:solidFill>
                  <a:srgbClr val="003300"/>
                </a:solidFill>
                <a:latin typeface="华文中宋" panose="02010600040101010101" pitchFamily="2" charset="-122"/>
                <a:ea typeface="华文中宋" panose="02010600040101010101" pitchFamily="2" charset="-122"/>
              </a:rPr>
              <a:t>广泛应用于电器工业和仪表工业。</a:t>
            </a:r>
            <a:endParaRPr lang="zh-CN" altLang="en-US" sz="2400" dirty="0">
              <a:latin typeface="Times New Roman" panose="02020603050405020304" pitchFamily="18" charset="0"/>
            </a:endParaRPr>
          </a:p>
        </p:txBody>
      </p:sp>
      <p:pic>
        <p:nvPicPr>
          <p:cNvPr id="46083" name="Picture 2" descr="http://www.chinapower.com.cn/productimages/1009/pro1009258.jpg"/>
          <p:cNvPicPr>
            <a:picLocks noChangeAspect="1"/>
          </p:cNvPicPr>
          <p:nvPr/>
        </p:nvPicPr>
        <p:blipFill>
          <a:blip r:embed="rId2"/>
          <a:stretch>
            <a:fillRect/>
          </a:stretch>
        </p:blipFill>
        <p:spPr>
          <a:xfrm>
            <a:off x="3889375" y="1643063"/>
            <a:ext cx="5040313" cy="4735512"/>
          </a:xfrm>
          <a:prstGeom prst="rect">
            <a:avLst/>
          </a:prstGeom>
          <a:noFill/>
          <a:ln w="9525" cap="flat" cmpd="sng">
            <a:solidFill>
              <a:srgbClr val="FF0000"/>
            </a:solidFill>
            <a:prstDash val="solid"/>
            <a:miter/>
            <a:headEnd type="none" w="med" len="med"/>
            <a:tailEnd type="none" w="med" len="med"/>
          </a:ln>
        </p:spPr>
      </p:pic>
      <p:pic>
        <p:nvPicPr>
          <p:cNvPr id="46084" name="Picture 4" descr="http://www.dghlj.com/asp-bin/news_images/317.jpg"/>
          <p:cNvPicPr>
            <a:picLocks noChangeAspect="1"/>
          </p:cNvPicPr>
          <p:nvPr/>
        </p:nvPicPr>
        <p:blipFill>
          <a:blip r:embed="rId3"/>
          <a:stretch>
            <a:fillRect/>
          </a:stretch>
        </p:blipFill>
        <p:spPr>
          <a:xfrm>
            <a:off x="403225" y="1643063"/>
            <a:ext cx="3240088" cy="2430462"/>
          </a:xfrm>
          <a:prstGeom prst="rect">
            <a:avLst/>
          </a:prstGeom>
          <a:noFill/>
          <a:ln w="9525">
            <a:noFill/>
          </a:ln>
        </p:spPr>
      </p:pic>
      <p:pic>
        <p:nvPicPr>
          <p:cNvPr id="46085" name="Picture 6" descr="http://htxswgs.tybaba.com/images/trade_images/Trade_2009032453500485.jpg"/>
          <p:cNvPicPr>
            <a:picLocks noChangeAspect="1"/>
          </p:cNvPicPr>
          <p:nvPr/>
        </p:nvPicPr>
        <p:blipFill>
          <a:blip r:embed="rId4"/>
          <a:stretch>
            <a:fillRect/>
          </a:stretch>
        </p:blipFill>
        <p:spPr>
          <a:xfrm>
            <a:off x="571500" y="4214813"/>
            <a:ext cx="2879725" cy="234632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1"/>
          <p:cNvSpPr/>
          <p:nvPr/>
        </p:nvSpPr>
        <p:spPr>
          <a:xfrm>
            <a:off x="642938" y="214313"/>
            <a:ext cx="7570787" cy="461962"/>
          </a:xfrm>
          <a:prstGeom prst="rect">
            <a:avLst/>
          </a:prstGeom>
          <a:noFill/>
          <a:ln w="9525">
            <a:noFill/>
          </a:ln>
        </p:spPr>
        <p:txBody>
          <a:bodyPr wrap="none">
            <a:spAutoFit/>
          </a:bodyPr>
          <a:lstStyle/>
          <a:p>
            <a:r>
              <a:rPr lang="zh-CN" altLang="en-US" sz="2400" b="1" dirty="0">
                <a:solidFill>
                  <a:srgbClr val="FF0000"/>
                </a:solidFill>
                <a:latin typeface="华文中宋" panose="02010600040101010101" pitchFamily="2" charset="-122"/>
                <a:ea typeface="华文中宋" panose="02010600040101010101" pitchFamily="2" charset="-122"/>
              </a:rPr>
              <a:t>铀、钨、钼、镭、钍、铍等是原子能工业所必需的材料</a:t>
            </a:r>
            <a:endParaRPr lang="zh-CN" altLang="en-US" dirty="0">
              <a:latin typeface="Times New Roman" panose="02020603050405020304" pitchFamily="18" charset="0"/>
            </a:endParaRPr>
          </a:p>
        </p:txBody>
      </p:sp>
      <p:pic>
        <p:nvPicPr>
          <p:cNvPr id="47107" name="Picture 2" descr="http://www.cnecc.com/2dy2w78e6jry24/gsjwyegfh/up43wwet_qtfie664tretle/sf_2009121816344.jpg"/>
          <p:cNvPicPr>
            <a:picLocks noChangeAspect="1"/>
          </p:cNvPicPr>
          <p:nvPr/>
        </p:nvPicPr>
        <p:blipFill>
          <a:blip r:embed="rId2"/>
          <a:stretch>
            <a:fillRect/>
          </a:stretch>
        </p:blipFill>
        <p:spPr>
          <a:xfrm>
            <a:off x="6357938" y="1181100"/>
            <a:ext cx="2519362" cy="1890713"/>
          </a:xfrm>
          <a:prstGeom prst="rect">
            <a:avLst/>
          </a:prstGeom>
          <a:noFill/>
          <a:ln w="9525" cap="flat" cmpd="sng">
            <a:solidFill>
              <a:srgbClr val="FF0000"/>
            </a:solidFill>
            <a:prstDash val="solid"/>
            <a:miter/>
            <a:headEnd type="none" w="med" len="med"/>
            <a:tailEnd type="none" w="med" len="med"/>
          </a:ln>
        </p:spPr>
      </p:pic>
      <p:sp>
        <p:nvSpPr>
          <p:cNvPr id="47108" name="矩形 3"/>
          <p:cNvSpPr/>
          <p:nvPr/>
        </p:nvSpPr>
        <p:spPr>
          <a:xfrm>
            <a:off x="6092825" y="3171825"/>
            <a:ext cx="2908300" cy="400050"/>
          </a:xfrm>
          <a:prstGeom prst="rect">
            <a:avLst/>
          </a:prstGeom>
          <a:noFill/>
          <a:ln w="9525">
            <a:noFill/>
          </a:ln>
        </p:spPr>
        <p:txBody>
          <a:bodyPr wrap="none">
            <a:spAutoFit/>
          </a:bodyPr>
          <a:lstStyle/>
          <a:p>
            <a:r>
              <a:rPr lang="zh-CN" altLang="en-US" sz="2000" dirty="0">
                <a:latin typeface="华文中宋" panose="02010600040101010101" pitchFamily="2" charset="-122"/>
                <a:ea typeface="华文中宋" panose="02010600040101010101" pitchFamily="2" charset="-122"/>
              </a:rPr>
              <a:t>浙江三门核电站</a:t>
            </a:r>
            <a:r>
              <a:rPr lang="en-US" altLang="zh-CN" sz="2000">
                <a:latin typeface="华文中宋" panose="02010600040101010101" pitchFamily="2" charset="-122"/>
                <a:ea typeface="华文中宋" panose="02010600040101010101" pitchFamily="2" charset="-122"/>
              </a:rPr>
              <a:t>2</a:t>
            </a:r>
            <a:r>
              <a:rPr lang="zh-CN" altLang="en-US" sz="2000" dirty="0">
                <a:latin typeface="华文中宋" panose="02010600040101010101" pitchFamily="2" charset="-122"/>
                <a:ea typeface="华文中宋" panose="02010600040101010101" pitchFamily="2" charset="-122"/>
              </a:rPr>
              <a:t>号机组</a:t>
            </a:r>
          </a:p>
        </p:txBody>
      </p:sp>
      <p:pic>
        <p:nvPicPr>
          <p:cNvPr id="47109" name="Picture 10" descr="广东大亚湾核电站全景"/>
          <p:cNvPicPr>
            <a:picLocks noChangeAspect="1"/>
          </p:cNvPicPr>
          <p:nvPr/>
        </p:nvPicPr>
        <p:blipFill>
          <a:blip r:embed="rId3"/>
          <a:stretch>
            <a:fillRect/>
          </a:stretch>
        </p:blipFill>
        <p:spPr>
          <a:xfrm>
            <a:off x="6121400" y="3786188"/>
            <a:ext cx="2879725" cy="2020887"/>
          </a:xfrm>
          <a:prstGeom prst="rect">
            <a:avLst/>
          </a:prstGeom>
          <a:noFill/>
          <a:ln w="9525">
            <a:noFill/>
          </a:ln>
        </p:spPr>
      </p:pic>
      <p:sp>
        <p:nvSpPr>
          <p:cNvPr id="47110" name="矩形 8"/>
          <p:cNvSpPr/>
          <p:nvPr/>
        </p:nvSpPr>
        <p:spPr>
          <a:xfrm>
            <a:off x="6643688" y="5857875"/>
            <a:ext cx="1724025" cy="400050"/>
          </a:xfrm>
          <a:prstGeom prst="rect">
            <a:avLst/>
          </a:prstGeom>
          <a:noFill/>
          <a:ln w="9525">
            <a:noFill/>
          </a:ln>
        </p:spPr>
        <p:txBody>
          <a:bodyPr wrap="none">
            <a:spAutoFit/>
          </a:bodyPr>
          <a:lstStyle/>
          <a:p>
            <a:r>
              <a:rPr lang="zh-CN" altLang="en-US" sz="2000" dirty="0">
                <a:latin typeface="华文中宋" panose="02010600040101010101" pitchFamily="2" charset="-122"/>
                <a:ea typeface="华文中宋" panose="02010600040101010101" pitchFamily="2" charset="-122"/>
              </a:rPr>
              <a:t>大亚湾核电站</a:t>
            </a:r>
          </a:p>
        </p:txBody>
      </p:sp>
      <p:pic>
        <p:nvPicPr>
          <p:cNvPr id="47111" name="Picture 12" descr="http://images.china.cn/site1000/20070525/0019b91ec89c07c0b77b01.JPG"/>
          <p:cNvPicPr>
            <a:picLocks noChangeAspect="1"/>
          </p:cNvPicPr>
          <p:nvPr/>
        </p:nvPicPr>
        <p:blipFill>
          <a:blip r:embed="rId4"/>
          <a:stretch>
            <a:fillRect/>
          </a:stretch>
        </p:blipFill>
        <p:spPr>
          <a:xfrm>
            <a:off x="285750" y="1004888"/>
            <a:ext cx="5657850" cy="4924425"/>
          </a:xfrm>
          <a:prstGeom prst="rect">
            <a:avLst/>
          </a:prstGeom>
          <a:noFill/>
          <a:ln w="9525" cap="flat" cmpd="sng">
            <a:solidFill>
              <a:srgbClr val="FF0000"/>
            </a:solidFill>
            <a:prstDash val="solid"/>
            <a:miter/>
            <a:headEnd type="none" w="med" len="med"/>
            <a:tailEnd type="none" w="med" len="me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5800" y="142875"/>
            <a:ext cx="7772400" cy="838200"/>
          </a:xfrm>
          <a:prstGeom prst="rect">
            <a:avLst/>
          </a:prstGeom>
        </p:spPr>
        <p:txBody>
          <a:bodyPr/>
          <a:lstStyle/>
          <a:p>
            <a:pPr marR="0" algn="ctr" defTabSz="914400">
              <a:buClrTx/>
              <a:buSzTx/>
              <a:buFontTx/>
              <a:buNone/>
              <a:defRPr/>
            </a:pPr>
            <a:r>
              <a:rPr kumimoji="0" lang="zh-CN" altLang="en-US" sz="4400" b="1" kern="1200" cap="none" spc="0" normalizeH="0" baseline="0" noProof="0" dirty="0">
                <a:latin typeface="华文中宋" panose="02010600040101010101" pitchFamily="2" charset="-122"/>
                <a:ea typeface="华文中宋" panose="02010600040101010101" pitchFamily="2" charset="-122"/>
                <a:cs typeface="+mj-cs"/>
              </a:rPr>
              <a:t>第一节  铝及铝合金</a:t>
            </a:r>
            <a:r>
              <a:rPr kumimoji="0" lang="zh-CN" altLang="en-US" sz="4400" kern="1200" cap="none" spc="0" normalizeH="0" baseline="0" noProof="0" dirty="0">
                <a:latin typeface="+mj-lt"/>
                <a:ea typeface="+mj-ea"/>
                <a:cs typeface="+mj-cs"/>
              </a:rPr>
              <a:t> </a:t>
            </a:r>
          </a:p>
        </p:txBody>
      </p:sp>
      <p:sp>
        <p:nvSpPr>
          <p:cNvPr id="3" name="Rectangle 3"/>
          <p:cNvSpPr txBox="1">
            <a:spLocks noChangeArrowheads="1"/>
          </p:cNvSpPr>
          <p:nvPr/>
        </p:nvSpPr>
        <p:spPr>
          <a:xfrm>
            <a:off x="228600" y="2071688"/>
            <a:ext cx="8701088" cy="4672013"/>
          </a:xfrm>
          <a:prstGeom prst="rect">
            <a:avLst/>
          </a:prstGeom>
        </p:spPr>
        <p:txBody>
          <a:bodyPr/>
          <a:lstStyle/>
          <a:p>
            <a:pPr marL="360045" marR="0" indent="-360045" defTabSz="914400">
              <a:lnSpc>
                <a:spcPct val="140000"/>
              </a:lnSpc>
              <a:spcBef>
                <a:spcPct val="20000"/>
              </a:spcBef>
              <a:buClrTx/>
              <a:buSzTx/>
              <a:buFont typeface="Wingdings" panose="05000000000000000000" pitchFamily="2" charset="2"/>
              <a:buChar char="Ø"/>
              <a:defRPr/>
            </a:pPr>
            <a:r>
              <a:rPr kumimoji="0" lang="zh-CN" altLang="en-US" sz="2400" b="1" kern="1200" cap="none" spc="0" normalizeH="0" baseline="0" noProof="0" dirty="0">
                <a:latin typeface="+mn-lt"/>
                <a:ea typeface="华文中宋" panose="02010600040101010101" pitchFamily="2" charset="-122"/>
                <a:cs typeface="+mn-cs"/>
              </a:rPr>
              <a:t>纯铝</a:t>
            </a:r>
            <a:r>
              <a:rPr kumimoji="0" lang="zh-CN" altLang="en-US" sz="2400" b="1" kern="1200" cap="none" spc="0" normalizeH="0" baseline="0" noProof="0" dirty="0">
                <a:solidFill>
                  <a:srgbClr val="FF0000"/>
                </a:solidFill>
                <a:latin typeface="+mn-lt"/>
                <a:ea typeface="华文中宋" panose="02010600040101010101" pitchFamily="2" charset="-122"/>
                <a:cs typeface="+mn-cs"/>
              </a:rPr>
              <a:t>具有银白色金属光泽，密度小</a:t>
            </a:r>
            <a:r>
              <a:rPr kumimoji="0" lang="en-US" altLang="zh-CN" sz="2400" b="1" kern="1200" cap="none" spc="0" normalizeH="0" baseline="0" noProof="0" dirty="0">
                <a:solidFill>
                  <a:srgbClr val="FF0000"/>
                </a:solidFill>
                <a:latin typeface="+mn-lt"/>
                <a:ea typeface="华文中宋" panose="02010600040101010101" pitchFamily="2" charset="-122"/>
                <a:cs typeface="+mn-cs"/>
              </a:rPr>
              <a:t>(2.72g/cm3 )</a:t>
            </a:r>
            <a:r>
              <a:rPr kumimoji="0" lang="zh-CN" altLang="en-US" sz="2400" b="1" kern="1200" cap="none" spc="0" normalizeH="0" baseline="0" noProof="0" dirty="0">
                <a:solidFill>
                  <a:srgbClr val="FF0000"/>
                </a:solidFill>
                <a:latin typeface="+mn-lt"/>
                <a:ea typeface="华文中宋" panose="02010600040101010101" pitchFamily="2" charset="-122"/>
                <a:cs typeface="+mn-cs"/>
              </a:rPr>
              <a:t>，熔点低</a:t>
            </a:r>
            <a:r>
              <a:rPr kumimoji="0" lang="en-US" altLang="zh-CN" sz="2400" b="1" kern="1200" cap="none" spc="0" normalizeH="0" baseline="0" noProof="0" dirty="0">
                <a:solidFill>
                  <a:srgbClr val="FF0000"/>
                </a:solidFill>
                <a:latin typeface="+mn-lt"/>
                <a:ea typeface="华文中宋" panose="02010600040101010101" pitchFamily="2" charset="-122"/>
                <a:cs typeface="+mn-cs"/>
              </a:rPr>
              <a:t>(660.4℃)</a:t>
            </a:r>
            <a:r>
              <a:rPr kumimoji="0" lang="zh-CN" altLang="en-US" sz="2400" b="1" kern="1200" cap="none" spc="0" normalizeH="0" baseline="0" noProof="0" dirty="0">
                <a:solidFill>
                  <a:srgbClr val="FF0000"/>
                </a:solidFill>
                <a:latin typeface="+mn-lt"/>
                <a:ea typeface="华文中宋" panose="02010600040101010101" pitchFamily="2" charset="-122"/>
                <a:cs typeface="+mn-cs"/>
              </a:rPr>
              <a:t>。</a:t>
            </a:r>
            <a:endParaRPr kumimoji="0" lang="en-US" altLang="zh-CN" sz="2400" b="1" kern="1200" cap="none" spc="0" normalizeH="0" baseline="0" noProof="0" dirty="0">
              <a:solidFill>
                <a:srgbClr val="FF0000"/>
              </a:solidFill>
              <a:latin typeface="+mn-lt"/>
              <a:ea typeface="华文中宋" panose="02010600040101010101" pitchFamily="2" charset="-122"/>
              <a:cs typeface="+mn-cs"/>
            </a:endParaRPr>
          </a:p>
          <a:p>
            <a:pPr marL="360045" marR="0" indent="-360045" defTabSz="914400">
              <a:lnSpc>
                <a:spcPct val="140000"/>
              </a:lnSpc>
              <a:spcBef>
                <a:spcPct val="20000"/>
              </a:spcBef>
              <a:buClrTx/>
              <a:buSzTx/>
              <a:buFont typeface="Wingdings" panose="05000000000000000000" pitchFamily="2" charset="2"/>
              <a:buChar char="Ø"/>
              <a:defRPr/>
            </a:pPr>
            <a:r>
              <a:rPr kumimoji="0" lang="zh-CN" altLang="en-US" sz="2400" b="1" kern="1200" cap="none" spc="0" normalizeH="0" baseline="0" noProof="0" dirty="0">
                <a:latin typeface="+mn-lt"/>
                <a:ea typeface="华文中宋" panose="02010600040101010101" pitchFamily="2" charset="-122"/>
                <a:cs typeface="+mn-cs"/>
              </a:rPr>
              <a:t>导电、导热性能优良　</a:t>
            </a:r>
            <a:r>
              <a:rPr kumimoji="1" lang="zh-CN" altLang="en-US" sz="2400" kern="1200" cap="none" spc="0" normalizeH="0" baseline="0" noProof="0" dirty="0">
                <a:solidFill>
                  <a:srgbClr val="003300"/>
                </a:solidFill>
                <a:latin typeface="Times New Roman" panose="02020603050405020304" pitchFamily="18" charset="0"/>
                <a:ea typeface="宋体" panose="02010600030101010101" pitchFamily="2" charset="-122"/>
                <a:cs typeface="+mn-cs"/>
              </a:rPr>
              <a:t>导电性仅次于银、铜和金，导热性比铁几乎大三倍</a:t>
            </a:r>
            <a:r>
              <a:rPr kumimoji="0" lang="zh-CN" altLang="en-US" sz="2400" b="1" kern="1200" cap="none" spc="0" normalizeH="0" baseline="0" noProof="0" dirty="0">
                <a:latin typeface="+mn-lt"/>
                <a:ea typeface="华文中宋" panose="02010600040101010101" pitchFamily="2" charset="-122"/>
                <a:cs typeface="+mn-cs"/>
              </a:rPr>
              <a:t>。</a:t>
            </a:r>
          </a:p>
          <a:p>
            <a:pPr marL="342900" marR="0" indent="-342900" defTabSz="914400">
              <a:lnSpc>
                <a:spcPct val="140000"/>
              </a:lnSpc>
              <a:spcBef>
                <a:spcPct val="20000"/>
              </a:spcBef>
              <a:buClrTx/>
              <a:buSzTx/>
              <a:buFont typeface="Wingdings" panose="05000000000000000000" pitchFamily="2" charset="2"/>
              <a:buChar char="Ø"/>
              <a:defRPr/>
            </a:pPr>
            <a:r>
              <a:rPr kumimoji="0" lang="zh-CN" altLang="en-US" sz="2400" b="1" kern="1200" cap="none" spc="0" normalizeH="0" baseline="0" noProof="0" dirty="0">
                <a:solidFill>
                  <a:srgbClr val="0000FF"/>
                </a:solidFill>
                <a:latin typeface="+mn-lt"/>
                <a:ea typeface="华文中宋" panose="02010600040101010101" pitchFamily="2" charset="-122"/>
                <a:cs typeface="+mn-cs"/>
              </a:rPr>
              <a:t>耐腐蚀　</a:t>
            </a:r>
            <a:r>
              <a:rPr kumimoji="1" lang="zh-CN" altLang="en-US" sz="2400" b="1" kern="1200" cap="none" spc="0" normalizeH="0" baseline="0" noProof="0" dirty="0">
                <a:solidFill>
                  <a:srgbClr val="003300"/>
                </a:solidFill>
                <a:latin typeface="华文中宋" panose="02010600040101010101" pitchFamily="2" charset="-122"/>
                <a:ea typeface="华文中宋" panose="02010600040101010101" pitchFamily="2" charset="-122"/>
                <a:cs typeface="+mn-cs"/>
              </a:rPr>
              <a:t>表面形成一层牢固致密的氧化膜，可以阻止进一步氧化，从而使它在大气和淡水中具有良好的抗蚀性</a:t>
            </a:r>
            <a:r>
              <a:rPr kumimoji="0" lang="zh-CN" altLang="en-US" sz="2400" b="1" kern="1200" cap="none" spc="0" normalizeH="0" baseline="0" noProof="0" dirty="0">
                <a:latin typeface="华文中宋" panose="02010600040101010101" pitchFamily="2" charset="-122"/>
                <a:ea typeface="华文中宋" panose="02010600040101010101" pitchFamily="2" charset="-122"/>
                <a:cs typeface="+mn-cs"/>
              </a:rPr>
              <a:t>。</a:t>
            </a:r>
          </a:p>
          <a:p>
            <a:pPr marL="342900" marR="0" indent="-342900" defTabSz="914400">
              <a:lnSpc>
                <a:spcPct val="140000"/>
              </a:lnSpc>
              <a:spcBef>
                <a:spcPct val="20000"/>
              </a:spcBef>
              <a:buClrTx/>
              <a:buSzTx/>
              <a:buFont typeface="Wingdings" panose="05000000000000000000" pitchFamily="2" charset="2"/>
              <a:buChar char="Ø"/>
              <a:defRPr/>
            </a:pPr>
            <a:r>
              <a:rPr kumimoji="0" lang="zh-CN" altLang="en-US" sz="2400" b="1" kern="1200" cap="none" spc="0" normalizeH="0" baseline="0" noProof="0" dirty="0">
                <a:latin typeface="+mn-lt"/>
                <a:ea typeface="华文中宋" panose="02010600040101010101" pitchFamily="2" charset="-122"/>
                <a:cs typeface="+mn-cs"/>
              </a:rPr>
              <a:t>具有</a:t>
            </a:r>
            <a:r>
              <a:rPr kumimoji="0" lang="zh-CN" altLang="en-US" sz="2400" b="1" kern="1200" cap="none" spc="0" normalizeH="0" baseline="0" noProof="0" dirty="0">
                <a:solidFill>
                  <a:srgbClr val="0000FF"/>
                </a:solidFill>
                <a:latin typeface="+mn-lt"/>
                <a:ea typeface="华文中宋" panose="02010600040101010101" pitchFamily="2" charset="-122"/>
                <a:cs typeface="+mn-cs"/>
              </a:rPr>
              <a:t>面心立方晶格，无同素异构转变，无磁性</a:t>
            </a:r>
            <a:r>
              <a:rPr kumimoji="0" lang="zh-CN" altLang="en-US" sz="2400" b="1" kern="1200" cap="none" spc="0" normalizeH="0" baseline="0" noProof="0" dirty="0">
                <a:latin typeface="+mn-lt"/>
                <a:ea typeface="华文中宋" panose="02010600040101010101" pitchFamily="2" charset="-122"/>
                <a:cs typeface="+mn-cs"/>
              </a:rPr>
              <a:t>。</a:t>
            </a:r>
            <a:endParaRPr kumimoji="0" lang="en-US" altLang="zh-CN" sz="2400" b="1" kern="1200" cap="none" spc="0" normalizeH="0" baseline="0" noProof="0" dirty="0">
              <a:latin typeface="+mn-lt"/>
              <a:ea typeface="华文中宋" panose="02010600040101010101" pitchFamily="2" charset="-122"/>
              <a:cs typeface="+mn-cs"/>
            </a:endParaRPr>
          </a:p>
          <a:p>
            <a:pPr marL="342900" marR="0" indent="-342900" defTabSz="914400">
              <a:lnSpc>
                <a:spcPct val="140000"/>
              </a:lnSpc>
              <a:spcBef>
                <a:spcPct val="20000"/>
              </a:spcBef>
              <a:buClrTx/>
              <a:buSzTx/>
              <a:buFont typeface="Wingdings" panose="05000000000000000000" pitchFamily="2" charset="2"/>
              <a:buChar char="Ø"/>
              <a:defRPr/>
            </a:pPr>
            <a:r>
              <a:rPr kumimoji="0" lang="zh-CN" altLang="en-US" sz="2400" b="1" kern="1200" cap="none" spc="0" normalizeH="0" baseline="0" noProof="0" dirty="0">
                <a:solidFill>
                  <a:srgbClr val="0000FF"/>
                </a:solidFill>
                <a:latin typeface="Calibri" panose="020F0502020204030204"/>
                <a:ea typeface="华文中宋" panose="02010600040101010101" pitchFamily="2" charset="-122"/>
                <a:cs typeface="+mn-cs"/>
              </a:rPr>
              <a:t>易于铸造、易于切削和加工成形，应用范围广泛。</a:t>
            </a:r>
            <a:endParaRPr kumimoji="0" lang="en-US" altLang="zh-CN" sz="2400" b="1" kern="1200" cap="none" spc="0" normalizeH="0" baseline="0" noProof="0" dirty="0">
              <a:latin typeface="+mn-lt"/>
              <a:ea typeface="华文中宋" panose="02010600040101010101" pitchFamily="2" charset="-122"/>
              <a:cs typeface="+mn-cs"/>
            </a:endParaRPr>
          </a:p>
        </p:txBody>
      </p:sp>
      <p:sp>
        <p:nvSpPr>
          <p:cNvPr id="50180" name="矩形 3"/>
          <p:cNvSpPr/>
          <p:nvPr/>
        </p:nvSpPr>
        <p:spPr>
          <a:xfrm>
            <a:off x="260350" y="857250"/>
            <a:ext cx="5526088" cy="641350"/>
          </a:xfrm>
          <a:prstGeom prst="rect">
            <a:avLst/>
          </a:prstGeom>
          <a:noFill/>
          <a:ln w="9525">
            <a:noFill/>
          </a:ln>
        </p:spPr>
        <p:txBody>
          <a:bodyPr>
            <a:spAutoFit/>
          </a:bodyPr>
          <a:lstStyle/>
          <a:p>
            <a:pPr marL="342900" indent="-342900">
              <a:lnSpc>
                <a:spcPct val="120000"/>
              </a:lnSpc>
              <a:spcBef>
                <a:spcPct val="20000"/>
              </a:spcBef>
            </a:pPr>
            <a:r>
              <a:rPr lang="zh-CN" altLang="en-US" sz="3200" b="1" dirty="0">
                <a:solidFill>
                  <a:srgbClr val="0000FF"/>
                </a:solidFill>
                <a:latin typeface="Calibri" panose="020F0502020204030204" pitchFamily="34" charset="0"/>
                <a:ea typeface="华文中宋" panose="02010600040101010101" pitchFamily="2" charset="-122"/>
              </a:rPr>
              <a:t>一、铝及铝合金性能特点 </a:t>
            </a:r>
          </a:p>
        </p:txBody>
      </p:sp>
      <p:sp>
        <p:nvSpPr>
          <p:cNvPr id="50181" name="矩形 5"/>
          <p:cNvSpPr/>
          <p:nvPr/>
        </p:nvSpPr>
        <p:spPr>
          <a:xfrm>
            <a:off x="214313" y="1571625"/>
            <a:ext cx="1444625" cy="523875"/>
          </a:xfrm>
          <a:prstGeom prst="rect">
            <a:avLst/>
          </a:prstGeom>
          <a:noFill/>
          <a:ln w="9525">
            <a:noFill/>
          </a:ln>
        </p:spPr>
        <p:txBody>
          <a:bodyPr wrap="none">
            <a:spAutoFit/>
          </a:bodyPr>
          <a:lstStyle/>
          <a:p>
            <a:r>
              <a:rPr lang="en-US" altLang="zh-CN" sz="2800" b="1">
                <a:solidFill>
                  <a:srgbClr val="000000"/>
                </a:solidFill>
                <a:latin typeface="Calibri" panose="020F0502020204030204" pitchFamily="34" charset="0"/>
                <a:ea typeface="华文中宋" panose="02010600040101010101" pitchFamily="2" charset="-122"/>
              </a:rPr>
              <a:t>1</a:t>
            </a:r>
            <a:r>
              <a:rPr lang="zh-CN" altLang="en-US" sz="2800" b="1" dirty="0">
                <a:solidFill>
                  <a:srgbClr val="000000"/>
                </a:solidFill>
                <a:latin typeface="Calibri" panose="020F0502020204030204" pitchFamily="34" charset="0"/>
                <a:ea typeface="华文中宋" panose="02010600040101010101" pitchFamily="2" charset="-122"/>
              </a:rPr>
              <a:t>、纯铝</a:t>
            </a:r>
            <a:endParaRPr lang="zh-CN" altLang="en-US" sz="2800" dirty="0">
              <a:latin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p:cNvSpPr>
          <p:nvPr>
            <p:ph idx="1"/>
          </p:nvPr>
        </p:nvSpPr>
        <p:spPr>
          <a:xfrm>
            <a:off x="142875" y="642938"/>
            <a:ext cx="4286250" cy="3286125"/>
          </a:xfrm>
          <a:ln/>
        </p:spPr>
        <p:txBody>
          <a:bodyPr vert="horz" wrap="square" lIns="91440" tIns="45720" rIns="91440" bIns="45720" anchor="t" anchorCtr="0"/>
          <a:lstStyle/>
          <a:p>
            <a:pPr eaLnBrk="1" hangingPunct="1">
              <a:lnSpc>
                <a:spcPct val="140000"/>
              </a:lnSpc>
            </a:pPr>
            <a:r>
              <a:rPr lang="zh-CN" altLang="en-US" sz="2400" b="1" dirty="0">
                <a:solidFill>
                  <a:srgbClr val="FF0000"/>
                </a:solidFill>
                <a:ea typeface="华文中宋" panose="02010600040101010101" pitchFamily="2" charset="-122"/>
              </a:rPr>
              <a:t>铝合金既具有高强度又保持纯铝的优良特性 。</a:t>
            </a:r>
          </a:p>
          <a:p>
            <a:pPr eaLnBrk="1" hangingPunct="1">
              <a:lnSpc>
                <a:spcPct val="140000"/>
              </a:lnSpc>
            </a:pPr>
            <a:r>
              <a:rPr lang="zh-CN" altLang="en-US" sz="2400" b="1" dirty="0">
                <a:ea typeface="华文中宋" panose="02010600040101010101" pitchFamily="2" charset="-122"/>
              </a:rPr>
              <a:t>铝合金常加入的元素主要有</a:t>
            </a:r>
            <a:r>
              <a:rPr lang="en-US" altLang="zh-CN" sz="2400" b="1">
                <a:solidFill>
                  <a:srgbClr val="0000FF"/>
                </a:solidFill>
                <a:ea typeface="华文中宋" panose="02010600040101010101" pitchFamily="2" charset="-122"/>
              </a:rPr>
              <a:t>Cu</a:t>
            </a:r>
            <a:r>
              <a:rPr lang="zh-CN" altLang="en-US" sz="2400" b="1" dirty="0">
                <a:solidFill>
                  <a:srgbClr val="0000FF"/>
                </a:solidFill>
                <a:ea typeface="华文中宋" panose="02010600040101010101" pitchFamily="2" charset="-122"/>
              </a:rPr>
              <a:t>、</a:t>
            </a:r>
            <a:r>
              <a:rPr lang="en-US" altLang="zh-CN" sz="2400" b="1" err="1">
                <a:solidFill>
                  <a:srgbClr val="0000FF"/>
                </a:solidFill>
                <a:ea typeface="华文中宋" panose="02010600040101010101" pitchFamily="2" charset="-122"/>
              </a:rPr>
              <a:t>Mn</a:t>
            </a:r>
            <a:r>
              <a:rPr lang="zh-CN" altLang="en-US" sz="2400" b="1" dirty="0">
                <a:solidFill>
                  <a:srgbClr val="0000FF"/>
                </a:solidFill>
                <a:ea typeface="华文中宋" panose="02010600040101010101" pitchFamily="2" charset="-122"/>
              </a:rPr>
              <a:t>、</a:t>
            </a:r>
            <a:r>
              <a:rPr lang="en-US" altLang="zh-CN" sz="2400" b="1" err="1">
                <a:solidFill>
                  <a:srgbClr val="0000FF"/>
                </a:solidFill>
                <a:ea typeface="华文中宋" panose="02010600040101010101" pitchFamily="2" charset="-122"/>
              </a:rPr>
              <a:t>Si</a:t>
            </a:r>
            <a:r>
              <a:rPr lang="zh-CN" altLang="en-US" sz="2400" b="1" dirty="0">
                <a:solidFill>
                  <a:srgbClr val="0000FF"/>
                </a:solidFill>
                <a:ea typeface="华文中宋" panose="02010600040101010101" pitchFamily="2" charset="-122"/>
              </a:rPr>
              <a:t>、</a:t>
            </a:r>
            <a:r>
              <a:rPr lang="en-US" altLang="zh-CN" sz="2400" b="1">
                <a:solidFill>
                  <a:srgbClr val="0000FF"/>
                </a:solidFill>
                <a:ea typeface="华文中宋" panose="02010600040101010101" pitchFamily="2" charset="-122"/>
              </a:rPr>
              <a:t>Mg</a:t>
            </a:r>
            <a:r>
              <a:rPr lang="zh-CN" altLang="en-US" sz="2400" b="1" dirty="0">
                <a:solidFill>
                  <a:srgbClr val="0000FF"/>
                </a:solidFill>
                <a:ea typeface="华文中宋" panose="02010600040101010101" pitchFamily="2" charset="-122"/>
              </a:rPr>
              <a:t>、</a:t>
            </a:r>
            <a:r>
              <a:rPr lang="en-US" altLang="zh-CN" sz="2400" b="1">
                <a:solidFill>
                  <a:srgbClr val="0000FF"/>
                </a:solidFill>
                <a:ea typeface="华文中宋" panose="02010600040101010101" pitchFamily="2" charset="-122"/>
              </a:rPr>
              <a:t>Zn</a:t>
            </a:r>
            <a:r>
              <a:rPr lang="zh-CN" altLang="en-US" sz="2400" b="1" dirty="0">
                <a:ea typeface="华文中宋" panose="02010600040101010101" pitchFamily="2" charset="-122"/>
              </a:rPr>
              <a:t>等，此外还有</a:t>
            </a:r>
            <a:r>
              <a:rPr lang="en-US" altLang="zh-CN" sz="2400" b="1">
                <a:solidFill>
                  <a:srgbClr val="0000FF"/>
                </a:solidFill>
                <a:ea typeface="华文中宋" panose="02010600040101010101" pitchFamily="2" charset="-122"/>
              </a:rPr>
              <a:t>Cr</a:t>
            </a:r>
            <a:r>
              <a:rPr lang="zh-CN" altLang="en-US" sz="2400" b="1" dirty="0">
                <a:solidFill>
                  <a:srgbClr val="0000FF"/>
                </a:solidFill>
                <a:ea typeface="华文中宋" panose="02010600040101010101" pitchFamily="2" charset="-122"/>
              </a:rPr>
              <a:t>、</a:t>
            </a:r>
            <a:r>
              <a:rPr lang="en-US" altLang="zh-CN" sz="2400" b="1">
                <a:solidFill>
                  <a:srgbClr val="0000FF"/>
                </a:solidFill>
                <a:ea typeface="华文中宋" panose="02010600040101010101" pitchFamily="2" charset="-122"/>
              </a:rPr>
              <a:t>Ni</a:t>
            </a:r>
            <a:r>
              <a:rPr lang="zh-CN" altLang="en-US" sz="2400" b="1" dirty="0">
                <a:solidFill>
                  <a:srgbClr val="0000FF"/>
                </a:solidFill>
                <a:ea typeface="华文中宋" panose="02010600040101010101" pitchFamily="2" charset="-122"/>
              </a:rPr>
              <a:t>、</a:t>
            </a:r>
            <a:r>
              <a:rPr lang="en-US" altLang="zh-CN" sz="2400" b="1">
                <a:solidFill>
                  <a:srgbClr val="0000FF"/>
                </a:solidFill>
                <a:ea typeface="华文中宋" panose="02010600040101010101" pitchFamily="2" charset="-122"/>
              </a:rPr>
              <a:t>Ti</a:t>
            </a:r>
            <a:r>
              <a:rPr lang="zh-CN" altLang="en-US" sz="2400" b="1" dirty="0">
                <a:ea typeface="华文中宋" panose="02010600040101010101" pitchFamily="2" charset="-122"/>
              </a:rPr>
              <a:t>等辅加元素。</a:t>
            </a:r>
            <a:r>
              <a:rPr lang="zh-CN" altLang="en-US" sz="2400" dirty="0">
                <a:ea typeface="仿宋_GB2312" pitchFamily="49" charset="-122"/>
              </a:rPr>
              <a:t>  </a:t>
            </a:r>
            <a:endParaRPr lang="zh-CN" altLang="en-US" sz="2400" dirty="0"/>
          </a:p>
        </p:txBody>
      </p:sp>
      <p:sp>
        <p:nvSpPr>
          <p:cNvPr id="51203" name="矩形 7"/>
          <p:cNvSpPr/>
          <p:nvPr/>
        </p:nvSpPr>
        <p:spPr>
          <a:xfrm>
            <a:off x="142875" y="142875"/>
            <a:ext cx="1803400" cy="523875"/>
          </a:xfrm>
          <a:prstGeom prst="rect">
            <a:avLst/>
          </a:prstGeom>
          <a:noFill/>
          <a:ln w="9525">
            <a:noFill/>
          </a:ln>
        </p:spPr>
        <p:txBody>
          <a:bodyPr wrap="none">
            <a:spAutoFit/>
          </a:bodyPr>
          <a:lstStyle/>
          <a:p>
            <a:r>
              <a:rPr lang="en-US" altLang="zh-CN" sz="2800" b="1">
                <a:solidFill>
                  <a:srgbClr val="000000"/>
                </a:solidFill>
                <a:latin typeface="Calibri" panose="020F0502020204030204" pitchFamily="34" charset="0"/>
                <a:ea typeface="华文中宋" panose="02010600040101010101" pitchFamily="2" charset="-122"/>
              </a:rPr>
              <a:t>2</a:t>
            </a:r>
            <a:r>
              <a:rPr lang="zh-CN" altLang="en-US" sz="2800" b="1" dirty="0">
                <a:solidFill>
                  <a:srgbClr val="000000"/>
                </a:solidFill>
                <a:latin typeface="Calibri" panose="020F0502020204030204" pitchFamily="34" charset="0"/>
                <a:ea typeface="华文中宋" panose="02010600040101010101" pitchFamily="2" charset="-122"/>
              </a:rPr>
              <a:t>、铝合金</a:t>
            </a:r>
            <a:endParaRPr lang="zh-CN" altLang="en-US" sz="2800" dirty="0">
              <a:latin typeface="Times New Roman" panose="02020603050405020304" pitchFamily="18" charset="0"/>
            </a:endParaRPr>
          </a:p>
        </p:txBody>
      </p:sp>
      <p:pic>
        <p:nvPicPr>
          <p:cNvPr id="51204" name="Picture 9" descr="http://www.114yp.org/moban/qycp/200962312192832757.jpg"/>
          <p:cNvPicPr>
            <a:picLocks noChangeAspect="1"/>
          </p:cNvPicPr>
          <p:nvPr/>
        </p:nvPicPr>
        <p:blipFill>
          <a:blip r:embed="rId2"/>
          <a:stretch>
            <a:fillRect/>
          </a:stretch>
        </p:blipFill>
        <p:spPr>
          <a:xfrm>
            <a:off x="831850" y="3997325"/>
            <a:ext cx="3240088" cy="2432050"/>
          </a:xfrm>
          <a:prstGeom prst="rect">
            <a:avLst/>
          </a:prstGeom>
          <a:noFill/>
          <a:ln w="9525" cap="flat" cmpd="sng">
            <a:solidFill>
              <a:srgbClr val="FF0000"/>
            </a:solidFill>
            <a:prstDash val="solid"/>
            <a:miter/>
            <a:headEnd type="none" w="med" len="med"/>
            <a:tailEnd type="none" w="med" len="med"/>
          </a:ln>
        </p:spPr>
      </p:pic>
      <p:sp>
        <p:nvSpPr>
          <p:cNvPr id="51205" name="矩形 9"/>
          <p:cNvSpPr/>
          <p:nvPr/>
        </p:nvSpPr>
        <p:spPr>
          <a:xfrm>
            <a:off x="1490663" y="6396038"/>
            <a:ext cx="1724025" cy="461962"/>
          </a:xfrm>
          <a:prstGeom prst="rect">
            <a:avLst/>
          </a:prstGeom>
          <a:noFill/>
          <a:ln w="9525">
            <a:noFill/>
          </a:ln>
        </p:spPr>
        <p:txBody>
          <a:bodyPr wrap="none">
            <a:spAutoFit/>
          </a:bodyPr>
          <a:lstStyle/>
          <a:p>
            <a:r>
              <a:rPr lang="zh-CN" altLang="en-US" sz="2400" b="1" dirty="0">
                <a:solidFill>
                  <a:srgbClr val="FF0000"/>
                </a:solidFill>
                <a:latin typeface="Times New Roman" panose="02020603050405020304" pitchFamily="18" charset="0"/>
                <a:ea typeface="华文中宋" panose="02010600040101010101" pitchFamily="2" charset="-122"/>
              </a:rPr>
              <a:t>铝合金型材</a:t>
            </a:r>
            <a:endParaRPr lang="zh-CN" altLang="en-US" sz="2400" dirty="0">
              <a:latin typeface="Times New Roman" panose="02020603050405020304" pitchFamily="18" charset="0"/>
            </a:endParaRPr>
          </a:p>
        </p:txBody>
      </p:sp>
      <p:pic>
        <p:nvPicPr>
          <p:cNvPr id="51206" name="Picture 13" descr="http://www.jzsgmc.com/tp/78.jpg"/>
          <p:cNvPicPr>
            <a:picLocks noChangeAspect="1"/>
          </p:cNvPicPr>
          <p:nvPr/>
        </p:nvPicPr>
        <p:blipFill>
          <a:blip r:embed="rId3"/>
          <a:stretch>
            <a:fillRect/>
          </a:stretch>
        </p:blipFill>
        <p:spPr>
          <a:xfrm>
            <a:off x="4572000" y="571500"/>
            <a:ext cx="4319588" cy="5395913"/>
          </a:xfrm>
          <a:prstGeom prst="rect">
            <a:avLst/>
          </a:prstGeom>
          <a:noFill/>
          <a:ln w="9525" cap="flat" cmpd="sng">
            <a:solidFill>
              <a:srgbClr val="FF0000"/>
            </a:solidFill>
            <a:prstDash val="solid"/>
            <a:miter/>
            <a:headEnd type="none" w="med" len="med"/>
            <a:tailEnd type="none" w="med" len="med"/>
          </a:ln>
        </p:spPr>
      </p:pic>
      <p:sp>
        <p:nvSpPr>
          <p:cNvPr id="51207" name="矩形 12"/>
          <p:cNvSpPr/>
          <p:nvPr/>
        </p:nvSpPr>
        <p:spPr>
          <a:xfrm>
            <a:off x="5929313" y="6038850"/>
            <a:ext cx="1724025" cy="461963"/>
          </a:xfrm>
          <a:prstGeom prst="rect">
            <a:avLst/>
          </a:prstGeom>
          <a:noFill/>
          <a:ln w="9525">
            <a:noFill/>
          </a:ln>
        </p:spPr>
        <p:txBody>
          <a:bodyPr wrap="none">
            <a:spAutoFit/>
          </a:bodyPr>
          <a:lstStyle/>
          <a:p>
            <a:r>
              <a:rPr lang="zh-CN" altLang="en-US" sz="2400" b="1" dirty="0">
                <a:solidFill>
                  <a:srgbClr val="FF0000"/>
                </a:solidFill>
                <a:latin typeface="Times New Roman" panose="02020603050405020304" pitchFamily="18" charset="0"/>
                <a:ea typeface="华文中宋" panose="02010600040101010101" pitchFamily="2" charset="-122"/>
              </a:rPr>
              <a:t>铝合金门窗</a:t>
            </a:r>
            <a:endParaRPr lang="zh-CN" altLang="en-US" sz="2400" dirty="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514350" y="228600"/>
            <a:ext cx="7772400" cy="609600"/>
          </a:xfrm>
          <a:ln/>
        </p:spPr>
        <p:txBody>
          <a:bodyPr vert="horz" wrap="square" lIns="92075" tIns="46038" rIns="92075" bIns="46038" anchor="ctr" anchorCtr="0"/>
          <a:lstStyle/>
          <a:p>
            <a:pPr algn="l" eaLnBrk="1" hangingPunct="1"/>
            <a:r>
              <a:rPr lang="zh-CN" altLang="en-US" sz="3200" b="1" dirty="0">
                <a:effectLst/>
                <a:latin typeface="Times New Roman" panose="02020603050405020304" pitchFamily="18" charset="0"/>
                <a:ea typeface="华文中宋" panose="02010600040101010101" pitchFamily="2" charset="-122"/>
              </a:rPr>
              <a:t>四、铝合金的牌号、性能及用途</a:t>
            </a:r>
            <a:r>
              <a:rPr lang="zh-CN" altLang="en-US" sz="3600" b="1" dirty="0">
                <a:effectLst/>
              </a:rPr>
              <a:t> </a:t>
            </a:r>
          </a:p>
        </p:txBody>
      </p:sp>
      <p:sp>
        <p:nvSpPr>
          <p:cNvPr id="29699" name="Rectangle 3"/>
          <p:cNvSpPr>
            <a:spLocks noGrp="1"/>
          </p:cNvSpPr>
          <p:nvPr>
            <p:ph idx="1"/>
          </p:nvPr>
        </p:nvSpPr>
        <p:spPr>
          <a:xfrm>
            <a:off x="228600" y="990600"/>
            <a:ext cx="8534400" cy="4689475"/>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1</a:t>
            </a:r>
            <a:r>
              <a:rPr lang="zh-CN" altLang="en-US" sz="2800" b="1" dirty="0">
                <a:solidFill>
                  <a:schemeClr val="tx2"/>
                </a:solidFill>
                <a:ea typeface="华文中宋" panose="02010600040101010101" pitchFamily="2" charset="-122"/>
              </a:rPr>
              <a:t>、变形铝合金</a:t>
            </a:r>
          </a:p>
          <a:p>
            <a:pPr eaLnBrk="1" hangingPunct="1">
              <a:lnSpc>
                <a:spcPct val="140000"/>
              </a:lnSpc>
            </a:pPr>
            <a:r>
              <a:rPr lang="zh-CN" altLang="en-US" sz="2800" b="1" dirty="0">
                <a:solidFill>
                  <a:srgbClr val="CCFF99"/>
                </a:solidFill>
                <a:ea typeface="华文中宋" panose="02010600040101010101" pitchFamily="2" charset="-122"/>
              </a:rPr>
              <a:t>⑴ 变形铝及铝合金牌号表示方法</a:t>
            </a:r>
            <a:r>
              <a:rPr lang="zh-CN" altLang="en-US" sz="2800" b="1" dirty="0">
                <a:ea typeface="华文中宋" panose="02010600040101010101" pitchFamily="2" charset="-122"/>
              </a:rPr>
              <a:t> </a:t>
            </a:r>
          </a:p>
          <a:p>
            <a:pPr eaLnBrk="1" hangingPunct="1">
              <a:lnSpc>
                <a:spcPct val="140000"/>
              </a:lnSpc>
            </a:pPr>
            <a:r>
              <a:rPr lang="zh-CN" altLang="en-US" sz="2800" b="1" dirty="0">
                <a:solidFill>
                  <a:schemeClr val="folHlink"/>
                </a:solidFill>
                <a:ea typeface="华文中宋" panose="02010600040101010101" pitchFamily="2" charset="-122"/>
              </a:rPr>
              <a:t>根据国标规定 ，变形铝及铝合金可直接引用国际四位数字体系牌号</a:t>
            </a:r>
            <a:r>
              <a:rPr lang="zh-CN" altLang="en-US" sz="2800" b="1" dirty="0">
                <a:ea typeface="华文中宋" panose="02010600040101010101" pitchFamily="2" charset="-122"/>
              </a:rPr>
              <a:t>或采用国标规定的四位字符牌号</a:t>
            </a:r>
            <a:r>
              <a:rPr lang="zh-CN" altLang="en-US" sz="2800" b="1" dirty="0">
                <a:solidFill>
                  <a:schemeClr val="folHlink"/>
                </a:solidFill>
                <a:ea typeface="华文中宋" panose="02010600040101010101" pitchFamily="2" charset="-122"/>
              </a:rPr>
              <a:t>。</a:t>
            </a:r>
          </a:p>
        </p:txBody>
      </p:sp>
      <p:grpSp>
        <p:nvGrpSpPr>
          <p:cNvPr id="2" name="Group 16"/>
          <p:cNvGrpSpPr/>
          <p:nvPr/>
        </p:nvGrpSpPr>
        <p:grpSpPr>
          <a:xfrm>
            <a:off x="762000" y="3733800"/>
            <a:ext cx="7772400" cy="2879725"/>
            <a:chOff x="480" y="2352"/>
            <a:chExt cx="4896" cy="1814"/>
          </a:xfrm>
        </p:grpSpPr>
        <p:grpSp>
          <p:nvGrpSpPr>
            <p:cNvPr id="55301" name="Group 12"/>
            <p:cNvGrpSpPr/>
            <p:nvPr/>
          </p:nvGrpSpPr>
          <p:grpSpPr>
            <a:xfrm>
              <a:off x="480" y="2352"/>
              <a:ext cx="4896" cy="1814"/>
              <a:chOff x="480" y="2352"/>
              <a:chExt cx="4896" cy="1814"/>
            </a:xfrm>
          </p:grpSpPr>
          <p:grpSp>
            <p:nvGrpSpPr>
              <p:cNvPr id="55305" name="Group 10"/>
              <p:cNvGrpSpPr/>
              <p:nvPr/>
            </p:nvGrpSpPr>
            <p:grpSpPr>
              <a:xfrm>
                <a:off x="480" y="2352"/>
                <a:ext cx="4896" cy="1814"/>
                <a:chOff x="480" y="2352"/>
                <a:chExt cx="4896" cy="1814"/>
              </a:xfrm>
            </p:grpSpPr>
            <p:pic>
              <p:nvPicPr>
                <p:cNvPr id="55307" name="Picture 8" descr="C:\Documents and Settings\Administrator\My Documents\My Pictures\铝的用量（全世界）.bmp"/>
                <p:cNvPicPr>
                  <a:picLocks noChangeAspect="1"/>
                </p:cNvPicPr>
                <p:nvPr/>
              </p:nvPicPr>
              <p:blipFill>
                <a:blip r:embed="rId2"/>
                <a:stretch>
                  <a:fillRect/>
                </a:stretch>
              </p:blipFill>
              <p:spPr>
                <a:xfrm>
                  <a:off x="480" y="2352"/>
                  <a:ext cx="4896" cy="1814"/>
                </a:xfrm>
                <a:prstGeom prst="rect">
                  <a:avLst/>
                </a:prstGeom>
                <a:noFill/>
                <a:ln w="38100" cap="flat" cmpd="sng">
                  <a:solidFill>
                    <a:srgbClr val="CC99FF"/>
                  </a:solidFill>
                  <a:prstDash val="solid"/>
                  <a:miter/>
                  <a:headEnd type="none" w="med" len="med"/>
                  <a:tailEnd type="none" w="med" len="med"/>
                </a:ln>
              </p:spPr>
            </p:pic>
            <p:sp>
              <p:nvSpPr>
                <p:cNvPr id="55308" name="Rectangle 9"/>
                <p:cNvSpPr/>
                <p:nvPr/>
              </p:nvSpPr>
              <p:spPr>
                <a:xfrm>
                  <a:off x="1248" y="2400"/>
                  <a:ext cx="2496" cy="19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pPr algn="r"/>
                  <a:r>
                    <a:rPr lang="zh-CN" altLang="en-US" dirty="0">
                      <a:solidFill>
                        <a:schemeClr val="bg2"/>
                      </a:solidFill>
                      <a:latin typeface="Times New Roman" panose="02020603050405020304" pitchFamily="18" charset="0"/>
                    </a:rPr>
                    <a:t>全世界铝的用量</a:t>
                  </a:r>
                </a:p>
              </p:txBody>
            </p:sp>
          </p:grpSp>
          <p:sp>
            <p:nvSpPr>
              <p:cNvPr id="55306" name="Rectangle 11"/>
              <p:cNvSpPr/>
              <p:nvPr/>
            </p:nvSpPr>
            <p:spPr>
              <a:xfrm rot="-5429706">
                <a:off x="240" y="3168"/>
                <a:ext cx="672" cy="96"/>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r>
                  <a:rPr lang="zh-CN" altLang="en-US" sz="1800" dirty="0">
                    <a:solidFill>
                      <a:srgbClr val="AE9EFC"/>
                    </a:solidFill>
                    <a:latin typeface="Times New Roman" panose="02020603050405020304" pitchFamily="18" charset="0"/>
                  </a:rPr>
                  <a:t>百万吨</a:t>
                </a:r>
              </a:p>
            </p:txBody>
          </p:sp>
        </p:grpSp>
        <p:sp>
          <p:nvSpPr>
            <p:cNvPr id="55302" name="Rectangle 13"/>
            <p:cNvSpPr/>
            <p:nvPr/>
          </p:nvSpPr>
          <p:spPr>
            <a:xfrm>
              <a:off x="1800" y="3936"/>
              <a:ext cx="984" cy="96"/>
            </a:xfrm>
            <a:prstGeom prst="rect">
              <a:avLst/>
            </a:prstGeom>
            <a:solidFill>
              <a:schemeClr val="tx1"/>
            </a:solidFill>
            <a:ln w="9525">
              <a:noFill/>
            </a:ln>
          </p:spPr>
          <p:txBody>
            <a:bodyPr wrap="none" anchor="ctr" anchorCtr="0"/>
            <a:lstStyle/>
            <a:p>
              <a:r>
                <a:rPr lang="zh-CN" altLang="en-US" sz="1200" dirty="0">
                  <a:solidFill>
                    <a:schemeClr val="bg2"/>
                  </a:solidFill>
                  <a:latin typeface="Times New Roman" panose="02020603050405020304" pitchFamily="18" charset="0"/>
                </a:rPr>
                <a:t>一次生产量</a:t>
              </a:r>
            </a:p>
          </p:txBody>
        </p:sp>
        <p:sp>
          <p:nvSpPr>
            <p:cNvPr id="55303" name="Rectangle 14"/>
            <p:cNvSpPr/>
            <p:nvPr/>
          </p:nvSpPr>
          <p:spPr>
            <a:xfrm>
              <a:off x="2928" y="3936"/>
              <a:ext cx="816" cy="96"/>
            </a:xfrm>
            <a:prstGeom prst="rect">
              <a:avLst/>
            </a:prstGeom>
            <a:solidFill>
              <a:schemeClr val="tx1"/>
            </a:solidFill>
            <a:ln w="9525">
              <a:noFill/>
            </a:ln>
          </p:spPr>
          <p:txBody>
            <a:bodyPr wrap="none" anchor="ctr" anchorCtr="0"/>
            <a:lstStyle/>
            <a:p>
              <a:r>
                <a:rPr lang="zh-CN" altLang="en-US" sz="1200" dirty="0">
                  <a:solidFill>
                    <a:schemeClr val="bg2"/>
                  </a:solidFill>
                  <a:latin typeface="Times New Roman" panose="02020603050405020304" pitchFamily="18" charset="0"/>
                </a:rPr>
                <a:t>二次回收量</a:t>
              </a:r>
            </a:p>
          </p:txBody>
        </p:sp>
        <p:sp>
          <p:nvSpPr>
            <p:cNvPr id="55304" name="Rectangle 15"/>
            <p:cNvSpPr/>
            <p:nvPr/>
          </p:nvSpPr>
          <p:spPr>
            <a:xfrm>
              <a:off x="3840" y="3936"/>
              <a:ext cx="576" cy="96"/>
            </a:xfrm>
            <a:prstGeom prst="rect">
              <a:avLst/>
            </a:prstGeom>
            <a:solidFill>
              <a:schemeClr val="tx1"/>
            </a:solidFill>
            <a:ln w="9525">
              <a:noFill/>
            </a:ln>
          </p:spPr>
          <p:txBody>
            <a:bodyPr wrap="none" anchor="ctr" anchorCtr="0"/>
            <a:lstStyle/>
            <a:p>
              <a:r>
                <a:rPr lang="zh-CN" altLang="en-US" sz="1200" dirty="0">
                  <a:solidFill>
                    <a:schemeClr val="bg2"/>
                  </a:solidFill>
                  <a:latin typeface="Times New Roman" panose="02020603050405020304" pitchFamily="18" charset="0"/>
                </a:rPr>
                <a:t>总用量</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wipe(left)">
                                      <p:cBhvr>
                                        <p:cTn id="7" dur="500"/>
                                        <p:tgtEl>
                                          <p:spTgt spid="296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699">
                                            <p:txEl>
                                              <p:pRg st="0" end="0"/>
                                            </p:txEl>
                                          </p:spTgt>
                                        </p:tgtEl>
                                        <p:attrNameLst>
                                          <p:attrName>style.visibility</p:attrName>
                                        </p:attrNameLst>
                                      </p:cBhvr>
                                      <p:to>
                                        <p:strVal val="visible"/>
                                      </p:to>
                                    </p:set>
                                    <p:animEffect transition="in" filter="wipe(left)">
                                      <p:cBhvr>
                                        <p:cTn id="11" dur="500"/>
                                        <p:tgtEl>
                                          <p:spTgt spid="2969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9699">
                                            <p:txEl>
                                              <p:pRg st="1" end="1"/>
                                            </p:txEl>
                                          </p:spTgt>
                                        </p:tgtEl>
                                        <p:attrNameLst>
                                          <p:attrName>style.visibility</p:attrName>
                                        </p:attrNameLst>
                                      </p:cBhvr>
                                      <p:to>
                                        <p:strVal val="visible"/>
                                      </p:to>
                                    </p:set>
                                    <p:animEffect transition="in" filter="wipe(left)">
                                      <p:cBhvr>
                                        <p:cTn id="15" dur="500"/>
                                        <p:tgtEl>
                                          <p:spTgt spid="29699">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9699">
                                            <p:txEl>
                                              <p:pRg st="2" end="2"/>
                                            </p:txEl>
                                          </p:spTgt>
                                        </p:tgtEl>
                                        <p:attrNameLst>
                                          <p:attrName>style.visibility</p:attrName>
                                        </p:attrNameLst>
                                      </p:cBhvr>
                                      <p:to>
                                        <p:strVal val="visible"/>
                                      </p:to>
                                    </p:set>
                                    <p:animEffect transition="in" filter="wipe(left)">
                                      <p:cBhvr>
                                        <p:cTn id="19" dur="500"/>
                                        <p:tgtEl>
                                          <p:spTgt spid="29699">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p:bldP spid="29699" grpId="0" build="p" advAuto="100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p:cNvSpPr>
          <p:nvPr>
            <p:ph idx="1"/>
          </p:nvPr>
        </p:nvSpPr>
        <p:spPr>
          <a:xfrm>
            <a:off x="228600" y="228600"/>
            <a:ext cx="4648200" cy="5867400"/>
          </a:xfrm>
          <a:ln/>
        </p:spPr>
        <p:txBody>
          <a:bodyPr vert="horz" wrap="square" lIns="91440" tIns="45720" rIns="91440" bIns="45720" anchor="t" anchorCtr="0"/>
          <a:lstStyle/>
          <a:p>
            <a:pPr eaLnBrk="1" hangingPunct="1">
              <a:lnSpc>
                <a:spcPct val="140000"/>
              </a:lnSpc>
            </a:pPr>
            <a:r>
              <a:rPr lang="en-US" altLang="zh-CN" sz="2800" b="1">
                <a:ea typeface="华文中宋" panose="02010600040101010101" pitchFamily="2" charset="-122"/>
              </a:rPr>
              <a:t>GB 3190-82</a:t>
            </a:r>
            <a:r>
              <a:rPr lang="zh-CN" altLang="en-US" sz="2800" b="1" dirty="0">
                <a:ea typeface="华文中宋" panose="02010600040101010101" pitchFamily="2" charset="-122"/>
              </a:rPr>
              <a:t>中的旧牌号仍可继续使用，</a:t>
            </a:r>
            <a:r>
              <a:rPr lang="zh-CN" altLang="en-US" sz="2800" b="1" dirty="0">
                <a:solidFill>
                  <a:srgbClr val="CCFFFF"/>
                </a:solidFill>
                <a:ea typeface="华文中宋" panose="02010600040101010101" pitchFamily="2" charset="-122"/>
              </a:rPr>
              <a:t>表示方法为</a:t>
            </a:r>
            <a:r>
              <a:rPr lang="en-US" altLang="zh-CN" sz="2800" b="1">
                <a:solidFill>
                  <a:srgbClr val="CCFFFF"/>
                </a:solidFill>
                <a:ea typeface="华文中宋" panose="02010600040101010101" pitchFamily="2" charset="-122"/>
              </a:rPr>
              <a:t>:</a:t>
            </a:r>
          </a:p>
          <a:p>
            <a:pPr eaLnBrk="1" hangingPunct="1">
              <a:lnSpc>
                <a:spcPct val="130000"/>
              </a:lnSpc>
              <a:buNone/>
            </a:pPr>
            <a:r>
              <a:rPr lang="en-US" altLang="zh-CN" sz="2800" b="1">
                <a:solidFill>
                  <a:schemeClr val="folHlink"/>
                </a:solidFill>
                <a:ea typeface="华文中宋" panose="02010600040101010101" pitchFamily="2" charset="-122"/>
                <a:sym typeface="Symbol" panose="05050102010706020507" pitchFamily="18" charset="2"/>
              </a:rPr>
              <a:t>     </a:t>
            </a:r>
            <a:r>
              <a:rPr lang="zh-CN" altLang="en-US" sz="2800" b="1" dirty="0">
                <a:solidFill>
                  <a:srgbClr val="CCFF33"/>
                </a:solidFill>
                <a:ea typeface="华文中宋" panose="02010600040101010101" pitchFamily="2" charset="-122"/>
              </a:rPr>
              <a:t>防锈铝合金：</a:t>
            </a:r>
            <a:r>
              <a:rPr lang="en-US" altLang="zh-CN" sz="2800" b="1">
                <a:solidFill>
                  <a:schemeClr val="folHlink"/>
                </a:solidFill>
                <a:ea typeface="华文中宋" panose="02010600040101010101" pitchFamily="2" charset="-122"/>
              </a:rPr>
              <a:t>LF+</a:t>
            </a:r>
            <a:r>
              <a:rPr lang="zh-CN" altLang="en-US" sz="2800" b="1" dirty="0">
                <a:solidFill>
                  <a:schemeClr val="folHlink"/>
                </a:solidFill>
                <a:ea typeface="华文中宋" panose="02010600040101010101" pitchFamily="2" charset="-122"/>
              </a:rPr>
              <a:t>序号</a:t>
            </a:r>
          </a:p>
          <a:p>
            <a:pPr eaLnBrk="1" hangingPunct="1">
              <a:lnSpc>
                <a:spcPct val="130000"/>
              </a:lnSpc>
              <a:buNone/>
            </a:pPr>
            <a:r>
              <a:rPr lang="zh-CN" altLang="en-US" sz="2800" b="1" dirty="0">
                <a:solidFill>
                  <a:schemeClr val="folHlink"/>
                </a:solidFill>
                <a:ea typeface="华文中宋" panose="02010600040101010101" pitchFamily="2" charset="-122"/>
                <a:sym typeface="Symbol" panose="05050102010706020507" pitchFamily="18" charset="2"/>
              </a:rPr>
              <a:t>  </a:t>
            </a:r>
            <a:r>
              <a:rPr lang="zh-CN" altLang="en-US" sz="2800" b="1" dirty="0">
                <a:solidFill>
                  <a:schemeClr val="folHlink"/>
                </a:solidFill>
                <a:ea typeface="华文中宋" panose="02010600040101010101" pitchFamily="2" charset="-122"/>
              </a:rPr>
              <a:t> </a:t>
            </a:r>
            <a:r>
              <a:rPr lang="zh-CN" altLang="en-US" sz="2800" b="1" dirty="0">
                <a:ea typeface="华文中宋" panose="02010600040101010101" pitchFamily="2" charset="-122"/>
              </a:rPr>
              <a:t>  </a:t>
            </a:r>
            <a:r>
              <a:rPr lang="zh-CN" altLang="en-US" sz="2800" b="1" dirty="0">
                <a:solidFill>
                  <a:srgbClr val="CCFF33"/>
                </a:solidFill>
                <a:ea typeface="华文中宋" panose="02010600040101010101" pitchFamily="2" charset="-122"/>
              </a:rPr>
              <a:t>硬铝合金</a:t>
            </a:r>
            <a:r>
              <a:rPr lang="zh-CN" altLang="en-US" sz="2800" b="1" dirty="0">
                <a:ea typeface="华文中宋" panose="02010600040101010101" pitchFamily="2" charset="-122"/>
              </a:rPr>
              <a:t>：    </a:t>
            </a:r>
            <a:r>
              <a:rPr lang="en-US" altLang="zh-CN" sz="2800" b="1">
                <a:solidFill>
                  <a:schemeClr val="folHlink"/>
                </a:solidFill>
                <a:ea typeface="华文中宋" panose="02010600040101010101" pitchFamily="2" charset="-122"/>
              </a:rPr>
              <a:t>LY +</a:t>
            </a:r>
            <a:r>
              <a:rPr lang="zh-CN" altLang="en-US" sz="2800" b="1" dirty="0">
                <a:solidFill>
                  <a:schemeClr val="folHlink"/>
                </a:solidFill>
                <a:ea typeface="华文中宋" panose="02010600040101010101" pitchFamily="2" charset="-122"/>
              </a:rPr>
              <a:t>序号</a:t>
            </a:r>
          </a:p>
          <a:p>
            <a:pPr eaLnBrk="1" hangingPunct="1">
              <a:lnSpc>
                <a:spcPct val="130000"/>
              </a:lnSpc>
              <a:buNone/>
            </a:pPr>
            <a:r>
              <a:rPr lang="zh-CN" altLang="en-US" sz="2800" b="1" dirty="0">
                <a:solidFill>
                  <a:schemeClr val="folHlink"/>
                </a:solidFill>
                <a:ea typeface="华文中宋" panose="02010600040101010101" pitchFamily="2" charset="-122"/>
                <a:sym typeface="Symbol" panose="05050102010706020507" pitchFamily="18" charset="2"/>
              </a:rPr>
              <a:t>   </a:t>
            </a:r>
            <a:r>
              <a:rPr lang="zh-CN" altLang="en-US" sz="2800" b="1" dirty="0">
                <a:solidFill>
                  <a:schemeClr val="folHlink"/>
                </a:solidFill>
                <a:ea typeface="华文中宋" panose="02010600040101010101" pitchFamily="2" charset="-122"/>
              </a:rPr>
              <a:t>  </a:t>
            </a:r>
            <a:r>
              <a:rPr lang="zh-CN" altLang="en-US" sz="2800" b="1" dirty="0">
                <a:solidFill>
                  <a:srgbClr val="CCFF33"/>
                </a:solidFill>
                <a:ea typeface="华文中宋" panose="02010600040101010101" pitchFamily="2" charset="-122"/>
              </a:rPr>
              <a:t>超硬铝合金</a:t>
            </a:r>
            <a:r>
              <a:rPr lang="zh-CN" altLang="en-US" sz="2800" b="1" dirty="0">
                <a:ea typeface="华文中宋" panose="02010600040101010101" pitchFamily="2" charset="-122"/>
              </a:rPr>
              <a:t>：</a:t>
            </a:r>
            <a:r>
              <a:rPr lang="en-US" altLang="zh-CN" sz="2800" b="1">
                <a:solidFill>
                  <a:schemeClr val="folHlink"/>
                </a:solidFill>
                <a:ea typeface="华文中宋" panose="02010600040101010101" pitchFamily="2" charset="-122"/>
              </a:rPr>
              <a:t>LC +</a:t>
            </a:r>
            <a:r>
              <a:rPr lang="zh-CN" altLang="en-US" sz="2800" b="1" dirty="0">
                <a:solidFill>
                  <a:schemeClr val="folHlink"/>
                </a:solidFill>
                <a:ea typeface="华文中宋" panose="02010600040101010101" pitchFamily="2" charset="-122"/>
              </a:rPr>
              <a:t>序号</a:t>
            </a:r>
          </a:p>
          <a:p>
            <a:pPr eaLnBrk="1" hangingPunct="1">
              <a:lnSpc>
                <a:spcPct val="130000"/>
              </a:lnSpc>
              <a:buNone/>
            </a:pPr>
            <a:r>
              <a:rPr lang="zh-CN" altLang="en-US" sz="2800" b="1" dirty="0">
                <a:solidFill>
                  <a:schemeClr val="folHlink"/>
                </a:solidFill>
                <a:ea typeface="华文中宋" panose="02010600040101010101" pitchFamily="2" charset="-122"/>
                <a:sym typeface="Symbol" panose="05050102010706020507" pitchFamily="18" charset="2"/>
              </a:rPr>
              <a:t>     </a:t>
            </a:r>
            <a:r>
              <a:rPr lang="zh-CN" altLang="en-US" sz="2800" b="1" dirty="0">
                <a:solidFill>
                  <a:srgbClr val="CCFF33"/>
                </a:solidFill>
                <a:ea typeface="华文中宋" panose="02010600040101010101" pitchFamily="2" charset="-122"/>
              </a:rPr>
              <a:t>锻铝合金</a:t>
            </a:r>
            <a:r>
              <a:rPr lang="zh-CN" altLang="en-US" sz="2800" b="1" dirty="0">
                <a:ea typeface="华文中宋" panose="02010600040101010101" pitchFamily="2" charset="-122"/>
              </a:rPr>
              <a:t>：    </a:t>
            </a:r>
            <a:r>
              <a:rPr lang="en-US" altLang="zh-CN" sz="2800" b="1">
                <a:solidFill>
                  <a:schemeClr val="folHlink"/>
                </a:solidFill>
                <a:ea typeface="华文中宋" panose="02010600040101010101" pitchFamily="2" charset="-122"/>
              </a:rPr>
              <a:t>LD +</a:t>
            </a:r>
            <a:r>
              <a:rPr lang="zh-CN" altLang="en-US" sz="2800" b="1" dirty="0">
                <a:solidFill>
                  <a:schemeClr val="folHlink"/>
                </a:solidFill>
                <a:ea typeface="华文中宋" panose="02010600040101010101" pitchFamily="2" charset="-122"/>
              </a:rPr>
              <a:t>序号</a:t>
            </a:r>
          </a:p>
        </p:txBody>
      </p:sp>
      <p:grpSp>
        <p:nvGrpSpPr>
          <p:cNvPr id="2" name="Group 20"/>
          <p:cNvGrpSpPr/>
          <p:nvPr/>
        </p:nvGrpSpPr>
        <p:grpSpPr>
          <a:xfrm>
            <a:off x="876300" y="500063"/>
            <a:ext cx="8058150" cy="5992812"/>
            <a:chOff x="552" y="315"/>
            <a:chExt cx="5076" cy="3775"/>
          </a:xfrm>
        </p:grpSpPr>
        <p:grpSp>
          <p:nvGrpSpPr>
            <p:cNvPr id="56324" name="Group 12"/>
            <p:cNvGrpSpPr/>
            <p:nvPr/>
          </p:nvGrpSpPr>
          <p:grpSpPr>
            <a:xfrm>
              <a:off x="3277" y="315"/>
              <a:ext cx="2351" cy="3721"/>
              <a:chOff x="3264" y="432"/>
              <a:chExt cx="2351" cy="3721"/>
            </a:xfrm>
          </p:grpSpPr>
          <p:pic>
            <p:nvPicPr>
              <p:cNvPr id="56328" name="Picture 4" descr="C:\Documents and Settings\Administrator\My Documents\My Pictures\铝合金制品.gif"/>
              <p:cNvPicPr>
                <a:picLocks noChangeAspect="1"/>
              </p:cNvPicPr>
              <p:nvPr/>
            </p:nvPicPr>
            <p:blipFill>
              <a:blip r:embed="rId2"/>
              <a:stretch>
                <a:fillRect/>
              </a:stretch>
            </p:blipFill>
            <p:spPr>
              <a:xfrm>
                <a:off x="3264" y="432"/>
                <a:ext cx="2269" cy="1985"/>
              </a:xfrm>
              <a:prstGeom prst="rect">
                <a:avLst/>
              </a:prstGeom>
              <a:noFill/>
              <a:ln w="38100" cap="flat" cmpd="sng">
                <a:solidFill>
                  <a:srgbClr val="FF9900"/>
                </a:solidFill>
                <a:prstDash val="solid"/>
                <a:miter/>
                <a:headEnd type="none" w="med" len="med"/>
                <a:tailEnd type="none" w="med" len="med"/>
              </a:ln>
            </p:spPr>
          </p:pic>
          <p:pic>
            <p:nvPicPr>
              <p:cNvPr id="56329" name="Picture 10" descr="C:\Documents and Settings\Administrator\My Documents\My Pictures\铝合金波纹管.jpg"/>
              <p:cNvPicPr>
                <a:picLocks noChangeAspect="1"/>
              </p:cNvPicPr>
              <p:nvPr/>
            </p:nvPicPr>
            <p:blipFill>
              <a:blip r:embed="rId3"/>
              <a:stretch>
                <a:fillRect/>
              </a:stretch>
            </p:blipFill>
            <p:spPr>
              <a:xfrm>
                <a:off x="3264" y="2544"/>
                <a:ext cx="2272" cy="1609"/>
              </a:xfrm>
              <a:prstGeom prst="rect">
                <a:avLst/>
              </a:prstGeom>
              <a:noFill/>
              <a:ln w="38100" cap="flat" cmpd="sng">
                <a:solidFill>
                  <a:srgbClr val="FF9900"/>
                </a:solidFill>
                <a:prstDash val="solid"/>
                <a:miter/>
                <a:headEnd type="none" w="med" len="med"/>
                <a:tailEnd type="none" w="med" len="med"/>
              </a:ln>
            </p:spPr>
          </p:pic>
          <p:sp>
            <p:nvSpPr>
              <p:cNvPr id="95243" name="Text Box 11"/>
              <p:cNvSpPr txBox="1">
                <a:spLocks noChangeArrowheads="1"/>
              </p:cNvSpPr>
              <p:nvPr/>
            </p:nvSpPr>
            <p:spPr bwMode="auto">
              <a:xfrm>
                <a:off x="4454" y="2505"/>
                <a:ext cx="1161" cy="250"/>
              </a:xfrm>
              <a:prstGeom prst="rect">
                <a:avLst/>
              </a:prstGeom>
              <a:noFill/>
              <a:ln w="38100">
                <a:noFill/>
                <a:miter lim="800000"/>
              </a:ln>
              <a:effectLst/>
            </p:spPr>
            <p:txBody>
              <a:bodyPr>
                <a:spAutoFit/>
              </a:bodyPr>
              <a:lstStyle/>
              <a:p>
                <a:pPr marR="0" defTabSz="914400">
                  <a:buClrTx/>
                  <a:buSzTx/>
                  <a:buFontTx/>
                  <a:buNone/>
                  <a:defRPr/>
                </a:pPr>
                <a:r>
                  <a:rPr kumimoji="1" lang="zh-CN" altLang="en-US" sz="2000" kern="1200" cap="none" spc="0" normalizeH="0" baseline="0" noProof="0">
                    <a:solidFill>
                      <a:srgbClr val="CCFF33"/>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铝合金波纹管</a:t>
                </a:r>
              </a:p>
            </p:txBody>
          </p:sp>
        </p:grpSp>
        <p:sp>
          <p:nvSpPr>
            <p:cNvPr id="56325" name="Text Box 13"/>
            <p:cNvSpPr txBox="1"/>
            <p:nvPr/>
          </p:nvSpPr>
          <p:spPr>
            <a:xfrm>
              <a:off x="5298" y="1416"/>
              <a:ext cx="308" cy="960"/>
            </a:xfrm>
            <a:prstGeom prst="rect">
              <a:avLst/>
            </a:prstGeom>
            <a:noFill/>
            <a:ln w="38100">
              <a:noFill/>
            </a:ln>
          </p:spPr>
          <p:txBody>
            <a:bodyPr vert="eaVert">
              <a:spAutoFit/>
            </a:bodyPr>
            <a:lstStyle/>
            <a:p>
              <a:r>
                <a:rPr lang="zh-CN" altLang="en-US" sz="2000" dirty="0">
                  <a:solidFill>
                    <a:srgbClr val="800000"/>
                  </a:solidFill>
                  <a:latin typeface="Times New Roman" panose="02020603050405020304" pitchFamily="18" charset="0"/>
                </a:rPr>
                <a:t>铝合金制品</a:t>
              </a:r>
            </a:p>
          </p:txBody>
        </p:sp>
        <p:pic>
          <p:nvPicPr>
            <p:cNvPr id="56326" name="Picture 15" descr="C:\Documents and Settings\Administrator\My Documents\My Pictures\铝是可以回收利用的.bmp"/>
            <p:cNvPicPr>
              <a:picLocks noChangeAspect="1"/>
            </p:cNvPicPr>
            <p:nvPr/>
          </p:nvPicPr>
          <p:blipFill>
            <a:blip r:embed="rId4"/>
            <a:stretch>
              <a:fillRect/>
            </a:stretch>
          </p:blipFill>
          <p:spPr>
            <a:xfrm>
              <a:off x="624" y="2688"/>
              <a:ext cx="2208" cy="1392"/>
            </a:xfrm>
            <a:prstGeom prst="rect">
              <a:avLst/>
            </a:prstGeom>
            <a:noFill/>
            <a:ln w="38100" cap="flat" cmpd="sng">
              <a:solidFill>
                <a:srgbClr val="993366"/>
              </a:solidFill>
              <a:prstDash val="solid"/>
              <a:miter/>
              <a:headEnd type="none" w="med" len="med"/>
              <a:tailEnd type="none" w="med" len="med"/>
            </a:ln>
          </p:spPr>
        </p:pic>
        <p:sp>
          <p:nvSpPr>
            <p:cNvPr id="95248" name="Text Box 16"/>
            <p:cNvSpPr txBox="1">
              <a:spLocks noChangeArrowheads="1"/>
            </p:cNvSpPr>
            <p:nvPr/>
          </p:nvSpPr>
          <p:spPr bwMode="auto">
            <a:xfrm>
              <a:off x="552" y="3840"/>
              <a:ext cx="1920" cy="250"/>
            </a:xfrm>
            <a:prstGeom prst="rect">
              <a:avLst/>
            </a:prstGeom>
            <a:noFill/>
            <a:ln w="38100">
              <a:noFill/>
              <a:miter lim="800000"/>
            </a:ln>
            <a:effectLst/>
          </p:spPr>
          <p:txBody>
            <a:bodyPr>
              <a:spAutoFit/>
            </a:bodyPr>
            <a:lstStyle/>
            <a:p>
              <a:pPr marR="0" defTabSz="914400">
                <a:buClrTx/>
                <a:buSzTx/>
                <a:buFontTx/>
                <a:buNone/>
                <a:defRPr/>
              </a:pPr>
              <a:r>
                <a:rPr kumimoji="1" lang="zh-CN" altLang="en-US" sz="20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铝是可以回收利用的金属</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wipe(left)">
                                      <p:cBhvr>
                                        <p:cTn id="7" dur="500"/>
                                        <p:tgtEl>
                                          <p:spTgt spid="9523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5235">
                                            <p:txEl>
                                              <p:pRg st="1" end="1"/>
                                            </p:txEl>
                                          </p:spTgt>
                                        </p:tgtEl>
                                        <p:attrNameLst>
                                          <p:attrName>style.visibility</p:attrName>
                                        </p:attrNameLst>
                                      </p:cBhvr>
                                      <p:to>
                                        <p:strVal val="visible"/>
                                      </p:to>
                                    </p:set>
                                    <p:animEffect transition="in" filter="wipe(left)">
                                      <p:cBhvr>
                                        <p:cTn id="11" dur="500"/>
                                        <p:tgtEl>
                                          <p:spTgt spid="9523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5235">
                                            <p:txEl>
                                              <p:pRg st="2" end="2"/>
                                            </p:txEl>
                                          </p:spTgt>
                                        </p:tgtEl>
                                        <p:attrNameLst>
                                          <p:attrName>style.visibility</p:attrName>
                                        </p:attrNameLst>
                                      </p:cBhvr>
                                      <p:to>
                                        <p:strVal val="visible"/>
                                      </p:to>
                                    </p:set>
                                    <p:animEffect transition="in" filter="wipe(left)">
                                      <p:cBhvr>
                                        <p:cTn id="15" dur="500"/>
                                        <p:tgtEl>
                                          <p:spTgt spid="9523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5235">
                                            <p:txEl>
                                              <p:pRg st="3" end="3"/>
                                            </p:txEl>
                                          </p:spTgt>
                                        </p:tgtEl>
                                        <p:attrNameLst>
                                          <p:attrName>style.visibility</p:attrName>
                                        </p:attrNameLst>
                                      </p:cBhvr>
                                      <p:to>
                                        <p:strVal val="visible"/>
                                      </p:to>
                                    </p:set>
                                    <p:animEffect transition="in" filter="wipe(left)">
                                      <p:cBhvr>
                                        <p:cTn id="19" dur="500"/>
                                        <p:tgtEl>
                                          <p:spTgt spid="95235">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95235">
                                            <p:txEl>
                                              <p:pRg st="4" end="4"/>
                                            </p:txEl>
                                          </p:spTgt>
                                        </p:tgtEl>
                                        <p:attrNameLst>
                                          <p:attrName>style.visibility</p:attrName>
                                        </p:attrNameLst>
                                      </p:cBhvr>
                                      <p:to>
                                        <p:strVal val="visible"/>
                                      </p:to>
                                    </p:set>
                                    <p:animEffect transition="in" filter="wipe(left)">
                                      <p:cBhvr>
                                        <p:cTn id="23" dur="500"/>
                                        <p:tgtEl>
                                          <p:spTgt spid="95235">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advAuto="100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p:cNvSpPr>
          <p:nvPr>
            <p:ph idx="1"/>
          </p:nvPr>
        </p:nvSpPr>
        <p:spPr>
          <a:xfrm>
            <a:off x="228600" y="533400"/>
            <a:ext cx="4038600" cy="51816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⑵ </a:t>
            </a:r>
            <a:r>
              <a:rPr lang="zh-CN" altLang="en-US" sz="2800" b="1" dirty="0">
                <a:solidFill>
                  <a:schemeClr val="tx2"/>
                </a:solidFill>
                <a:ea typeface="华文中宋" panose="02010600040101010101" pitchFamily="2" charset="-122"/>
              </a:rPr>
              <a:t>常用变形铝合金</a:t>
            </a:r>
            <a:endParaRPr lang="zh-CN" altLang="en-US" sz="2800" b="1" dirty="0">
              <a:ea typeface="华文中宋" panose="02010600040101010101" pitchFamily="2" charset="-122"/>
            </a:endParaRPr>
          </a:p>
          <a:p>
            <a:pPr eaLnBrk="1" hangingPunct="1">
              <a:lnSpc>
                <a:spcPct val="120000"/>
              </a:lnSpc>
            </a:pPr>
            <a:r>
              <a:rPr lang="zh-CN" altLang="en-US" sz="2800" b="1" dirty="0">
                <a:solidFill>
                  <a:schemeClr val="accent1"/>
                </a:solidFill>
                <a:ea typeface="华文中宋" panose="02010600040101010101" pitchFamily="2" charset="-122"/>
              </a:rPr>
              <a:t>① 防锈铝合金</a:t>
            </a:r>
            <a:endParaRPr lang="zh-CN" altLang="en-US" sz="2800" b="1" dirty="0">
              <a:solidFill>
                <a:schemeClr val="tx2"/>
              </a:solidFill>
              <a:ea typeface="华文中宋" panose="02010600040101010101" pitchFamily="2" charset="-122"/>
            </a:endParaRPr>
          </a:p>
          <a:p>
            <a:pPr eaLnBrk="1" hangingPunct="1">
              <a:lnSpc>
                <a:spcPct val="140000"/>
              </a:lnSpc>
            </a:pPr>
            <a:r>
              <a:rPr lang="zh-CN" altLang="en-US" sz="2800" b="1" dirty="0">
                <a:solidFill>
                  <a:schemeClr val="folHlink"/>
                </a:solidFill>
                <a:ea typeface="华文中宋" panose="02010600040101010101" pitchFamily="2" charset="-122"/>
              </a:rPr>
              <a:t>主要是</a:t>
            </a:r>
            <a:r>
              <a:rPr lang="en-US" altLang="zh-CN" sz="2800" b="1">
                <a:solidFill>
                  <a:schemeClr val="folHlink"/>
                </a:solidFill>
                <a:ea typeface="华文中宋" panose="02010600040101010101" pitchFamily="2" charset="-122"/>
              </a:rPr>
              <a:t>Al-</a:t>
            </a:r>
            <a:r>
              <a:rPr lang="en-US" altLang="zh-CN" sz="2800" b="1" err="1">
                <a:solidFill>
                  <a:schemeClr val="folHlink"/>
                </a:solidFill>
                <a:ea typeface="华文中宋" panose="02010600040101010101" pitchFamily="2" charset="-122"/>
              </a:rPr>
              <a:t>Mn</a:t>
            </a:r>
            <a:r>
              <a:rPr lang="zh-CN" altLang="en-US" sz="2800" b="1" dirty="0">
                <a:solidFill>
                  <a:schemeClr val="folHlink"/>
                </a:solidFill>
                <a:ea typeface="华文中宋" panose="02010600040101010101" pitchFamily="2" charset="-122"/>
              </a:rPr>
              <a:t>和</a:t>
            </a:r>
            <a:r>
              <a:rPr lang="en-US" altLang="zh-CN" sz="2800" b="1">
                <a:solidFill>
                  <a:schemeClr val="folHlink"/>
                </a:solidFill>
                <a:ea typeface="华文中宋" panose="02010600040101010101" pitchFamily="2" charset="-122"/>
              </a:rPr>
              <a:t>Al-Mg</a:t>
            </a:r>
            <a:r>
              <a:rPr lang="zh-CN" altLang="en-US" sz="2800" b="1" dirty="0">
                <a:solidFill>
                  <a:schemeClr val="folHlink"/>
                </a:solidFill>
                <a:ea typeface="华文中宋" panose="02010600040101010101" pitchFamily="2" charset="-122"/>
              </a:rPr>
              <a:t>系合金。</a:t>
            </a:r>
          </a:p>
          <a:p>
            <a:pPr eaLnBrk="1" hangingPunct="1">
              <a:lnSpc>
                <a:spcPct val="140000"/>
              </a:lnSpc>
            </a:pPr>
            <a:r>
              <a:rPr lang="en-US" altLang="zh-CN" sz="2800" b="1" err="1">
                <a:solidFill>
                  <a:srgbClr val="CCFF33"/>
                </a:solidFill>
                <a:ea typeface="华文中宋" panose="02010600040101010101" pitchFamily="2" charset="-122"/>
              </a:rPr>
              <a:t>Mn</a:t>
            </a:r>
            <a:r>
              <a:rPr lang="zh-CN" altLang="en-US" sz="2800" b="1" dirty="0">
                <a:ea typeface="华文中宋" panose="02010600040101010101" pitchFamily="2" charset="-122"/>
              </a:rPr>
              <a:t>和</a:t>
            </a:r>
            <a:r>
              <a:rPr lang="en-US" altLang="zh-CN" sz="2800" b="1">
                <a:solidFill>
                  <a:srgbClr val="CCFF33"/>
                </a:solidFill>
                <a:ea typeface="华文中宋" panose="02010600040101010101" pitchFamily="2" charset="-122"/>
              </a:rPr>
              <a:t>Mg</a:t>
            </a:r>
            <a:r>
              <a:rPr lang="zh-CN" altLang="en-US" sz="2800" b="1" dirty="0">
                <a:ea typeface="华文中宋" panose="02010600040101010101" pitchFamily="2" charset="-122"/>
              </a:rPr>
              <a:t>主要作用是</a:t>
            </a:r>
            <a:endParaRPr lang="zh-CN" altLang="en-US" sz="2800" dirty="0">
              <a:ea typeface="华文中宋" panose="02010600040101010101" pitchFamily="2" charset="-122"/>
            </a:endParaRPr>
          </a:p>
        </p:txBody>
      </p:sp>
      <p:grpSp>
        <p:nvGrpSpPr>
          <p:cNvPr id="2" name="Group 8"/>
          <p:cNvGrpSpPr/>
          <p:nvPr/>
        </p:nvGrpSpPr>
        <p:grpSpPr>
          <a:xfrm>
            <a:off x="4384675" y="728663"/>
            <a:ext cx="4168775" cy="2703512"/>
            <a:chOff x="2762" y="459"/>
            <a:chExt cx="2626" cy="1703"/>
          </a:xfrm>
        </p:grpSpPr>
        <p:pic>
          <p:nvPicPr>
            <p:cNvPr id="57349" name="Picture 4" descr="C:\Documents and Settings\Administrator\My Documents\My Pictures\防锈铝LF2（超小型卫星抛物面天线）.jpg"/>
            <p:cNvPicPr>
              <a:picLocks noChangeAspect="1"/>
            </p:cNvPicPr>
            <p:nvPr/>
          </p:nvPicPr>
          <p:blipFill>
            <a:blip r:embed="rId2"/>
            <a:stretch>
              <a:fillRect/>
            </a:stretch>
          </p:blipFill>
          <p:spPr>
            <a:xfrm>
              <a:off x="2762" y="459"/>
              <a:ext cx="2566" cy="1701"/>
            </a:xfrm>
            <a:prstGeom prst="rect">
              <a:avLst/>
            </a:prstGeom>
            <a:noFill/>
            <a:ln w="38100" cap="flat" cmpd="sng">
              <a:solidFill>
                <a:srgbClr val="FFCC99"/>
              </a:solidFill>
              <a:prstDash val="solid"/>
              <a:miter/>
              <a:headEnd type="none" w="med" len="med"/>
              <a:tailEnd type="none" w="med" len="med"/>
            </a:ln>
          </p:spPr>
        </p:pic>
        <p:sp>
          <p:nvSpPr>
            <p:cNvPr id="57350" name="Text Box 5"/>
            <p:cNvSpPr txBox="1"/>
            <p:nvPr/>
          </p:nvSpPr>
          <p:spPr>
            <a:xfrm>
              <a:off x="4572" y="1720"/>
              <a:ext cx="816" cy="442"/>
            </a:xfrm>
            <a:prstGeom prst="rect">
              <a:avLst/>
            </a:prstGeom>
            <a:noFill/>
            <a:ln w="9525">
              <a:noFill/>
            </a:ln>
          </p:spPr>
          <p:txBody>
            <a:bodyPr>
              <a:spAutoFit/>
            </a:bodyPr>
            <a:lstStyle/>
            <a:p>
              <a:r>
                <a:rPr lang="zh-CN" altLang="en-US" sz="2000" dirty="0">
                  <a:latin typeface="Times New Roman" panose="02020603050405020304" pitchFamily="18" charset="0"/>
                </a:rPr>
                <a:t>卫星天线（</a:t>
              </a:r>
              <a:r>
                <a:rPr lang="en-US" altLang="zh-CN" sz="2000">
                  <a:latin typeface="Times New Roman" panose="02020603050405020304" pitchFamily="18" charset="0"/>
                </a:rPr>
                <a:t>LF2</a:t>
              </a:r>
              <a:r>
                <a:rPr lang="zh-CN" altLang="en-US" sz="2000" dirty="0">
                  <a:latin typeface="Times New Roman" panose="02020603050405020304" pitchFamily="18" charset="0"/>
                </a:rPr>
                <a:t>）</a:t>
              </a:r>
            </a:p>
          </p:txBody>
        </p:sp>
      </p:grpSp>
      <p:sp>
        <p:nvSpPr>
          <p:cNvPr id="32775" name="Rectangle 7"/>
          <p:cNvSpPr/>
          <p:nvPr/>
        </p:nvSpPr>
        <p:spPr>
          <a:xfrm>
            <a:off x="228600" y="3581400"/>
            <a:ext cx="8763000" cy="28956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pPr>
            <a:r>
              <a:rPr lang="en-US" altLang="zh-CN" sz="2800">
                <a:latin typeface="Times New Roman" panose="02020603050405020304" pitchFamily="18" charset="0"/>
                <a:ea typeface="华文中宋" panose="02010600040101010101" pitchFamily="2" charset="-122"/>
              </a:rPr>
              <a:t>    </a:t>
            </a:r>
            <a:r>
              <a:rPr lang="zh-CN" altLang="en-US" sz="2800" dirty="0">
                <a:latin typeface="Times New Roman" panose="02020603050405020304" pitchFamily="18" charset="0"/>
                <a:ea typeface="华文中宋" panose="02010600040101010101" pitchFamily="2" charset="-122"/>
              </a:rPr>
              <a:t>提高抗蚀能力和塑性，并起固溶强化作用。</a:t>
            </a:r>
            <a:endParaRPr lang="zh-CN" altLang="en-US" sz="2800" dirty="0">
              <a:solidFill>
                <a:srgbClr val="CCFF33"/>
              </a:solidFill>
              <a:latin typeface="Times New Roman" panose="02020603050405020304" pitchFamily="18" charset="0"/>
              <a:ea typeface="华文中宋" panose="02010600040101010101" pitchFamily="2" charset="-122"/>
            </a:endParaRP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solidFill>
                  <a:srgbClr val="CCFF33"/>
                </a:solidFill>
                <a:latin typeface="Times New Roman" panose="02020603050405020304" pitchFamily="18" charset="0"/>
                <a:ea typeface="华文中宋" panose="02010600040101010101" pitchFamily="2" charset="-122"/>
              </a:rPr>
              <a:t>防锈铝合金锻造退火后组织为单相固溶体，抗蚀性、焊接性能好，易于变形加工，但切削性能差。</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不能进行热处理强化，常利用加工硬化提高其强度。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wipe(left)">
                                      <p:cBhvr>
                                        <p:cTn id="7" dur="500"/>
                                        <p:tgtEl>
                                          <p:spTgt spid="3277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Effect transition="in" filter="wipe(left)">
                                      <p:cBhvr>
                                        <p:cTn id="11" dur="500"/>
                                        <p:tgtEl>
                                          <p:spTgt spid="3277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wipe(left)">
                                      <p:cBhvr>
                                        <p:cTn id="15" dur="500"/>
                                        <p:tgtEl>
                                          <p:spTgt spid="32771">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wipe(left)">
                                      <p:cBhvr>
                                        <p:cTn id="19" dur="500"/>
                                        <p:tgtEl>
                                          <p:spTgt spid="32771">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2775"/>
                                        </p:tgtEl>
                                        <p:attrNameLst>
                                          <p:attrName>style.visibility</p:attrName>
                                        </p:attrNameLst>
                                      </p:cBhvr>
                                      <p:to>
                                        <p:strVal val="visible"/>
                                      </p:to>
                                    </p:set>
                                    <p:animEffect transition="in" filter="wipe(left)">
                                      <p:cBhvr>
                                        <p:cTn id="23" dur="500"/>
                                        <p:tgtEl>
                                          <p:spTgt spid="32775"/>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dvAuto="1000"/>
      <p:bldP spid="3277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a:xfrm>
            <a:off x="4495800" y="2971800"/>
            <a:ext cx="4038600" cy="3240088"/>
            <a:chOff x="2832" y="1872"/>
            <a:chExt cx="2544" cy="2041"/>
          </a:xfrm>
        </p:grpSpPr>
        <p:pic>
          <p:nvPicPr>
            <p:cNvPr id="58373" name="Picture 13" descr="C:\Documents and Settings\Administrator\My Documents\My Pictures\汽化器（热交换管为LF21）.jpg"/>
            <p:cNvPicPr>
              <a:picLocks noChangeAspect="1"/>
            </p:cNvPicPr>
            <p:nvPr/>
          </p:nvPicPr>
          <p:blipFill>
            <a:blip r:embed="rId2"/>
            <a:stretch>
              <a:fillRect/>
            </a:stretch>
          </p:blipFill>
          <p:spPr>
            <a:xfrm>
              <a:off x="2832" y="1872"/>
              <a:ext cx="2519" cy="2041"/>
            </a:xfrm>
            <a:prstGeom prst="rect">
              <a:avLst/>
            </a:prstGeom>
            <a:noFill/>
            <a:ln w="38100" cap="flat" cmpd="sng">
              <a:solidFill>
                <a:srgbClr val="FF9900"/>
              </a:solidFill>
              <a:prstDash val="solid"/>
              <a:miter/>
              <a:headEnd type="none" w="med" len="med"/>
              <a:tailEnd type="none" w="med" len="med"/>
            </a:ln>
          </p:spPr>
        </p:pic>
        <p:sp>
          <p:nvSpPr>
            <p:cNvPr id="31758" name="Text Box 14"/>
            <p:cNvSpPr txBox="1">
              <a:spLocks noChangeArrowheads="1"/>
            </p:cNvSpPr>
            <p:nvPr/>
          </p:nvSpPr>
          <p:spPr bwMode="auto">
            <a:xfrm>
              <a:off x="4896" y="1968"/>
              <a:ext cx="480" cy="923"/>
            </a:xfrm>
            <a:prstGeom prst="rect">
              <a:avLst/>
            </a:prstGeom>
            <a:noFill/>
            <a:ln w="9525">
              <a:noFill/>
              <a:miter lim="800000"/>
              <a:headEnd type="none" w="sm" len="sm"/>
              <a:tailEnd type="none" w="sm" len="sm"/>
            </a:ln>
            <a:effectLst/>
          </p:spPr>
          <p:txBody>
            <a:bodyPr>
              <a:spAutoFit/>
            </a:bodyPr>
            <a:lstStyle/>
            <a:p>
              <a:pPr marR="0" defTabSz="914400">
                <a:buClrTx/>
                <a:buSzTx/>
                <a:buFontTx/>
                <a:buNone/>
                <a:defRPr/>
              </a:pPr>
              <a:r>
                <a:rPr kumimoji="1" lang="zh-CN" altLang="en-US" sz="18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汽化器</a:t>
              </a:r>
              <a:r>
                <a:rPr kumimoji="1" lang="en-US" altLang="zh-CN" sz="18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18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热交换管为</a:t>
              </a:r>
              <a:r>
                <a:rPr kumimoji="1" lang="en-US" altLang="zh-CN" sz="18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LF21)</a:t>
              </a:r>
            </a:p>
          </p:txBody>
        </p:sp>
      </p:grpSp>
      <p:sp>
        <p:nvSpPr>
          <p:cNvPr id="31762" name="Rectangle 18"/>
          <p:cNvSpPr>
            <a:spLocks noGrp="1"/>
          </p:cNvSpPr>
          <p:nvPr>
            <p:ph idx="1"/>
          </p:nvPr>
        </p:nvSpPr>
        <p:spPr>
          <a:xfrm>
            <a:off x="187325" y="228600"/>
            <a:ext cx="8672513" cy="5867400"/>
          </a:xfrm>
          <a:ln/>
        </p:spPr>
        <p:txBody>
          <a:bodyPr vert="horz" wrap="square" lIns="91440" tIns="45720" rIns="91440" bIns="45720" anchor="t" anchorCtr="0"/>
          <a:lstStyle/>
          <a:p>
            <a:pPr eaLnBrk="1" hangingPunct="1">
              <a:lnSpc>
                <a:spcPct val="140000"/>
              </a:lnSpc>
            </a:pPr>
            <a:r>
              <a:rPr lang="zh-CN" altLang="en-US" sz="2800" b="1" dirty="0">
                <a:solidFill>
                  <a:srgbClr val="CCFF66"/>
                </a:solidFill>
                <a:ea typeface="华文中宋" panose="02010600040101010101" pitchFamily="2" charset="-122"/>
              </a:rPr>
              <a:t>常用的</a:t>
            </a:r>
            <a:r>
              <a:rPr lang="en-US" altLang="zh-CN" sz="2800" b="1">
                <a:solidFill>
                  <a:schemeClr val="folHlink"/>
                </a:solidFill>
                <a:ea typeface="华文中宋" panose="02010600040101010101" pitchFamily="2" charset="-122"/>
              </a:rPr>
              <a:t>Al-</a:t>
            </a:r>
            <a:r>
              <a:rPr lang="en-US" altLang="zh-CN" sz="2800" b="1" err="1">
                <a:solidFill>
                  <a:schemeClr val="folHlink"/>
                </a:solidFill>
                <a:ea typeface="华文中宋" panose="02010600040101010101" pitchFamily="2" charset="-122"/>
              </a:rPr>
              <a:t>Mn</a:t>
            </a:r>
            <a:r>
              <a:rPr lang="zh-CN" altLang="en-US" sz="2800" b="1" dirty="0">
                <a:solidFill>
                  <a:srgbClr val="CCFF66"/>
                </a:solidFill>
                <a:ea typeface="华文中宋" panose="02010600040101010101" pitchFamily="2" charset="-122"/>
              </a:rPr>
              <a:t>系合金有</a:t>
            </a:r>
            <a:r>
              <a:rPr lang="zh-CN" altLang="en-US" sz="2800" b="1" dirty="0">
                <a:solidFill>
                  <a:srgbClr val="CCFF33"/>
                </a:solidFill>
                <a:ea typeface="华文中宋" panose="02010600040101010101" pitchFamily="2" charset="-122"/>
              </a:rPr>
              <a:t> </a:t>
            </a:r>
            <a:r>
              <a:rPr lang="en-US" altLang="zh-CN" sz="2800" b="1">
                <a:solidFill>
                  <a:schemeClr val="folHlink"/>
                </a:solidFill>
                <a:ea typeface="华文中宋" panose="02010600040101010101" pitchFamily="2" charset="-122"/>
              </a:rPr>
              <a:t>LF21</a:t>
            </a:r>
            <a:r>
              <a:rPr lang="zh-CN" altLang="en-US" sz="2800" b="1" dirty="0">
                <a:solidFill>
                  <a:schemeClr val="folHlink"/>
                </a:solidFill>
                <a:ea typeface="华文中宋" panose="02010600040101010101" pitchFamily="2" charset="-122"/>
              </a:rPr>
              <a:t>（ </a:t>
            </a:r>
            <a:r>
              <a:rPr lang="en-US" altLang="zh-CN" sz="2800" b="1">
                <a:solidFill>
                  <a:schemeClr val="folHlink"/>
                </a:solidFill>
                <a:ea typeface="华文中宋" panose="02010600040101010101" pitchFamily="2" charset="-122"/>
              </a:rPr>
              <a:t>3A21 </a:t>
            </a:r>
            <a:r>
              <a:rPr lang="zh-CN" altLang="en-US" sz="2800" b="1" dirty="0">
                <a:solidFill>
                  <a:schemeClr val="folHlink"/>
                </a:solidFill>
                <a:ea typeface="华文中宋" panose="02010600040101010101" pitchFamily="2" charset="-122"/>
              </a:rPr>
              <a:t>）</a:t>
            </a:r>
            <a:r>
              <a:rPr lang="zh-CN" altLang="en-US" sz="2800" b="1" dirty="0">
                <a:solidFill>
                  <a:srgbClr val="CCFF66"/>
                </a:solidFill>
                <a:ea typeface="华文中宋" panose="02010600040101010101" pitchFamily="2" charset="-122"/>
              </a:rPr>
              <a:t>，其抗蚀性和强度高于纯铝，用于制造油罐、油箱、管道、铆钉等需要弯曲、冲压加工的零件。</a:t>
            </a:r>
          </a:p>
          <a:p>
            <a:pPr eaLnBrk="1" hangingPunct="1">
              <a:lnSpc>
                <a:spcPct val="140000"/>
              </a:lnSpc>
            </a:pPr>
            <a:r>
              <a:rPr lang="zh-CN" altLang="en-US" sz="2800" b="1" dirty="0">
                <a:ea typeface="华文中宋" panose="02010600040101010101" pitchFamily="2" charset="-122"/>
              </a:rPr>
              <a:t>常用的</a:t>
            </a:r>
            <a:r>
              <a:rPr lang="en-US" altLang="zh-CN" sz="2800" b="1">
                <a:solidFill>
                  <a:schemeClr val="folHlink"/>
                </a:solidFill>
                <a:ea typeface="华文中宋" panose="02010600040101010101" pitchFamily="2" charset="-122"/>
              </a:rPr>
              <a:t>Al-Mg</a:t>
            </a:r>
            <a:r>
              <a:rPr lang="zh-CN" altLang="en-US" sz="2800" b="1" dirty="0">
                <a:ea typeface="华文中宋" panose="02010600040101010101" pitchFamily="2" charset="-122"/>
              </a:rPr>
              <a:t>系合金有 </a:t>
            </a:r>
            <a:r>
              <a:rPr lang="en-US" altLang="zh-CN" sz="2800" b="1">
                <a:solidFill>
                  <a:schemeClr val="folHlink"/>
                </a:solidFill>
                <a:ea typeface="华文中宋" panose="02010600040101010101" pitchFamily="2" charset="-122"/>
              </a:rPr>
              <a:t>LF5</a:t>
            </a:r>
            <a:r>
              <a:rPr lang="zh-CN" altLang="en-US" sz="2800" b="1" dirty="0">
                <a:solidFill>
                  <a:schemeClr val="folHlink"/>
                </a:solidFill>
                <a:ea typeface="华文中宋" panose="02010600040101010101" pitchFamily="2" charset="-122"/>
              </a:rPr>
              <a:t>（ </a:t>
            </a:r>
            <a:r>
              <a:rPr lang="en-US" altLang="zh-CN" sz="2800" b="1">
                <a:solidFill>
                  <a:schemeClr val="folHlink"/>
                </a:solidFill>
                <a:ea typeface="华文中宋" panose="02010600040101010101" pitchFamily="2" charset="-122"/>
              </a:rPr>
              <a:t>5A05 </a:t>
            </a:r>
            <a:r>
              <a:rPr lang="zh-CN" altLang="en-US" sz="2800" b="1" dirty="0">
                <a:solidFill>
                  <a:schemeClr val="folHlink"/>
                </a:solidFill>
                <a:ea typeface="华文中宋" panose="02010600040101010101" pitchFamily="2" charset="-122"/>
              </a:rPr>
              <a:t>）</a:t>
            </a:r>
            <a:r>
              <a:rPr lang="zh-CN" altLang="en-US" sz="2800" b="1" dirty="0">
                <a:ea typeface="华文中宋" panose="02010600040101010101" pitchFamily="2" charset="-122"/>
              </a:rPr>
              <a:t>，其密度比纯</a:t>
            </a:r>
          </a:p>
        </p:txBody>
      </p:sp>
      <p:sp>
        <p:nvSpPr>
          <p:cNvPr id="31764" name="Rectangle 20"/>
          <p:cNvSpPr/>
          <p:nvPr/>
        </p:nvSpPr>
        <p:spPr>
          <a:xfrm>
            <a:off x="190500" y="2743200"/>
            <a:ext cx="3924300" cy="3856038"/>
          </a:xfrm>
          <a:prstGeom prst="rect">
            <a:avLst/>
          </a:prstGeom>
          <a:noFill/>
          <a:ln w="9525">
            <a:noFill/>
          </a:ln>
        </p:spPr>
        <p:txBody>
          <a:bodyPr/>
          <a:lstStyle/>
          <a:p>
            <a:pPr marL="342900" indent="-342900" algn="just">
              <a:lnSpc>
                <a:spcPct val="140000"/>
              </a:lnSpc>
              <a:spcBef>
                <a:spcPct val="20000"/>
              </a:spcBef>
              <a:buClr>
                <a:schemeClr val="accent2"/>
              </a:buClr>
              <a:buSzPct val="80000"/>
              <a:buFont typeface="Wingdings" panose="05000000000000000000" pitchFamily="2" charset="2"/>
            </a:pPr>
            <a:r>
              <a:rPr lang="en-US" altLang="zh-CN" sz="2800">
                <a:latin typeface="Times New Roman" panose="02020603050405020304" pitchFamily="18" charset="0"/>
                <a:ea typeface="仿宋_GB2312" pitchFamily="49" charset="-122"/>
              </a:rPr>
              <a:t>    </a:t>
            </a:r>
            <a:r>
              <a:rPr lang="zh-CN" altLang="en-US" sz="2800" dirty="0">
                <a:latin typeface="Times New Roman" panose="02020603050405020304" pitchFamily="18" charset="0"/>
                <a:ea typeface="华文中宋" panose="02010600040101010101" pitchFamily="2" charset="-122"/>
              </a:rPr>
              <a:t>铝小，强度比</a:t>
            </a:r>
            <a:r>
              <a:rPr lang="en-US" altLang="zh-CN" sz="2800">
                <a:latin typeface="Times New Roman" panose="02020603050405020304" pitchFamily="18" charset="0"/>
                <a:ea typeface="华文中宋" panose="02010600040101010101" pitchFamily="2" charset="-122"/>
              </a:rPr>
              <a:t>Al-</a:t>
            </a:r>
            <a:r>
              <a:rPr lang="en-US" altLang="zh-CN" sz="2800" err="1">
                <a:latin typeface="Times New Roman" panose="02020603050405020304" pitchFamily="18" charset="0"/>
                <a:ea typeface="华文中宋" panose="02010600040101010101" pitchFamily="2" charset="-122"/>
              </a:rPr>
              <a:t>Mn</a:t>
            </a:r>
            <a:r>
              <a:rPr lang="zh-CN" altLang="en-US" sz="2800" dirty="0">
                <a:latin typeface="Times New Roman" panose="02020603050405020304" pitchFamily="18" charset="0"/>
                <a:ea typeface="华文中宋" panose="02010600040101010101" pitchFamily="2" charset="-122"/>
              </a:rPr>
              <a:t>合金高，在航空工业中得到广泛应用，如制造管道、容器、铆钉及承受中等载荷的零件。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1762">
                                            <p:txEl>
                                              <p:pRg st="0" end="0"/>
                                            </p:txEl>
                                          </p:spTgt>
                                        </p:tgtEl>
                                        <p:attrNameLst>
                                          <p:attrName>style.visibility</p:attrName>
                                        </p:attrNameLst>
                                      </p:cBhvr>
                                      <p:to>
                                        <p:strVal val="visible"/>
                                      </p:to>
                                    </p:set>
                                    <p:animEffect transition="in" filter="wipe(left)">
                                      <p:cBhvr>
                                        <p:cTn id="7" dur="500"/>
                                        <p:tgtEl>
                                          <p:spTgt spid="3176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762">
                                            <p:txEl>
                                              <p:pRg st="1" end="1"/>
                                            </p:txEl>
                                          </p:spTgt>
                                        </p:tgtEl>
                                        <p:attrNameLst>
                                          <p:attrName>style.visibility</p:attrName>
                                        </p:attrNameLst>
                                      </p:cBhvr>
                                      <p:to>
                                        <p:strVal val="visible"/>
                                      </p:to>
                                    </p:set>
                                    <p:animEffect transition="in" filter="wipe(left)">
                                      <p:cBhvr>
                                        <p:cTn id="11" dur="500"/>
                                        <p:tgtEl>
                                          <p:spTgt spid="3176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1764">
                                            <p:txEl>
                                              <p:pRg st="0" end="0"/>
                                            </p:txEl>
                                          </p:spTgt>
                                        </p:tgtEl>
                                        <p:attrNameLst>
                                          <p:attrName>style.visibility</p:attrName>
                                        </p:attrNameLst>
                                      </p:cBhvr>
                                      <p:to>
                                        <p:strVal val="visible"/>
                                      </p:to>
                                    </p:set>
                                    <p:animEffect transition="in" filter="wipe(left)">
                                      <p:cBhvr>
                                        <p:cTn id="15" dur="500"/>
                                        <p:tgtEl>
                                          <p:spTgt spid="31764">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2" grpId="0" build="p" advAuto="1000"/>
      <p:bldP spid="31764" grpId="0" build="p" advAuto="100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p:cNvSpPr>
          <p:nvPr>
            <p:ph idx="1"/>
          </p:nvPr>
        </p:nvSpPr>
        <p:spPr>
          <a:xfrm>
            <a:off x="215900" y="381000"/>
            <a:ext cx="8534400" cy="3962400"/>
          </a:xfrm>
          <a:ln/>
        </p:spPr>
        <p:txBody>
          <a:bodyPr vert="horz" wrap="square" lIns="91440" tIns="45720" rIns="91440" bIns="45720" anchor="t" anchorCtr="0"/>
          <a:lstStyle/>
          <a:p>
            <a:pPr eaLnBrk="1" hangingPunct="1">
              <a:lnSpc>
                <a:spcPct val="120000"/>
              </a:lnSpc>
            </a:pPr>
            <a:r>
              <a:rPr lang="en-US" altLang="zh-CN" sz="2800" b="1" dirty="0">
                <a:solidFill>
                  <a:schemeClr val="tx2"/>
                </a:solidFill>
                <a:ea typeface="华文中宋" panose="02010600040101010101" pitchFamily="2" charset="-122"/>
              </a:rPr>
              <a:t>② </a:t>
            </a:r>
            <a:r>
              <a:rPr lang="zh-CN" altLang="en-US" sz="2800" b="1" dirty="0">
                <a:solidFill>
                  <a:schemeClr val="tx2"/>
                </a:solidFill>
                <a:ea typeface="华文中宋" panose="02010600040101010101" pitchFamily="2" charset="-122"/>
              </a:rPr>
              <a:t>硬铝合金</a:t>
            </a:r>
          </a:p>
          <a:p>
            <a:pPr eaLnBrk="1" hangingPunct="1">
              <a:lnSpc>
                <a:spcPct val="140000"/>
              </a:lnSpc>
            </a:pPr>
            <a:r>
              <a:rPr lang="zh-CN" altLang="en-US" sz="2800" b="1" dirty="0">
                <a:solidFill>
                  <a:schemeClr val="folHlink"/>
                </a:solidFill>
                <a:ea typeface="华文中宋" panose="02010600040101010101" pitchFamily="2" charset="-122"/>
              </a:rPr>
              <a:t>主要是</a:t>
            </a:r>
            <a:r>
              <a:rPr lang="en-US" altLang="zh-CN" sz="2800" b="1" dirty="0">
                <a:solidFill>
                  <a:schemeClr val="folHlink"/>
                </a:solidFill>
                <a:ea typeface="华文中宋" panose="02010600040101010101" pitchFamily="2" charset="-122"/>
              </a:rPr>
              <a:t>Al-Cu-Mg</a:t>
            </a:r>
            <a:r>
              <a:rPr lang="zh-CN" altLang="en-US" sz="2800" b="1" dirty="0">
                <a:solidFill>
                  <a:schemeClr val="folHlink"/>
                </a:solidFill>
                <a:ea typeface="华文中宋" panose="02010600040101010101" pitchFamily="2" charset="-122"/>
              </a:rPr>
              <a:t>系合金，并含少量</a:t>
            </a:r>
            <a:r>
              <a:rPr lang="en-US" altLang="zh-CN" sz="2800" b="1" dirty="0">
                <a:solidFill>
                  <a:schemeClr val="folHlink"/>
                </a:solidFill>
                <a:ea typeface="华文中宋" panose="02010600040101010101" pitchFamily="2" charset="-122"/>
              </a:rPr>
              <a:t>Mn</a:t>
            </a:r>
            <a:r>
              <a:rPr lang="zh-CN" altLang="en-US" sz="2800" b="1" dirty="0">
                <a:solidFill>
                  <a:schemeClr val="folHlink"/>
                </a:solidFill>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可进行时效强化，也可进行变形强化。</a:t>
            </a:r>
          </a:p>
          <a:p>
            <a:pPr eaLnBrk="1" hangingPunct="1">
              <a:lnSpc>
                <a:spcPct val="140000"/>
              </a:lnSpc>
            </a:pPr>
            <a:r>
              <a:rPr lang="zh-CN" altLang="en-US" sz="2800" b="1" dirty="0">
                <a:solidFill>
                  <a:schemeClr val="folHlink"/>
                </a:solidFill>
                <a:ea typeface="华文中宋" panose="02010600040101010101" pitchFamily="2" charset="-122"/>
              </a:rPr>
              <a:t>强度、硬度高，加工性能好，耐蚀性低于防锈铝。</a:t>
            </a:r>
          </a:p>
        </p:txBody>
      </p:sp>
      <p:sp>
        <p:nvSpPr>
          <p:cNvPr id="34830" name="Rectangle 14"/>
          <p:cNvSpPr/>
          <p:nvPr/>
        </p:nvSpPr>
        <p:spPr>
          <a:xfrm>
            <a:off x="215900" y="2895600"/>
            <a:ext cx="3898900" cy="3352800"/>
          </a:xfrm>
          <a:prstGeom prst="rect">
            <a:avLst/>
          </a:prstGeom>
          <a:noFill/>
          <a:ln w="9525">
            <a:noFill/>
          </a:ln>
        </p:spPr>
        <p:txBody>
          <a:bodyPr lIns="92075" tIns="46038" rIns="92075" bIns="46038" anchor="ctr" anchorCtr="0"/>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常用硬铝合金如</a:t>
            </a:r>
            <a:r>
              <a:rPr lang="en-US" altLang="zh-CN" sz="2800">
                <a:latin typeface="Times New Roman" panose="02020603050405020304" pitchFamily="18" charset="0"/>
                <a:ea typeface="华文中宋" panose="02010600040101010101" pitchFamily="2" charset="-122"/>
              </a:rPr>
              <a:t>LY11 (</a:t>
            </a:r>
            <a:r>
              <a:rPr lang="en-US" altLang="zh-CN" sz="2800">
                <a:solidFill>
                  <a:srgbClr val="CCFF33"/>
                </a:solidFill>
                <a:latin typeface="Times New Roman" panose="02020603050405020304" pitchFamily="18" charset="0"/>
                <a:ea typeface="华文中宋" panose="02010600040101010101" pitchFamily="2" charset="-122"/>
              </a:rPr>
              <a:t>2A11</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 </a:t>
            </a:r>
            <a:r>
              <a:rPr lang="en-US" altLang="zh-CN" sz="2800">
                <a:latin typeface="Times New Roman" panose="02020603050405020304" pitchFamily="18" charset="0"/>
                <a:ea typeface="华文中宋" panose="02010600040101010101" pitchFamily="2" charset="-122"/>
              </a:rPr>
              <a:t>LY12 (</a:t>
            </a:r>
            <a:r>
              <a:rPr lang="en-US" altLang="zh-CN" sz="2800">
                <a:solidFill>
                  <a:srgbClr val="CCFF33"/>
                </a:solidFill>
                <a:latin typeface="Times New Roman" panose="02020603050405020304" pitchFamily="18" charset="0"/>
                <a:ea typeface="华文中宋" panose="02010600040101010101" pitchFamily="2" charset="-122"/>
              </a:rPr>
              <a:t>2A12</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等，用于制造冲压件</a:t>
            </a:r>
            <a:r>
              <a:rPr lang="zh-CN" altLang="en-US" sz="1800" dirty="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模锻件和铆接件，如螺旋桨、梁、铆钉等</a:t>
            </a:r>
            <a:r>
              <a:rPr lang="en-US" altLang="zh-CN" sz="2800">
                <a:latin typeface="Times New Roman" panose="02020603050405020304" pitchFamily="18" charset="0"/>
                <a:ea typeface="华文中宋" panose="02010600040101010101" pitchFamily="2" charset="-122"/>
              </a:rPr>
              <a:t>.    </a:t>
            </a:r>
          </a:p>
        </p:txBody>
      </p:sp>
      <p:grpSp>
        <p:nvGrpSpPr>
          <p:cNvPr id="2" name="Group 21"/>
          <p:cNvGrpSpPr/>
          <p:nvPr/>
        </p:nvGrpSpPr>
        <p:grpSpPr>
          <a:xfrm>
            <a:off x="4419600" y="3276600"/>
            <a:ext cx="3959225" cy="2589213"/>
            <a:chOff x="2784" y="2064"/>
            <a:chExt cx="2494" cy="1631"/>
          </a:xfrm>
        </p:grpSpPr>
        <p:pic>
          <p:nvPicPr>
            <p:cNvPr id="59397" name="Picture 4" descr="C:\My Documents\飞机翼梁.jpg"/>
            <p:cNvPicPr>
              <a:picLocks noChangeAspect="1"/>
            </p:cNvPicPr>
            <p:nvPr/>
          </p:nvPicPr>
          <p:blipFill>
            <a:blip r:embed="rId2"/>
            <a:stretch>
              <a:fillRect/>
            </a:stretch>
          </p:blipFill>
          <p:spPr>
            <a:xfrm>
              <a:off x="2784" y="2064"/>
              <a:ext cx="2494" cy="1631"/>
            </a:xfrm>
            <a:prstGeom prst="rect">
              <a:avLst/>
            </a:prstGeom>
            <a:noFill/>
            <a:ln w="38100" cap="flat" cmpd="sng">
              <a:solidFill>
                <a:srgbClr val="FF9900"/>
              </a:solidFill>
              <a:prstDash val="solid"/>
              <a:miter/>
              <a:headEnd type="none" w="med" len="med"/>
              <a:tailEnd type="none" w="med" len="med"/>
            </a:ln>
          </p:spPr>
        </p:pic>
        <p:sp>
          <p:nvSpPr>
            <p:cNvPr id="59398" name="Rectangle 16"/>
            <p:cNvSpPr/>
            <p:nvPr/>
          </p:nvSpPr>
          <p:spPr>
            <a:xfrm>
              <a:off x="3840" y="3312"/>
              <a:ext cx="1296" cy="288"/>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59399" name="Text Box 19"/>
            <p:cNvSpPr txBox="1"/>
            <p:nvPr/>
          </p:nvSpPr>
          <p:spPr>
            <a:xfrm>
              <a:off x="2784" y="2064"/>
              <a:ext cx="1252" cy="442"/>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飞机翼梁</a:t>
              </a:r>
              <a:r>
                <a:rPr lang="en-US" altLang="zh-CN" sz="2000">
                  <a:solidFill>
                    <a:srgbClr val="800000"/>
                  </a:solidFill>
                  <a:latin typeface="Times New Roman" panose="02020603050405020304" pitchFamily="18" charset="0"/>
                </a:rPr>
                <a:t>(</a:t>
              </a:r>
              <a:r>
                <a:rPr lang="zh-CN" altLang="en-US" sz="2000" dirty="0">
                  <a:solidFill>
                    <a:srgbClr val="800000"/>
                  </a:solidFill>
                  <a:latin typeface="Times New Roman" panose="02020603050405020304" pitchFamily="18" charset="0"/>
                </a:rPr>
                <a:t>腹板为硬铝合金</a:t>
              </a:r>
              <a:r>
                <a:rPr lang="en-US" altLang="zh-CN" sz="2000">
                  <a:solidFill>
                    <a:srgbClr val="800000"/>
                  </a:solidFill>
                  <a:latin typeface="Times New Roman" panose="02020603050405020304" pitchFamily="18" charset="0"/>
                </a:rPr>
                <a:t>)</a:t>
              </a:r>
            </a:p>
          </p:txBody>
        </p:sp>
      </p:grpSp>
      <p:sp>
        <p:nvSpPr>
          <p:cNvPr id="4" name="文本框 3">
            <a:extLst>
              <a:ext uri="{FF2B5EF4-FFF2-40B4-BE49-F238E27FC236}">
                <a16:creationId xmlns:a16="http://schemas.microsoft.com/office/drawing/2014/main" id="{40FB0EF4-92C3-5F22-C317-E46EEF82D3B0}"/>
              </a:ext>
            </a:extLst>
          </p:cNvPr>
          <p:cNvSpPr txBox="1"/>
          <p:nvPr/>
        </p:nvSpPr>
        <p:spPr>
          <a:xfrm>
            <a:off x="375184" y="2420888"/>
            <a:ext cx="7850707" cy="18158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2800" dirty="0">
                <a:solidFill>
                  <a:srgbClr val="FF0000"/>
                </a:solidFill>
              </a:rPr>
              <a:t>时效强化：</a:t>
            </a:r>
            <a:r>
              <a:rPr lang="zh-CN" altLang="zh-CN" sz="2800" dirty="0">
                <a:solidFill>
                  <a:srgbClr val="FF0000"/>
                </a:solidFill>
              </a:rPr>
              <a:t>将固溶处理（淬火）后的合金，在室温或一定温度保温，随时间析出细小弥散的第二相粒子，阻碍位错运动，使强度硬度上升的现象，称为时效强化</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left)">
                                      <p:cBhvr>
                                        <p:cTn id="7" dur="500"/>
                                        <p:tgtEl>
                                          <p:spTgt spid="3481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animEffect transition="in" filter="wipe(left)">
                                      <p:cBhvr>
                                        <p:cTn id="11" dur="500"/>
                                        <p:tgtEl>
                                          <p:spTgt spid="34819">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4819">
                                            <p:txEl>
                                              <p:pRg st="2" end="2"/>
                                            </p:txEl>
                                          </p:spTgt>
                                        </p:tgtEl>
                                        <p:attrNameLst>
                                          <p:attrName>style.visibility</p:attrName>
                                        </p:attrNameLst>
                                      </p:cBhvr>
                                      <p:to>
                                        <p:strVal val="visible"/>
                                      </p:to>
                                    </p:set>
                                    <p:animEffect transition="in" filter="wipe(left)">
                                      <p:cBhvr>
                                        <p:cTn id="15" dur="500"/>
                                        <p:tgtEl>
                                          <p:spTgt spid="34819">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819">
                                            <p:txEl>
                                              <p:pRg st="3" end="3"/>
                                            </p:txEl>
                                          </p:spTgt>
                                        </p:tgtEl>
                                        <p:attrNameLst>
                                          <p:attrName>style.visibility</p:attrName>
                                        </p:attrNameLst>
                                      </p:cBhvr>
                                      <p:to>
                                        <p:strVal val="visible"/>
                                      </p:to>
                                    </p:set>
                                    <p:animEffect transition="in" filter="wipe(left)">
                                      <p:cBhvr>
                                        <p:cTn id="19" dur="500"/>
                                        <p:tgtEl>
                                          <p:spTgt spid="34819">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4830"/>
                                        </p:tgtEl>
                                        <p:attrNameLst>
                                          <p:attrName>style.visibility</p:attrName>
                                        </p:attrNameLst>
                                      </p:cBhvr>
                                      <p:to>
                                        <p:strVal val="visible"/>
                                      </p:to>
                                    </p:set>
                                    <p:animEffect transition="in" filter="wipe(left)">
                                      <p:cBhvr>
                                        <p:cTn id="23" dur="500"/>
                                        <p:tgtEl>
                                          <p:spTgt spid="34830"/>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dvAuto="1000"/>
      <p:bldP spid="34830" grpId="0"/>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idx="1"/>
          </p:nvPr>
        </p:nvSpPr>
        <p:spPr>
          <a:xfrm>
            <a:off x="228600" y="457200"/>
            <a:ext cx="5029200" cy="5867400"/>
          </a:xfrm>
          <a:ln/>
        </p:spPr>
        <p:txBody>
          <a:bodyPr vert="horz" wrap="square" lIns="91440" tIns="45720" rIns="91440" bIns="45720" anchor="t" anchorCtr="0"/>
          <a:lstStyle/>
          <a:p>
            <a:pPr eaLnBrk="1" hangingPunct="1">
              <a:lnSpc>
                <a:spcPct val="120000"/>
              </a:lnSpc>
            </a:pPr>
            <a:r>
              <a:rPr lang="en-US" altLang="zh-CN" sz="2800" b="1" dirty="0">
                <a:solidFill>
                  <a:schemeClr val="tx2"/>
                </a:solidFill>
                <a:ea typeface="华文中宋" panose="02010600040101010101" pitchFamily="2" charset="-122"/>
              </a:rPr>
              <a:t>③ </a:t>
            </a:r>
            <a:r>
              <a:rPr lang="zh-CN" altLang="en-US" sz="2800" b="1" dirty="0">
                <a:solidFill>
                  <a:schemeClr val="tx2"/>
                </a:solidFill>
                <a:ea typeface="华文中宋" panose="02010600040101010101" pitchFamily="2" charset="-122"/>
              </a:rPr>
              <a:t>超硬铝合金</a:t>
            </a:r>
          </a:p>
          <a:p>
            <a:pPr eaLnBrk="1" hangingPunct="1">
              <a:lnSpc>
                <a:spcPct val="140000"/>
              </a:lnSpc>
            </a:pPr>
            <a:r>
              <a:rPr lang="zh-CN" altLang="en-US" sz="2800" b="1" dirty="0">
                <a:solidFill>
                  <a:schemeClr val="folHlink"/>
                </a:solidFill>
                <a:ea typeface="华文中宋" panose="02010600040101010101" pitchFamily="2" charset="-122"/>
              </a:rPr>
              <a:t>属</a:t>
            </a:r>
            <a:r>
              <a:rPr lang="en-US" altLang="zh-CN" sz="2800" b="1" dirty="0">
                <a:solidFill>
                  <a:schemeClr val="folHlink"/>
                </a:solidFill>
                <a:ea typeface="华文中宋" panose="02010600040101010101" pitchFamily="2" charset="-122"/>
              </a:rPr>
              <a:t>Al-Zn-Mg-Cu</a:t>
            </a:r>
            <a:r>
              <a:rPr lang="zh-CN" altLang="en-US" sz="2800" b="1" dirty="0">
                <a:solidFill>
                  <a:schemeClr val="folHlink"/>
                </a:solidFill>
                <a:ea typeface="华文中宋" panose="02010600040101010101" pitchFamily="2" charset="-122"/>
              </a:rPr>
              <a:t>系合金，并含有少量</a:t>
            </a:r>
            <a:r>
              <a:rPr lang="en-US" altLang="zh-CN" sz="2800" b="1" dirty="0">
                <a:solidFill>
                  <a:schemeClr val="folHlink"/>
                </a:solidFill>
                <a:ea typeface="华文中宋" panose="02010600040101010101" pitchFamily="2" charset="-122"/>
              </a:rPr>
              <a:t>Cr</a:t>
            </a:r>
            <a:r>
              <a:rPr lang="zh-CN" altLang="en-US" sz="2800" b="1" dirty="0">
                <a:solidFill>
                  <a:schemeClr val="folHlink"/>
                </a:solidFill>
                <a:ea typeface="华文中宋" panose="02010600040101010101" pitchFamily="2" charset="-122"/>
              </a:rPr>
              <a:t>和</a:t>
            </a:r>
            <a:r>
              <a:rPr lang="en-US" altLang="zh-CN" sz="2800" b="1" dirty="0">
                <a:solidFill>
                  <a:schemeClr val="folHlink"/>
                </a:solidFill>
                <a:ea typeface="华文中宋" panose="02010600040101010101" pitchFamily="2" charset="-122"/>
              </a:rPr>
              <a:t>Mn</a:t>
            </a:r>
            <a:r>
              <a:rPr lang="zh-CN" altLang="en-US" sz="2800" b="1" dirty="0">
                <a:solidFill>
                  <a:schemeClr val="folHlink"/>
                </a:solidFill>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时效强化效果超过硬铝合金</a:t>
            </a:r>
            <a:r>
              <a:rPr lang="en-US" altLang="zh-CN" sz="2800" b="1" dirty="0">
                <a:ea typeface="华文中宋" panose="02010600040101010101" pitchFamily="2" charset="-122"/>
              </a:rPr>
              <a:t>.</a:t>
            </a:r>
          </a:p>
          <a:p>
            <a:pPr eaLnBrk="1" hangingPunct="1">
              <a:lnSpc>
                <a:spcPct val="140000"/>
              </a:lnSpc>
            </a:pPr>
            <a:r>
              <a:rPr lang="zh-CN" altLang="en-US" sz="2800" b="1" dirty="0">
                <a:solidFill>
                  <a:schemeClr val="folHlink"/>
                </a:solidFill>
                <a:ea typeface="华文中宋" panose="02010600040101010101" pitchFamily="2" charset="-122"/>
              </a:rPr>
              <a:t>热态塑性好，但耐蚀性差。</a:t>
            </a:r>
            <a:r>
              <a:rPr lang="zh-CN" altLang="en-US" sz="2800" b="1" dirty="0">
                <a:ea typeface="华文中宋" panose="02010600040101010101" pitchFamily="2" charset="-122"/>
              </a:rPr>
              <a:t>常用合金有  </a:t>
            </a:r>
            <a:r>
              <a:rPr lang="en-US" altLang="zh-CN" sz="2800" b="1" dirty="0">
                <a:solidFill>
                  <a:schemeClr val="folHlink"/>
                </a:solidFill>
                <a:ea typeface="华文中宋" panose="02010600040101010101" pitchFamily="2" charset="-122"/>
              </a:rPr>
              <a:t>LC4</a:t>
            </a:r>
            <a:r>
              <a:rPr lang="en-US" altLang="zh-CN" sz="2800" b="1" dirty="0">
                <a:ea typeface="华文中宋" panose="02010600040101010101" pitchFamily="2" charset="-122"/>
              </a:rPr>
              <a:t> (</a:t>
            </a:r>
            <a:r>
              <a:rPr lang="en-US" altLang="zh-CN" sz="2800" b="1" dirty="0">
                <a:solidFill>
                  <a:srgbClr val="CCFF33"/>
                </a:solidFill>
                <a:ea typeface="华文中宋" panose="02010600040101010101" pitchFamily="2" charset="-122"/>
              </a:rPr>
              <a:t>7A04</a:t>
            </a:r>
            <a:r>
              <a:rPr lang="en-US" altLang="zh-CN" sz="2800" b="1" dirty="0">
                <a:ea typeface="华文中宋" panose="02010600040101010101" pitchFamily="2" charset="-122"/>
              </a:rPr>
              <a:t> )</a:t>
            </a:r>
            <a:r>
              <a:rPr lang="zh-CN" altLang="en-US" sz="2800" b="1" dirty="0">
                <a:ea typeface="华文中宋" panose="02010600040101010101" pitchFamily="2" charset="-122"/>
              </a:rPr>
              <a:t>、</a:t>
            </a:r>
            <a:r>
              <a:rPr lang="en-US" altLang="zh-CN" sz="2800" b="1" dirty="0">
                <a:solidFill>
                  <a:schemeClr val="folHlink"/>
                </a:solidFill>
                <a:ea typeface="华文中宋" panose="02010600040101010101" pitchFamily="2" charset="-122"/>
              </a:rPr>
              <a:t>LC9</a:t>
            </a:r>
            <a:r>
              <a:rPr lang="en-US" altLang="zh-CN" sz="2800" b="1" dirty="0">
                <a:ea typeface="华文中宋" panose="02010600040101010101" pitchFamily="2" charset="-122"/>
              </a:rPr>
              <a:t> (</a:t>
            </a:r>
            <a:r>
              <a:rPr lang="en-US" altLang="zh-CN" sz="2800" b="1" dirty="0">
                <a:solidFill>
                  <a:srgbClr val="CCFF33"/>
                </a:solidFill>
                <a:ea typeface="华文中宋" panose="02010600040101010101" pitchFamily="2" charset="-122"/>
              </a:rPr>
              <a:t>7A09 </a:t>
            </a:r>
            <a:r>
              <a:rPr lang="en-US" altLang="zh-CN" sz="2800" b="1" dirty="0">
                <a:ea typeface="华文中宋" panose="02010600040101010101" pitchFamily="2" charset="-122"/>
              </a:rPr>
              <a:t>)</a:t>
            </a:r>
            <a:r>
              <a:rPr lang="zh-CN" altLang="en-US" sz="2800" b="1" dirty="0">
                <a:ea typeface="华文中宋" panose="02010600040101010101" pitchFamily="2" charset="-122"/>
              </a:rPr>
              <a:t>等，主要用于工作温度较低、受力较大的结构件</a:t>
            </a:r>
            <a:r>
              <a:rPr lang="en-US" altLang="zh-CN" sz="2800" b="1" dirty="0">
                <a:ea typeface="华文中宋" panose="02010600040101010101" pitchFamily="2" charset="-122"/>
              </a:rPr>
              <a:t>, </a:t>
            </a:r>
            <a:r>
              <a:rPr lang="zh-CN" altLang="en-US" sz="2800" b="1" dirty="0">
                <a:ea typeface="华文中宋" panose="02010600040101010101" pitchFamily="2" charset="-122"/>
              </a:rPr>
              <a:t>如飞机大梁</a:t>
            </a:r>
            <a:r>
              <a:rPr lang="zh-CN" altLang="en-US" sz="1800" b="1" dirty="0">
                <a:ea typeface="华文中宋" panose="02010600040101010101" pitchFamily="2" charset="-122"/>
              </a:rPr>
              <a:t>、</a:t>
            </a:r>
            <a:r>
              <a:rPr lang="zh-CN" altLang="en-US" sz="2800" b="1" dirty="0">
                <a:ea typeface="华文中宋" panose="02010600040101010101" pitchFamily="2" charset="-122"/>
              </a:rPr>
              <a:t>起落架等</a:t>
            </a:r>
            <a:r>
              <a:rPr lang="en-US" altLang="zh-CN" sz="2800" b="1" dirty="0">
                <a:ea typeface="华文中宋" panose="02010600040101010101" pitchFamily="2" charset="-122"/>
              </a:rPr>
              <a:t>.</a:t>
            </a:r>
          </a:p>
        </p:txBody>
      </p:sp>
      <p:grpSp>
        <p:nvGrpSpPr>
          <p:cNvPr id="2" name="Group 21"/>
          <p:cNvGrpSpPr/>
          <p:nvPr/>
        </p:nvGrpSpPr>
        <p:grpSpPr>
          <a:xfrm>
            <a:off x="5429250" y="914400"/>
            <a:ext cx="3230563" cy="5105400"/>
            <a:chOff x="3420" y="576"/>
            <a:chExt cx="2035" cy="3216"/>
          </a:xfrm>
        </p:grpSpPr>
        <p:pic>
          <p:nvPicPr>
            <p:cNvPr id="60420" name="Picture 11" descr="C:\Documents and Settings\Administrator\My Documents\My Pictures\右主起落架.jpg"/>
            <p:cNvPicPr>
              <a:picLocks noChangeAspect="1"/>
            </p:cNvPicPr>
            <p:nvPr/>
          </p:nvPicPr>
          <p:blipFill>
            <a:blip r:embed="rId2"/>
            <a:stretch>
              <a:fillRect/>
            </a:stretch>
          </p:blipFill>
          <p:spPr>
            <a:xfrm>
              <a:off x="3456" y="576"/>
              <a:ext cx="1999" cy="3174"/>
            </a:xfrm>
            <a:prstGeom prst="rect">
              <a:avLst/>
            </a:prstGeom>
            <a:noFill/>
            <a:ln w="38100" cap="flat" cmpd="sng">
              <a:solidFill>
                <a:srgbClr val="FF9900"/>
              </a:solidFill>
              <a:prstDash val="solid"/>
              <a:miter/>
              <a:headEnd type="none" w="med" len="med"/>
              <a:tailEnd type="none" w="med" len="med"/>
            </a:ln>
          </p:spPr>
        </p:pic>
        <p:sp>
          <p:nvSpPr>
            <p:cNvPr id="60421" name="Text Box 20"/>
            <p:cNvSpPr txBox="1"/>
            <p:nvPr/>
          </p:nvSpPr>
          <p:spPr>
            <a:xfrm>
              <a:off x="3420" y="2448"/>
              <a:ext cx="346" cy="1344"/>
            </a:xfrm>
            <a:prstGeom prst="rect">
              <a:avLst/>
            </a:prstGeom>
            <a:noFill/>
            <a:ln w="9525">
              <a:noFill/>
            </a:ln>
          </p:spPr>
          <p:txBody>
            <a:bodyPr vert="eaVert">
              <a:spAutoFit/>
            </a:bodyPr>
            <a:lstStyle/>
            <a:p>
              <a:r>
                <a:rPr lang="zh-CN" altLang="en-US" dirty="0">
                  <a:latin typeface="Times New Roman" panose="02020603050405020304" pitchFamily="18" charset="0"/>
                </a:rPr>
                <a:t>飞机主起落架</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left)">
                                      <p:cBhvr>
                                        <p:cTn id="7" dur="500"/>
                                        <p:tgtEl>
                                          <p:spTgt spid="3379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animEffect transition="in" filter="wipe(left)">
                                      <p:cBhvr>
                                        <p:cTn id="11" dur="500"/>
                                        <p:tgtEl>
                                          <p:spTgt spid="3379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animEffect transition="in" filter="wipe(left)">
                                      <p:cBhvr>
                                        <p:cTn id="15" dur="500"/>
                                        <p:tgtEl>
                                          <p:spTgt spid="3379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animEffect transition="in" filter="wipe(left)">
                                      <p:cBhvr>
                                        <p:cTn id="19" dur="500"/>
                                        <p:tgtEl>
                                          <p:spTgt spid="33795">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dvAuto="100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p:cNvSpPr>
          <p:nvPr>
            <p:ph idx="1"/>
          </p:nvPr>
        </p:nvSpPr>
        <p:spPr>
          <a:xfrm>
            <a:off x="228600" y="228600"/>
            <a:ext cx="4419600" cy="4800600"/>
          </a:xfrm>
          <a:ln/>
        </p:spPr>
        <p:txBody>
          <a:bodyPr vert="horz" wrap="square" lIns="91440" tIns="45720" rIns="91440" bIns="45720" anchor="t" anchorCtr="0"/>
          <a:lstStyle/>
          <a:p>
            <a:pPr eaLnBrk="1" hangingPunct="1">
              <a:lnSpc>
                <a:spcPct val="130000"/>
              </a:lnSpc>
            </a:pPr>
            <a:r>
              <a:rPr lang="en-US" altLang="zh-CN" sz="2800" b="1">
                <a:solidFill>
                  <a:schemeClr val="tx2"/>
                </a:solidFill>
                <a:ea typeface="华文中宋" panose="02010600040101010101" pitchFamily="2" charset="-122"/>
              </a:rPr>
              <a:t>④ </a:t>
            </a:r>
            <a:r>
              <a:rPr lang="zh-CN" altLang="en-US" sz="2800" b="1" dirty="0">
                <a:solidFill>
                  <a:schemeClr val="tx2"/>
                </a:solidFill>
                <a:ea typeface="华文中宋" panose="02010600040101010101" pitchFamily="2" charset="-122"/>
              </a:rPr>
              <a:t>锻铝合金</a:t>
            </a:r>
          </a:p>
          <a:p>
            <a:pPr eaLnBrk="1" hangingPunct="1">
              <a:lnSpc>
                <a:spcPct val="140000"/>
              </a:lnSpc>
            </a:pPr>
            <a:r>
              <a:rPr lang="en-US" altLang="zh-CN" sz="2800" b="1">
                <a:solidFill>
                  <a:srgbClr val="FFE5B1"/>
                </a:solidFill>
                <a:ea typeface="华文中宋" panose="02010600040101010101" pitchFamily="2" charset="-122"/>
              </a:rPr>
              <a:t>Al-Cu-Mg-</a:t>
            </a:r>
            <a:r>
              <a:rPr lang="en-US" altLang="zh-CN" sz="2800" b="1" err="1">
                <a:solidFill>
                  <a:srgbClr val="FFE5B1"/>
                </a:solidFill>
                <a:ea typeface="华文中宋" panose="02010600040101010101" pitchFamily="2" charset="-122"/>
              </a:rPr>
              <a:t>Si</a:t>
            </a:r>
            <a:r>
              <a:rPr lang="zh-CN" altLang="en-US" sz="2800" b="1" dirty="0">
                <a:solidFill>
                  <a:srgbClr val="FFE5B1"/>
                </a:solidFill>
                <a:ea typeface="华文中宋" panose="02010600040101010101" pitchFamily="2" charset="-122"/>
              </a:rPr>
              <a:t>系合金</a:t>
            </a:r>
            <a:r>
              <a:rPr lang="zh-CN" altLang="en-US" sz="2800" b="1" dirty="0">
                <a:solidFill>
                  <a:schemeClr val="folHlink"/>
                </a:solidFill>
                <a:ea typeface="华文中宋" panose="02010600040101010101" pitchFamily="2" charset="-122"/>
              </a:rPr>
              <a:t>  可锻性好，力学性能高，用于形状复杂的锻件和模锻件，如喷气发动机压气机叶轮、导风轮等</a:t>
            </a:r>
            <a:r>
              <a:rPr lang="en-US" altLang="zh-CN" sz="2800" b="1">
                <a:solidFill>
                  <a:schemeClr val="folHlink"/>
                </a:solidFill>
                <a:ea typeface="华文中宋" panose="02010600040101010101" pitchFamily="2" charset="-122"/>
              </a:rPr>
              <a:t>.</a:t>
            </a:r>
          </a:p>
        </p:txBody>
      </p:sp>
      <p:grpSp>
        <p:nvGrpSpPr>
          <p:cNvPr id="2" name="Group 17"/>
          <p:cNvGrpSpPr/>
          <p:nvPr/>
        </p:nvGrpSpPr>
        <p:grpSpPr>
          <a:xfrm>
            <a:off x="4648200" y="1143000"/>
            <a:ext cx="3883025" cy="2698750"/>
            <a:chOff x="2928" y="720"/>
            <a:chExt cx="2446" cy="1700"/>
          </a:xfrm>
        </p:grpSpPr>
        <p:pic>
          <p:nvPicPr>
            <p:cNvPr id="61445" name="Picture 13" descr="C:\Documents and Settings\Administrator\My Documents\My Pictures\压气机叶片.jpg"/>
            <p:cNvPicPr>
              <a:picLocks noChangeAspect="1"/>
            </p:cNvPicPr>
            <p:nvPr/>
          </p:nvPicPr>
          <p:blipFill>
            <a:blip r:embed="rId2"/>
            <a:stretch>
              <a:fillRect/>
            </a:stretch>
          </p:blipFill>
          <p:spPr>
            <a:xfrm>
              <a:off x="2928" y="720"/>
              <a:ext cx="2446" cy="1700"/>
            </a:xfrm>
            <a:prstGeom prst="rect">
              <a:avLst/>
            </a:prstGeom>
            <a:noFill/>
            <a:ln w="9525">
              <a:noFill/>
            </a:ln>
          </p:spPr>
        </p:pic>
        <p:sp>
          <p:nvSpPr>
            <p:cNvPr id="35854" name="Text Box 14"/>
            <p:cNvSpPr txBox="1">
              <a:spLocks noChangeArrowheads="1"/>
            </p:cNvSpPr>
            <p:nvPr/>
          </p:nvSpPr>
          <p:spPr bwMode="auto">
            <a:xfrm>
              <a:off x="3744" y="2112"/>
              <a:ext cx="960" cy="250"/>
            </a:xfrm>
            <a:prstGeom prst="rect">
              <a:avLst/>
            </a:prstGeom>
            <a:noFill/>
            <a:ln w="9525">
              <a:noFill/>
              <a:miter lim="800000"/>
            </a:ln>
            <a:effectLst/>
          </p:spPr>
          <p:txBody>
            <a:bodyPr>
              <a:spAutoFit/>
            </a:bodyPr>
            <a:lstStyle/>
            <a:p>
              <a:pPr marR="0" defTabSz="914400">
                <a:buClrTx/>
                <a:buSzTx/>
                <a:buFontTx/>
                <a:buNone/>
                <a:defRPr/>
              </a:pPr>
              <a:r>
                <a:rPr kumimoji="1" lang="zh-CN" altLang="en-US" sz="2000"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压气机叶片</a:t>
              </a:r>
            </a:p>
          </p:txBody>
        </p:sp>
      </p:grpSp>
      <p:sp>
        <p:nvSpPr>
          <p:cNvPr id="35856" name="Rectangle 16"/>
          <p:cNvSpPr/>
          <p:nvPr/>
        </p:nvSpPr>
        <p:spPr>
          <a:xfrm>
            <a:off x="228600" y="3886200"/>
            <a:ext cx="8534400" cy="26670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en-US" altLang="zh-CN" sz="2800">
                <a:solidFill>
                  <a:srgbClr val="FFE5B1"/>
                </a:solidFill>
                <a:latin typeface="Times New Roman" panose="02020603050405020304" pitchFamily="18" charset="0"/>
                <a:ea typeface="华文中宋" panose="02010600040101010101" pitchFamily="2" charset="-122"/>
              </a:rPr>
              <a:t>Al-Cu-Mg-Fe-Ni</a:t>
            </a:r>
            <a:r>
              <a:rPr lang="zh-CN" altLang="en-US" sz="2800" dirty="0">
                <a:solidFill>
                  <a:srgbClr val="FFE5B1"/>
                </a:solidFill>
                <a:latin typeface="Times New Roman" panose="02020603050405020304" pitchFamily="18" charset="0"/>
                <a:ea typeface="华文中宋" panose="02010600040101010101" pitchFamily="2" charset="-122"/>
              </a:rPr>
              <a:t>系耐热锻铝合金</a:t>
            </a:r>
            <a:r>
              <a:rPr lang="zh-CN" altLang="en-US" sz="2800" dirty="0">
                <a:solidFill>
                  <a:srgbClr val="CCFFFF"/>
                </a:solidFill>
                <a:latin typeface="Times New Roman" panose="02020603050405020304" pitchFamily="18" charset="0"/>
                <a:ea typeface="华文中宋" panose="02010600040101010101" pitchFamily="2" charset="-122"/>
              </a:rPr>
              <a:t>   </a:t>
            </a:r>
            <a:r>
              <a:rPr lang="zh-CN" altLang="en-US" sz="2800" dirty="0">
                <a:latin typeface="Times New Roman" panose="02020603050405020304" pitchFamily="18" charset="0"/>
                <a:ea typeface="华文中宋" panose="02010600040101010101" pitchFamily="2" charset="-122"/>
              </a:rPr>
              <a:t>常用牌号有</a:t>
            </a:r>
            <a:r>
              <a:rPr lang="en-US" altLang="zh-CN" sz="2800">
                <a:latin typeface="Times New Roman" panose="02020603050405020304" pitchFamily="18" charset="0"/>
                <a:ea typeface="华文中宋" panose="02010600040101010101" pitchFamily="2" charset="-122"/>
              </a:rPr>
              <a:t>LD7 (</a:t>
            </a:r>
            <a:r>
              <a:rPr lang="en-US" altLang="zh-CN" sz="2800">
                <a:solidFill>
                  <a:srgbClr val="CCFF33"/>
                </a:solidFill>
                <a:latin typeface="Times New Roman" panose="02020603050405020304" pitchFamily="18" charset="0"/>
                <a:ea typeface="华文中宋" panose="02010600040101010101" pitchFamily="2" charset="-122"/>
              </a:rPr>
              <a:t>2A70</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LD8(</a:t>
            </a:r>
            <a:r>
              <a:rPr lang="en-US" altLang="zh-CN" sz="2800">
                <a:solidFill>
                  <a:srgbClr val="CCFF33"/>
                </a:solidFill>
                <a:latin typeface="Times New Roman" panose="02020603050405020304" pitchFamily="18" charset="0"/>
                <a:ea typeface="华文中宋" panose="02010600040101010101" pitchFamily="2" charset="-122"/>
              </a:rPr>
              <a:t>2A80</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LD9(</a:t>
            </a:r>
            <a:r>
              <a:rPr lang="en-US" altLang="zh-CN" sz="2800">
                <a:solidFill>
                  <a:srgbClr val="CCFF33"/>
                </a:solidFill>
                <a:latin typeface="Times New Roman" panose="02020603050405020304" pitchFamily="18" charset="0"/>
                <a:ea typeface="华文中宋" panose="02010600040101010101" pitchFamily="2" charset="-122"/>
              </a:rPr>
              <a:t>2A90</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等 。用于制造</a:t>
            </a:r>
            <a:r>
              <a:rPr lang="en-US" altLang="zh-CN" sz="2800">
                <a:latin typeface="Times New Roman" panose="02020603050405020304" pitchFamily="18" charset="0"/>
                <a:ea typeface="华文中宋" panose="02010600040101010101" pitchFamily="2" charset="-122"/>
              </a:rPr>
              <a:t>150 ~225℃</a:t>
            </a:r>
            <a:r>
              <a:rPr lang="zh-CN" altLang="en-US" sz="2800" dirty="0">
                <a:latin typeface="Times New Roman" panose="02020603050405020304" pitchFamily="18" charset="0"/>
                <a:ea typeface="华文中宋" panose="02010600040101010101" pitchFamily="2" charset="-122"/>
              </a:rPr>
              <a:t>下工作的零件，如压气机叶片、超音速飞机蒙皮等。</a:t>
            </a:r>
            <a:endParaRPr lang="zh-CN" altLang="en-US" sz="3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animEffect transition="in" filter="wipe(left)">
                                      <p:cBhvr>
                                        <p:cTn id="11" dur="500"/>
                                        <p:tgtEl>
                                          <p:spTgt spid="3584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5856"/>
                                        </p:tgtEl>
                                        <p:attrNameLst>
                                          <p:attrName>style.visibility</p:attrName>
                                        </p:attrNameLst>
                                      </p:cBhvr>
                                      <p:to>
                                        <p:strVal val="visible"/>
                                      </p:to>
                                    </p:set>
                                    <p:animEffect transition="in" filter="wipe(left)">
                                      <p:cBhvr>
                                        <p:cTn id="15" dur="500"/>
                                        <p:tgtEl>
                                          <p:spTgt spid="3585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dvAuto="1000"/>
      <p:bldP spid="3585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a:xfrm>
            <a:off x="128588" y="1295400"/>
            <a:ext cx="5434012" cy="4160838"/>
            <a:chOff x="0" y="816"/>
            <a:chExt cx="3423" cy="2621"/>
          </a:xfrm>
        </p:grpSpPr>
        <p:pic>
          <p:nvPicPr>
            <p:cNvPr id="62470" name="Picture 4" descr="C:\Documents and Settings\Administrator\My Documents\My Pictures\F117隐身战斗机.jpg"/>
            <p:cNvPicPr>
              <a:picLocks noChangeAspect="1"/>
            </p:cNvPicPr>
            <p:nvPr/>
          </p:nvPicPr>
          <p:blipFill>
            <a:blip r:embed="rId2"/>
            <a:stretch>
              <a:fillRect/>
            </a:stretch>
          </p:blipFill>
          <p:spPr>
            <a:xfrm>
              <a:off x="0" y="816"/>
              <a:ext cx="3423" cy="2041"/>
            </a:xfrm>
            <a:prstGeom prst="rect">
              <a:avLst/>
            </a:prstGeom>
            <a:noFill/>
            <a:ln w="28575" cap="flat" cmpd="sng">
              <a:solidFill>
                <a:srgbClr val="00CCFF"/>
              </a:solidFill>
              <a:prstDash val="solid"/>
              <a:miter/>
              <a:headEnd type="none" w="med" len="med"/>
              <a:tailEnd type="none" w="med" len="med"/>
            </a:ln>
          </p:spPr>
        </p:pic>
        <p:sp>
          <p:nvSpPr>
            <p:cNvPr id="62471" name="Text Box 11"/>
            <p:cNvSpPr txBox="1"/>
            <p:nvPr/>
          </p:nvSpPr>
          <p:spPr>
            <a:xfrm>
              <a:off x="528" y="2880"/>
              <a:ext cx="2160" cy="557"/>
            </a:xfrm>
            <a:prstGeom prst="rect">
              <a:avLst/>
            </a:prstGeom>
            <a:noFill/>
            <a:ln w="9525">
              <a:noFill/>
            </a:ln>
          </p:spPr>
          <p:txBody>
            <a:bodyPr>
              <a:spAutoFit/>
            </a:bodyPr>
            <a:lstStyle/>
            <a:p>
              <a:r>
                <a:rPr lang="zh-CN" altLang="en-US" sz="2800" dirty="0">
                  <a:latin typeface="Times New Roman" panose="02020603050405020304" pitchFamily="18" charset="0"/>
                  <a:ea typeface="华文中宋" panose="02010600040101010101" pitchFamily="2" charset="-122"/>
                </a:rPr>
                <a:t>美</a:t>
              </a:r>
              <a:r>
                <a:rPr lang="en-US" altLang="zh-CN" sz="2800">
                  <a:latin typeface="Times New Roman" panose="02020603050405020304" pitchFamily="18" charset="0"/>
                  <a:ea typeface="华文中宋" panose="02010600040101010101" pitchFamily="2" charset="-122"/>
                </a:rPr>
                <a:t>F-117</a:t>
              </a:r>
              <a:r>
                <a:rPr lang="zh-CN" altLang="en-US" sz="2800" dirty="0">
                  <a:latin typeface="Times New Roman" panose="02020603050405020304" pitchFamily="18" charset="0"/>
                  <a:ea typeface="华文中宋" panose="02010600040101010101" pitchFamily="2" charset="-122"/>
                </a:rPr>
                <a:t>隐身战斗机</a:t>
              </a:r>
              <a:br>
                <a:rPr lang="zh-CN" altLang="en-US" sz="3600" dirty="0">
                  <a:latin typeface="Times New Roman" panose="02020603050405020304" pitchFamily="18" charset="0"/>
                  <a:ea typeface="华文中宋" panose="02010600040101010101" pitchFamily="2" charset="-122"/>
                </a:rPr>
              </a:br>
              <a:r>
                <a:rPr lang="en-US" altLang="zh-CN">
                  <a:latin typeface="Times New Roman" panose="02020603050405020304" pitchFamily="18" charset="0"/>
                  <a:ea typeface="华文中宋" panose="02010600040101010101" pitchFamily="2" charset="-122"/>
                </a:rPr>
                <a:t>(</a:t>
              </a:r>
              <a:r>
                <a:rPr lang="zh-CN" altLang="en-US" sz="2000" dirty="0">
                  <a:latin typeface="Times New Roman" panose="02020603050405020304" pitchFamily="18" charset="0"/>
                  <a:ea typeface="华文中宋" panose="02010600040101010101" pitchFamily="2" charset="-122"/>
                </a:rPr>
                <a:t>所用材料大部分是铝合金</a:t>
              </a:r>
              <a:r>
                <a:rPr lang="en-US" altLang="zh-CN" sz="2000">
                  <a:latin typeface="Times New Roman" panose="02020603050405020304" pitchFamily="18" charset="0"/>
                  <a:ea typeface="华文中宋" panose="02010600040101010101" pitchFamily="2" charset="-122"/>
                </a:rPr>
                <a:t>)</a:t>
              </a:r>
            </a:p>
          </p:txBody>
        </p:sp>
      </p:grpSp>
      <p:grpSp>
        <p:nvGrpSpPr>
          <p:cNvPr id="3" name="Group 18"/>
          <p:cNvGrpSpPr/>
          <p:nvPr/>
        </p:nvGrpSpPr>
        <p:grpSpPr>
          <a:xfrm>
            <a:off x="5334000" y="381000"/>
            <a:ext cx="3724275" cy="5943600"/>
            <a:chOff x="3414" y="240"/>
            <a:chExt cx="2346" cy="3744"/>
          </a:xfrm>
        </p:grpSpPr>
        <p:pic>
          <p:nvPicPr>
            <p:cNvPr id="62468" name="Picture 14" descr="E:\临时文件\My Pictures\高比强铝合金制造的机翼.bmp"/>
            <p:cNvPicPr>
              <a:picLocks noChangeAspect="1"/>
            </p:cNvPicPr>
            <p:nvPr/>
          </p:nvPicPr>
          <p:blipFill>
            <a:blip r:embed="rId3"/>
            <a:stretch>
              <a:fillRect/>
            </a:stretch>
          </p:blipFill>
          <p:spPr>
            <a:xfrm>
              <a:off x="3414" y="240"/>
              <a:ext cx="2346" cy="3407"/>
            </a:xfrm>
            <a:prstGeom prst="rect">
              <a:avLst/>
            </a:prstGeom>
            <a:noFill/>
            <a:ln w="28575" cap="flat" cmpd="sng">
              <a:solidFill>
                <a:srgbClr val="CC99FF"/>
              </a:solidFill>
              <a:prstDash val="solid"/>
              <a:miter/>
              <a:headEnd type="none" w="med" len="med"/>
              <a:tailEnd type="none" w="med" len="med"/>
            </a:ln>
          </p:spPr>
        </p:pic>
        <p:sp>
          <p:nvSpPr>
            <p:cNvPr id="62469" name="Text Box 16"/>
            <p:cNvSpPr txBox="1"/>
            <p:nvPr/>
          </p:nvSpPr>
          <p:spPr>
            <a:xfrm>
              <a:off x="3792" y="3696"/>
              <a:ext cx="1776" cy="288"/>
            </a:xfrm>
            <a:prstGeom prst="rect">
              <a:avLst/>
            </a:prstGeom>
            <a:noFill/>
            <a:ln w="9525">
              <a:noFill/>
            </a:ln>
          </p:spPr>
          <p:txBody>
            <a:bodyPr>
              <a:spAutoFit/>
            </a:bodyPr>
            <a:lstStyle/>
            <a:p>
              <a:r>
                <a:rPr lang="zh-CN" altLang="en-US" dirty="0">
                  <a:latin typeface="Times New Roman" panose="02020603050405020304" pitchFamily="18" charset="0"/>
                  <a:ea typeface="华文中宋" panose="02010600040101010101" pitchFamily="2" charset="-122"/>
                </a:rPr>
                <a:t>高比强铝合金机翼</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8100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第二节  铜及铜合金</a:t>
            </a:r>
            <a:r>
              <a:rPr kumimoji="1"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sp>
        <p:nvSpPr>
          <p:cNvPr id="40963" name="Rectangle 3"/>
          <p:cNvSpPr>
            <a:spLocks noGrp="1"/>
          </p:cNvSpPr>
          <p:nvPr>
            <p:ph idx="1"/>
          </p:nvPr>
        </p:nvSpPr>
        <p:spPr>
          <a:xfrm>
            <a:off x="304800" y="1981200"/>
            <a:ext cx="5181600" cy="4648200"/>
          </a:xfrm>
          <a:ln/>
        </p:spPr>
        <p:txBody>
          <a:bodyPr vert="horz" wrap="square" lIns="91440" tIns="45720" rIns="91440" bIns="45720" anchor="t" anchorCtr="0"/>
          <a:lstStyle/>
          <a:p>
            <a:pPr eaLnBrk="1" hangingPunct="1">
              <a:lnSpc>
                <a:spcPct val="120000"/>
              </a:lnSpc>
            </a:pPr>
            <a:r>
              <a:rPr lang="zh-CN" altLang="en-US" b="1" dirty="0">
                <a:solidFill>
                  <a:schemeClr val="tx2"/>
                </a:solidFill>
                <a:ea typeface="华文中宋" panose="02010600040101010101" pitchFamily="2" charset="-122"/>
              </a:rPr>
              <a:t>一、铜及铜合金性能特点</a:t>
            </a:r>
          </a:p>
          <a:p>
            <a:pPr eaLnBrk="1" hangingPunct="1">
              <a:lnSpc>
                <a:spcPct val="140000"/>
              </a:lnSpc>
            </a:pPr>
            <a:r>
              <a:rPr lang="zh-CN" altLang="en-US" sz="2800" b="1" dirty="0">
                <a:solidFill>
                  <a:schemeClr val="folHlink"/>
                </a:solidFill>
                <a:ea typeface="华文中宋" panose="02010600040101010101" pitchFamily="2" charset="-122"/>
              </a:rPr>
              <a:t>纯铜呈紫红色，故又称紫铜，具有面心立方晶格，无同素异构转变，无磁性。</a:t>
            </a:r>
            <a:r>
              <a:rPr lang="zh-CN" altLang="en-US" sz="2800" b="1" dirty="0">
                <a:solidFill>
                  <a:schemeClr val="tx2"/>
                </a:solidFill>
                <a:ea typeface="华文中宋" panose="02010600040101010101" pitchFamily="2" charset="-122"/>
              </a:rPr>
              <a:t> </a:t>
            </a:r>
          </a:p>
          <a:p>
            <a:pPr eaLnBrk="1" hangingPunct="1">
              <a:lnSpc>
                <a:spcPct val="140000"/>
              </a:lnSpc>
            </a:pPr>
            <a:r>
              <a:rPr lang="zh-CN" altLang="en-US" sz="2800" b="1" dirty="0">
                <a:ea typeface="华文中宋" panose="02010600040101010101" pitchFamily="2" charset="-122"/>
              </a:rPr>
              <a:t>纯铜具有优良的导电性和导热性，在大气、淡水和冷凝水中有良好的耐蚀性。塑性好。 </a:t>
            </a:r>
            <a:r>
              <a:rPr lang="zh-CN" altLang="en-US" sz="2800" b="1" dirty="0">
                <a:solidFill>
                  <a:schemeClr val="tx2"/>
                </a:solidFill>
                <a:ea typeface="华文中宋" panose="02010600040101010101" pitchFamily="2" charset="-122"/>
              </a:rPr>
              <a:t> </a:t>
            </a:r>
            <a:endParaRPr lang="zh-CN" altLang="en-US" sz="2800" dirty="0">
              <a:ea typeface="华文中宋" panose="02010600040101010101" pitchFamily="2" charset="-122"/>
            </a:endParaRPr>
          </a:p>
        </p:txBody>
      </p:sp>
      <p:grpSp>
        <p:nvGrpSpPr>
          <p:cNvPr id="2" name="Group 6"/>
          <p:cNvGrpSpPr/>
          <p:nvPr/>
        </p:nvGrpSpPr>
        <p:grpSpPr>
          <a:xfrm>
            <a:off x="5581650" y="2228850"/>
            <a:ext cx="3268663" cy="4095750"/>
            <a:chOff x="3516" y="1404"/>
            <a:chExt cx="2059" cy="2580"/>
          </a:xfrm>
        </p:grpSpPr>
        <p:pic>
          <p:nvPicPr>
            <p:cNvPr id="69637" name="Picture 4" descr="C:\Documents and Settings\Administrator\My Documents\My Pictures\热轧铜合金.bmp"/>
            <p:cNvPicPr>
              <a:picLocks noChangeAspect="1"/>
            </p:cNvPicPr>
            <p:nvPr/>
          </p:nvPicPr>
          <p:blipFill>
            <a:blip r:embed="rId2"/>
            <a:stretch>
              <a:fillRect/>
            </a:stretch>
          </p:blipFill>
          <p:spPr>
            <a:xfrm>
              <a:off x="3600" y="1422"/>
              <a:ext cx="1975" cy="2562"/>
            </a:xfrm>
            <a:prstGeom prst="rect">
              <a:avLst/>
            </a:prstGeom>
            <a:noFill/>
            <a:ln w="38100" cap="flat" cmpd="sng">
              <a:solidFill>
                <a:srgbClr val="FF9900"/>
              </a:solidFill>
              <a:prstDash val="solid"/>
              <a:miter/>
              <a:headEnd type="none" w="med" len="med"/>
              <a:tailEnd type="none" w="med" len="med"/>
            </a:ln>
          </p:spPr>
        </p:pic>
        <p:sp>
          <p:nvSpPr>
            <p:cNvPr id="69638" name="Text Box 5"/>
            <p:cNvSpPr txBox="1"/>
            <p:nvPr/>
          </p:nvSpPr>
          <p:spPr>
            <a:xfrm>
              <a:off x="3516" y="1404"/>
              <a:ext cx="1056" cy="250"/>
            </a:xfrm>
            <a:prstGeom prst="rect">
              <a:avLst/>
            </a:prstGeom>
            <a:noFill/>
            <a:ln w="9525">
              <a:noFill/>
            </a:ln>
          </p:spPr>
          <p:txBody>
            <a:bodyPr>
              <a:spAutoFit/>
            </a:bodyPr>
            <a:lstStyle/>
            <a:p>
              <a:r>
                <a:rPr lang="zh-CN" altLang="en-US" sz="2000" dirty="0">
                  <a:latin typeface="Times New Roman" panose="02020603050405020304" pitchFamily="18" charset="0"/>
                </a:rPr>
                <a:t>热轧铜合金</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0963">
                                            <p:txEl>
                                              <p:pRg st="0" end="0"/>
                                            </p:txEl>
                                          </p:spTgt>
                                        </p:tgtEl>
                                        <p:attrNameLst>
                                          <p:attrName>style.visibility</p:attrName>
                                        </p:attrNameLst>
                                      </p:cBhvr>
                                      <p:to>
                                        <p:strVal val="visible"/>
                                      </p:to>
                                    </p:set>
                                    <p:animEffect transition="in" filter="wipe(left)">
                                      <p:cBhvr>
                                        <p:cTn id="11" dur="500"/>
                                        <p:tgtEl>
                                          <p:spTgt spid="4096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0963">
                                            <p:txEl>
                                              <p:pRg st="1" end="1"/>
                                            </p:txEl>
                                          </p:spTgt>
                                        </p:tgtEl>
                                        <p:attrNameLst>
                                          <p:attrName>style.visibility</p:attrName>
                                        </p:attrNameLst>
                                      </p:cBhvr>
                                      <p:to>
                                        <p:strVal val="visible"/>
                                      </p:to>
                                    </p:set>
                                    <p:animEffect transition="in" filter="wipe(left)">
                                      <p:cBhvr>
                                        <p:cTn id="15" dur="500"/>
                                        <p:tgtEl>
                                          <p:spTgt spid="4096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Effect transition="in" filter="wipe(left)">
                                      <p:cBhvr>
                                        <p:cTn id="19" dur="500"/>
                                        <p:tgtEl>
                                          <p:spTgt spid="40963">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3" grpId="0" build="p" advAuto="100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p:cNvSpPr>
          <p:nvPr>
            <p:ph idx="1"/>
          </p:nvPr>
        </p:nvSpPr>
        <p:spPr>
          <a:xfrm>
            <a:off x="381000" y="-26987"/>
            <a:ext cx="8458200" cy="5791200"/>
          </a:xfrm>
          <a:ln/>
        </p:spPr>
        <p:txBody>
          <a:bodyPr vert="horz" wrap="square" lIns="91440" tIns="45720" rIns="91440" bIns="45720" anchor="t" anchorCtr="0"/>
          <a:lstStyle/>
          <a:p>
            <a:pPr eaLnBrk="1" hangingPunct="1">
              <a:lnSpc>
                <a:spcPct val="140000"/>
              </a:lnSpc>
            </a:pPr>
            <a:r>
              <a:rPr lang="zh-CN" altLang="en-US" sz="2800" b="1" dirty="0">
                <a:solidFill>
                  <a:srgbClr val="CCFF33"/>
                </a:solidFill>
                <a:ea typeface="华文中宋" panose="02010600040101010101" pitchFamily="2" charset="-122"/>
              </a:rPr>
              <a:t>铜合金常加元素为</a:t>
            </a:r>
            <a:r>
              <a:rPr lang="en-US" altLang="zh-CN" sz="2800" b="1" dirty="0">
                <a:solidFill>
                  <a:schemeClr val="folHlink"/>
                </a:solidFill>
                <a:ea typeface="华文中宋" panose="02010600040101010101" pitchFamily="2" charset="-122"/>
              </a:rPr>
              <a:t>Zn</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Sn</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Al</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Mn</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Ni</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Fe</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Ti</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Cr</a:t>
            </a:r>
            <a:r>
              <a:rPr lang="zh-CN" altLang="en-US" sz="2800" b="1" dirty="0">
                <a:solidFill>
                  <a:srgbClr val="CCFF33"/>
                </a:solidFill>
                <a:ea typeface="华文中宋" panose="02010600040101010101" pitchFamily="2" charset="-122"/>
              </a:rPr>
              <a:t>等，既提高了强度，又保持了纯铜特性</a:t>
            </a:r>
            <a:r>
              <a:rPr lang="en-US" altLang="zh-CN" sz="2800" b="1" dirty="0">
                <a:solidFill>
                  <a:srgbClr val="CCFF33"/>
                </a:solidFill>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铜合金分为黄铜、青铜、白铜三大类。</a:t>
            </a:r>
          </a:p>
        </p:txBody>
      </p:sp>
      <p:grpSp>
        <p:nvGrpSpPr>
          <p:cNvPr id="2" name="Group 12"/>
          <p:cNvGrpSpPr/>
          <p:nvPr/>
        </p:nvGrpSpPr>
        <p:grpSpPr>
          <a:xfrm>
            <a:off x="838200" y="2743200"/>
            <a:ext cx="7950200" cy="3598863"/>
            <a:chOff x="528" y="1728"/>
            <a:chExt cx="5008" cy="2267"/>
          </a:xfrm>
        </p:grpSpPr>
        <p:pic>
          <p:nvPicPr>
            <p:cNvPr id="70660" name="Picture 4" descr="C:\Documents and Settings\Administrator\My Documents\My Pictures\铜管材.gif"/>
            <p:cNvPicPr>
              <a:picLocks noChangeAspect="1"/>
            </p:cNvPicPr>
            <p:nvPr/>
          </p:nvPicPr>
          <p:blipFill>
            <a:blip r:embed="rId2"/>
            <a:stretch>
              <a:fillRect/>
            </a:stretch>
          </p:blipFill>
          <p:spPr>
            <a:xfrm>
              <a:off x="528" y="2400"/>
              <a:ext cx="2451" cy="1593"/>
            </a:xfrm>
            <a:prstGeom prst="rect">
              <a:avLst/>
            </a:prstGeom>
            <a:noFill/>
            <a:ln w="38100" cap="flat" cmpd="sng">
              <a:solidFill>
                <a:srgbClr val="66FF66"/>
              </a:solidFill>
              <a:prstDash val="solid"/>
              <a:miter/>
              <a:headEnd type="none" w="med" len="med"/>
              <a:tailEnd type="none" w="med" len="med"/>
            </a:ln>
          </p:spPr>
        </p:pic>
        <p:sp>
          <p:nvSpPr>
            <p:cNvPr id="70661" name="Text Box 6"/>
            <p:cNvSpPr txBox="1"/>
            <p:nvPr/>
          </p:nvSpPr>
          <p:spPr>
            <a:xfrm>
              <a:off x="2400" y="3704"/>
              <a:ext cx="528" cy="288"/>
            </a:xfrm>
            <a:prstGeom prst="rect">
              <a:avLst/>
            </a:prstGeom>
            <a:noFill/>
            <a:ln w="9525">
              <a:noFill/>
            </a:ln>
          </p:spPr>
          <p:txBody>
            <a:bodyPr>
              <a:spAutoFit/>
            </a:bodyPr>
            <a:lstStyle/>
            <a:p>
              <a:r>
                <a:rPr lang="zh-CN" altLang="en-US" dirty="0">
                  <a:solidFill>
                    <a:srgbClr val="CCFF33"/>
                  </a:solidFill>
                  <a:latin typeface="Times New Roman" panose="02020603050405020304" pitchFamily="18" charset="0"/>
                </a:rPr>
                <a:t>铜管</a:t>
              </a:r>
            </a:p>
          </p:txBody>
        </p:sp>
        <p:grpSp>
          <p:nvGrpSpPr>
            <p:cNvPr id="70662" name="Group 11"/>
            <p:cNvGrpSpPr/>
            <p:nvPr/>
          </p:nvGrpSpPr>
          <p:grpSpPr>
            <a:xfrm>
              <a:off x="3072" y="1728"/>
              <a:ext cx="2464" cy="2267"/>
              <a:chOff x="3072" y="1728"/>
              <a:chExt cx="2464" cy="2267"/>
            </a:xfrm>
          </p:grpSpPr>
          <p:pic>
            <p:nvPicPr>
              <p:cNvPr id="70663" name="Picture 9" descr="C:\Documents and Settings\Administrator\My Documents\My Pictures\铜与黄铜带.bmp"/>
              <p:cNvPicPr>
                <a:picLocks noChangeAspect="1"/>
              </p:cNvPicPr>
              <p:nvPr/>
            </p:nvPicPr>
            <p:blipFill>
              <a:blip r:embed="rId3"/>
              <a:stretch>
                <a:fillRect/>
              </a:stretch>
            </p:blipFill>
            <p:spPr>
              <a:xfrm>
                <a:off x="3072" y="1728"/>
                <a:ext cx="2464" cy="2267"/>
              </a:xfrm>
              <a:prstGeom prst="rect">
                <a:avLst/>
              </a:prstGeom>
              <a:noFill/>
              <a:ln w="38100" cap="flat" cmpd="sng">
                <a:solidFill>
                  <a:srgbClr val="FF00FF"/>
                </a:solidFill>
                <a:prstDash val="solid"/>
                <a:miter/>
                <a:headEnd type="none" w="med" len="med"/>
                <a:tailEnd type="none" w="med" len="med"/>
              </a:ln>
            </p:spPr>
          </p:pic>
          <p:sp>
            <p:nvSpPr>
              <p:cNvPr id="70664" name="Text Box 10"/>
              <p:cNvSpPr txBox="1"/>
              <p:nvPr/>
            </p:nvSpPr>
            <p:spPr>
              <a:xfrm>
                <a:off x="4416" y="3696"/>
                <a:ext cx="1056" cy="250"/>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铜与黄铜带</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6259">
                                            <p:txEl>
                                              <p:pRg st="1" end="1"/>
                                            </p:txEl>
                                          </p:spTgt>
                                        </p:tgtEl>
                                        <p:attrNameLst>
                                          <p:attrName>style.visibility</p:attrName>
                                        </p:attrNameLst>
                                      </p:cBhvr>
                                      <p:to>
                                        <p:strVal val="visible"/>
                                      </p:to>
                                    </p:set>
                                    <p:animEffect transition="in" filter="wipe(left)">
                                      <p:cBhvr>
                                        <p:cTn id="11" dur="500"/>
                                        <p:tgtEl>
                                          <p:spTgt spid="96259">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dvAuto="100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1027"/>
          <p:cNvSpPr>
            <a:spLocks noGrp="1"/>
          </p:cNvSpPr>
          <p:nvPr>
            <p:ph idx="1"/>
          </p:nvPr>
        </p:nvSpPr>
        <p:spPr>
          <a:xfrm>
            <a:off x="457200" y="381000"/>
            <a:ext cx="8153400" cy="5715000"/>
          </a:xfrm>
          <a:ln/>
        </p:spPr>
        <p:txBody>
          <a:bodyPr vert="horz" wrap="square" lIns="91440" tIns="45720" rIns="91440" bIns="45720" anchor="t" anchorCtr="0"/>
          <a:lstStyle/>
          <a:p>
            <a:pPr algn="just" eaLnBrk="1" hangingPunct="1">
              <a:lnSpc>
                <a:spcPct val="130000"/>
              </a:lnSpc>
            </a:pPr>
            <a:r>
              <a:rPr lang="zh-CN" altLang="en-US" b="1" dirty="0">
                <a:solidFill>
                  <a:schemeClr val="tx2"/>
                </a:solidFill>
                <a:ea typeface="华文中宋" panose="02010600040101010101" pitchFamily="2" charset="-122"/>
              </a:rPr>
              <a:t>二、黄铜</a:t>
            </a:r>
          </a:p>
          <a:p>
            <a:pPr algn="just" eaLnBrk="1" hangingPunct="1">
              <a:lnSpc>
                <a:spcPct val="140000"/>
              </a:lnSpc>
            </a:pPr>
            <a:r>
              <a:rPr lang="zh-CN" altLang="en-US" sz="2800" b="1" dirty="0">
                <a:solidFill>
                  <a:schemeClr val="folHlink"/>
                </a:solidFill>
                <a:ea typeface="华文中宋" panose="02010600040101010101" pitchFamily="2" charset="-122"/>
              </a:rPr>
              <a:t>以锌为主要合金元素的铜合金称为黄铜。</a:t>
            </a:r>
          </a:p>
          <a:p>
            <a:pPr eaLnBrk="1" hangingPunct="1">
              <a:lnSpc>
                <a:spcPct val="140000"/>
              </a:lnSpc>
            </a:pPr>
            <a:r>
              <a:rPr lang="zh-CN" altLang="en-US" sz="2800" b="1" dirty="0">
                <a:ea typeface="华文中宋" panose="02010600040101010101" pitchFamily="2" charset="-122"/>
              </a:rPr>
              <a:t>黄铜按化学成分可分为</a:t>
            </a:r>
            <a:r>
              <a:rPr lang="zh-CN" altLang="en-US" sz="2800" b="1" dirty="0">
                <a:solidFill>
                  <a:schemeClr val="folHlink"/>
                </a:solidFill>
                <a:ea typeface="华文中宋" panose="02010600040101010101" pitchFamily="2" charset="-122"/>
              </a:rPr>
              <a:t>普通黄铜</a:t>
            </a:r>
            <a:r>
              <a:rPr lang="zh-CN" altLang="en-US" sz="2800" b="1" dirty="0">
                <a:ea typeface="华文中宋" panose="02010600040101010101" pitchFamily="2" charset="-122"/>
              </a:rPr>
              <a:t>和</a:t>
            </a:r>
            <a:r>
              <a:rPr lang="zh-CN" altLang="en-US" sz="2800" b="1" dirty="0">
                <a:solidFill>
                  <a:schemeClr val="folHlink"/>
                </a:solidFill>
                <a:ea typeface="华文中宋" panose="02010600040101010101" pitchFamily="2" charset="-122"/>
              </a:rPr>
              <a:t>特殊黄铜</a:t>
            </a:r>
            <a:r>
              <a:rPr lang="zh-CN" altLang="en-US" sz="2800" b="1" dirty="0">
                <a:ea typeface="华文中宋" panose="02010600040101010101" pitchFamily="2" charset="-122"/>
              </a:rPr>
              <a:t>。</a:t>
            </a:r>
          </a:p>
          <a:p>
            <a:pPr eaLnBrk="1" hangingPunct="1">
              <a:lnSpc>
                <a:spcPct val="140000"/>
              </a:lnSpc>
            </a:pPr>
            <a:r>
              <a:rPr lang="zh-CN" altLang="en-US" sz="2800" b="1" dirty="0">
                <a:solidFill>
                  <a:srgbClr val="CCFF33"/>
                </a:solidFill>
                <a:ea typeface="华文中宋" panose="02010600040101010101" pitchFamily="2" charset="-122"/>
              </a:rPr>
              <a:t>按工艺可分为</a:t>
            </a:r>
            <a:r>
              <a:rPr lang="zh-CN" altLang="en-US" sz="2800" b="1" dirty="0">
                <a:solidFill>
                  <a:schemeClr val="folHlink"/>
                </a:solidFill>
                <a:ea typeface="华文中宋" panose="02010600040101010101" pitchFamily="2" charset="-122"/>
              </a:rPr>
              <a:t>加工黄铜</a:t>
            </a:r>
            <a:r>
              <a:rPr lang="zh-CN" altLang="en-US" sz="2800" b="1" dirty="0">
                <a:solidFill>
                  <a:srgbClr val="CCFF33"/>
                </a:solidFill>
                <a:ea typeface="华文中宋" panose="02010600040101010101" pitchFamily="2" charset="-122"/>
              </a:rPr>
              <a:t>和</a:t>
            </a:r>
            <a:r>
              <a:rPr lang="zh-CN" altLang="en-US" sz="2800" b="1" dirty="0">
                <a:solidFill>
                  <a:schemeClr val="folHlink"/>
                </a:solidFill>
                <a:ea typeface="华文中宋" panose="02010600040101010101" pitchFamily="2" charset="-122"/>
              </a:rPr>
              <a:t>铸造黄铜</a:t>
            </a:r>
            <a:r>
              <a:rPr lang="zh-CN" altLang="en-US" sz="2800" b="1" dirty="0">
                <a:solidFill>
                  <a:srgbClr val="CCFF33"/>
                </a:solidFill>
                <a:ea typeface="华文中宋" panose="02010600040101010101" pitchFamily="2" charset="-122"/>
              </a:rPr>
              <a:t>。</a:t>
            </a:r>
            <a:r>
              <a:rPr lang="zh-CN" altLang="en-US" sz="2800" b="1" dirty="0">
                <a:ea typeface="华文中宋" panose="02010600040101010101" pitchFamily="2" charset="-122"/>
              </a:rPr>
              <a:t> </a:t>
            </a:r>
          </a:p>
        </p:txBody>
      </p:sp>
      <p:grpSp>
        <p:nvGrpSpPr>
          <p:cNvPr id="2" name="Group 1039"/>
          <p:cNvGrpSpPr/>
          <p:nvPr/>
        </p:nvGrpSpPr>
        <p:grpSpPr>
          <a:xfrm>
            <a:off x="609600" y="3467100"/>
            <a:ext cx="8037513" cy="2949575"/>
            <a:chOff x="384" y="2184"/>
            <a:chExt cx="5063" cy="1858"/>
          </a:xfrm>
        </p:grpSpPr>
        <p:pic>
          <p:nvPicPr>
            <p:cNvPr id="71684" name="Picture 1035" descr="C:\Documents and Settings\Administrator\My Documents\My Pictures\黄铜件.jpg"/>
            <p:cNvPicPr>
              <a:picLocks noChangeAspect="1"/>
            </p:cNvPicPr>
            <p:nvPr/>
          </p:nvPicPr>
          <p:blipFill>
            <a:blip r:embed="rId2"/>
            <a:stretch>
              <a:fillRect/>
            </a:stretch>
          </p:blipFill>
          <p:spPr>
            <a:xfrm>
              <a:off x="384" y="2208"/>
              <a:ext cx="2272" cy="1817"/>
            </a:xfrm>
            <a:prstGeom prst="rect">
              <a:avLst/>
            </a:prstGeom>
            <a:noFill/>
            <a:ln w="38100" cap="flat" cmpd="sng">
              <a:solidFill>
                <a:srgbClr val="FFCC00"/>
              </a:solidFill>
              <a:prstDash val="solid"/>
              <a:miter/>
              <a:headEnd type="none" w="med" len="med"/>
              <a:tailEnd type="none" w="med" len="med"/>
            </a:ln>
          </p:spPr>
        </p:pic>
        <p:pic>
          <p:nvPicPr>
            <p:cNvPr id="71685" name="Picture 1036" descr="C:\Documents and Settings\Administrator\My Documents\My Pictures\黄铜型材1.jpg"/>
            <p:cNvPicPr>
              <a:picLocks noChangeAspect="1"/>
            </p:cNvPicPr>
            <p:nvPr/>
          </p:nvPicPr>
          <p:blipFill>
            <a:blip r:embed="rId3"/>
            <a:stretch>
              <a:fillRect/>
            </a:stretch>
          </p:blipFill>
          <p:spPr>
            <a:xfrm>
              <a:off x="2736" y="2184"/>
              <a:ext cx="2711" cy="1858"/>
            </a:xfrm>
            <a:prstGeom prst="rect">
              <a:avLst/>
            </a:prstGeom>
            <a:noFill/>
            <a:ln w="9525">
              <a:noFill/>
            </a:ln>
          </p:spPr>
        </p:pic>
        <p:sp>
          <p:nvSpPr>
            <p:cNvPr id="59405" name="Text Box 1037"/>
            <p:cNvSpPr txBox="1">
              <a:spLocks noChangeArrowheads="1"/>
            </p:cNvSpPr>
            <p:nvPr/>
          </p:nvSpPr>
          <p:spPr bwMode="auto">
            <a:xfrm>
              <a:off x="1680" y="2208"/>
              <a:ext cx="996" cy="288"/>
            </a:xfrm>
            <a:prstGeom prst="rect">
              <a:avLst/>
            </a:prstGeom>
            <a:noFill/>
            <a:ln w="9525">
              <a:noFill/>
              <a:miter lim="800000"/>
            </a:ln>
            <a:effectLst/>
          </p:spPr>
          <p:txBody>
            <a:bodyPr>
              <a:spAutoFit/>
            </a:bodyPr>
            <a:lstStyle/>
            <a:p>
              <a:pPr marR="0" algn="r" defTabSz="914400">
                <a:buClrTx/>
                <a:buSzTx/>
                <a:buFontTx/>
                <a:buNone/>
                <a:defRPr/>
              </a:pPr>
              <a:r>
                <a:rPr kumimoji="1" lang="zh-CN" altLang="en-US" kern="1200" cap="none" spc="0" normalizeH="0" baseline="0" noProof="0">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黄铜铸件</a:t>
              </a:r>
            </a:p>
          </p:txBody>
        </p:sp>
        <p:sp>
          <p:nvSpPr>
            <p:cNvPr id="71687" name="Text Box 1038"/>
            <p:cNvSpPr txBox="1"/>
            <p:nvPr/>
          </p:nvSpPr>
          <p:spPr>
            <a:xfrm>
              <a:off x="2784" y="2196"/>
              <a:ext cx="816" cy="288"/>
            </a:xfrm>
            <a:prstGeom prst="rect">
              <a:avLst/>
            </a:prstGeom>
            <a:noFill/>
            <a:ln w="9525">
              <a:noFill/>
            </a:ln>
          </p:spPr>
          <p:txBody>
            <a:bodyPr>
              <a:spAutoFit/>
            </a:bodyPr>
            <a:lstStyle/>
            <a:p>
              <a:r>
                <a:rPr lang="zh-CN" altLang="en-US" dirty="0">
                  <a:latin typeface="Times New Roman" panose="02020603050405020304" pitchFamily="18" charset="0"/>
                </a:rPr>
                <a:t>黄铜棒</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wipe(left)">
                                      <p:cBhvr>
                                        <p:cTn id="7" dur="500"/>
                                        <p:tgtEl>
                                          <p:spTgt spid="5939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9395">
                                            <p:txEl>
                                              <p:pRg st="1" end="1"/>
                                            </p:txEl>
                                          </p:spTgt>
                                        </p:tgtEl>
                                        <p:attrNameLst>
                                          <p:attrName>style.visibility</p:attrName>
                                        </p:attrNameLst>
                                      </p:cBhvr>
                                      <p:to>
                                        <p:strVal val="visible"/>
                                      </p:to>
                                    </p:set>
                                    <p:animEffect transition="in" filter="wipe(left)">
                                      <p:cBhvr>
                                        <p:cTn id="11" dur="500"/>
                                        <p:tgtEl>
                                          <p:spTgt spid="5939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animEffect transition="in" filter="wipe(left)">
                                      <p:cBhvr>
                                        <p:cTn id="15" dur="500"/>
                                        <p:tgtEl>
                                          <p:spTgt spid="5939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9395">
                                            <p:txEl>
                                              <p:pRg st="3" end="3"/>
                                            </p:txEl>
                                          </p:spTgt>
                                        </p:tgtEl>
                                        <p:attrNameLst>
                                          <p:attrName>style.visibility</p:attrName>
                                        </p:attrNameLst>
                                      </p:cBhvr>
                                      <p:to>
                                        <p:strVal val="visible"/>
                                      </p:to>
                                    </p:set>
                                    <p:animEffect transition="in" filter="wipe(left)">
                                      <p:cBhvr>
                                        <p:cTn id="19" dur="500"/>
                                        <p:tgtEl>
                                          <p:spTgt spid="59395">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dvAuto="100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p:cNvSpPr>
          <p:nvPr>
            <p:ph idx="1"/>
          </p:nvPr>
        </p:nvSpPr>
        <p:spPr>
          <a:xfrm>
            <a:off x="228600" y="381000"/>
            <a:ext cx="3429000" cy="5873750"/>
          </a:xfrm>
          <a:ln/>
        </p:spPr>
        <p:txBody>
          <a:bodyPr vert="horz" wrap="square" lIns="91440" tIns="45720" rIns="91440" bIns="45720" anchor="t" anchorCtr="0"/>
          <a:lstStyle/>
          <a:p>
            <a:pPr eaLnBrk="1" hangingPunct="1">
              <a:lnSpc>
                <a:spcPct val="140000"/>
              </a:lnSpc>
            </a:pPr>
            <a:r>
              <a:rPr lang="en-US" altLang="zh-CN" sz="2800" b="1" dirty="0">
                <a:solidFill>
                  <a:schemeClr val="tx2"/>
                </a:solidFill>
                <a:ea typeface="华文中宋" panose="02010600040101010101" pitchFamily="2" charset="-122"/>
              </a:rPr>
              <a:t>1</a:t>
            </a:r>
            <a:r>
              <a:rPr lang="zh-CN" altLang="en-US" sz="2800" b="1" dirty="0">
                <a:solidFill>
                  <a:schemeClr val="tx2"/>
                </a:solidFill>
                <a:ea typeface="华文中宋" panose="02010600040101010101" pitchFamily="2" charset="-122"/>
              </a:rPr>
              <a:t>、普通黄铜</a:t>
            </a:r>
          </a:p>
          <a:p>
            <a:pPr eaLnBrk="1" hangingPunct="1">
              <a:lnSpc>
                <a:spcPct val="140000"/>
              </a:lnSpc>
            </a:pPr>
            <a:r>
              <a:rPr lang="zh-CN" altLang="en-US" sz="2800" b="1" dirty="0">
                <a:solidFill>
                  <a:schemeClr val="folHlink"/>
                </a:solidFill>
                <a:ea typeface="华文中宋" panose="02010600040101010101" pitchFamily="2" charset="-122"/>
              </a:rPr>
              <a:t>铜与锌的二元合金称为普通黄铜。</a:t>
            </a:r>
          </a:p>
          <a:p>
            <a:pPr eaLnBrk="1" hangingPunct="1">
              <a:lnSpc>
                <a:spcPct val="140000"/>
              </a:lnSpc>
            </a:pPr>
            <a:r>
              <a:rPr lang="zh-CN" altLang="en-US" sz="2800" b="1" dirty="0">
                <a:ea typeface="华文中宋" panose="02010600040101010101" pitchFamily="2" charset="-122"/>
              </a:rPr>
              <a:t>加工普通黄铜的牌号为：</a:t>
            </a:r>
            <a:r>
              <a:rPr lang="en-US" altLang="zh-CN" sz="2800" b="1" dirty="0">
                <a:solidFill>
                  <a:srgbClr val="CCFF33"/>
                </a:solidFill>
                <a:ea typeface="华文中宋" panose="02010600040101010101" pitchFamily="2" charset="-122"/>
              </a:rPr>
              <a:t>H (</a:t>
            </a:r>
            <a:r>
              <a:rPr lang="zh-CN" altLang="en-US" sz="2800" b="1" dirty="0">
                <a:solidFill>
                  <a:srgbClr val="CCFF33"/>
                </a:solidFill>
                <a:ea typeface="华文中宋" panose="02010600040101010101" pitchFamily="2" charset="-122"/>
              </a:rPr>
              <a:t>黄</a:t>
            </a:r>
            <a:r>
              <a:rPr lang="en-US" altLang="zh-CN" sz="2800" b="1" dirty="0">
                <a:solidFill>
                  <a:srgbClr val="CCFF33"/>
                </a:solidFill>
                <a:ea typeface="华文中宋" panose="02010600040101010101" pitchFamily="2" charset="-122"/>
              </a:rPr>
              <a:t>) + </a:t>
            </a:r>
            <a:r>
              <a:rPr lang="zh-CN" altLang="en-US" sz="2800" b="1" dirty="0">
                <a:solidFill>
                  <a:srgbClr val="CCFF33"/>
                </a:solidFill>
                <a:ea typeface="华文中宋" panose="02010600040101010101" pitchFamily="2" charset="-122"/>
              </a:rPr>
              <a:t>表示铜平均百分含量的数字</a:t>
            </a:r>
            <a:r>
              <a:rPr lang="zh-CN" altLang="en-US" sz="2800" b="1" dirty="0">
                <a:ea typeface="华文中宋" panose="02010600040101010101" pitchFamily="2" charset="-122"/>
              </a:rPr>
              <a:t>，如</a:t>
            </a:r>
            <a:r>
              <a:rPr lang="en-US" altLang="zh-CN" sz="2800" b="1" dirty="0">
                <a:ea typeface="华文中宋" panose="02010600040101010101" pitchFamily="2" charset="-122"/>
              </a:rPr>
              <a:t>H68</a:t>
            </a:r>
            <a:r>
              <a:rPr lang="zh-CN" altLang="en-US" sz="2800" b="1" dirty="0">
                <a:ea typeface="华文中宋" panose="02010600040101010101" pitchFamily="2" charset="-122"/>
              </a:rPr>
              <a:t>。</a:t>
            </a:r>
          </a:p>
        </p:txBody>
      </p:sp>
      <p:pic>
        <p:nvPicPr>
          <p:cNvPr id="43012" name="Picture 4" descr="C:\My Documents\My Pictures\3a.JPG"/>
          <p:cNvPicPr>
            <a:picLocks noChangeAspect="1"/>
          </p:cNvPicPr>
          <p:nvPr/>
        </p:nvPicPr>
        <p:blipFill>
          <a:blip r:embed="rId2"/>
          <a:stretch>
            <a:fillRect/>
          </a:stretch>
        </p:blipFill>
        <p:spPr>
          <a:xfrm>
            <a:off x="3856038" y="609600"/>
            <a:ext cx="4678362" cy="4157663"/>
          </a:xfrm>
          <a:prstGeom prst="rect">
            <a:avLst/>
          </a:prstGeom>
          <a:noFill/>
          <a:ln w="57150" cap="flat" cmpd="sng">
            <a:solidFill>
              <a:srgbClr val="FF9900"/>
            </a:solidFill>
            <a:prstDash val="solid"/>
            <a:miter/>
            <a:headEnd type="none" w="med" len="med"/>
            <a:tailEnd type="none" w="med" len="med"/>
          </a:ln>
        </p:spPr>
      </p:pic>
      <p:sp>
        <p:nvSpPr>
          <p:cNvPr id="43014" name="Rectangle 6"/>
          <p:cNvSpPr/>
          <p:nvPr/>
        </p:nvSpPr>
        <p:spPr>
          <a:xfrm>
            <a:off x="228600" y="4800600"/>
            <a:ext cx="8534400" cy="16002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a:latin typeface="Times New Roman" panose="02020603050405020304" pitchFamily="18" charset="0"/>
                <a:ea typeface="华文中宋" panose="02010600040101010101" pitchFamily="2" charset="-122"/>
              </a:rPr>
              <a:t>从铜锌合金相图可以看出黄铜有</a:t>
            </a:r>
            <a:r>
              <a:rPr lang="zh-CN" altLang="en-US" sz="2800">
                <a:latin typeface="Times New Roman" panose="02020603050405020304" pitchFamily="18" charset="0"/>
                <a:ea typeface="华文中宋" panose="02010600040101010101" pitchFamily="2" charset="-122"/>
                <a:sym typeface="Symbol" panose="05050102010706020507" pitchFamily="18" charset="2"/>
              </a:rPr>
              <a:t></a:t>
            </a:r>
            <a:r>
              <a:rPr lang="zh-CN" altLang="en-US" sz="2800">
                <a:latin typeface="Times New Roman" panose="02020603050405020304" pitchFamily="18" charset="0"/>
                <a:ea typeface="华文中宋" panose="02010600040101010101" pitchFamily="2" charset="-122"/>
              </a:rPr>
              <a:t> 和</a:t>
            </a:r>
            <a:r>
              <a:rPr lang="zh-CN" altLang="en-US" sz="2800">
                <a:latin typeface="Times New Roman" panose="02020603050405020304" pitchFamily="18" charset="0"/>
                <a:ea typeface="华文中宋" panose="02010600040101010101" pitchFamily="2" charset="-122"/>
                <a:sym typeface="Symbol" panose="05050102010706020507" pitchFamily="18" charset="2"/>
              </a:rPr>
              <a:t></a:t>
            </a:r>
            <a:r>
              <a:rPr lang="en-US" altLang="zh-CN" sz="280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sym typeface="Symbol" panose="05050102010706020507" pitchFamily="18" charset="2"/>
              </a:rPr>
              <a:t></a:t>
            </a:r>
            <a:r>
              <a:rPr lang="en-US" altLang="zh-CN" sz="2800">
                <a:latin typeface="Times New Roman" panose="02020603050405020304" pitchFamily="18" charset="0"/>
                <a:ea typeface="华文中宋" panose="02010600040101010101" pitchFamily="2" charset="-122"/>
              </a:rPr>
              <a:t>’ </a:t>
            </a:r>
            <a:r>
              <a:rPr lang="zh-CN" altLang="en-US" sz="2800">
                <a:latin typeface="Times New Roman" panose="02020603050405020304" pitchFamily="18" charset="0"/>
                <a:ea typeface="华文中宋" panose="02010600040101010101" pitchFamily="2" charset="-122"/>
              </a:rPr>
              <a:t>两种组织</a:t>
            </a:r>
            <a:r>
              <a:rPr lang="en-US" altLang="zh-CN" sz="2800">
                <a:latin typeface="Times New Roman" panose="02020603050405020304" pitchFamily="18" charset="0"/>
                <a:ea typeface="华文中宋" panose="02010600040101010101" pitchFamily="2" charset="-122"/>
              </a:rPr>
              <a:t>,</a:t>
            </a:r>
            <a:r>
              <a:rPr lang="zh-CN" altLang="en-US" sz="2800">
                <a:latin typeface="Times New Roman" panose="02020603050405020304" pitchFamily="18" charset="0"/>
                <a:ea typeface="华文中宋" panose="02010600040101010101" pitchFamily="2" charset="-122"/>
              </a:rPr>
              <a:t>分别称单相黄铜和两相黄铜。 </a:t>
            </a:r>
            <a:endParaRPr lang="zh-CN" altLang="en-US" sz="2800" dirty="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wipe(left)">
                                      <p:cBhvr>
                                        <p:cTn id="7" dur="500"/>
                                        <p:tgtEl>
                                          <p:spTgt spid="4301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Effect transition="in" filter="wipe(left)">
                                      <p:cBhvr>
                                        <p:cTn id="11" dur="500"/>
                                        <p:tgtEl>
                                          <p:spTgt spid="4301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animEffect transition="in" filter="wipe(left)">
                                      <p:cBhvr>
                                        <p:cTn id="15" dur="500"/>
                                        <p:tgtEl>
                                          <p:spTgt spid="43011">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3014"/>
                                        </p:tgtEl>
                                        <p:attrNameLst>
                                          <p:attrName>style.visibility</p:attrName>
                                        </p:attrNameLst>
                                      </p:cBhvr>
                                      <p:to>
                                        <p:strVal val="visible"/>
                                      </p:to>
                                    </p:set>
                                    <p:animEffect transition="in" filter="wipe(left)">
                                      <p:cBhvr>
                                        <p:cTn id="19" dur="500"/>
                                        <p:tgtEl>
                                          <p:spTgt spid="43014"/>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3012"/>
                                        </p:tgtEl>
                                        <p:attrNameLst>
                                          <p:attrName>style.visibility</p:attrName>
                                        </p:attrNameLst>
                                      </p:cBhvr>
                                      <p:to>
                                        <p:strVal val="visible"/>
                                      </p:to>
                                    </p:set>
                                    <p:animEffect transition="in" filter="wipe(up)">
                                      <p:cBhvr>
                                        <p:cTn id="23"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dvAuto="1000"/>
      <p:bldP spid="430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914400"/>
            <a:ext cx="7772400" cy="762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a:ln>
                  <a:noFill/>
                </a:ln>
                <a:solidFill>
                  <a:schemeClr val="tx2"/>
                </a:solidFill>
                <a:effectLst>
                  <a:outerShdw blurRad="38100" dist="38100" dir="2700000" algn="tl">
                    <a:srgbClr val="000000"/>
                  </a:outerShdw>
                </a:effectLst>
                <a:uLnTx/>
                <a:uFillTx/>
                <a:latin typeface="Times New Roman" panose="02020603050405020304" pitchFamily="18" charset="0"/>
                <a:ea typeface="华文中宋" panose="02010600040101010101" pitchFamily="2" charset="-122"/>
                <a:cs typeface="+mj-cs"/>
              </a:rPr>
              <a:t>普通黄铜的显微组织</a:t>
            </a:r>
            <a:r>
              <a:rPr kumimoji="1"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grpSp>
        <p:nvGrpSpPr>
          <p:cNvPr id="2" name="Group 9"/>
          <p:cNvGrpSpPr/>
          <p:nvPr/>
        </p:nvGrpSpPr>
        <p:grpSpPr>
          <a:xfrm>
            <a:off x="228600" y="2286000"/>
            <a:ext cx="8751888" cy="3733800"/>
            <a:chOff x="144" y="1440"/>
            <a:chExt cx="5513" cy="2352"/>
          </a:xfrm>
        </p:grpSpPr>
        <p:pic>
          <p:nvPicPr>
            <p:cNvPr id="73732" name="Picture 4" descr="C:\My Documents\My Pictures\3b.JPG"/>
            <p:cNvPicPr>
              <a:picLocks noChangeAspect="1"/>
            </p:cNvPicPr>
            <p:nvPr/>
          </p:nvPicPr>
          <p:blipFill>
            <a:blip r:embed="rId2"/>
            <a:stretch>
              <a:fillRect/>
            </a:stretch>
          </p:blipFill>
          <p:spPr>
            <a:xfrm>
              <a:off x="144" y="1440"/>
              <a:ext cx="2736" cy="2035"/>
            </a:xfrm>
            <a:prstGeom prst="rect">
              <a:avLst/>
            </a:prstGeom>
            <a:noFill/>
            <a:ln w="38100" cap="flat" cmpd="sng">
              <a:solidFill>
                <a:schemeClr val="accent1"/>
              </a:solidFill>
              <a:prstDash val="solid"/>
              <a:miter/>
              <a:headEnd type="none" w="med" len="med"/>
              <a:tailEnd type="none" w="med" len="med"/>
            </a:ln>
          </p:spPr>
        </p:pic>
        <p:pic>
          <p:nvPicPr>
            <p:cNvPr id="73733" name="Picture 5" descr="C:\My Documents\My Pictures\4a.JPG"/>
            <p:cNvPicPr>
              <a:picLocks noChangeAspect="1"/>
            </p:cNvPicPr>
            <p:nvPr/>
          </p:nvPicPr>
          <p:blipFill>
            <a:blip r:embed="rId3"/>
            <a:stretch>
              <a:fillRect/>
            </a:stretch>
          </p:blipFill>
          <p:spPr>
            <a:xfrm>
              <a:off x="3000" y="1440"/>
              <a:ext cx="2657" cy="2030"/>
            </a:xfrm>
            <a:prstGeom prst="rect">
              <a:avLst/>
            </a:prstGeom>
            <a:noFill/>
            <a:ln w="38100" cap="flat" cmpd="sng">
              <a:solidFill>
                <a:schemeClr val="accent1"/>
              </a:solidFill>
              <a:prstDash val="solid"/>
              <a:miter/>
              <a:headEnd type="none" w="med" len="med"/>
              <a:tailEnd type="none" w="med" len="med"/>
            </a:ln>
          </p:spPr>
        </p:pic>
        <p:sp>
          <p:nvSpPr>
            <p:cNvPr id="73734" name="Text Box 6"/>
            <p:cNvSpPr txBox="1"/>
            <p:nvPr/>
          </p:nvSpPr>
          <p:spPr>
            <a:xfrm>
              <a:off x="768" y="3504"/>
              <a:ext cx="1536" cy="288"/>
            </a:xfrm>
            <a:prstGeom prst="rect">
              <a:avLst/>
            </a:prstGeom>
            <a:noFill/>
            <a:ln w="9525">
              <a:noFill/>
            </a:ln>
          </p:spPr>
          <p:txBody>
            <a:bodyPr>
              <a:spAutoFit/>
            </a:bodyPr>
            <a:lstStyle/>
            <a:p>
              <a:r>
                <a:rPr lang="zh-CN" altLang="en-US" dirty="0">
                  <a:latin typeface="宋体" panose="02010600030101010101" pitchFamily="2" charset="-122"/>
                </a:rPr>
                <a:t>单相黄铜 </a:t>
              </a:r>
            </a:p>
          </p:txBody>
        </p:sp>
        <p:sp>
          <p:nvSpPr>
            <p:cNvPr id="73735" name="Text Box 7"/>
            <p:cNvSpPr txBox="1"/>
            <p:nvPr/>
          </p:nvSpPr>
          <p:spPr>
            <a:xfrm>
              <a:off x="3552" y="3504"/>
              <a:ext cx="1536" cy="288"/>
            </a:xfrm>
            <a:prstGeom prst="rect">
              <a:avLst/>
            </a:prstGeom>
            <a:noFill/>
            <a:ln w="9525">
              <a:noFill/>
            </a:ln>
          </p:spPr>
          <p:txBody>
            <a:bodyPr>
              <a:spAutoFit/>
            </a:bodyPr>
            <a:lstStyle/>
            <a:p>
              <a:r>
                <a:rPr lang="zh-CN" altLang="en-US" dirty="0">
                  <a:latin typeface="宋体" panose="02010600030101010101" pitchFamily="2" charset="-122"/>
                </a:rPr>
                <a:t>两相黄铜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idx="1"/>
          </p:nvPr>
        </p:nvSpPr>
        <p:spPr>
          <a:xfrm>
            <a:off x="228600" y="457200"/>
            <a:ext cx="4848225" cy="6172200"/>
          </a:xfrm>
          <a:ln/>
        </p:spPr>
        <p:txBody>
          <a:bodyPr vert="horz" wrap="square" lIns="91440" tIns="45720" rIns="91440" bIns="45720" anchor="t" anchorCtr="0"/>
          <a:lstStyle/>
          <a:p>
            <a:pPr eaLnBrk="1" hangingPunct="1"/>
            <a:r>
              <a:rPr lang="zh-CN" altLang="en-US" sz="2800" b="1" dirty="0">
                <a:solidFill>
                  <a:schemeClr val="tx2"/>
                </a:solidFill>
                <a:ea typeface="华文中宋" panose="02010600040101010101" pitchFamily="2" charset="-122"/>
              </a:rPr>
              <a:t>单相黄铜</a:t>
            </a:r>
            <a:r>
              <a:rPr lang="zh-CN" altLang="en-US" sz="2800" b="1" dirty="0">
                <a:ea typeface="华文中宋" panose="02010600040101010101" pitchFamily="2" charset="-122"/>
              </a:rPr>
              <a:t>塑性好。</a:t>
            </a:r>
          </a:p>
          <a:p>
            <a:pPr eaLnBrk="1" hangingPunct="1">
              <a:lnSpc>
                <a:spcPct val="140000"/>
              </a:lnSpc>
            </a:pPr>
            <a:r>
              <a:rPr lang="zh-CN" altLang="en-US" sz="2800" b="1" dirty="0">
                <a:solidFill>
                  <a:schemeClr val="folHlink"/>
                </a:solidFill>
                <a:ea typeface="华文中宋" panose="02010600040101010101" pitchFamily="2" charset="-122"/>
              </a:rPr>
              <a:t>常用牌号有</a:t>
            </a:r>
            <a:r>
              <a:rPr lang="en-US" altLang="zh-CN" sz="2800" b="1">
                <a:solidFill>
                  <a:schemeClr val="folHlink"/>
                </a:solidFill>
                <a:ea typeface="华文中宋" panose="02010600040101010101" pitchFamily="2" charset="-122"/>
              </a:rPr>
              <a:t>H80</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H70</a:t>
            </a:r>
            <a:r>
              <a:rPr lang="zh-CN" altLang="en-US" sz="2800" b="1" dirty="0">
                <a:solidFill>
                  <a:schemeClr val="folHlink"/>
                </a:solidFill>
                <a:ea typeface="华文中宋" panose="02010600040101010101" pitchFamily="2" charset="-122"/>
              </a:rPr>
              <a:t>、</a:t>
            </a:r>
          </a:p>
          <a:p>
            <a:pPr eaLnBrk="1" hangingPunct="1">
              <a:lnSpc>
                <a:spcPct val="140000"/>
              </a:lnSpc>
              <a:buNone/>
            </a:pPr>
            <a:r>
              <a:rPr lang="zh-CN" altLang="en-US" sz="2800" b="1" dirty="0">
                <a:solidFill>
                  <a:schemeClr val="folHlink"/>
                </a:solidFill>
                <a:ea typeface="华文中宋" panose="02010600040101010101" pitchFamily="2" charset="-122"/>
              </a:rPr>
              <a:t>    </a:t>
            </a:r>
            <a:r>
              <a:rPr lang="en-US" altLang="zh-CN" sz="2800" b="1">
                <a:solidFill>
                  <a:schemeClr val="folHlink"/>
                </a:solidFill>
                <a:ea typeface="华文中宋" panose="02010600040101010101" pitchFamily="2" charset="-122"/>
              </a:rPr>
              <a:t>H 68</a:t>
            </a:r>
            <a:r>
              <a:rPr lang="zh-CN" altLang="en-US" sz="2800" b="1" dirty="0">
                <a:solidFill>
                  <a:schemeClr val="folHlink"/>
                </a:solidFill>
                <a:ea typeface="华文中宋" panose="02010600040101010101" pitchFamily="2" charset="-122"/>
              </a:rPr>
              <a:t>。</a:t>
            </a:r>
            <a:endParaRPr lang="zh-CN" altLang="en-US" sz="2800" b="1" dirty="0">
              <a:ea typeface="华文中宋" panose="02010600040101010101" pitchFamily="2" charset="-122"/>
            </a:endParaRPr>
          </a:p>
          <a:p>
            <a:pPr eaLnBrk="1" hangingPunct="1">
              <a:lnSpc>
                <a:spcPct val="140000"/>
              </a:lnSpc>
            </a:pPr>
            <a:r>
              <a:rPr lang="zh-CN" altLang="en-US" sz="2800" b="1" dirty="0">
                <a:solidFill>
                  <a:srgbClr val="CCFF33"/>
                </a:solidFill>
                <a:ea typeface="华文中宋" panose="02010600040101010101" pitchFamily="2" charset="-122"/>
              </a:rPr>
              <a:t>适于制造冷变形零件，如弹壳、冷凝器管等。</a:t>
            </a:r>
            <a:endParaRPr lang="zh-CN" altLang="en-US" sz="2800" b="1" dirty="0">
              <a:ea typeface="华文中宋" panose="02010600040101010101" pitchFamily="2" charset="-122"/>
            </a:endParaRPr>
          </a:p>
          <a:p>
            <a:pPr eaLnBrk="1" hangingPunct="1">
              <a:lnSpc>
                <a:spcPct val="140000"/>
              </a:lnSpc>
            </a:pPr>
            <a:r>
              <a:rPr lang="zh-CN" altLang="en-US" sz="2800" b="1" dirty="0">
                <a:solidFill>
                  <a:schemeClr val="tx2"/>
                </a:solidFill>
                <a:ea typeface="华文中宋" panose="02010600040101010101" pitchFamily="2" charset="-122"/>
              </a:rPr>
              <a:t>两相黄铜</a:t>
            </a:r>
            <a:r>
              <a:rPr lang="zh-CN" altLang="en-US" sz="2800" b="1" dirty="0">
                <a:ea typeface="华文中宋" panose="02010600040101010101" pitchFamily="2" charset="-122"/>
              </a:rPr>
              <a:t>热塑性好</a:t>
            </a:r>
            <a:r>
              <a:rPr lang="en-US" altLang="zh-CN" sz="2800" b="1">
                <a:ea typeface="华文中宋" panose="02010600040101010101" pitchFamily="2" charset="-122"/>
              </a:rPr>
              <a:t>, </a:t>
            </a:r>
            <a:r>
              <a:rPr lang="zh-CN" altLang="en-US" sz="2800" b="1" dirty="0">
                <a:ea typeface="华文中宋" panose="02010600040101010101" pitchFamily="2" charset="-122"/>
              </a:rPr>
              <a:t>强度高</a:t>
            </a:r>
            <a:r>
              <a:rPr lang="en-US" altLang="zh-CN" sz="2800" b="1">
                <a:ea typeface="华文中宋" panose="02010600040101010101" pitchFamily="2" charset="-122"/>
              </a:rPr>
              <a:t>.</a:t>
            </a:r>
          </a:p>
          <a:p>
            <a:pPr eaLnBrk="1" hangingPunct="1">
              <a:lnSpc>
                <a:spcPct val="140000"/>
              </a:lnSpc>
            </a:pPr>
            <a:r>
              <a:rPr lang="zh-CN" altLang="en-US" sz="2800" b="1" dirty="0">
                <a:solidFill>
                  <a:schemeClr val="folHlink"/>
                </a:solidFill>
                <a:ea typeface="华文中宋" panose="02010600040101010101" pitchFamily="2" charset="-122"/>
              </a:rPr>
              <a:t>常用牌号有</a:t>
            </a:r>
            <a:r>
              <a:rPr lang="en-US" altLang="zh-CN" sz="2800" b="1">
                <a:solidFill>
                  <a:schemeClr val="folHlink"/>
                </a:solidFill>
                <a:ea typeface="华文中宋" panose="02010600040101010101" pitchFamily="2" charset="-122"/>
              </a:rPr>
              <a:t>H59</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H62</a:t>
            </a:r>
            <a:r>
              <a:rPr lang="zh-CN" altLang="en-US" sz="2800" b="1" dirty="0">
                <a:solidFill>
                  <a:schemeClr val="folHlink"/>
                </a:solidFill>
                <a:ea typeface="华文中宋" panose="02010600040101010101" pitchFamily="2" charset="-122"/>
              </a:rPr>
              <a:t>。</a:t>
            </a:r>
          </a:p>
          <a:p>
            <a:pPr eaLnBrk="1" hangingPunct="1">
              <a:lnSpc>
                <a:spcPct val="140000"/>
              </a:lnSpc>
            </a:pPr>
            <a:r>
              <a:rPr lang="zh-CN" altLang="en-US" sz="2800" b="1" dirty="0">
                <a:solidFill>
                  <a:srgbClr val="CCFF33"/>
                </a:solidFill>
                <a:ea typeface="华文中宋" panose="02010600040101010101" pitchFamily="2" charset="-122"/>
              </a:rPr>
              <a:t>适于制造受力件，如垫圈</a:t>
            </a:r>
            <a:r>
              <a:rPr lang="zh-CN" altLang="en-US" sz="1800" b="1" dirty="0">
                <a:solidFill>
                  <a:srgbClr val="CCFF33"/>
                </a:solidFill>
                <a:ea typeface="华文中宋" panose="02010600040101010101" pitchFamily="2" charset="-122"/>
              </a:rPr>
              <a:t>、</a:t>
            </a:r>
            <a:r>
              <a:rPr lang="zh-CN" altLang="en-US" sz="2800" b="1" dirty="0">
                <a:solidFill>
                  <a:srgbClr val="CCFF33"/>
                </a:solidFill>
                <a:ea typeface="华文中宋" panose="02010600040101010101" pitchFamily="2" charset="-122"/>
              </a:rPr>
              <a:t>弹簧、导管、散热器等。</a:t>
            </a:r>
          </a:p>
        </p:txBody>
      </p:sp>
      <p:grpSp>
        <p:nvGrpSpPr>
          <p:cNvPr id="2" name="Group 20"/>
          <p:cNvGrpSpPr/>
          <p:nvPr/>
        </p:nvGrpSpPr>
        <p:grpSpPr>
          <a:xfrm>
            <a:off x="5257800" y="381000"/>
            <a:ext cx="3419475" cy="5988050"/>
            <a:chOff x="3408" y="236"/>
            <a:chExt cx="2154" cy="3772"/>
          </a:xfrm>
        </p:grpSpPr>
        <p:grpSp>
          <p:nvGrpSpPr>
            <p:cNvPr id="74756" name="Group 19"/>
            <p:cNvGrpSpPr/>
            <p:nvPr/>
          </p:nvGrpSpPr>
          <p:grpSpPr>
            <a:xfrm>
              <a:off x="3408" y="236"/>
              <a:ext cx="2154" cy="1276"/>
              <a:chOff x="3408" y="192"/>
              <a:chExt cx="2154" cy="1276"/>
            </a:xfrm>
          </p:grpSpPr>
          <p:pic>
            <p:nvPicPr>
              <p:cNvPr id="74760" name="Picture 4" descr="C:\My Documents\My Pictures\冷凝管.gif"/>
              <p:cNvPicPr>
                <a:picLocks noChangeAspect="1"/>
              </p:cNvPicPr>
              <p:nvPr/>
            </p:nvPicPr>
            <p:blipFill>
              <a:blip r:embed="rId2"/>
              <a:stretch>
                <a:fillRect/>
              </a:stretch>
            </p:blipFill>
            <p:spPr>
              <a:xfrm>
                <a:off x="3408" y="192"/>
                <a:ext cx="2154" cy="1276"/>
              </a:xfrm>
              <a:prstGeom prst="rect">
                <a:avLst/>
              </a:prstGeom>
              <a:solidFill>
                <a:schemeClr val="tx1"/>
              </a:solidFill>
              <a:ln w="38100" cap="flat" cmpd="sng">
                <a:solidFill>
                  <a:schemeClr val="accent1"/>
                </a:solidFill>
                <a:prstDash val="solid"/>
                <a:miter/>
                <a:headEnd type="none" w="med" len="med"/>
                <a:tailEnd type="none" w="med" len="med"/>
              </a:ln>
            </p:spPr>
          </p:pic>
          <p:sp>
            <p:nvSpPr>
              <p:cNvPr id="74761" name="Text Box 6"/>
              <p:cNvSpPr txBox="1"/>
              <p:nvPr/>
            </p:nvSpPr>
            <p:spPr>
              <a:xfrm>
                <a:off x="3408" y="192"/>
                <a:ext cx="768" cy="250"/>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冷凝器管</a:t>
                </a:r>
              </a:p>
            </p:txBody>
          </p:sp>
        </p:grpSp>
        <p:pic>
          <p:nvPicPr>
            <p:cNvPr id="74757" name="Picture 9" descr="C:\My Documents\My Pictures\汽车机油泵衬套.gif"/>
            <p:cNvPicPr>
              <a:picLocks noChangeAspect="1"/>
            </p:cNvPicPr>
            <p:nvPr/>
          </p:nvPicPr>
          <p:blipFill>
            <a:blip r:embed="rId3"/>
            <a:stretch>
              <a:fillRect/>
            </a:stretch>
          </p:blipFill>
          <p:spPr>
            <a:xfrm>
              <a:off x="3408" y="3456"/>
              <a:ext cx="2154" cy="534"/>
            </a:xfrm>
            <a:prstGeom prst="rect">
              <a:avLst/>
            </a:prstGeom>
            <a:noFill/>
            <a:ln w="38100" cap="flat" cmpd="sng">
              <a:solidFill>
                <a:srgbClr val="FF9900"/>
              </a:solidFill>
              <a:prstDash val="solid"/>
              <a:miter/>
              <a:headEnd type="none" w="med" len="med"/>
              <a:tailEnd type="none" w="med" len="med"/>
            </a:ln>
          </p:spPr>
        </p:pic>
        <p:sp>
          <p:nvSpPr>
            <p:cNvPr id="74758" name="Text Box 10"/>
            <p:cNvSpPr txBox="1"/>
            <p:nvPr/>
          </p:nvSpPr>
          <p:spPr>
            <a:xfrm>
              <a:off x="3948" y="3816"/>
              <a:ext cx="1296" cy="192"/>
            </a:xfrm>
            <a:prstGeom prst="rect">
              <a:avLst/>
            </a:prstGeom>
            <a:noFill/>
            <a:ln w="9525">
              <a:noFill/>
            </a:ln>
          </p:spPr>
          <p:txBody>
            <a:bodyPr>
              <a:spAutoFit/>
            </a:bodyPr>
            <a:lstStyle/>
            <a:p>
              <a:r>
                <a:rPr lang="zh-CN" altLang="en-US" sz="1400" dirty="0">
                  <a:solidFill>
                    <a:srgbClr val="800000"/>
                  </a:solidFill>
                  <a:latin typeface="Times New Roman" panose="02020603050405020304" pitchFamily="18" charset="0"/>
                </a:rPr>
                <a:t>汽车机油泵衬套</a:t>
              </a:r>
            </a:p>
          </p:txBody>
        </p:sp>
        <p:pic>
          <p:nvPicPr>
            <p:cNvPr id="74759" name="Picture 18" descr="C:\Documents and Settings\Administrator\My Documents\My Pictures\黄铜子弹壳.jpg"/>
            <p:cNvPicPr>
              <a:picLocks noChangeAspect="1"/>
            </p:cNvPicPr>
            <p:nvPr/>
          </p:nvPicPr>
          <p:blipFill>
            <a:blip r:embed="rId4"/>
            <a:stretch>
              <a:fillRect/>
            </a:stretch>
          </p:blipFill>
          <p:spPr>
            <a:xfrm>
              <a:off x="3408" y="1584"/>
              <a:ext cx="2154" cy="1788"/>
            </a:xfrm>
            <a:prstGeom prst="rect">
              <a:avLst/>
            </a:prstGeom>
            <a:noFill/>
            <a:ln w="38100" cap="flat" cmpd="sng">
              <a:solidFill>
                <a:srgbClr val="99CCFF"/>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animEffect transition="in" filter="wipe(left)">
                                      <p:cBhvr>
                                        <p:cTn id="11" dur="500"/>
                                        <p:tgtEl>
                                          <p:spTgt spid="45059">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animEffect transition="in" filter="wipe(left)">
                                      <p:cBhvr>
                                        <p:cTn id="15" dur="500"/>
                                        <p:tgtEl>
                                          <p:spTgt spid="45059">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5059">
                                            <p:txEl>
                                              <p:pRg st="3" end="3"/>
                                            </p:txEl>
                                          </p:spTgt>
                                        </p:tgtEl>
                                        <p:attrNameLst>
                                          <p:attrName>style.visibility</p:attrName>
                                        </p:attrNameLst>
                                      </p:cBhvr>
                                      <p:to>
                                        <p:strVal val="visible"/>
                                      </p:to>
                                    </p:set>
                                    <p:animEffect transition="in" filter="wipe(left)">
                                      <p:cBhvr>
                                        <p:cTn id="19" dur="500"/>
                                        <p:tgtEl>
                                          <p:spTgt spid="45059">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5059">
                                            <p:txEl>
                                              <p:pRg st="4" end="4"/>
                                            </p:txEl>
                                          </p:spTgt>
                                        </p:tgtEl>
                                        <p:attrNameLst>
                                          <p:attrName>style.visibility</p:attrName>
                                        </p:attrNameLst>
                                      </p:cBhvr>
                                      <p:to>
                                        <p:strVal val="visible"/>
                                      </p:to>
                                    </p:set>
                                    <p:animEffect transition="in" filter="wipe(left)">
                                      <p:cBhvr>
                                        <p:cTn id="23" dur="500"/>
                                        <p:tgtEl>
                                          <p:spTgt spid="45059">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45059">
                                            <p:txEl>
                                              <p:pRg st="5" end="5"/>
                                            </p:txEl>
                                          </p:spTgt>
                                        </p:tgtEl>
                                        <p:attrNameLst>
                                          <p:attrName>style.visibility</p:attrName>
                                        </p:attrNameLst>
                                      </p:cBhvr>
                                      <p:to>
                                        <p:strVal val="visible"/>
                                      </p:to>
                                    </p:set>
                                    <p:animEffect transition="in" filter="wipe(left)">
                                      <p:cBhvr>
                                        <p:cTn id="27" dur="500"/>
                                        <p:tgtEl>
                                          <p:spTgt spid="45059">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5059">
                                            <p:txEl>
                                              <p:pRg st="6" end="6"/>
                                            </p:txEl>
                                          </p:spTgt>
                                        </p:tgtEl>
                                        <p:attrNameLst>
                                          <p:attrName>style.visibility</p:attrName>
                                        </p:attrNameLst>
                                      </p:cBhvr>
                                      <p:to>
                                        <p:strVal val="visible"/>
                                      </p:to>
                                    </p:set>
                                    <p:animEffect transition="in" filter="wipe(left)">
                                      <p:cBhvr>
                                        <p:cTn id="31" dur="500"/>
                                        <p:tgtEl>
                                          <p:spTgt spid="45059">
                                            <p:txEl>
                                              <p:pRg st="6" end="6"/>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dvAuto="100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1027"/>
          <p:cNvSpPr>
            <a:spLocks noGrp="1"/>
          </p:cNvSpPr>
          <p:nvPr>
            <p:ph idx="1"/>
          </p:nvPr>
        </p:nvSpPr>
        <p:spPr>
          <a:xfrm>
            <a:off x="146050" y="228600"/>
            <a:ext cx="5035550" cy="6400800"/>
          </a:xfrm>
          <a:ln/>
        </p:spPr>
        <p:txBody>
          <a:bodyPr vert="horz" wrap="square" lIns="91440" tIns="45720" rIns="91440" bIns="45720" anchor="t" anchorCtr="0"/>
          <a:lstStyle/>
          <a:p>
            <a:pPr eaLnBrk="1" hangingPunct="1"/>
            <a:r>
              <a:rPr lang="en-US" altLang="zh-CN" sz="2800" b="1" dirty="0">
                <a:solidFill>
                  <a:schemeClr val="tx2"/>
                </a:solidFill>
                <a:ea typeface="华文中宋" panose="02010600040101010101" pitchFamily="2" charset="-122"/>
              </a:rPr>
              <a:t>2</a:t>
            </a:r>
            <a:r>
              <a:rPr lang="zh-CN" altLang="en-US" sz="2800" b="1" dirty="0">
                <a:solidFill>
                  <a:schemeClr val="tx2"/>
                </a:solidFill>
                <a:ea typeface="华文中宋" panose="02010600040101010101" pitchFamily="2" charset="-122"/>
              </a:rPr>
              <a:t>、特殊黄铜</a:t>
            </a:r>
          </a:p>
          <a:p>
            <a:pPr eaLnBrk="1" hangingPunct="1">
              <a:lnSpc>
                <a:spcPct val="100000"/>
              </a:lnSpc>
            </a:pPr>
            <a:r>
              <a:rPr lang="zh-CN" altLang="en-US" sz="2800" b="1" dirty="0">
                <a:solidFill>
                  <a:schemeClr val="folHlink"/>
                </a:solidFill>
                <a:ea typeface="华文中宋" panose="02010600040101010101" pitchFamily="2" charset="-122"/>
              </a:rPr>
              <a:t>在普通黄铜的基础上加入</a:t>
            </a:r>
            <a:r>
              <a:rPr lang="en-US" altLang="zh-CN" sz="2800" b="1" dirty="0">
                <a:solidFill>
                  <a:schemeClr val="folHlink"/>
                </a:solidFill>
                <a:ea typeface="华文中宋" panose="02010600040101010101" pitchFamily="2" charset="-122"/>
              </a:rPr>
              <a:t>Al</a:t>
            </a:r>
            <a:r>
              <a:rPr lang="zh-CN" altLang="en-US" sz="1800" b="1" dirty="0">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 </a:t>
            </a:r>
            <a:r>
              <a:rPr lang="en-US" altLang="zh-CN" sz="2800" b="1" dirty="0">
                <a:solidFill>
                  <a:schemeClr val="folHlink"/>
                </a:solidFill>
                <a:ea typeface="华文中宋" panose="02010600040101010101" pitchFamily="2" charset="-122"/>
              </a:rPr>
              <a:t>Fe</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Si</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Mn</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Pb</a:t>
            </a:r>
            <a:r>
              <a:rPr lang="zh-CN" altLang="en-US" sz="2800" b="1" dirty="0">
                <a:solidFill>
                  <a:schemeClr val="folHlink"/>
                </a:solidFill>
                <a:ea typeface="华文中宋" panose="02010600040101010101" pitchFamily="2" charset="-122"/>
              </a:rPr>
              <a:t>（</a:t>
            </a:r>
            <a:r>
              <a:rPr lang="zh-CN" altLang="zh-CN" sz="2800" b="1" dirty="0">
                <a:solidFill>
                  <a:schemeClr val="folHlink"/>
                </a:solidFill>
                <a:ea typeface="华文中宋" panose="02010600040101010101" pitchFamily="2" charset="-122"/>
              </a:rPr>
              <a:t>铅</a:t>
            </a:r>
            <a:r>
              <a:rPr lang="zh-CN" altLang="en-US" sz="2800" b="1" dirty="0">
                <a:solidFill>
                  <a:schemeClr val="folHlink"/>
                </a:solidFill>
                <a:ea typeface="华文中宋" panose="02010600040101010101" pitchFamily="2" charset="-122"/>
              </a:rPr>
              <a:t>）、 </a:t>
            </a:r>
            <a:r>
              <a:rPr lang="en-US" altLang="zh-CN" sz="2800" b="1" dirty="0">
                <a:solidFill>
                  <a:schemeClr val="folHlink"/>
                </a:solidFill>
                <a:ea typeface="华文中宋" panose="02010600040101010101" pitchFamily="2" charset="-122"/>
              </a:rPr>
              <a:t>Sn</a:t>
            </a:r>
            <a:r>
              <a:rPr lang="zh-CN" altLang="en-US" sz="2800" b="1" dirty="0">
                <a:solidFill>
                  <a:schemeClr val="folHlink"/>
                </a:solidFill>
                <a:ea typeface="华文中宋" panose="02010600040101010101" pitchFamily="2" charset="-122"/>
              </a:rPr>
              <a:t>、</a:t>
            </a:r>
            <a:r>
              <a:rPr lang="en-US" altLang="zh-CN" sz="2800" b="1" dirty="0">
                <a:solidFill>
                  <a:schemeClr val="folHlink"/>
                </a:solidFill>
                <a:ea typeface="华文中宋" panose="02010600040101010101" pitchFamily="2" charset="-122"/>
              </a:rPr>
              <a:t>Ni</a:t>
            </a:r>
            <a:r>
              <a:rPr lang="zh-CN" altLang="en-US" sz="2800" b="1" dirty="0">
                <a:solidFill>
                  <a:schemeClr val="folHlink"/>
                </a:solidFill>
                <a:ea typeface="华文中宋" panose="02010600040101010101" pitchFamily="2" charset="-122"/>
              </a:rPr>
              <a:t>等元素形成特殊黄铜。</a:t>
            </a:r>
            <a:r>
              <a:rPr lang="zh-CN" altLang="en-US" sz="2800" b="1" dirty="0">
                <a:ea typeface="华文中宋" panose="02010600040101010101" pitchFamily="2" charset="-122"/>
              </a:rPr>
              <a:t> </a:t>
            </a:r>
          </a:p>
          <a:p>
            <a:pPr eaLnBrk="1" hangingPunct="1">
              <a:lnSpc>
                <a:spcPct val="140000"/>
              </a:lnSpc>
            </a:pPr>
            <a:r>
              <a:rPr lang="zh-CN" altLang="en-US" sz="2800" b="1" dirty="0">
                <a:ea typeface="华文中宋" panose="02010600040101010101" pitchFamily="2" charset="-122"/>
              </a:rPr>
              <a:t>加工特殊黄铜的牌号为：</a:t>
            </a:r>
          </a:p>
          <a:p>
            <a:pPr eaLnBrk="1" hangingPunct="1">
              <a:lnSpc>
                <a:spcPct val="140000"/>
              </a:lnSpc>
            </a:pPr>
            <a:r>
              <a:rPr lang="en-US" altLang="zh-CN" sz="2800" b="1" dirty="0">
                <a:solidFill>
                  <a:srgbClr val="CCFF33"/>
                </a:solidFill>
                <a:ea typeface="华文中宋" panose="02010600040101010101" pitchFamily="2" charset="-122"/>
              </a:rPr>
              <a:t>H</a:t>
            </a:r>
            <a:r>
              <a:rPr lang="en-US" altLang="zh-CN" sz="2800" b="1" dirty="0">
                <a:solidFill>
                  <a:srgbClr val="CCFFFF"/>
                </a:solidFill>
                <a:ea typeface="华文中宋" panose="02010600040101010101" pitchFamily="2" charset="-122"/>
              </a:rPr>
              <a:t>(</a:t>
            </a:r>
            <a:r>
              <a:rPr lang="zh-CN" altLang="en-US" sz="2800" b="1" dirty="0">
                <a:solidFill>
                  <a:srgbClr val="CCFFFF"/>
                </a:solidFill>
                <a:ea typeface="华文中宋" panose="02010600040101010101" pitchFamily="2" charset="-122"/>
              </a:rPr>
              <a:t>黄</a:t>
            </a:r>
            <a:r>
              <a:rPr lang="en-US" altLang="zh-CN" sz="2800" b="1" dirty="0">
                <a:solidFill>
                  <a:srgbClr val="CCFFFF"/>
                </a:solidFill>
                <a:ea typeface="华文中宋" panose="02010600040101010101" pitchFamily="2" charset="-122"/>
              </a:rPr>
              <a:t>)</a:t>
            </a:r>
            <a:r>
              <a:rPr lang="en-US" altLang="zh-CN" sz="2800" b="1" dirty="0">
                <a:solidFill>
                  <a:srgbClr val="CCFF33"/>
                </a:solidFill>
                <a:ea typeface="华文中宋" panose="02010600040101010101" pitchFamily="2" charset="-122"/>
              </a:rPr>
              <a:t>+</a:t>
            </a:r>
            <a:r>
              <a:rPr lang="zh-CN" altLang="en-US" sz="2800" b="1" dirty="0">
                <a:solidFill>
                  <a:srgbClr val="CCFF33"/>
                </a:solidFill>
                <a:ea typeface="华文中宋" panose="02010600040101010101" pitchFamily="2" charset="-122"/>
              </a:rPr>
              <a:t>主加元素符号</a:t>
            </a:r>
            <a:r>
              <a:rPr lang="en-US" altLang="zh-CN" sz="2800" b="1" dirty="0">
                <a:solidFill>
                  <a:srgbClr val="CCFFFF"/>
                </a:solidFill>
                <a:ea typeface="华文中宋" panose="02010600040101010101" pitchFamily="2" charset="-122"/>
              </a:rPr>
              <a:t>(Zn</a:t>
            </a:r>
            <a:r>
              <a:rPr lang="zh-CN" altLang="en-US" sz="2800" b="1" dirty="0">
                <a:solidFill>
                  <a:srgbClr val="CCFFFF"/>
                </a:solidFill>
                <a:ea typeface="华文中宋" panose="02010600040101010101" pitchFamily="2" charset="-122"/>
              </a:rPr>
              <a:t>除外</a:t>
            </a:r>
            <a:r>
              <a:rPr lang="en-US" altLang="zh-CN" sz="2800" b="1" dirty="0">
                <a:solidFill>
                  <a:srgbClr val="CCFFFF"/>
                </a:solidFill>
                <a:ea typeface="华文中宋" panose="02010600040101010101" pitchFamily="2" charset="-122"/>
              </a:rPr>
              <a:t>)</a:t>
            </a:r>
            <a:r>
              <a:rPr lang="en-US" altLang="zh-CN" sz="2800" b="1" dirty="0">
                <a:solidFill>
                  <a:srgbClr val="CCFF33"/>
                </a:solidFill>
                <a:ea typeface="华文中宋" panose="02010600040101010101" pitchFamily="2" charset="-122"/>
              </a:rPr>
              <a:t>+</a:t>
            </a:r>
            <a:r>
              <a:rPr lang="zh-CN" altLang="en-US" sz="2800" b="1" dirty="0">
                <a:solidFill>
                  <a:srgbClr val="CCFF33"/>
                </a:solidFill>
                <a:ea typeface="华文中宋" panose="02010600040101010101" pitchFamily="2" charset="-122"/>
              </a:rPr>
              <a:t>铜平均百分含量</a:t>
            </a:r>
            <a:r>
              <a:rPr lang="en-US" altLang="zh-CN" sz="2800" b="1" dirty="0">
                <a:solidFill>
                  <a:srgbClr val="CCFF33"/>
                </a:solidFill>
                <a:ea typeface="华文中宋" panose="02010600040101010101" pitchFamily="2" charset="-122"/>
              </a:rPr>
              <a:t>+</a:t>
            </a:r>
            <a:r>
              <a:rPr lang="zh-CN" altLang="en-US" sz="2800" b="1" dirty="0">
                <a:solidFill>
                  <a:srgbClr val="CCFF33"/>
                </a:solidFill>
                <a:ea typeface="华文中宋" panose="02010600040101010101" pitchFamily="2" charset="-122"/>
              </a:rPr>
              <a:t>主加元素平均百分含量</a:t>
            </a:r>
            <a:r>
              <a:rPr lang="en-US" altLang="zh-CN" sz="2800" b="1" dirty="0">
                <a:ea typeface="华文中宋" panose="02010600040101010101" pitchFamily="2" charset="-122"/>
              </a:rPr>
              <a:t>, </a:t>
            </a:r>
            <a:r>
              <a:rPr lang="zh-CN" altLang="en-US" sz="2800" b="1" dirty="0">
                <a:ea typeface="华文中宋" panose="02010600040101010101" pitchFamily="2" charset="-122"/>
              </a:rPr>
              <a:t>如</a:t>
            </a:r>
            <a:r>
              <a:rPr lang="en-US" altLang="zh-CN" sz="2800" b="1" dirty="0">
                <a:ea typeface="华文中宋" panose="02010600040101010101" pitchFamily="2" charset="-122"/>
              </a:rPr>
              <a:t>HPb59-1. </a:t>
            </a:r>
          </a:p>
          <a:p>
            <a:pPr eaLnBrk="1" hangingPunct="1">
              <a:lnSpc>
                <a:spcPct val="140000"/>
              </a:lnSpc>
            </a:pPr>
            <a:r>
              <a:rPr lang="zh-CN" altLang="en-US" sz="2800" b="1" dirty="0">
                <a:solidFill>
                  <a:schemeClr val="folHlink"/>
                </a:solidFill>
                <a:ea typeface="华文中宋" panose="02010600040101010101" pitchFamily="2" charset="-122"/>
              </a:rPr>
              <a:t>特殊黄铜强度、耐蚀性比普通黄铜好，铸造性能改善。 </a:t>
            </a:r>
          </a:p>
        </p:txBody>
      </p:sp>
      <p:grpSp>
        <p:nvGrpSpPr>
          <p:cNvPr id="2" name="Group 1040"/>
          <p:cNvGrpSpPr/>
          <p:nvPr/>
        </p:nvGrpSpPr>
        <p:grpSpPr>
          <a:xfrm>
            <a:off x="5267325" y="361950"/>
            <a:ext cx="3495675" cy="6142038"/>
            <a:chOff x="3264" y="228"/>
            <a:chExt cx="2202" cy="3869"/>
          </a:xfrm>
        </p:grpSpPr>
        <p:grpSp>
          <p:nvGrpSpPr>
            <p:cNvPr id="75780" name="Group 1038"/>
            <p:cNvGrpSpPr/>
            <p:nvPr/>
          </p:nvGrpSpPr>
          <p:grpSpPr>
            <a:xfrm>
              <a:off x="3312" y="240"/>
              <a:ext cx="2154" cy="3857"/>
              <a:chOff x="3312" y="240"/>
              <a:chExt cx="2154" cy="3857"/>
            </a:xfrm>
          </p:grpSpPr>
          <p:grpSp>
            <p:nvGrpSpPr>
              <p:cNvPr id="75782" name="Group 1036"/>
              <p:cNvGrpSpPr/>
              <p:nvPr/>
            </p:nvGrpSpPr>
            <p:grpSpPr>
              <a:xfrm>
                <a:off x="3312" y="240"/>
                <a:ext cx="2154" cy="3857"/>
                <a:chOff x="3312" y="240"/>
                <a:chExt cx="2154" cy="3857"/>
              </a:xfrm>
            </p:grpSpPr>
            <p:pic>
              <p:nvPicPr>
                <p:cNvPr id="75784" name="Picture 1028" descr="C:\Documents and Settings\Administrator\My Documents\My Pictures\黄铜制品.jpg"/>
                <p:cNvPicPr>
                  <a:picLocks noChangeAspect="1"/>
                </p:cNvPicPr>
                <p:nvPr/>
              </p:nvPicPr>
              <p:blipFill>
                <a:blip r:embed="rId2"/>
                <a:stretch>
                  <a:fillRect/>
                </a:stretch>
              </p:blipFill>
              <p:spPr>
                <a:xfrm>
                  <a:off x="3312" y="1440"/>
                  <a:ext cx="2154" cy="1395"/>
                </a:xfrm>
                <a:prstGeom prst="rect">
                  <a:avLst/>
                </a:prstGeom>
                <a:noFill/>
                <a:ln w="38100" cap="flat" cmpd="sng">
                  <a:solidFill>
                    <a:srgbClr val="FF9900"/>
                  </a:solidFill>
                  <a:prstDash val="solid"/>
                  <a:miter/>
                  <a:headEnd type="none" w="med" len="med"/>
                  <a:tailEnd type="none" w="med" len="med"/>
                </a:ln>
              </p:spPr>
            </p:pic>
            <p:pic>
              <p:nvPicPr>
                <p:cNvPr id="75785" name="Picture 1034" descr="C:\Documents and Settings\Administrator\My Documents\My Pictures\黄铜棒1.jpg"/>
                <p:cNvPicPr>
                  <a:picLocks noChangeAspect="1"/>
                </p:cNvPicPr>
                <p:nvPr/>
              </p:nvPicPr>
              <p:blipFill>
                <a:blip r:embed="rId3"/>
                <a:stretch>
                  <a:fillRect/>
                </a:stretch>
              </p:blipFill>
              <p:spPr>
                <a:xfrm>
                  <a:off x="3312" y="240"/>
                  <a:ext cx="2154" cy="1132"/>
                </a:xfrm>
                <a:prstGeom prst="rect">
                  <a:avLst/>
                </a:prstGeom>
                <a:noFill/>
                <a:ln w="38100" cap="flat" cmpd="sng">
                  <a:solidFill>
                    <a:srgbClr val="FFCC00"/>
                  </a:solidFill>
                  <a:prstDash val="solid"/>
                  <a:miter/>
                  <a:headEnd type="none" w="med" len="med"/>
                  <a:tailEnd type="none" w="med" len="med"/>
                </a:ln>
              </p:spPr>
            </p:pic>
            <p:pic>
              <p:nvPicPr>
                <p:cNvPr id="75786" name="Picture 1035" descr="C:\Documents and Settings\Administrator\My Documents\My Pictures\黄铜制品31.jpg"/>
                <p:cNvPicPr>
                  <a:picLocks noChangeAspect="1"/>
                </p:cNvPicPr>
                <p:nvPr/>
              </p:nvPicPr>
              <p:blipFill>
                <a:blip r:embed="rId4"/>
                <a:stretch>
                  <a:fillRect/>
                </a:stretch>
              </p:blipFill>
              <p:spPr>
                <a:xfrm>
                  <a:off x="3312" y="2904"/>
                  <a:ext cx="2154" cy="1193"/>
                </a:xfrm>
                <a:prstGeom prst="rect">
                  <a:avLst/>
                </a:prstGeom>
                <a:noFill/>
                <a:ln w="38100" cap="flat" cmpd="sng">
                  <a:solidFill>
                    <a:srgbClr val="FFCC00"/>
                  </a:solidFill>
                  <a:prstDash val="solid"/>
                  <a:miter/>
                  <a:headEnd type="none" w="med" len="med"/>
                  <a:tailEnd type="none" w="med" len="med"/>
                </a:ln>
              </p:spPr>
            </p:pic>
          </p:grpSp>
          <p:sp>
            <p:nvSpPr>
              <p:cNvPr id="75783" name="Text Box 1037"/>
              <p:cNvSpPr txBox="1"/>
              <p:nvPr/>
            </p:nvSpPr>
            <p:spPr>
              <a:xfrm>
                <a:off x="5165" y="2503"/>
                <a:ext cx="295" cy="720"/>
              </a:xfrm>
              <a:prstGeom prst="rect">
                <a:avLst/>
              </a:prstGeom>
              <a:solidFill>
                <a:schemeClr val="tx1"/>
              </a:solidFill>
              <a:ln w="9525" cap="flat" cmpd="sng">
                <a:solidFill>
                  <a:schemeClr val="bg2"/>
                </a:solidFill>
                <a:prstDash val="solid"/>
                <a:miter/>
                <a:headEnd type="none" w="med" len="med"/>
                <a:tailEnd type="none" w="med" len="med"/>
              </a:ln>
            </p:spPr>
            <p:txBody>
              <a:bodyPr vert="eaVert">
                <a:spAutoFit/>
              </a:bodyPr>
              <a:lstStyle/>
              <a:p>
                <a:r>
                  <a:rPr lang="zh-CN" altLang="en-US" sz="1800" dirty="0">
                    <a:solidFill>
                      <a:srgbClr val="800000"/>
                    </a:solidFill>
                    <a:latin typeface="Times New Roman" panose="02020603050405020304" pitchFamily="18" charset="0"/>
                  </a:rPr>
                  <a:t>黄铜制品</a:t>
                </a:r>
              </a:p>
            </p:txBody>
          </p:sp>
        </p:grpSp>
        <p:sp>
          <p:nvSpPr>
            <p:cNvPr id="48143" name="Text Box 1039"/>
            <p:cNvSpPr txBox="1">
              <a:spLocks noChangeArrowheads="1"/>
            </p:cNvSpPr>
            <p:nvPr/>
          </p:nvSpPr>
          <p:spPr bwMode="auto">
            <a:xfrm>
              <a:off x="3264" y="228"/>
              <a:ext cx="672" cy="250"/>
            </a:xfrm>
            <a:prstGeom prst="rect">
              <a:avLst/>
            </a:prstGeom>
            <a:noFill/>
            <a:ln w="9525">
              <a:noFill/>
              <a:miter lim="800000"/>
            </a:ln>
            <a:effectLst/>
          </p:spPr>
          <p:txBody>
            <a:bodyPr>
              <a:spAutoFit/>
            </a:bodyPr>
            <a:lstStyle/>
            <a:p>
              <a:pPr marR="0" defTabSz="914400">
                <a:buClrTx/>
                <a:buSzTx/>
                <a:buFontTx/>
                <a:buNone/>
                <a:defRPr/>
              </a:pPr>
              <a:r>
                <a:rPr kumimoji="1" lang="zh-CN" altLang="en-US" sz="2000" kern="1200" cap="none" spc="0" normalizeH="0" baseline="0" noProof="0">
                  <a:solidFill>
                    <a:schemeClr val="accent1"/>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黄铜棒</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wipe(left)">
                                      <p:cBhvr>
                                        <p:cTn id="7" dur="500"/>
                                        <p:tgtEl>
                                          <p:spTgt spid="4813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animEffect transition="in" filter="wipe(left)">
                                      <p:cBhvr>
                                        <p:cTn id="11" dur="500"/>
                                        <p:tgtEl>
                                          <p:spTgt spid="4813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animEffect transition="in" filter="wipe(left)">
                                      <p:cBhvr>
                                        <p:cTn id="15" dur="500"/>
                                        <p:tgtEl>
                                          <p:spTgt spid="48131">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animEffect transition="in" filter="wipe(left)">
                                      <p:cBhvr>
                                        <p:cTn id="19" dur="500"/>
                                        <p:tgtEl>
                                          <p:spTgt spid="48131">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8131">
                                            <p:txEl>
                                              <p:pRg st="4" end="4"/>
                                            </p:txEl>
                                          </p:spTgt>
                                        </p:tgtEl>
                                        <p:attrNameLst>
                                          <p:attrName>style.visibility</p:attrName>
                                        </p:attrNameLst>
                                      </p:cBhvr>
                                      <p:to>
                                        <p:strVal val="visible"/>
                                      </p:to>
                                    </p:set>
                                    <p:animEffect transition="in" filter="wipe(left)">
                                      <p:cBhvr>
                                        <p:cTn id="23" dur="500"/>
                                        <p:tgtEl>
                                          <p:spTgt spid="48131">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dvAuto="100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idx="1"/>
          </p:nvPr>
        </p:nvSpPr>
        <p:spPr>
          <a:xfrm>
            <a:off x="381000" y="250825"/>
            <a:ext cx="8534400" cy="3657600"/>
          </a:xfrm>
          <a:ln/>
        </p:spPr>
        <p:txBody>
          <a:bodyPr vert="horz" wrap="square" lIns="91440" tIns="45720" rIns="91440" bIns="45720" anchor="t" anchorCtr="0"/>
          <a:lstStyle/>
          <a:p>
            <a:pPr eaLnBrk="1" hangingPunct="1">
              <a:lnSpc>
                <a:spcPct val="140000"/>
              </a:lnSpc>
            </a:pPr>
            <a:r>
              <a:rPr lang="zh-CN" altLang="en-US" sz="2800" b="1" dirty="0">
                <a:solidFill>
                  <a:schemeClr val="folHlink"/>
                </a:solidFill>
                <a:ea typeface="华文中宋" panose="02010600040101010101" pitchFamily="2" charset="-122"/>
              </a:rPr>
              <a:t>常用牌号有</a:t>
            </a:r>
            <a:r>
              <a:rPr lang="en-US" altLang="zh-CN" sz="2800" b="1">
                <a:solidFill>
                  <a:schemeClr val="folHlink"/>
                </a:solidFill>
                <a:ea typeface="华文中宋" panose="02010600040101010101" pitchFamily="2" charset="-122"/>
              </a:rPr>
              <a:t>HPb63-3</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HAl60-1-1</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HSn62-1</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HFe59-1-1</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ZCuZn38Mn2Pb2</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ZCuZn16Si4</a:t>
            </a:r>
            <a:r>
              <a:rPr lang="zh-CN" altLang="en-US" sz="2800" b="1" dirty="0">
                <a:solidFill>
                  <a:schemeClr val="folHlink"/>
                </a:solidFill>
                <a:ea typeface="华文中宋" panose="02010600040101010101" pitchFamily="2" charset="-122"/>
              </a:rPr>
              <a:t>等。</a:t>
            </a:r>
            <a:endParaRPr lang="zh-CN" altLang="en-US" sz="2800" b="1" dirty="0">
              <a:ea typeface="华文中宋" panose="02010600040101010101" pitchFamily="2" charset="-122"/>
            </a:endParaRPr>
          </a:p>
          <a:p>
            <a:pPr eaLnBrk="1" hangingPunct="1">
              <a:lnSpc>
                <a:spcPct val="140000"/>
              </a:lnSpc>
            </a:pPr>
            <a:r>
              <a:rPr lang="zh-CN" altLang="en-US" sz="2800" b="1" dirty="0">
                <a:ea typeface="华文中宋" panose="02010600040101010101" pitchFamily="2" charset="-122"/>
              </a:rPr>
              <a:t>主要用于船舶及化工零件，如冷凝管、齿轮、螺旋桨、轴承、衬套及阀体等。 </a:t>
            </a:r>
          </a:p>
        </p:txBody>
      </p:sp>
      <p:grpSp>
        <p:nvGrpSpPr>
          <p:cNvPr id="2" name="Group 7"/>
          <p:cNvGrpSpPr>
            <a:grpSpLocks noChangeAspect="1"/>
          </p:cNvGrpSpPr>
          <p:nvPr/>
        </p:nvGrpSpPr>
        <p:grpSpPr>
          <a:xfrm>
            <a:off x="968375" y="3352800"/>
            <a:ext cx="7413625" cy="2870200"/>
            <a:chOff x="432" y="2016"/>
            <a:chExt cx="5022" cy="1944"/>
          </a:xfrm>
        </p:grpSpPr>
        <p:pic>
          <p:nvPicPr>
            <p:cNvPr id="76804" name="Picture 4" descr="C:\My Documents\My Pictures\strength_1b.jpg"/>
            <p:cNvPicPr>
              <a:picLocks noChangeAspect="1"/>
            </p:cNvPicPr>
            <p:nvPr/>
          </p:nvPicPr>
          <p:blipFill>
            <a:blip r:embed="rId2"/>
            <a:stretch>
              <a:fillRect/>
            </a:stretch>
          </p:blipFill>
          <p:spPr>
            <a:xfrm>
              <a:off x="432" y="2016"/>
              <a:ext cx="2430" cy="1944"/>
            </a:xfrm>
            <a:prstGeom prst="rect">
              <a:avLst/>
            </a:prstGeom>
            <a:noFill/>
            <a:ln w="57150" cap="flat" cmpd="sng">
              <a:solidFill>
                <a:srgbClr val="00FFFF"/>
              </a:solidFill>
              <a:prstDash val="solid"/>
              <a:miter/>
              <a:headEnd type="none" w="med" len="med"/>
              <a:tailEnd type="none" w="med" len="med"/>
            </a:ln>
          </p:spPr>
        </p:pic>
        <p:pic>
          <p:nvPicPr>
            <p:cNvPr id="76805" name="Picture 5" descr="C:\My Documents\My Pictures\strength_2b.jpg"/>
            <p:cNvPicPr>
              <a:picLocks noChangeAspect="1"/>
            </p:cNvPicPr>
            <p:nvPr/>
          </p:nvPicPr>
          <p:blipFill>
            <a:blip r:embed="rId3"/>
            <a:stretch>
              <a:fillRect/>
            </a:stretch>
          </p:blipFill>
          <p:spPr>
            <a:xfrm>
              <a:off x="3024" y="2016"/>
              <a:ext cx="2430" cy="1944"/>
            </a:xfrm>
            <a:prstGeom prst="rect">
              <a:avLst/>
            </a:prstGeom>
            <a:noFill/>
            <a:ln w="57150" cap="flat" cmpd="sng">
              <a:solidFill>
                <a:srgbClr val="00FFFF"/>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wipe(left)">
                                      <p:cBhvr>
                                        <p:cTn id="7" dur="500"/>
                                        <p:tgtEl>
                                          <p:spTgt spid="47107">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animEffect transition="in" filter="wipe(left)">
                                      <p:cBhvr>
                                        <p:cTn id="11" dur="500"/>
                                        <p:tgtEl>
                                          <p:spTgt spid="47107">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dvAuto="100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p:cNvSpPr>
          <p:nvPr>
            <p:ph idx="1"/>
          </p:nvPr>
        </p:nvSpPr>
        <p:spPr>
          <a:xfrm>
            <a:off x="35496" y="457200"/>
            <a:ext cx="5603304" cy="6172200"/>
          </a:xfrm>
          <a:ln/>
        </p:spPr>
        <p:txBody>
          <a:bodyPr vert="horz" wrap="square" lIns="91440" tIns="45720" rIns="91440" bIns="45720" anchor="t" anchorCtr="0"/>
          <a:lstStyle/>
          <a:p>
            <a:pPr eaLnBrk="1" hangingPunct="1"/>
            <a:r>
              <a:rPr lang="zh-CN" altLang="en-US" b="1" dirty="0">
                <a:solidFill>
                  <a:schemeClr val="tx2"/>
                </a:solidFill>
                <a:ea typeface="华文中宋" panose="02010600040101010101" pitchFamily="2" charset="-122"/>
              </a:rPr>
              <a:t>三、青铜</a:t>
            </a:r>
          </a:p>
          <a:p>
            <a:pPr eaLnBrk="1" hangingPunct="1">
              <a:lnSpc>
                <a:spcPct val="140000"/>
              </a:lnSpc>
            </a:pPr>
            <a:r>
              <a:rPr lang="zh-CN" altLang="en-US" sz="2800" b="1" dirty="0">
                <a:solidFill>
                  <a:schemeClr val="folHlink"/>
                </a:solidFill>
                <a:ea typeface="华文中宋" panose="02010600040101010101" pitchFamily="2" charset="-122"/>
              </a:rPr>
              <a:t>除黄铜和白铜外的其他铜合金统称为青铜。</a:t>
            </a:r>
            <a:r>
              <a:rPr lang="zh-CN" altLang="en-US" sz="2800" b="1" dirty="0">
                <a:ea typeface="华文中宋" panose="02010600040101010101" pitchFamily="2" charset="-122"/>
              </a:rPr>
              <a:t> </a:t>
            </a:r>
          </a:p>
          <a:p>
            <a:pPr eaLnBrk="1" hangingPunct="1">
              <a:lnSpc>
                <a:spcPct val="140000"/>
              </a:lnSpc>
            </a:pPr>
            <a:r>
              <a:rPr lang="zh-CN" altLang="en-US" sz="2800" b="1" dirty="0">
                <a:solidFill>
                  <a:srgbClr val="FFE5B1"/>
                </a:solidFill>
                <a:ea typeface="华文中宋" panose="02010600040101010101" pitchFamily="2" charset="-122"/>
              </a:rPr>
              <a:t>加工青铜的牌号为：</a:t>
            </a:r>
            <a:r>
              <a:rPr lang="en-US" altLang="zh-CN" sz="2800" b="1" dirty="0">
                <a:solidFill>
                  <a:srgbClr val="CCFFFF"/>
                </a:solidFill>
                <a:ea typeface="华文中宋" panose="02010600040101010101" pitchFamily="2" charset="-122"/>
              </a:rPr>
              <a:t>Q +</a:t>
            </a:r>
            <a:r>
              <a:rPr lang="zh-CN" altLang="en-US" sz="2800" b="1" dirty="0">
                <a:solidFill>
                  <a:srgbClr val="CCFFFF"/>
                </a:solidFill>
                <a:ea typeface="华文中宋" panose="02010600040101010101" pitchFamily="2" charset="-122"/>
              </a:rPr>
              <a:t>主加元素符号及其平均百分含量</a:t>
            </a:r>
            <a:r>
              <a:rPr lang="en-US" altLang="zh-CN" sz="2800" b="1" dirty="0">
                <a:solidFill>
                  <a:srgbClr val="CCFFFF"/>
                </a:solidFill>
                <a:ea typeface="华文中宋" panose="02010600040101010101" pitchFamily="2" charset="-122"/>
              </a:rPr>
              <a:t>+</a:t>
            </a:r>
            <a:r>
              <a:rPr lang="zh-CN" altLang="en-US" sz="2800" b="1" dirty="0">
                <a:solidFill>
                  <a:srgbClr val="CCFFFF"/>
                </a:solidFill>
                <a:ea typeface="华文中宋" panose="02010600040101010101" pitchFamily="2" charset="-122"/>
              </a:rPr>
              <a:t>其他元素平均百分含量</a:t>
            </a:r>
          </a:p>
          <a:p>
            <a:pPr eaLnBrk="1" hangingPunct="1">
              <a:lnSpc>
                <a:spcPct val="100000"/>
              </a:lnSpc>
            </a:pPr>
            <a:r>
              <a:rPr lang="zh-CN" altLang="en-US" sz="2800" b="1" dirty="0">
                <a:ea typeface="华文中宋" panose="02010600040101010101" pitchFamily="2" charset="-122"/>
              </a:rPr>
              <a:t>如</a:t>
            </a:r>
            <a:r>
              <a:rPr lang="en-US" altLang="zh-CN" sz="2800" b="1" dirty="0">
                <a:ea typeface="华文中宋" panose="02010600040101010101" pitchFamily="2" charset="-122"/>
              </a:rPr>
              <a:t>QSn4-3(</a:t>
            </a:r>
            <a:r>
              <a:rPr lang="zh-CN" altLang="en-US" sz="2800" b="1" dirty="0">
                <a:ea typeface="华文中宋" panose="02010600040101010101" pitchFamily="2" charset="-122"/>
              </a:rPr>
              <a:t>含</a:t>
            </a:r>
            <a:r>
              <a:rPr lang="en-US" altLang="zh-CN" sz="2800" b="1" dirty="0">
                <a:ea typeface="华文中宋" panose="02010600040101010101" pitchFamily="2" charset="-122"/>
              </a:rPr>
              <a:t>4%Sn</a:t>
            </a:r>
            <a:r>
              <a:rPr lang="zh-CN" altLang="en-US" sz="2800" b="1" dirty="0">
                <a:ea typeface="华文中宋" panose="02010600040101010101" pitchFamily="2" charset="-122"/>
              </a:rPr>
              <a:t>（</a:t>
            </a:r>
            <a:r>
              <a:rPr lang="zh-CN" altLang="zh-CN" sz="2800" b="1" dirty="0">
                <a:ea typeface="华文中宋" panose="02010600040101010101" pitchFamily="2" charset="-122"/>
              </a:rPr>
              <a:t>锡</a:t>
            </a:r>
            <a:r>
              <a:rPr lang="zh-CN" altLang="en-US" sz="2800" b="1" dirty="0">
                <a:ea typeface="华文中宋" panose="02010600040101010101" pitchFamily="2" charset="-122"/>
              </a:rPr>
              <a:t>）</a:t>
            </a:r>
            <a:r>
              <a:rPr lang="en-US" altLang="zh-CN" sz="2800" b="1" dirty="0">
                <a:ea typeface="华文中宋" panose="02010600040101010101" pitchFamily="2" charset="-122"/>
              </a:rPr>
              <a:t>3%Zn).</a:t>
            </a:r>
            <a:r>
              <a:rPr lang="zh-CN" altLang="en-US" sz="2800" b="1" dirty="0">
                <a:ea typeface="华文中宋" panose="02010600040101010101" pitchFamily="2" charset="-122"/>
              </a:rPr>
              <a:t> 、</a:t>
            </a:r>
            <a:endParaRPr lang="en-US" altLang="zh-CN" sz="2800" b="1" dirty="0">
              <a:ea typeface="华文中宋" panose="02010600040101010101" pitchFamily="2" charset="-122"/>
            </a:endParaRPr>
          </a:p>
          <a:p>
            <a:pPr eaLnBrk="1" hangingPunct="1">
              <a:lnSpc>
                <a:spcPct val="140000"/>
              </a:lnSpc>
            </a:pPr>
            <a:r>
              <a:rPr lang="zh-CN" altLang="en-US" sz="2800" b="1" dirty="0">
                <a:solidFill>
                  <a:schemeClr val="folHlink"/>
                </a:solidFill>
                <a:ea typeface="华文中宋" panose="02010600040101010101" pitchFamily="2" charset="-122"/>
              </a:rPr>
              <a:t>常用青铜有锡青铜、铝青铜、铍青铜、硅青铜、铅青铜等。</a:t>
            </a:r>
            <a:r>
              <a:rPr lang="zh-CN" altLang="en-US" sz="2800" dirty="0">
                <a:ea typeface="华文中宋" panose="02010600040101010101" pitchFamily="2" charset="-122"/>
              </a:rPr>
              <a:t> </a:t>
            </a:r>
          </a:p>
        </p:txBody>
      </p:sp>
      <p:grpSp>
        <p:nvGrpSpPr>
          <p:cNvPr id="2" name="Group 8"/>
          <p:cNvGrpSpPr/>
          <p:nvPr/>
        </p:nvGrpSpPr>
        <p:grpSpPr>
          <a:xfrm>
            <a:off x="5638800" y="827088"/>
            <a:ext cx="3162300" cy="5256212"/>
            <a:chOff x="3552" y="521"/>
            <a:chExt cx="1992" cy="3311"/>
          </a:xfrm>
        </p:grpSpPr>
        <p:grpSp>
          <p:nvGrpSpPr>
            <p:cNvPr id="77828" name="Group 6"/>
            <p:cNvGrpSpPr/>
            <p:nvPr/>
          </p:nvGrpSpPr>
          <p:grpSpPr>
            <a:xfrm>
              <a:off x="3696" y="521"/>
              <a:ext cx="1750" cy="1927"/>
              <a:chOff x="3840" y="1960"/>
              <a:chExt cx="1750" cy="1927"/>
            </a:xfrm>
          </p:grpSpPr>
          <p:pic>
            <p:nvPicPr>
              <p:cNvPr id="77830" name="Picture 4" descr="C:\Documents and Settings\Administrator\My Documents\青铜制品1.jpg"/>
              <p:cNvPicPr>
                <a:picLocks noChangeAspect="1"/>
              </p:cNvPicPr>
              <p:nvPr/>
            </p:nvPicPr>
            <p:blipFill>
              <a:blip r:embed="rId2"/>
              <a:stretch>
                <a:fillRect/>
              </a:stretch>
            </p:blipFill>
            <p:spPr>
              <a:xfrm>
                <a:off x="3840" y="1968"/>
                <a:ext cx="1750" cy="1919"/>
              </a:xfrm>
              <a:prstGeom prst="rect">
                <a:avLst/>
              </a:prstGeom>
              <a:noFill/>
              <a:ln w="38100" cap="flat" cmpd="sng">
                <a:solidFill>
                  <a:srgbClr val="FF9900"/>
                </a:solidFill>
                <a:prstDash val="solid"/>
                <a:miter/>
                <a:headEnd type="none" w="med" len="med"/>
                <a:tailEnd type="none" w="med" len="med"/>
              </a:ln>
            </p:spPr>
          </p:pic>
          <p:sp>
            <p:nvSpPr>
              <p:cNvPr id="77831" name="Text Box 5"/>
              <p:cNvSpPr txBox="1"/>
              <p:nvPr/>
            </p:nvSpPr>
            <p:spPr>
              <a:xfrm>
                <a:off x="3840" y="1960"/>
                <a:ext cx="816" cy="250"/>
              </a:xfrm>
              <a:prstGeom prst="rect">
                <a:avLst/>
              </a:prstGeom>
              <a:noFill/>
              <a:ln w="38100">
                <a:noFill/>
              </a:ln>
            </p:spPr>
            <p:txBody>
              <a:bodyPr>
                <a:spAutoFit/>
              </a:bodyPr>
              <a:lstStyle/>
              <a:p>
                <a:r>
                  <a:rPr lang="zh-CN" altLang="en-US" sz="2000" dirty="0">
                    <a:solidFill>
                      <a:srgbClr val="800000"/>
                    </a:solidFill>
                    <a:latin typeface="Times New Roman" panose="02020603050405020304" pitchFamily="18" charset="0"/>
                  </a:rPr>
                  <a:t>青铜制品</a:t>
                </a:r>
              </a:p>
            </p:txBody>
          </p:sp>
        </p:grpSp>
        <p:pic>
          <p:nvPicPr>
            <p:cNvPr id="77829" name="Picture 7" descr="C:\Documents and Settings\Administrator\My Documents\My Pictures\青铜制品2.jpg"/>
            <p:cNvPicPr>
              <a:picLocks noChangeAspect="1"/>
            </p:cNvPicPr>
            <p:nvPr/>
          </p:nvPicPr>
          <p:blipFill>
            <a:blip r:embed="rId3"/>
            <a:stretch>
              <a:fillRect/>
            </a:stretch>
          </p:blipFill>
          <p:spPr>
            <a:xfrm>
              <a:off x="3552" y="2544"/>
              <a:ext cx="1992" cy="1288"/>
            </a:xfrm>
            <a:prstGeom prst="rect">
              <a:avLst/>
            </a:prstGeom>
            <a:noFill/>
            <a:ln w="38100" cap="flat" cmpd="sng">
              <a:solidFill>
                <a:srgbClr val="99CCFF"/>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wipe(left)">
                                      <p:cBhvr>
                                        <p:cTn id="7" dur="500"/>
                                        <p:tgtEl>
                                          <p:spTgt spid="4608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animEffect transition="in" filter="wipe(left)">
                                      <p:cBhvr>
                                        <p:cTn id="11" dur="500"/>
                                        <p:tgtEl>
                                          <p:spTgt spid="4608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animEffect transition="in" filter="wipe(left)">
                                      <p:cBhvr>
                                        <p:cTn id="15" dur="500"/>
                                        <p:tgtEl>
                                          <p:spTgt spid="4608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animEffect transition="in" filter="wipe(left)">
                                      <p:cBhvr>
                                        <p:cTn id="19" dur="500"/>
                                        <p:tgtEl>
                                          <p:spTgt spid="4608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animEffect transition="in" filter="wipe(left)">
                                      <p:cBhvr>
                                        <p:cTn id="23" dur="500"/>
                                        <p:tgtEl>
                                          <p:spTgt spid="46083">
                                            <p:txEl>
                                              <p:pRg st="4" end="4"/>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dvAuto="100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1027"/>
          <p:cNvSpPr>
            <a:spLocks noGrp="1"/>
          </p:cNvSpPr>
          <p:nvPr>
            <p:ph idx="1"/>
          </p:nvPr>
        </p:nvSpPr>
        <p:spPr>
          <a:xfrm>
            <a:off x="152400" y="304800"/>
            <a:ext cx="5334000" cy="63246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1</a:t>
            </a:r>
            <a:r>
              <a:rPr lang="zh-CN" altLang="en-US" sz="2800" b="1" dirty="0">
                <a:solidFill>
                  <a:schemeClr val="tx2"/>
                </a:solidFill>
                <a:ea typeface="华文中宋" panose="02010600040101010101" pitchFamily="2" charset="-122"/>
              </a:rPr>
              <a:t>、锡青铜</a:t>
            </a:r>
          </a:p>
          <a:p>
            <a:pPr eaLnBrk="1" hangingPunct="1">
              <a:lnSpc>
                <a:spcPct val="140000"/>
              </a:lnSpc>
            </a:pPr>
            <a:r>
              <a:rPr lang="zh-CN" altLang="en-US" sz="2800" b="1" dirty="0">
                <a:solidFill>
                  <a:schemeClr val="folHlink"/>
                </a:solidFill>
                <a:ea typeface="华文中宋" panose="02010600040101010101" pitchFamily="2" charset="-122"/>
              </a:rPr>
              <a:t>是以锡为主加元素的铜合金，锡含量一般为</a:t>
            </a:r>
            <a:r>
              <a:rPr lang="en-US" altLang="zh-CN" sz="2800" b="1">
                <a:solidFill>
                  <a:schemeClr val="folHlink"/>
                </a:solidFill>
                <a:ea typeface="华文中宋" panose="02010600040101010101" pitchFamily="2" charset="-122"/>
              </a:rPr>
              <a:t>3~14%</a:t>
            </a:r>
            <a:r>
              <a:rPr lang="zh-CN" altLang="en-US" sz="2800" b="1" dirty="0">
                <a:solidFill>
                  <a:schemeClr val="folHlink"/>
                </a:solidFill>
                <a:ea typeface="华文中宋" panose="02010600040101010101" pitchFamily="2" charset="-122"/>
              </a:rPr>
              <a:t>。</a:t>
            </a:r>
            <a:r>
              <a:rPr lang="zh-CN" altLang="en-US" sz="2800" b="1" dirty="0">
                <a:ea typeface="华文中宋" panose="02010600040101010101" pitchFamily="2" charset="-122"/>
              </a:rPr>
              <a:t> </a:t>
            </a:r>
          </a:p>
          <a:p>
            <a:pPr eaLnBrk="1" hangingPunct="1">
              <a:lnSpc>
                <a:spcPct val="140000"/>
              </a:lnSpc>
            </a:pPr>
            <a:r>
              <a:rPr lang="zh-CN" altLang="en-US" sz="2800" b="1" dirty="0">
                <a:ea typeface="华文中宋" panose="02010600040101010101" pitchFamily="2" charset="-122"/>
              </a:rPr>
              <a:t>锡青铜铸造流动性差，铸件密度低，易渗漏，但体积收缩率在有色金属中最小 。</a:t>
            </a:r>
          </a:p>
          <a:p>
            <a:pPr eaLnBrk="1" hangingPunct="1">
              <a:lnSpc>
                <a:spcPct val="140000"/>
              </a:lnSpc>
            </a:pPr>
            <a:r>
              <a:rPr lang="zh-CN" altLang="en-US" sz="2800" b="1" dirty="0">
                <a:solidFill>
                  <a:schemeClr val="folHlink"/>
                </a:solidFill>
                <a:ea typeface="华文中宋" panose="02010600040101010101" pitchFamily="2" charset="-122"/>
              </a:rPr>
              <a:t>锡青铜耐蚀性良好，在大气、海水及无机盐溶液中的耐蚀性比纯铜和黄铜好，但在硫酸、盐酸和氨水中的耐蚀性较差。</a:t>
            </a:r>
            <a:r>
              <a:rPr lang="zh-CN" altLang="en-US" sz="2800" b="1" dirty="0">
                <a:ea typeface="华文中宋" panose="02010600040101010101" pitchFamily="2" charset="-122"/>
              </a:rPr>
              <a:t>  </a:t>
            </a:r>
          </a:p>
        </p:txBody>
      </p:sp>
      <p:grpSp>
        <p:nvGrpSpPr>
          <p:cNvPr id="2" name="Group 1036"/>
          <p:cNvGrpSpPr/>
          <p:nvPr/>
        </p:nvGrpSpPr>
        <p:grpSpPr>
          <a:xfrm>
            <a:off x="5638800" y="457200"/>
            <a:ext cx="3276600" cy="5826125"/>
            <a:chOff x="3552" y="288"/>
            <a:chExt cx="2064" cy="3670"/>
          </a:xfrm>
        </p:grpSpPr>
        <p:grpSp>
          <p:nvGrpSpPr>
            <p:cNvPr id="78852" name="Group 1034"/>
            <p:cNvGrpSpPr/>
            <p:nvPr/>
          </p:nvGrpSpPr>
          <p:grpSpPr>
            <a:xfrm>
              <a:off x="3552" y="1968"/>
              <a:ext cx="2040" cy="1990"/>
              <a:chOff x="3552" y="1968"/>
              <a:chExt cx="2040" cy="1990"/>
            </a:xfrm>
          </p:grpSpPr>
          <p:pic>
            <p:nvPicPr>
              <p:cNvPr id="78855" name="Picture 1029" descr="C:\Documents and Settings\Administrator\My Documents\My Pictures\锡青铜锭.bmp"/>
              <p:cNvPicPr>
                <a:picLocks noChangeAspect="1"/>
              </p:cNvPicPr>
              <p:nvPr/>
            </p:nvPicPr>
            <p:blipFill>
              <a:blip r:embed="rId2"/>
              <a:stretch>
                <a:fillRect/>
              </a:stretch>
            </p:blipFill>
            <p:spPr>
              <a:xfrm>
                <a:off x="3552" y="1968"/>
                <a:ext cx="2040" cy="1990"/>
              </a:xfrm>
              <a:prstGeom prst="rect">
                <a:avLst/>
              </a:prstGeom>
              <a:noFill/>
              <a:ln w="19050" cap="flat" cmpd="sng">
                <a:solidFill>
                  <a:srgbClr val="FF99CC"/>
                </a:solidFill>
                <a:prstDash val="solid"/>
                <a:miter/>
                <a:headEnd type="none" w="med" len="med"/>
                <a:tailEnd type="none" w="med" len="med"/>
              </a:ln>
            </p:spPr>
          </p:pic>
          <p:sp>
            <p:nvSpPr>
              <p:cNvPr id="78856" name="Rectangle 1031"/>
              <p:cNvSpPr/>
              <p:nvPr/>
            </p:nvSpPr>
            <p:spPr>
              <a:xfrm>
                <a:off x="3552" y="3744"/>
                <a:ext cx="672" cy="192"/>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nchorCtr="0"/>
              <a:lstStyle/>
              <a:p>
                <a:r>
                  <a:rPr lang="zh-CN" altLang="en-US" sz="2000" dirty="0">
                    <a:solidFill>
                      <a:srgbClr val="800000"/>
                    </a:solidFill>
                    <a:latin typeface="Times New Roman" panose="02020603050405020304" pitchFamily="18" charset="0"/>
                  </a:rPr>
                  <a:t>锡青铜锭</a:t>
                </a:r>
              </a:p>
            </p:txBody>
          </p:sp>
        </p:grpSp>
        <p:pic>
          <p:nvPicPr>
            <p:cNvPr id="78853" name="Picture 1033" descr="C:\Documents and Settings\Administrator\My Documents\My Pictures\Cu-Sn相图.gif"/>
            <p:cNvPicPr>
              <a:picLocks noChangeAspect="1"/>
            </p:cNvPicPr>
            <p:nvPr/>
          </p:nvPicPr>
          <p:blipFill>
            <a:blip r:embed="rId3"/>
            <a:stretch>
              <a:fillRect/>
            </a:stretch>
          </p:blipFill>
          <p:spPr>
            <a:xfrm>
              <a:off x="3552" y="288"/>
              <a:ext cx="2040" cy="1977"/>
            </a:xfrm>
            <a:prstGeom prst="rect">
              <a:avLst/>
            </a:prstGeom>
            <a:noFill/>
            <a:ln w="19050" cap="flat" cmpd="sng">
              <a:solidFill>
                <a:srgbClr val="FF99CC"/>
              </a:solidFill>
              <a:prstDash val="solid"/>
              <a:miter/>
              <a:headEnd type="none" w="med" len="med"/>
              <a:tailEnd type="none" w="med" len="med"/>
            </a:ln>
          </p:spPr>
        </p:pic>
        <p:sp>
          <p:nvSpPr>
            <p:cNvPr id="78854" name="Text Box 1035"/>
            <p:cNvSpPr txBox="1"/>
            <p:nvPr/>
          </p:nvSpPr>
          <p:spPr>
            <a:xfrm>
              <a:off x="4800" y="432"/>
              <a:ext cx="816" cy="212"/>
            </a:xfrm>
            <a:prstGeom prst="rect">
              <a:avLst/>
            </a:prstGeom>
            <a:noFill/>
            <a:ln w="9525">
              <a:noFill/>
            </a:ln>
          </p:spPr>
          <p:txBody>
            <a:bodyPr>
              <a:spAutoFit/>
            </a:bodyPr>
            <a:lstStyle/>
            <a:p>
              <a:r>
                <a:rPr lang="en-US" altLang="zh-CN" sz="1600">
                  <a:solidFill>
                    <a:srgbClr val="800000"/>
                  </a:solidFill>
                  <a:latin typeface="Times New Roman" panose="02020603050405020304" pitchFamily="18" charset="0"/>
                </a:rPr>
                <a:t>Cu-</a:t>
              </a:r>
              <a:r>
                <a:rPr lang="en-US" altLang="zh-CN" sz="1600" err="1">
                  <a:solidFill>
                    <a:srgbClr val="800000"/>
                  </a:solidFill>
                  <a:latin typeface="Times New Roman" panose="02020603050405020304" pitchFamily="18" charset="0"/>
                </a:rPr>
                <a:t>Sn</a:t>
              </a:r>
              <a:r>
                <a:rPr lang="zh-CN" altLang="en-US" sz="1600" dirty="0">
                  <a:solidFill>
                    <a:srgbClr val="800000"/>
                  </a:solidFill>
                  <a:latin typeface="Times New Roman" panose="02020603050405020304" pitchFamily="18" charset="0"/>
                </a:rPr>
                <a:t>相图</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wipe(left)">
                                      <p:cBhvr>
                                        <p:cTn id="7" dur="500"/>
                                        <p:tgtEl>
                                          <p:spTgt spid="50179">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animEffect transition="in" filter="wipe(left)">
                                      <p:cBhvr>
                                        <p:cTn id="11" dur="500"/>
                                        <p:tgtEl>
                                          <p:spTgt spid="50179">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animEffect transition="in" filter="wipe(left)">
                                      <p:cBhvr>
                                        <p:cTn id="15" dur="500"/>
                                        <p:tgtEl>
                                          <p:spTgt spid="50179">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0179">
                                            <p:txEl>
                                              <p:pRg st="3" end="3"/>
                                            </p:txEl>
                                          </p:spTgt>
                                        </p:tgtEl>
                                        <p:attrNameLst>
                                          <p:attrName>style.visibility</p:attrName>
                                        </p:attrNameLst>
                                      </p:cBhvr>
                                      <p:to>
                                        <p:strVal val="visible"/>
                                      </p:to>
                                    </p:set>
                                    <p:animEffect transition="in" filter="wipe(left)">
                                      <p:cBhvr>
                                        <p:cTn id="19" dur="500"/>
                                        <p:tgtEl>
                                          <p:spTgt spid="50179">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advAuto="100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p:cNvSpPr>
          <p:nvPr>
            <p:ph idx="1"/>
          </p:nvPr>
        </p:nvSpPr>
        <p:spPr>
          <a:xfrm>
            <a:off x="381000" y="457200"/>
            <a:ext cx="4038600" cy="2209800"/>
          </a:xfrm>
          <a:ln/>
        </p:spPr>
        <p:txBody>
          <a:bodyPr vert="horz" wrap="square" lIns="91440" tIns="45720" rIns="91440" bIns="45720" anchor="t" anchorCtr="0"/>
          <a:lstStyle/>
          <a:p>
            <a:pPr eaLnBrk="1" hangingPunct="1">
              <a:lnSpc>
                <a:spcPct val="140000"/>
              </a:lnSpc>
            </a:pPr>
            <a:r>
              <a:rPr lang="zh-CN" altLang="en-US" sz="2800" b="1" dirty="0">
                <a:solidFill>
                  <a:schemeClr val="folHlink"/>
                </a:solidFill>
                <a:ea typeface="华文中宋" panose="02010600040101010101" pitchFamily="2" charset="-122"/>
              </a:rPr>
              <a:t>常用牌号有</a:t>
            </a:r>
            <a:r>
              <a:rPr lang="en-US" altLang="zh-CN" sz="2800" b="1">
                <a:solidFill>
                  <a:schemeClr val="folHlink"/>
                </a:solidFill>
                <a:ea typeface="华文中宋" panose="02010600040101010101" pitchFamily="2" charset="-122"/>
              </a:rPr>
              <a:t>QSn4-3</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QSn6.5-0.4</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ZCuSn10Pb1</a:t>
            </a:r>
            <a:r>
              <a:rPr lang="zh-CN" altLang="en-US" sz="2800" b="1" dirty="0">
                <a:solidFill>
                  <a:schemeClr val="folHlink"/>
                </a:solidFill>
                <a:ea typeface="华文中宋" panose="02010600040101010101" pitchFamily="2" charset="-122"/>
              </a:rPr>
              <a:t>等。</a:t>
            </a:r>
            <a:endParaRPr lang="zh-CN" altLang="en-US" sz="2800" b="1" dirty="0">
              <a:ea typeface="华文中宋" panose="02010600040101010101" pitchFamily="2" charset="-122"/>
            </a:endParaRPr>
          </a:p>
        </p:txBody>
      </p:sp>
      <p:sp>
        <p:nvSpPr>
          <p:cNvPr id="49182" name="Rectangle 30"/>
          <p:cNvSpPr/>
          <p:nvPr/>
        </p:nvSpPr>
        <p:spPr>
          <a:xfrm>
            <a:off x="4876800" y="4343400"/>
            <a:ext cx="3810000" cy="19812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主要用于耐蚀承载件</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如弹簧、轴承、齿轮轴、蜗轮、垫圈等。 </a:t>
            </a:r>
          </a:p>
        </p:txBody>
      </p:sp>
      <p:grpSp>
        <p:nvGrpSpPr>
          <p:cNvPr id="2" name="Group 35"/>
          <p:cNvGrpSpPr/>
          <p:nvPr/>
        </p:nvGrpSpPr>
        <p:grpSpPr>
          <a:xfrm>
            <a:off x="457200" y="304800"/>
            <a:ext cx="8170863" cy="6019800"/>
            <a:chOff x="288" y="192"/>
            <a:chExt cx="5147" cy="3792"/>
          </a:xfrm>
        </p:grpSpPr>
        <p:grpSp>
          <p:nvGrpSpPr>
            <p:cNvPr id="79877" name="Group 32"/>
            <p:cNvGrpSpPr/>
            <p:nvPr/>
          </p:nvGrpSpPr>
          <p:grpSpPr>
            <a:xfrm>
              <a:off x="288" y="1824"/>
              <a:ext cx="2650" cy="2160"/>
              <a:chOff x="288" y="1920"/>
              <a:chExt cx="2650" cy="2160"/>
            </a:xfrm>
          </p:grpSpPr>
          <p:pic>
            <p:nvPicPr>
              <p:cNvPr id="79881" name="Picture 28" descr="C:\Documents and Settings\Administrator\My Documents\My Pictures\锡青铜管.bmp"/>
              <p:cNvPicPr>
                <a:picLocks noChangeAspect="1"/>
              </p:cNvPicPr>
              <p:nvPr/>
            </p:nvPicPr>
            <p:blipFill>
              <a:blip r:embed="rId2"/>
              <a:stretch>
                <a:fillRect/>
              </a:stretch>
            </p:blipFill>
            <p:spPr>
              <a:xfrm>
                <a:off x="288" y="1920"/>
                <a:ext cx="2650" cy="2155"/>
              </a:xfrm>
              <a:prstGeom prst="rect">
                <a:avLst/>
              </a:prstGeom>
              <a:noFill/>
              <a:ln w="28575" cap="flat" cmpd="sng">
                <a:solidFill>
                  <a:srgbClr val="FF00FF"/>
                </a:solidFill>
                <a:prstDash val="solid"/>
                <a:miter/>
                <a:headEnd type="none" w="med" len="med"/>
                <a:tailEnd type="none" w="med" len="med"/>
              </a:ln>
            </p:spPr>
          </p:pic>
          <p:sp>
            <p:nvSpPr>
              <p:cNvPr id="79882" name="Text Box 31"/>
              <p:cNvSpPr txBox="1"/>
              <p:nvPr/>
            </p:nvSpPr>
            <p:spPr>
              <a:xfrm>
                <a:off x="336" y="3792"/>
                <a:ext cx="960" cy="288"/>
              </a:xfrm>
              <a:prstGeom prst="rect">
                <a:avLst/>
              </a:prstGeom>
              <a:noFill/>
              <a:ln w="9525">
                <a:noFill/>
              </a:ln>
            </p:spPr>
            <p:txBody>
              <a:bodyPr>
                <a:spAutoFit/>
              </a:bodyPr>
              <a:lstStyle/>
              <a:p>
                <a:r>
                  <a:rPr lang="zh-CN" altLang="en-US" dirty="0">
                    <a:latin typeface="Times New Roman" panose="02020603050405020304" pitchFamily="18" charset="0"/>
                  </a:rPr>
                  <a:t>锡青铜管</a:t>
                </a:r>
              </a:p>
            </p:txBody>
          </p:sp>
        </p:grpSp>
        <p:grpSp>
          <p:nvGrpSpPr>
            <p:cNvPr id="79878" name="Group 34"/>
            <p:cNvGrpSpPr/>
            <p:nvPr/>
          </p:nvGrpSpPr>
          <p:grpSpPr>
            <a:xfrm>
              <a:off x="3168" y="192"/>
              <a:ext cx="2267" cy="2340"/>
              <a:chOff x="3168" y="192"/>
              <a:chExt cx="2267" cy="2340"/>
            </a:xfrm>
          </p:grpSpPr>
          <p:pic>
            <p:nvPicPr>
              <p:cNvPr id="79879" name="Picture 29" descr="C:\Documents and Settings\Administrator\My Documents\My Pictures\船用青铜软管快速接头阀(锡青铜阀体阀盖).jpg"/>
              <p:cNvPicPr>
                <a:picLocks noChangeAspect="1"/>
              </p:cNvPicPr>
              <p:nvPr/>
            </p:nvPicPr>
            <p:blipFill>
              <a:blip r:embed="rId3"/>
              <a:stretch>
                <a:fillRect/>
              </a:stretch>
            </p:blipFill>
            <p:spPr>
              <a:xfrm>
                <a:off x="3168" y="192"/>
                <a:ext cx="2267" cy="2340"/>
              </a:xfrm>
              <a:prstGeom prst="rect">
                <a:avLst/>
              </a:prstGeom>
              <a:noFill/>
              <a:ln w="38100" cap="flat" cmpd="sng">
                <a:solidFill>
                  <a:srgbClr val="FF00FF"/>
                </a:solidFill>
                <a:prstDash val="solid"/>
                <a:miter/>
                <a:headEnd type="none" w="med" len="med"/>
                <a:tailEnd type="none" w="med" len="med"/>
              </a:ln>
            </p:spPr>
          </p:pic>
          <p:sp>
            <p:nvSpPr>
              <p:cNvPr id="79880" name="Text Box 33"/>
              <p:cNvSpPr txBox="1"/>
              <p:nvPr/>
            </p:nvSpPr>
            <p:spPr>
              <a:xfrm>
                <a:off x="3168" y="192"/>
                <a:ext cx="1008" cy="826"/>
              </a:xfrm>
              <a:prstGeom prst="rect">
                <a:avLst/>
              </a:prstGeom>
              <a:noFill/>
              <a:ln w="9525">
                <a:noFill/>
              </a:ln>
            </p:spPr>
            <p:txBody>
              <a:bodyPr>
                <a:spAutoFit/>
              </a:bodyPr>
              <a:lstStyle/>
              <a:p>
                <a:r>
                  <a:rPr lang="zh-CN" altLang="en-US" sz="2000" dirty="0">
                    <a:solidFill>
                      <a:srgbClr val="800000"/>
                    </a:solidFill>
                    <a:latin typeface="宋体" panose="02010600030101010101" pitchFamily="2" charset="-122"/>
                  </a:rPr>
                  <a:t>船用青铜软管快速接头阀</a:t>
                </a:r>
                <a:r>
                  <a:rPr lang="en-US" altLang="zh-CN" sz="2000">
                    <a:solidFill>
                      <a:srgbClr val="800000"/>
                    </a:solidFill>
                    <a:latin typeface="宋体" panose="02010600030101010101" pitchFamily="2" charset="-122"/>
                  </a:rPr>
                  <a:t>(</a:t>
                </a:r>
                <a:r>
                  <a:rPr lang="zh-CN" altLang="en-US" sz="2000" dirty="0">
                    <a:solidFill>
                      <a:srgbClr val="800000"/>
                    </a:solidFill>
                    <a:latin typeface="宋体" panose="02010600030101010101" pitchFamily="2" charset="-122"/>
                  </a:rPr>
                  <a:t>锡青铜阀体、阀盖</a:t>
                </a:r>
                <a:r>
                  <a:rPr lang="en-US" altLang="zh-CN" sz="2000">
                    <a:solidFill>
                      <a:srgbClr val="800000"/>
                    </a:solidFill>
                    <a:latin typeface="宋体" panose="02010600030101010101" pitchFamily="2" charset="-122"/>
                  </a:rPr>
                  <a:t>)</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9182"/>
                                        </p:tgtEl>
                                        <p:attrNameLst>
                                          <p:attrName>style.visibility</p:attrName>
                                        </p:attrNameLst>
                                      </p:cBhvr>
                                      <p:to>
                                        <p:strVal val="visible"/>
                                      </p:to>
                                    </p:set>
                                    <p:animEffect transition="in" filter="wipe(left)">
                                      <p:cBhvr>
                                        <p:cTn id="11" dur="500"/>
                                        <p:tgtEl>
                                          <p:spTgt spid="4918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dvAuto="1000"/>
      <p:bldP spid="4918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228600" y="228600"/>
            <a:ext cx="3048000" cy="41148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2</a:t>
            </a:r>
            <a:r>
              <a:rPr lang="zh-CN" altLang="en-US" sz="2800" b="1" dirty="0">
                <a:solidFill>
                  <a:schemeClr val="tx2"/>
                </a:solidFill>
                <a:ea typeface="华文中宋" panose="02010600040101010101" pitchFamily="2" charset="-122"/>
              </a:rPr>
              <a:t>、铝青铜</a:t>
            </a:r>
          </a:p>
          <a:p>
            <a:pPr eaLnBrk="1" hangingPunct="1">
              <a:lnSpc>
                <a:spcPct val="140000"/>
              </a:lnSpc>
            </a:pPr>
            <a:r>
              <a:rPr lang="zh-CN" altLang="en-US" sz="2800" b="1" dirty="0">
                <a:solidFill>
                  <a:schemeClr val="folHlink"/>
                </a:solidFill>
                <a:ea typeface="华文中宋" panose="02010600040101010101" pitchFamily="2" charset="-122"/>
              </a:rPr>
              <a:t>以铝为主加元素的铜合金，铝含量为</a:t>
            </a:r>
            <a:r>
              <a:rPr lang="en-US" altLang="zh-CN" sz="2800" b="1">
                <a:solidFill>
                  <a:schemeClr val="folHlink"/>
                </a:solidFill>
                <a:ea typeface="华文中宋" panose="02010600040101010101" pitchFamily="2" charset="-122"/>
              </a:rPr>
              <a:t>5~11%</a:t>
            </a:r>
            <a:r>
              <a:rPr lang="zh-CN" altLang="en-US" sz="2800" b="1" dirty="0">
                <a:solidFill>
                  <a:schemeClr val="folHlink"/>
                </a:solidFill>
                <a:ea typeface="华文中宋" panose="02010600040101010101" pitchFamily="2" charset="-122"/>
              </a:rPr>
              <a:t>。</a:t>
            </a:r>
          </a:p>
          <a:p>
            <a:pPr eaLnBrk="1" hangingPunct="1">
              <a:lnSpc>
                <a:spcPct val="120000"/>
              </a:lnSpc>
            </a:pPr>
            <a:r>
              <a:rPr lang="zh-CN" altLang="en-US" sz="2800" b="1" dirty="0">
                <a:ea typeface="华文中宋" panose="02010600040101010101" pitchFamily="2" charset="-122"/>
              </a:rPr>
              <a:t>强度、硬度、耐</a:t>
            </a:r>
          </a:p>
        </p:txBody>
      </p:sp>
      <p:grpSp>
        <p:nvGrpSpPr>
          <p:cNvPr id="2" name="Group 16"/>
          <p:cNvGrpSpPr/>
          <p:nvPr/>
        </p:nvGrpSpPr>
        <p:grpSpPr>
          <a:xfrm>
            <a:off x="3429000" y="687388"/>
            <a:ext cx="5257800" cy="2436812"/>
            <a:chOff x="2160" y="433"/>
            <a:chExt cx="3312" cy="1535"/>
          </a:xfrm>
        </p:grpSpPr>
        <p:pic>
          <p:nvPicPr>
            <p:cNvPr id="80901" name="Picture 9" descr="C:\Documents and Settings\Administrator\My Documents\My Pictures\大型水力发电设备中的抗磨环(ZCuAl9Fe4Ni4Mn2)1.GIF"/>
            <p:cNvPicPr preferRelativeResize="0">
              <a:picLocks noChangeAspect="1"/>
            </p:cNvPicPr>
            <p:nvPr/>
          </p:nvPicPr>
          <p:blipFill>
            <a:blip r:embed="rId2"/>
            <a:stretch>
              <a:fillRect/>
            </a:stretch>
          </p:blipFill>
          <p:spPr>
            <a:xfrm>
              <a:off x="2160" y="433"/>
              <a:ext cx="3308" cy="1535"/>
            </a:xfrm>
            <a:prstGeom prst="rect">
              <a:avLst/>
            </a:prstGeom>
            <a:noFill/>
            <a:ln w="38100" cap="flat" cmpd="sng">
              <a:solidFill>
                <a:srgbClr val="FF9900"/>
              </a:solidFill>
              <a:prstDash val="solid"/>
              <a:miter/>
              <a:headEnd type="none" w="med" len="med"/>
              <a:tailEnd type="none" w="med" len="med"/>
            </a:ln>
          </p:spPr>
        </p:pic>
        <p:sp>
          <p:nvSpPr>
            <p:cNvPr id="80902" name="Text Box 10"/>
            <p:cNvSpPr txBox="1"/>
            <p:nvPr/>
          </p:nvSpPr>
          <p:spPr>
            <a:xfrm>
              <a:off x="3216" y="1716"/>
              <a:ext cx="2256" cy="250"/>
            </a:xfrm>
            <a:prstGeom prst="rect">
              <a:avLst/>
            </a:prstGeom>
            <a:solidFill>
              <a:srgbClr val="FFFF00"/>
            </a:solidFill>
            <a:ln w="9525">
              <a:noFill/>
            </a:ln>
          </p:spPr>
          <p:txBody>
            <a:bodyPr>
              <a:spAutoFit/>
            </a:bodyPr>
            <a:lstStyle/>
            <a:p>
              <a:r>
                <a:rPr lang="zh-CN" altLang="en-US" sz="2000" dirty="0">
                  <a:solidFill>
                    <a:srgbClr val="800000"/>
                  </a:solidFill>
                  <a:latin typeface="Times New Roman" panose="02020603050405020304" pitchFamily="18" charset="0"/>
                </a:rPr>
                <a:t>大型水力发电设备中的抗磨环</a:t>
              </a:r>
            </a:p>
          </p:txBody>
        </p:sp>
      </p:grpSp>
      <p:sp>
        <p:nvSpPr>
          <p:cNvPr id="51215" name="Rectangle 15"/>
          <p:cNvSpPr/>
          <p:nvPr/>
        </p:nvSpPr>
        <p:spPr>
          <a:xfrm>
            <a:off x="228600" y="3200400"/>
            <a:ext cx="8686800" cy="34290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pPr>
            <a:r>
              <a:rPr lang="en-US" altLang="zh-CN" sz="2800">
                <a:latin typeface="Times New Roman" panose="02020603050405020304" pitchFamily="18" charset="0"/>
                <a:ea typeface="华文中宋" panose="02010600040101010101" pitchFamily="2" charset="-122"/>
              </a:rPr>
              <a:t>    </a:t>
            </a:r>
            <a:r>
              <a:rPr lang="zh-CN" altLang="en-US" sz="2800" dirty="0">
                <a:latin typeface="Times New Roman" panose="02020603050405020304" pitchFamily="18" charset="0"/>
                <a:ea typeface="华文中宋" panose="02010600040101010101" pitchFamily="2" charset="-122"/>
              </a:rPr>
              <a:t>磨性、耐热性及耐蚀性高于黄铜和锡青铜，铸造性能好，但焊接性能差。 </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常用牌号有</a:t>
            </a:r>
            <a:r>
              <a:rPr lang="en-US" altLang="zh-CN" sz="2800">
                <a:latin typeface="Times New Roman" panose="02020603050405020304" pitchFamily="18" charset="0"/>
                <a:ea typeface="华文中宋" panose="02010600040101010101" pitchFamily="2" charset="-122"/>
              </a:rPr>
              <a:t>QAl5</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QAl7</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ZCuAl8Mn13Fe3Ni2</a:t>
            </a:r>
            <a:r>
              <a:rPr lang="zh-CN" altLang="en-US" sz="2800" dirty="0">
                <a:latin typeface="Times New Roman" panose="02020603050405020304" pitchFamily="18" charset="0"/>
                <a:ea typeface="华文中宋" panose="02010600040101010101" pitchFamily="2" charset="-122"/>
              </a:rPr>
              <a:t>等。</a:t>
            </a:r>
            <a:endParaRPr lang="zh-CN" altLang="en-US" sz="2800" dirty="0">
              <a:solidFill>
                <a:srgbClr val="CCFFFF"/>
              </a:solidFill>
              <a:latin typeface="Times New Roman" panose="02020603050405020304" pitchFamily="18" charset="0"/>
              <a:ea typeface="华文中宋" panose="02010600040101010101" pitchFamily="2" charset="-122"/>
            </a:endParaRP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solidFill>
                  <a:srgbClr val="CCFFFF"/>
                </a:solidFill>
                <a:latin typeface="Times New Roman" panose="02020603050405020304" pitchFamily="18" charset="0"/>
                <a:ea typeface="华文中宋" panose="02010600040101010101" pitchFamily="2" charset="-122"/>
              </a:rPr>
              <a:t>主要用于制造船舶、飞机及仪器中的高强、耐磨、耐蚀件，如齿轮、轴承、蜗轮、轴套、螺旋桨等。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wipe(left)">
                                      <p:cBhvr>
                                        <p:cTn id="7" dur="500"/>
                                        <p:tgtEl>
                                          <p:spTgt spid="5120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animEffect transition="in" filter="wipe(left)">
                                      <p:cBhvr>
                                        <p:cTn id="11" dur="500"/>
                                        <p:tgtEl>
                                          <p:spTgt spid="5120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animEffect transition="in" filter="wipe(left)">
                                      <p:cBhvr>
                                        <p:cTn id="15" dur="500"/>
                                        <p:tgtEl>
                                          <p:spTgt spid="5120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1215"/>
                                        </p:tgtEl>
                                        <p:attrNameLst>
                                          <p:attrName>style.visibility</p:attrName>
                                        </p:attrNameLst>
                                      </p:cBhvr>
                                      <p:to>
                                        <p:strVal val="visible"/>
                                      </p:to>
                                    </p:set>
                                    <p:animEffect transition="in" filter="wipe(left)">
                                      <p:cBhvr>
                                        <p:cTn id="19" dur="500"/>
                                        <p:tgtEl>
                                          <p:spTgt spid="51215"/>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dvAuto="1000"/>
      <p:bldP spid="512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p:cNvSpPr>
          <p:nvPr>
            <p:ph idx="1"/>
          </p:nvPr>
        </p:nvSpPr>
        <p:spPr>
          <a:xfrm>
            <a:off x="187325" y="152400"/>
            <a:ext cx="8937625" cy="48006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3</a:t>
            </a:r>
            <a:r>
              <a:rPr lang="zh-CN" altLang="en-US" sz="2800" b="1" dirty="0">
                <a:solidFill>
                  <a:schemeClr val="tx2"/>
                </a:solidFill>
                <a:ea typeface="华文中宋" panose="02010600040101010101" pitchFamily="2" charset="-122"/>
              </a:rPr>
              <a:t>、铍青铜</a:t>
            </a:r>
          </a:p>
          <a:p>
            <a:pPr eaLnBrk="1" hangingPunct="1">
              <a:lnSpc>
                <a:spcPct val="140000"/>
              </a:lnSpc>
            </a:pPr>
            <a:r>
              <a:rPr lang="zh-CN" altLang="en-US" sz="2800" b="1" dirty="0">
                <a:solidFill>
                  <a:schemeClr val="folHlink"/>
                </a:solidFill>
                <a:ea typeface="华文中宋" panose="02010600040101010101" pitchFamily="2" charset="-122"/>
              </a:rPr>
              <a:t>以铍为主加元素的铜合金，铍含量为</a:t>
            </a:r>
            <a:r>
              <a:rPr lang="en-US" altLang="zh-CN" sz="2800" b="1">
                <a:solidFill>
                  <a:schemeClr val="folHlink"/>
                </a:solidFill>
                <a:ea typeface="华文中宋" panose="02010600040101010101" pitchFamily="2" charset="-122"/>
              </a:rPr>
              <a:t>1.7~2.5%</a:t>
            </a:r>
            <a:r>
              <a:rPr lang="zh-CN" altLang="en-US" sz="2800" b="1" dirty="0">
                <a:solidFill>
                  <a:schemeClr val="folHlink"/>
                </a:solidFill>
                <a:ea typeface="华文中宋" panose="02010600040101010101" pitchFamily="2" charset="-122"/>
              </a:rPr>
              <a:t>。</a:t>
            </a:r>
          </a:p>
          <a:p>
            <a:pPr eaLnBrk="1" hangingPunct="1">
              <a:lnSpc>
                <a:spcPct val="140000"/>
              </a:lnSpc>
            </a:pPr>
            <a:r>
              <a:rPr lang="zh-CN" altLang="en-US" sz="2800" b="1" dirty="0">
                <a:ea typeface="华文中宋" panose="02010600040101010101" pitchFamily="2" charset="-122"/>
              </a:rPr>
              <a:t>具有高的强度、弹性极限、耐磨性、耐蚀性，良好的导电性、导热性、冷热加工及铸造性能，但价格较贵</a:t>
            </a:r>
            <a:r>
              <a:rPr lang="en-US" altLang="zh-CN" sz="2800" b="1">
                <a:ea typeface="华文中宋" panose="02010600040101010101" pitchFamily="2" charset="-122"/>
              </a:rPr>
              <a:t>.</a:t>
            </a:r>
          </a:p>
        </p:txBody>
      </p:sp>
      <p:grpSp>
        <p:nvGrpSpPr>
          <p:cNvPr id="2" name="Group 13"/>
          <p:cNvGrpSpPr/>
          <p:nvPr/>
        </p:nvGrpSpPr>
        <p:grpSpPr>
          <a:xfrm>
            <a:off x="5029200" y="2895600"/>
            <a:ext cx="3775075" cy="3236913"/>
            <a:chOff x="3168" y="1824"/>
            <a:chExt cx="2378" cy="2039"/>
          </a:xfrm>
        </p:grpSpPr>
        <p:pic>
          <p:nvPicPr>
            <p:cNvPr id="81925" name="Picture 8" descr="C:\Documents and Settings\Administrator\My Documents\My Pictures\铍铜制品.gif"/>
            <p:cNvPicPr>
              <a:picLocks noChangeAspect="1"/>
            </p:cNvPicPr>
            <p:nvPr/>
          </p:nvPicPr>
          <p:blipFill>
            <a:blip r:embed="rId2"/>
            <a:stretch>
              <a:fillRect/>
            </a:stretch>
          </p:blipFill>
          <p:spPr>
            <a:xfrm>
              <a:off x="3168" y="1824"/>
              <a:ext cx="2378" cy="2039"/>
            </a:xfrm>
            <a:prstGeom prst="rect">
              <a:avLst/>
            </a:prstGeom>
            <a:solidFill>
              <a:srgbClr val="00FFFF"/>
            </a:solidFill>
            <a:ln w="38100" cap="flat" cmpd="sng">
              <a:solidFill>
                <a:srgbClr val="FF9900"/>
              </a:solidFill>
              <a:prstDash val="solid"/>
              <a:miter/>
              <a:headEnd type="none" w="med" len="med"/>
              <a:tailEnd type="none" w="med" len="med"/>
            </a:ln>
          </p:spPr>
        </p:pic>
        <p:sp>
          <p:nvSpPr>
            <p:cNvPr id="81926" name="Text Box 9"/>
            <p:cNvSpPr txBox="1"/>
            <p:nvPr/>
          </p:nvSpPr>
          <p:spPr>
            <a:xfrm>
              <a:off x="4512" y="1824"/>
              <a:ext cx="1008" cy="250"/>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铍青铜制品</a:t>
              </a:r>
            </a:p>
          </p:txBody>
        </p:sp>
      </p:grpSp>
      <p:sp>
        <p:nvSpPr>
          <p:cNvPr id="53260" name="Rectangle 12"/>
          <p:cNvSpPr/>
          <p:nvPr/>
        </p:nvSpPr>
        <p:spPr>
          <a:xfrm>
            <a:off x="190500" y="2590800"/>
            <a:ext cx="4762500" cy="38862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常用牌号有</a:t>
            </a:r>
            <a:r>
              <a:rPr lang="en-US" altLang="zh-CN" sz="2800">
                <a:latin typeface="Times New Roman" panose="02020603050405020304" pitchFamily="18" charset="0"/>
                <a:ea typeface="华文中宋" panose="02010600040101010101" pitchFamily="2" charset="-122"/>
              </a:rPr>
              <a:t>QBe2</a:t>
            </a:r>
            <a:r>
              <a:rPr lang="zh-CN" altLang="en-US" sz="1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QBe1.7</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QBe1.9</a:t>
            </a:r>
            <a:r>
              <a:rPr lang="zh-CN" altLang="en-US" sz="2800" dirty="0">
                <a:latin typeface="Times New Roman" panose="02020603050405020304" pitchFamily="18" charset="0"/>
                <a:ea typeface="华文中宋" panose="02010600040101010101" pitchFamily="2" charset="-122"/>
              </a:rPr>
              <a:t>等 。</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用于重要的弹性件、耐磨件，如精密弹簧、膜片，高速、高压轴承及防爆工具、航海罗盘等重要机件</a:t>
            </a:r>
            <a:r>
              <a:rPr lang="en-US" altLang="zh-CN" sz="2800">
                <a:latin typeface="Times New Roman" panose="02020603050405020304" pitchFamily="18" charset="0"/>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animEffect transition="in" filter="wipe(left)">
                                      <p:cBhvr>
                                        <p:cTn id="11" dur="500"/>
                                        <p:tgtEl>
                                          <p:spTgt spid="5325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animEffect transition="in" filter="wipe(left)">
                                      <p:cBhvr>
                                        <p:cTn id="15" dur="500"/>
                                        <p:tgtEl>
                                          <p:spTgt spid="53251">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3260"/>
                                        </p:tgtEl>
                                        <p:attrNameLst>
                                          <p:attrName>style.visibility</p:attrName>
                                        </p:attrNameLst>
                                      </p:cBhvr>
                                      <p:to>
                                        <p:strVal val="visible"/>
                                      </p:to>
                                    </p:set>
                                    <p:animEffect transition="in" filter="wipe(left)">
                                      <p:cBhvr>
                                        <p:cTn id="19" dur="500"/>
                                        <p:tgtEl>
                                          <p:spTgt spid="53260"/>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dvAuto="1000"/>
      <p:bldP spid="5326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p:cNvSpPr>
          <p:nvPr>
            <p:ph idx="1"/>
          </p:nvPr>
        </p:nvSpPr>
        <p:spPr>
          <a:xfrm>
            <a:off x="146050" y="2971800"/>
            <a:ext cx="8915400" cy="3581400"/>
          </a:xfrm>
          <a:ln/>
        </p:spPr>
        <p:txBody>
          <a:bodyPr vert="horz" wrap="square" lIns="91440" tIns="45720" rIns="91440" bIns="45720" anchor="t" anchorCtr="0"/>
          <a:lstStyle/>
          <a:p>
            <a:pPr eaLnBrk="1" hangingPunct="1">
              <a:lnSpc>
                <a:spcPct val="140000"/>
              </a:lnSpc>
            </a:pPr>
            <a:r>
              <a:rPr lang="zh-CN" altLang="en-US" sz="2800" b="1" dirty="0">
                <a:solidFill>
                  <a:schemeClr val="tx2"/>
                </a:solidFill>
                <a:ea typeface="华文中宋" panose="02010600040101010101" pitchFamily="2" charset="-122"/>
              </a:rPr>
              <a:t>普通白铜</a:t>
            </a:r>
            <a:r>
              <a:rPr lang="zh-CN" altLang="en-US" sz="2800" b="1" dirty="0">
                <a:ea typeface="华文中宋" panose="02010600040101010101" pitchFamily="2" charset="-122"/>
              </a:rPr>
              <a:t>是</a:t>
            </a:r>
            <a:r>
              <a:rPr lang="en-US" altLang="zh-CN" sz="2800" b="1">
                <a:ea typeface="华文中宋" panose="02010600040101010101" pitchFamily="2" charset="-122"/>
              </a:rPr>
              <a:t>Cu-Ni</a:t>
            </a:r>
            <a:r>
              <a:rPr lang="zh-CN" altLang="en-US" sz="2800" b="1" dirty="0">
                <a:ea typeface="华文中宋" panose="02010600040101010101" pitchFamily="2" charset="-122"/>
              </a:rPr>
              <a:t>二元合金，具有较高的耐蚀性和抗腐蚀疲劳性能及优良的冷热加工性能。 </a:t>
            </a:r>
            <a:endParaRPr lang="zh-CN" altLang="en-US" sz="2800" b="1" dirty="0">
              <a:solidFill>
                <a:schemeClr val="tx2"/>
              </a:solidFill>
              <a:ea typeface="华文中宋" panose="02010600040101010101" pitchFamily="2" charset="-122"/>
            </a:endParaRPr>
          </a:p>
          <a:p>
            <a:pPr eaLnBrk="1" hangingPunct="1">
              <a:lnSpc>
                <a:spcPct val="140000"/>
              </a:lnSpc>
            </a:pPr>
            <a:r>
              <a:rPr lang="zh-CN" altLang="en-US" sz="2800" b="1" dirty="0">
                <a:solidFill>
                  <a:schemeClr val="tx2"/>
                </a:solidFill>
                <a:ea typeface="华文中宋" panose="02010600040101010101" pitchFamily="2" charset="-122"/>
              </a:rPr>
              <a:t>普通白铜</a:t>
            </a:r>
            <a:r>
              <a:rPr lang="zh-CN" altLang="en-US" sz="2800" b="1" dirty="0">
                <a:solidFill>
                  <a:srgbClr val="CCFFFF"/>
                </a:solidFill>
                <a:ea typeface="华文中宋" panose="02010600040101010101" pitchFamily="2" charset="-122"/>
              </a:rPr>
              <a:t>牌号：</a:t>
            </a:r>
            <a:r>
              <a:rPr lang="en-US" altLang="zh-CN" sz="2800" b="1">
                <a:solidFill>
                  <a:schemeClr val="folHlink"/>
                </a:solidFill>
                <a:ea typeface="华文中宋" panose="02010600040101010101" pitchFamily="2" charset="-122"/>
              </a:rPr>
              <a:t>B+</a:t>
            </a:r>
            <a:r>
              <a:rPr lang="zh-CN" altLang="en-US" sz="2800" b="1" dirty="0">
                <a:solidFill>
                  <a:schemeClr val="folHlink"/>
                </a:solidFill>
                <a:ea typeface="华文中宋" panose="02010600040101010101" pitchFamily="2" charset="-122"/>
              </a:rPr>
              <a:t>镍的平均百分含量</a:t>
            </a:r>
            <a:r>
              <a:rPr lang="zh-CN" altLang="en-US" sz="2800" b="1" dirty="0">
                <a:solidFill>
                  <a:srgbClr val="CCFFFF"/>
                </a:solidFill>
                <a:ea typeface="华文中宋" panose="02010600040101010101" pitchFamily="2" charset="-122"/>
              </a:rPr>
              <a:t>，如</a:t>
            </a:r>
            <a:r>
              <a:rPr lang="en-US" altLang="zh-CN" sz="2800" b="1">
                <a:solidFill>
                  <a:srgbClr val="CCFFFF"/>
                </a:solidFill>
                <a:ea typeface="华文中宋" panose="02010600040101010101" pitchFamily="2" charset="-122"/>
              </a:rPr>
              <a:t>B5</a:t>
            </a:r>
            <a:r>
              <a:rPr lang="zh-CN" altLang="en-US" sz="2800" b="1" dirty="0">
                <a:solidFill>
                  <a:srgbClr val="CCFFFF"/>
                </a:solidFill>
                <a:ea typeface="华文中宋" panose="02010600040101010101" pitchFamily="2" charset="-122"/>
              </a:rPr>
              <a:t>。</a:t>
            </a:r>
          </a:p>
          <a:p>
            <a:pPr eaLnBrk="1" hangingPunct="1">
              <a:lnSpc>
                <a:spcPct val="140000"/>
              </a:lnSpc>
            </a:pPr>
            <a:r>
              <a:rPr lang="zh-CN" altLang="en-US" sz="2800" b="1" dirty="0">
                <a:solidFill>
                  <a:srgbClr val="CCFFFF"/>
                </a:solidFill>
                <a:ea typeface="华文中宋" panose="02010600040101010101" pitchFamily="2" charset="-122"/>
              </a:rPr>
              <a:t>常用牌号有</a:t>
            </a:r>
            <a:r>
              <a:rPr lang="en-US" altLang="zh-CN" sz="2800" b="1">
                <a:solidFill>
                  <a:schemeClr val="folHlink"/>
                </a:solidFill>
                <a:ea typeface="华文中宋" panose="02010600040101010101" pitchFamily="2" charset="-122"/>
              </a:rPr>
              <a:t>B5</a:t>
            </a:r>
            <a:r>
              <a:rPr lang="zh-CN" altLang="en-US" sz="2800" b="1" dirty="0">
                <a:solidFill>
                  <a:srgbClr val="CCFFFF"/>
                </a:solidFill>
                <a:ea typeface="华文中宋" panose="02010600040101010101" pitchFamily="2" charset="-122"/>
              </a:rPr>
              <a:t>、</a:t>
            </a:r>
            <a:r>
              <a:rPr lang="en-US" altLang="zh-CN" sz="2800" b="1">
                <a:solidFill>
                  <a:schemeClr val="folHlink"/>
                </a:solidFill>
                <a:ea typeface="华文中宋" panose="02010600040101010101" pitchFamily="2" charset="-122"/>
              </a:rPr>
              <a:t>B19</a:t>
            </a:r>
            <a:r>
              <a:rPr lang="zh-CN" altLang="en-US" sz="2800" b="1" dirty="0">
                <a:solidFill>
                  <a:srgbClr val="CCFFFF"/>
                </a:solidFill>
                <a:ea typeface="华文中宋" panose="02010600040101010101" pitchFamily="2" charset="-122"/>
              </a:rPr>
              <a:t>等 。用于在蒸汽和海水环境下工作的精密机械</a:t>
            </a:r>
            <a:r>
              <a:rPr lang="en-US" altLang="zh-CN" sz="2800" b="1">
                <a:solidFill>
                  <a:srgbClr val="CCFFFF"/>
                </a:solidFill>
                <a:ea typeface="华文中宋" panose="02010600040101010101" pitchFamily="2" charset="-122"/>
              </a:rPr>
              <a:t>,</a:t>
            </a:r>
            <a:r>
              <a:rPr lang="zh-CN" altLang="en-US" sz="2800" b="1" dirty="0">
                <a:solidFill>
                  <a:srgbClr val="CCFFFF"/>
                </a:solidFill>
                <a:ea typeface="华文中宋" panose="02010600040101010101" pitchFamily="2" charset="-122"/>
              </a:rPr>
              <a:t>仪表零件及冷凝器</a:t>
            </a:r>
            <a:r>
              <a:rPr lang="en-US" altLang="zh-CN" sz="2800" b="1">
                <a:solidFill>
                  <a:srgbClr val="CCFFFF"/>
                </a:solidFill>
                <a:ea typeface="华文中宋" panose="02010600040101010101" pitchFamily="2" charset="-122"/>
              </a:rPr>
              <a:t>,</a:t>
            </a:r>
            <a:r>
              <a:rPr lang="zh-CN" altLang="en-US" sz="2800" b="1" dirty="0">
                <a:solidFill>
                  <a:srgbClr val="CCFFFF"/>
                </a:solidFill>
                <a:ea typeface="华文中宋" panose="02010600040101010101" pitchFamily="2" charset="-122"/>
              </a:rPr>
              <a:t>蒸馏器</a:t>
            </a:r>
            <a:r>
              <a:rPr lang="en-US" altLang="zh-CN" sz="2800" b="1">
                <a:solidFill>
                  <a:srgbClr val="CCFFFF"/>
                </a:solidFill>
                <a:ea typeface="华文中宋" panose="02010600040101010101" pitchFamily="2" charset="-122"/>
              </a:rPr>
              <a:t>,</a:t>
            </a:r>
            <a:r>
              <a:rPr lang="zh-CN" altLang="en-US" sz="2800" b="1" dirty="0">
                <a:solidFill>
                  <a:srgbClr val="CCFFFF"/>
                </a:solidFill>
                <a:ea typeface="华文中宋" panose="02010600040101010101" pitchFamily="2" charset="-122"/>
              </a:rPr>
              <a:t>热交换器等</a:t>
            </a:r>
            <a:r>
              <a:rPr lang="en-US" altLang="zh-CN" sz="2800" b="1">
                <a:solidFill>
                  <a:srgbClr val="CCFFFF"/>
                </a:solidFill>
                <a:ea typeface="华文中宋" panose="02010600040101010101" pitchFamily="2" charset="-122"/>
              </a:rPr>
              <a:t>.</a:t>
            </a:r>
            <a:r>
              <a:rPr lang="en-US" altLang="zh-CN" sz="2800">
                <a:ea typeface="华文中宋" panose="02010600040101010101" pitchFamily="2" charset="-122"/>
              </a:rPr>
              <a:t> </a:t>
            </a:r>
          </a:p>
        </p:txBody>
      </p:sp>
      <p:grpSp>
        <p:nvGrpSpPr>
          <p:cNvPr id="2" name="Group 13"/>
          <p:cNvGrpSpPr/>
          <p:nvPr/>
        </p:nvGrpSpPr>
        <p:grpSpPr>
          <a:xfrm>
            <a:off x="4800600" y="381000"/>
            <a:ext cx="3825875" cy="2660650"/>
            <a:chOff x="3024" y="240"/>
            <a:chExt cx="2410" cy="1676"/>
          </a:xfrm>
        </p:grpSpPr>
        <p:pic>
          <p:nvPicPr>
            <p:cNvPr id="82949" name="Picture 8" descr="C:\Documents and Settings\Administrator\My Documents\My Pictures\白铜（铸件）.jpg"/>
            <p:cNvPicPr>
              <a:picLocks noChangeAspect="1"/>
            </p:cNvPicPr>
            <p:nvPr/>
          </p:nvPicPr>
          <p:blipFill>
            <a:blip r:embed="rId2"/>
            <a:stretch>
              <a:fillRect/>
            </a:stretch>
          </p:blipFill>
          <p:spPr>
            <a:xfrm>
              <a:off x="3024" y="240"/>
              <a:ext cx="2410" cy="1676"/>
            </a:xfrm>
            <a:prstGeom prst="rect">
              <a:avLst/>
            </a:prstGeom>
            <a:noFill/>
            <a:ln w="38100" cap="flat" cmpd="sng">
              <a:solidFill>
                <a:srgbClr val="FF9900"/>
              </a:solidFill>
              <a:prstDash val="solid"/>
              <a:miter/>
              <a:headEnd type="none" w="med" len="med"/>
              <a:tailEnd type="none" w="med" len="med"/>
            </a:ln>
          </p:spPr>
        </p:pic>
        <p:sp>
          <p:nvSpPr>
            <p:cNvPr id="82950" name="Text Box 9"/>
            <p:cNvSpPr txBox="1"/>
            <p:nvPr/>
          </p:nvSpPr>
          <p:spPr>
            <a:xfrm>
              <a:off x="3072" y="288"/>
              <a:ext cx="720" cy="250"/>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白铜件</a:t>
              </a:r>
            </a:p>
          </p:txBody>
        </p:sp>
      </p:grpSp>
      <p:sp>
        <p:nvSpPr>
          <p:cNvPr id="52236" name="Rectangle 12"/>
          <p:cNvSpPr/>
          <p:nvPr/>
        </p:nvSpPr>
        <p:spPr>
          <a:xfrm>
            <a:off x="152400" y="552450"/>
            <a:ext cx="4572000" cy="2743200"/>
          </a:xfrm>
          <a:prstGeom prst="rect">
            <a:avLst/>
          </a:prstGeom>
          <a:noFill/>
          <a:ln w="9525">
            <a:noFill/>
          </a:ln>
        </p:spPr>
        <p:txBody>
          <a:bodyPr/>
          <a:lstStyle/>
          <a:p>
            <a:pPr marL="342900" indent="-342900">
              <a:spcBef>
                <a:spcPct val="20000"/>
              </a:spcBef>
              <a:buClr>
                <a:schemeClr val="accent2"/>
              </a:buClr>
              <a:buSzPct val="80000"/>
              <a:buFont typeface="Wingdings" panose="05000000000000000000" pitchFamily="2" charset="2"/>
              <a:buChar char="l"/>
            </a:pPr>
            <a:r>
              <a:rPr lang="zh-CN" altLang="en-US" sz="3200" dirty="0">
                <a:solidFill>
                  <a:schemeClr val="tx2"/>
                </a:solidFill>
                <a:latin typeface="Times New Roman" panose="02020603050405020304" pitchFamily="18" charset="0"/>
                <a:ea typeface="华文中宋" panose="02010600040101010101" pitchFamily="2" charset="-122"/>
              </a:rPr>
              <a:t>四、白铜</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以镍为主要合金元素的铜合金称白铜。</a:t>
            </a:r>
            <a:r>
              <a:rPr lang="zh-CN" altLang="en-US" sz="2800" dirty="0">
                <a:solidFill>
                  <a:srgbClr val="CCFF33"/>
                </a:solidFill>
                <a:latin typeface="Times New Roman" panose="02020603050405020304" pitchFamily="18" charset="0"/>
                <a:ea typeface="华文中宋" panose="02010600040101010101" pitchFamily="2" charset="-122"/>
              </a:rPr>
              <a:t>分普通白铜和特殊白铜。</a:t>
            </a:r>
            <a:endParaRPr lang="zh-CN" altLang="en-US" sz="3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36"/>
                                        </p:tgtEl>
                                        <p:attrNameLst>
                                          <p:attrName>style.visibility</p:attrName>
                                        </p:attrNameLst>
                                      </p:cBhvr>
                                      <p:to>
                                        <p:strVal val="visible"/>
                                      </p:to>
                                    </p:set>
                                    <p:animEffect transition="in" filter="wipe(left)">
                                      <p:cBhvr>
                                        <p:cTn id="7" dur="500"/>
                                        <p:tgtEl>
                                          <p:spTgt spid="522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2227">
                                            <p:txEl>
                                              <p:pRg st="0" end="0"/>
                                            </p:txEl>
                                          </p:spTgt>
                                        </p:tgtEl>
                                        <p:attrNameLst>
                                          <p:attrName>style.visibility</p:attrName>
                                        </p:attrNameLst>
                                      </p:cBhvr>
                                      <p:to>
                                        <p:strVal val="visible"/>
                                      </p:to>
                                    </p:set>
                                    <p:animEffect transition="in" filter="wipe(left)">
                                      <p:cBhvr>
                                        <p:cTn id="11" dur="500"/>
                                        <p:tgtEl>
                                          <p:spTgt spid="52227">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2227">
                                            <p:txEl>
                                              <p:pRg st="1" end="1"/>
                                            </p:txEl>
                                          </p:spTgt>
                                        </p:tgtEl>
                                        <p:attrNameLst>
                                          <p:attrName>style.visibility</p:attrName>
                                        </p:attrNameLst>
                                      </p:cBhvr>
                                      <p:to>
                                        <p:strVal val="visible"/>
                                      </p:to>
                                    </p:set>
                                    <p:animEffect transition="in" filter="wipe(left)">
                                      <p:cBhvr>
                                        <p:cTn id="15" dur="500"/>
                                        <p:tgtEl>
                                          <p:spTgt spid="52227">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Effect transition="in" filter="wipe(left)">
                                      <p:cBhvr>
                                        <p:cTn id="19" dur="500"/>
                                        <p:tgtEl>
                                          <p:spTgt spid="52227">
                                            <p:txEl>
                                              <p:pRg st="2" end="2"/>
                                            </p:txEl>
                                          </p:spTgt>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dvAuto="1000"/>
      <p:bldP spid="5223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p:cNvSpPr>
          <p:nvPr>
            <p:ph idx="1"/>
          </p:nvPr>
        </p:nvSpPr>
        <p:spPr>
          <a:xfrm>
            <a:off x="228600" y="304800"/>
            <a:ext cx="8915400" cy="5257800"/>
          </a:xfrm>
          <a:ln/>
        </p:spPr>
        <p:txBody>
          <a:bodyPr vert="horz" wrap="square" lIns="91440" tIns="45720" rIns="91440" bIns="45720" anchor="t" anchorCtr="0"/>
          <a:lstStyle/>
          <a:p>
            <a:pPr eaLnBrk="1" hangingPunct="1">
              <a:lnSpc>
                <a:spcPct val="140000"/>
              </a:lnSpc>
            </a:pPr>
            <a:r>
              <a:rPr lang="zh-CN" altLang="en-US" sz="2800" b="1" dirty="0">
                <a:solidFill>
                  <a:schemeClr val="tx2"/>
                </a:solidFill>
                <a:ea typeface="华文中宋" panose="02010600040101010101" pitchFamily="2" charset="-122"/>
              </a:rPr>
              <a:t>特殊白铜</a:t>
            </a:r>
            <a:r>
              <a:rPr lang="zh-CN" altLang="en-US" sz="2800" b="1" dirty="0">
                <a:solidFill>
                  <a:srgbClr val="CCFF33"/>
                </a:solidFill>
                <a:ea typeface="华文中宋" panose="02010600040101010101" pitchFamily="2" charset="-122"/>
              </a:rPr>
              <a:t>是在普通白铜基础上添加</a:t>
            </a:r>
            <a:r>
              <a:rPr lang="en-US" altLang="zh-CN" sz="2800" b="1" dirty="0">
                <a:solidFill>
                  <a:srgbClr val="CCFF33"/>
                </a:solidFill>
                <a:ea typeface="华文中宋" panose="02010600040101010101" pitchFamily="2" charset="-122"/>
              </a:rPr>
              <a:t>Zn</a:t>
            </a:r>
            <a:r>
              <a:rPr lang="zh-CN" altLang="en-US" sz="2800" b="1" dirty="0">
                <a:solidFill>
                  <a:srgbClr val="CCFF33"/>
                </a:solidFill>
                <a:ea typeface="华文中宋" panose="02010600040101010101" pitchFamily="2" charset="-122"/>
              </a:rPr>
              <a:t>、</a:t>
            </a:r>
            <a:r>
              <a:rPr lang="en-US" altLang="zh-CN" sz="2800" b="1" dirty="0">
                <a:solidFill>
                  <a:srgbClr val="CCFF33"/>
                </a:solidFill>
                <a:ea typeface="华文中宋" panose="02010600040101010101" pitchFamily="2" charset="-122"/>
              </a:rPr>
              <a:t>Mn</a:t>
            </a:r>
            <a:r>
              <a:rPr lang="zh-CN" altLang="en-US" sz="2800" b="1" dirty="0">
                <a:solidFill>
                  <a:srgbClr val="CCFF33"/>
                </a:solidFill>
                <a:ea typeface="华文中宋" panose="02010600040101010101" pitchFamily="2" charset="-122"/>
              </a:rPr>
              <a:t>、</a:t>
            </a:r>
            <a:r>
              <a:rPr lang="en-US" altLang="zh-CN" sz="2800" b="1" dirty="0">
                <a:solidFill>
                  <a:srgbClr val="CCFF33"/>
                </a:solidFill>
                <a:ea typeface="华文中宋" panose="02010600040101010101" pitchFamily="2" charset="-122"/>
              </a:rPr>
              <a:t>Al</a:t>
            </a:r>
            <a:r>
              <a:rPr lang="zh-CN" altLang="en-US" sz="2800" b="1" dirty="0">
                <a:solidFill>
                  <a:srgbClr val="CCFF33"/>
                </a:solidFill>
                <a:ea typeface="华文中宋" panose="02010600040101010101" pitchFamily="2" charset="-122"/>
              </a:rPr>
              <a:t>等元素形成的，分别称锌白铜、锰白铜、铝白铜等。</a:t>
            </a:r>
            <a:endParaRPr lang="zh-CN" altLang="en-US" sz="2800" b="1" dirty="0">
              <a:ea typeface="华文中宋" panose="02010600040101010101" pitchFamily="2" charset="-122"/>
            </a:endParaRPr>
          </a:p>
          <a:p>
            <a:pPr eaLnBrk="1" hangingPunct="1">
              <a:lnSpc>
                <a:spcPct val="140000"/>
              </a:lnSpc>
            </a:pPr>
            <a:r>
              <a:rPr lang="zh-CN" altLang="en-US" sz="2800" b="1" dirty="0">
                <a:ea typeface="华文中宋" panose="02010600040101010101" pitchFamily="2" charset="-122"/>
              </a:rPr>
              <a:t>其耐蚀性、强度和塑性高，成本低。</a:t>
            </a:r>
          </a:p>
          <a:p>
            <a:pPr eaLnBrk="1" hangingPunct="1">
              <a:lnSpc>
                <a:spcPct val="140000"/>
              </a:lnSpc>
            </a:pPr>
            <a:r>
              <a:rPr lang="zh-CN" altLang="en-US" sz="2800" b="1">
                <a:ea typeface="华文中宋" panose="02010600040101010101" pitchFamily="2" charset="-122"/>
              </a:rPr>
              <a:t>用</a:t>
            </a:r>
            <a:r>
              <a:rPr lang="zh-CN" altLang="en-US" sz="2800" b="1" dirty="0">
                <a:ea typeface="华文中宋" panose="02010600040101010101" pitchFamily="2" charset="-122"/>
              </a:rPr>
              <a:t>于制造精密机械、仪表零件及</a:t>
            </a:r>
          </a:p>
          <a:p>
            <a:pPr eaLnBrk="1" hangingPunct="1">
              <a:lnSpc>
                <a:spcPct val="140000"/>
              </a:lnSpc>
              <a:buNone/>
            </a:pPr>
            <a:r>
              <a:rPr lang="zh-CN" altLang="en-US" sz="2800" b="1" dirty="0">
                <a:ea typeface="华文中宋" panose="02010600040101010101" pitchFamily="2" charset="-122"/>
              </a:rPr>
              <a:t>    医疗器械等。</a:t>
            </a:r>
          </a:p>
        </p:txBody>
      </p:sp>
      <p:grpSp>
        <p:nvGrpSpPr>
          <p:cNvPr id="2" name="Group 18"/>
          <p:cNvGrpSpPr/>
          <p:nvPr/>
        </p:nvGrpSpPr>
        <p:grpSpPr>
          <a:xfrm>
            <a:off x="381000" y="3352800"/>
            <a:ext cx="8458200" cy="2978150"/>
            <a:chOff x="240" y="2160"/>
            <a:chExt cx="5328" cy="1876"/>
          </a:xfrm>
        </p:grpSpPr>
        <p:pic>
          <p:nvPicPr>
            <p:cNvPr id="83972" name="Picture 6" descr="C:\My Documents\34热偶.jpg"/>
            <p:cNvPicPr>
              <a:picLocks noChangeAspect="1"/>
            </p:cNvPicPr>
            <p:nvPr/>
          </p:nvPicPr>
          <p:blipFill>
            <a:blip r:embed="rId2"/>
            <a:stretch>
              <a:fillRect/>
            </a:stretch>
          </p:blipFill>
          <p:spPr>
            <a:xfrm>
              <a:off x="240" y="3168"/>
              <a:ext cx="3523" cy="868"/>
            </a:xfrm>
            <a:prstGeom prst="rect">
              <a:avLst/>
            </a:prstGeom>
            <a:noFill/>
            <a:ln w="57150" cap="flat" cmpd="sng">
              <a:solidFill>
                <a:schemeClr val="accent1"/>
              </a:solidFill>
              <a:prstDash val="solid"/>
              <a:miter/>
              <a:headEnd type="none" w="med" len="med"/>
              <a:tailEnd type="none" w="med" len="med"/>
            </a:ln>
          </p:spPr>
        </p:pic>
        <p:sp>
          <p:nvSpPr>
            <p:cNvPr id="83973" name="Text Box 9"/>
            <p:cNvSpPr txBox="1"/>
            <p:nvPr/>
          </p:nvSpPr>
          <p:spPr>
            <a:xfrm>
              <a:off x="1584" y="3744"/>
              <a:ext cx="1200" cy="288"/>
            </a:xfrm>
            <a:prstGeom prst="rect">
              <a:avLst/>
            </a:prstGeom>
            <a:noFill/>
            <a:ln w="9525">
              <a:noFill/>
            </a:ln>
          </p:spPr>
          <p:txBody>
            <a:bodyPr>
              <a:spAutoFit/>
            </a:bodyPr>
            <a:lstStyle/>
            <a:p>
              <a:r>
                <a:rPr lang="zh-CN" altLang="en-US" dirty="0">
                  <a:solidFill>
                    <a:srgbClr val="800000"/>
                  </a:solidFill>
                  <a:latin typeface="Times New Roman" panose="02020603050405020304" pitchFamily="18" charset="0"/>
                </a:rPr>
                <a:t>康铜热偶</a:t>
              </a:r>
            </a:p>
          </p:txBody>
        </p:sp>
        <p:pic>
          <p:nvPicPr>
            <p:cNvPr id="83974" name="Picture 12" descr="C:\Documents and Settings\Administrator\My Documents\My Pictures\白铜（型材）.jpg"/>
            <p:cNvPicPr>
              <a:picLocks noChangeAspect="1"/>
            </p:cNvPicPr>
            <p:nvPr/>
          </p:nvPicPr>
          <p:blipFill>
            <a:blip r:embed="rId3"/>
            <a:stretch>
              <a:fillRect/>
            </a:stretch>
          </p:blipFill>
          <p:spPr>
            <a:xfrm>
              <a:off x="3840" y="2160"/>
              <a:ext cx="1653" cy="1859"/>
            </a:xfrm>
            <a:prstGeom prst="rect">
              <a:avLst/>
            </a:prstGeom>
            <a:noFill/>
            <a:ln w="57150" cap="flat" cmpd="sng">
              <a:solidFill>
                <a:schemeClr val="accent1"/>
              </a:solidFill>
              <a:prstDash val="solid"/>
              <a:miter/>
              <a:headEnd type="none" w="med" len="med"/>
              <a:tailEnd type="none" w="med" len="med"/>
            </a:ln>
          </p:spPr>
        </p:pic>
        <p:sp>
          <p:nvSpPr>
            <p:cNvPr id="83975" name="Text Box 13"/>
            <p:cNvSpPr txBox="1"/>
            <p:nvPr/>
          </p:nvSpPr>
          <p:spPr>
            <a:xfrm>
              <a:off x="4752" y="3744"/>
              <a:ext cx="816" cy="231"/>
            </a:xfrm>
            <a:prstGeom prst="rect">
              <a:avLst/>
            </a:prstGeom>
            <a:noFill/>
            <a:ln w="9525">
              <a:noFill/>
            </a:ln>
          </p:spPr>
          <p:txBody>
            <a:bodyPr>
              <a:spAutoFit/>
            </a:bodyPr>
            <a:lstStyle/>
            <a:p>
              <a:r>
                <a:rPr lang="zh-CN" altLang="en-US" sz="1800" dirty="0">
                  <a:solidFill>
                    <a:srgbClr val="800000"/>
                  </a:solidFill>
                  <a:latin typeface="Times New Roman" panose="02020603050405020304" pitchFamily="18" charset="0"/>
                </a:rPr>
                <a:t>白铜型材</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4275">
                                            <p:txEl>
                                              <p:pRg st="1" end="1"/>
                                            </p:txEl>
                                          </p:spTgt>
                                        </p:tgtEl>
                                        <p:attrNameLst>
                                          <p:attrName>style.visibility</p:attrName>
                                        </p:attrNameLst>
                                      </p:cBhvr>
                                      <p:to>
                                        <p:strVal val="visible"/>
                                      </p:to>
                                    </p:set>
                                    <p:animEffect transition="in" filter="wipe(left)">
                                      <p:cBhvr>
                                        <p:cTn id="11" dur="500"/>
                                        <p:tgtEl>
                                          <p:spTgt spid="5427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animEffect transition="in" filter="wipe(left)">
                                      <p:cBhvr>
                                        <p:cTn id="15" dur="500"/>
                                        <p:tgtEl>
                                          <p:spTgt spid="54275">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4275">
                                            <p:txEl>
                                              <p:pRg st="3" end="3"/>
                                            </p:txEl>
                                          </p:spTgt>
                                        </p:tgtEl>
                                        <p:attrNameLst>
                                          <p:attrName>style.visibility</p:attrName>
                                        </p:attrNameLst>
                                      </p:cBhvr>
                                      <p:to>
                                        <p:strVal val="visible"/>
                                      </p:to>
                                    </p:set>
                                    <p:animEffect transition="in" filter="wipe(left)">
                                      <p:cBhvr>
                                        <p:cTn id="19" dur="500"/>
                                        <p:tgtEl>
                                          <p:spTgt spid="54275">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dvAuto="100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457200" y="381000"/>
            <a:ext cx="7772400"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第三节  钛及钛合金</a:t>
            </a:r>
            <a:r>
              <a:rPr kumimoji="1"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sp>
        <p:nvSpPr>
          <p:cNvPr id="121859" name="Rectangle 3"/>
          <p:cNvSpPr>
            <a:spLocks noGrp="1"/>
          </p:cNvSpPr>
          <p:nvPr>
            <p:ph idx="1"/>
          </p:nvPr>
        </p:nvSpPr>
        <p:spPr>
          <a:xfrm>
            <a:off x="228600" y="1905000"/>
            <a:ext cx="4419600" cy="4495800"/>
          </a:xfrm>
          <a:ln/>
        </p:spPr>
        <p:txBody>
          <a:bodyPr vert="horz" wrap="square" lIns="91440" tIns="45720" rIns="91440" bIns="45720" anchor="t" anchorCtr="0"/>
          <a:lstStyle/>
          <a:p>
            <a:pPr eaLnBrk="1" hangingPunct="1">
              <a:lnSpc>
                <a:spcPct val="130000"/>
              </a:lnSpc>
            </a:pPr>
            <a:r>
              <a:rPr lang="zh-CN" altLang="en-US" b="1" dirty="0">
                <a:solidFill>
                  <a:schemeClr val="tx2"/>
                </a:solidFill>
                <a:ea typeface="华文中宋" panose="02010600040101010101" pitchFamily="2" charset="-122"/>
              </a:rPr>
              <a:t>一、工业纯钛</a:t>
            </a:r>
            <a:r>
              <a:rPr lang="zh-CN" altLang="en-US" dirty="0">
                <a:ea typeface="华文中宋" panose="02010600040101010101" pitchFamily="2" charset="-122"/>
              </a:rPr>
              <a:t> </a:t>
            </a:r>
          </a:p>
          <a:p>
            <a:pPr eaLnBrk="1" hangingPunct="1">
              <a:lnSpc>
                <a:spcPct val="140000"/>
              </a:lnSpc>
            </a:pPr>
            <a:r>
              <a:rPr lang="zh-CN" altLang="en-US" sz="2800" b="1" dirty="0">
                <a:ea typeface="华文中宋" panose="02010600040101010101" pitchFamily="2" charset="-122"/>
              </a:rPr>
              <a:t>纯钛密度小，熔点高。</a:t>
            </a:r>
            <a:r>
              <a:rPr lang="en-US" altLang="zh-CN" sz="2800" b="1">
                <a:ea typeface="华文中宋" panose="02010600040101010101" pitchFamily="2" charset="-122"/>
              </a:rPr>
              <a:t>882.5℃</a:t>
            </a:r>
            <a:r>
              <a:rPr lang="zh-CN" altLang="en-US" sz="2800" b="1" dirty="0">
                <a:ea typeface="华文中宋" panose="02010600040101010101" pitchFamily="2" charset="-122"/>
              </a:rPr>
              <a:t>发生同素异构转变</a:t>
            </a:r>
            <a:r>
              <a:rPr lang="zh-CN" altLang="en-US" sz="2800" b="1" dirty="0">
                <a:solidFill>
                  <a:srgbClr val="CCFF33"/>
                </a:solidFill>
                <a:ea typeface="华文中宋" panose="02010600040101010101" pitchFamily="2" charset="-122"/>
                <a:sym typeface="Symbol" panose="05050102010706020507" pitchFamily="18" charset="2"/>
              </a:rPr>
              <a:t></a:t>
            </a:r>
            <a:r>
              <a:rPr lang="en-US" altLang="zh-CN" sz="2800" b="1">
                <a:solidFill>
                  <a:srgbClr val="CCFF33"/>
                </a:solidFill>
                <a:ea typeface="华文中宋" panose="02010600040101010101" pitchFamily="2" charset="-122"/>
              </a:rPr>
              <a:t>-Ti</a:t>
            </a:r>
            <a:r>
              <a:rPr lang="en-US" altLang="zh-CN" sz="2800" b="1">
                <a:solidFill>
                  <a:srgbClr val="CCFF33"/>
                </a:solidFill>
                <a:ea typeface="Arial Unicode MS" pitchFamily="34" charset="-122"/>
              </a:rPr>
              <a:t>⇌</a:t>
            </a:r>
            <a:r>
              <a:rPr lang="en-US" altLang="zh-CN" sz="2800" b="1">
                <a:solidFill>
                  <a:srgbClr val="CCFF33"/>
                </a:solidFill>
                <a:ea typeface="华文中宋" panose="02010600040101010101" pitchFamily="2" charset="-122"/>
                <a:sym typeface="Symbol" panose="05050102010706020507" pitchFamily="18" charset="2"/>
              </a:rPr>
              <a:t></a:t>
            </a:r>
            <a:r>
              <a:rPr lang="en-US" altLang="zh-CN" sz="2800" b="1">
                <a:solidFill>
                  <a:srgbClr val="CCFF33"/>
                </a:solidFill>
                <a:ea typeface="华文中宋" panose="02010600040101010101" pitchFamily="2" charset="-122"/>
              </a:rPr>
              <a:t>-Ti</a:t>
            </a:r>
            <a:r>
              <a:rPr lang="en-US" altLang="zh-CN" sz="2800" b="1">
                <a:ea typeface="华文中宋" panose="02010600040101010101" pitchFamily="2" charset="-122"/>
              </a:rPr>
              <a:t>, </a:t>
            </a:r>
            <a:r>
              <a:rPr lang="zh-CN" altLang="en-US" sz="2800" b="1" dirty="0">
                <a:ea typeface="华文中宋" panose="02010600040101010101" pitchFamily="2" charset="-122"/>
              </a:rPr>
              <a:t>由体心立方</a:t>
            </a:r>
            <a:r>
              <a:rPr lang="zh-CN" altLang="en-US" sz="2800" b="1" dirty="0">
                <a:ea typeface="华文中宋" panose="02010600040101010101" pitchFamily="2" charset="-122"/>
                <a:sym typeface="Symbol" panose="05050102010706020507" pitchFamily="18" charset="2"/>
              </a:rPr>
              <a:t></a:t>
            </a:r>
            <a:r>
              <a:rPr lang="en-US" altLang="zh-CN" sz="2800" b="1">
                <a:ea typeface="华文中宋" panose="02010600040101010101" pitchFamily="2" charset="-122"/>
              </a:rPr>
              <a:t>-Ti</a:t>
            </a:r>
            <a:r>
              <a:rPr lang="zh-CN" altLang="en-US" sz="2800" b="1" dirty="0">
                <a:ea typeface="华文中宋" panose="02010600040101010101" pitchFamily="2" charset="-122"/>
              </a:rPr>
              <a:t>转变为密排六方</a:t>
            </a:r>
            <a:r>
              <a:rPr lang="zh-CN" altLang="en-US" sz="2800" b="1" dirty="0">
                <a:ea typeface="华文中宋" panose="02010600040101010101" pitchFamily="2" charset="-122"/>
                <a:sym typeface="Symbol" panose="05050102010706020507" pitchFamily="18" charset="2"/>
              </a:rPr>
              <a:t></a:t>
            </a:r>
            <a:r>
              <a:rPr lang="en-US" altLang="zh-CN" sz="2800" b="1">
                <a:ea typeface="华文中宋" panose="02010600040101010101" pitchFamily="2" charset="-122"/>
              </a:rPr>
              <a:t>-Ti.</a:t>
            </a:r>
          </a:p>
          <a:p>
            <a:pPr eaLnBrk="1" hangingPunct="1">
              <a:lnSpc>
                <a:spcPct val="140000"/>
              </a:lnSpc>
            </a:pPr>
            <a:r>
              <a:rPr lang="zh-CN" altLang="en-US" sz="2800" b="1" dirty="0">
                <a:solidFill>
                  <a:srgbClr val="CCFFFF"/>
                </a:solidFill>
                <a:ea typeface="华文中宋" panose="02010600040101010101" pitchFamily="2" charset="-122"/>
              </a:rPr>
              <a:t>纯钛比强度高，塑性、低温韧性和耐蚀性好。</a:t>
            </a:r>
          </a:p>
        </p:txBody>
      </p:sp>
      <p:grpSp>
        <p:nvGrpSpPr>
          <p:cNvPr id="2" name="Group 4"/>
          <p:cNvGrpSpPr/>
          <p:nvPr/>
        </p:nvGrpSpPr>
        <p:grpSpPr>
          <a:xfrm>
            <a:off x="4876800" y="2351088"/>
            <a:ext cx="3962400" cy="3957637"/>
            <a:chOff x="3072" y="1481"/>
            <a:chExt cx="2496" cy="2493"/>
          </a:xfrm>
        </p:grpSpPr>
        <p:pic>
          <p:nvPicPr>
            <p:cNvPr id="84997" name="Picture 5" descr="F-22"/>
            <p:cNvPicPr>
              <a:picLocks noChangeAspect="1"/>
            </p:cNvPicPr>
            <p:nvPr/>
          </p:nvPicPr>
          <p:blipFill>
            <a:blip r:embed="rId2"/>
            <a:stretch>
              <a:fillRect/>
            </a:stretch>
          </p:blipFill>
          <p:spPr>
            <a:xfrm>
              <a:off x="3072" y="1481"/>
              <a:ext cx="2489" cy="1927"/>
            </a:xfrm>
            <a:prstGeom prst="rect">
              <a:avLst/>
            </a:prstGeom>
            <a:noFill/>
            <a:ln w="38100" cap="flat" cmpd="sng">
              <a:solidFill>
                <a:srgbClr val="99CCFF"/>
              </a:solidFill>
              <a:prstDash val="solid"/>
              <a:miter/>
              <a:headEnd type="none" w="med" len="med"/>
              <a:tailEnd type="none" w="med" len="med"/>
            </a:ln>
          </p:spPr>
        </p:pic>
        <p:sp>
          <p:nvSpPr>
            <p:cNvPr id="84998" name="Text Box 6"/>
            <p:cNvSpPr txBox="1"/>
            <p:nvPr/>
          </p:nvSpPr>
          <p:spPr>
            <a:xfrm>
              <a:off x="3120" y="3456"/>
              <a:ext cx="2448" cy="518"/>
            </a:xfrm>
            <a:prstGeom prst="rect">
              <a:avLst/>
            </a:prstGeom>
            <a:noFill/>
            <a:ln w="9525">
              <a:noFill/>
            </a:ln>
          </p:spPr>
          <p:txBody>
            <a:bodyPr>
              <a:spAutoFit/>
            </a:bodyPr>
            <a:lstStyle/>
            <a:p>
              <a:r>
                <a:rPr lang="zh-CN" altLang="en-US" dirty="0">
                  <a:latin typeface="Times New Roman" panose="02020603050405020304" pitchFamily="18" charset="0"/>
                </a:rPr>
                <a:t>美</a:t>
              </a:r>
              <a:r>
                <a:rPr lang="en-US" altLang="zh-CN">
                  <a:latin typeface="Times New Roman" panose="02020603050405020304" pitchFamily="18" charset="0"/>
                </a:rPr>
                <a:t>F-22</a:t>
              </a:r>
              <a:r>
                <a:rPr lang="zh-CN" altLang="en-US" dirty="0">
                  <a:latin typeface="Times New Roman" panose="02020603050405020304" pitchFamily="18" charset="0"/>
                </a:rPr>
                <a:t>战机约</a:t>
              </a:r>
              <a:r>
                <a:rPr lang="en-US" altLang="zh-CN">
                  <a:latin typeface="Times New Roman" panose="02020603050405020304" pitchFamily="18" charset="0"/>
                </a:rPr>
                <a:t>36%</a:t>
              </a:r>
              <a:r>
                <a:rPr lang="zh-CN" altLang="en-US" dirty="0">
                  <a:latin typeface="Times New Roman" panose="02020603050405020304" pitchFamily="18" charset="0"/>
                </a:rPr>
                <a:t>重量的零件用钛合金制造</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1858"/>
                                        </p:tgtEl>
                                        <p:attrNameLst>
                                          <p:attrName>style.visibility</p:attrName>
                                        </p:attrNameLst>
                                      </p:cBhvr>
                                      <p:to>
                                        <p:strVal val="visible"/>
                                      </p:to>
                                    </p:set>
                                    <p:animEffect transition="in" filter="wipe(left)">
                                      <p:cBhvr>
                                        <p:cTn id="7" dur="500"/>
                                        <p:tgtEl>
                                          <p:spTgt spid="12185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1859">
                                            <p:txEl>
                                              <p:pRg st="0" end="0"/>
                                            </p:txEl>
                                          </p:spTgt>
                                        </p:tgtEl>
                                        <p:attrNameLst>
                                          <p:attrName>style.visibility</p:attrName>
                                        </p:attrNameLst>
                                      </p:cBhvr>
                                      <p:to>
                                        <p:strVal val="visible"/>
                                      </p:to>
                                    </p:set>
                                    <p:animEffect transition="in" filter="wipe(left)">
                                      <p:cBhvr>
                                        <p:cTn id="11" dur="500"/>
                                        <p:tgtEl>
                                          <p:spTgt spid="12185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1859">
                                            <p:txEl>
                                              <p:pRg st="1" end="1"/>
                                            </p:txEl>
                                          </p:spTgt>
                                        </p:tgtEl>
                                        <p:attrNameLst>
                                          <p:attrName>style.visibility</p:attrName>
                                        </p:attrNameLst>
                                      </p:cBhvr>
                                      <p:to>
                                        <p:strVal val="visible"/>
                                      </p:to>
                                    </p:set>
                                    <p:animEffect transition="in" filter="wipe(left)">
                                      <p:cBhvr>
                                        <p:cTn id="15" dur="500"/>
                                        <p:tgtEl>
                                          <p:spTgt spid="121859">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1859">
                                            <p:txEl>
                                              <p:pRg st="2" end="2"/>
                                            </p:txEl>
                                          </p:spTgt>
                                        </p:tgtEl>
                                        <p:attrNameLst>
                                          <p:attrName>style.visibility</p:attrName>
                                        </p:attrNameLst>
                                      </p:cBhvr>
                                      <p:to>
                                        <p:strVal val="visible"/>
                                      </p:to>
                                    </p:set>
                                    <p:animEffect transition="in" filter="wipe(left)">
                                      <p:cBhvr>
                                        <p:cTn id="19" dur="500"/>
                                        <p:tgtEl>
                                          <p:spTgt spid="121859">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p:bldP spid="121859" grpId="0" build="p" advAuto="100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p:cNvSpPr>
          <p:nvPr>
            <p:ph idx="1"/>
          </p:nvPr>
        </p:nvSpPr>
        <p:spPr>
          <a:xfrm>
            <a:off x="228600" y="228600"/>
            <a:ext cx="3962400" cy="5467350"/>
          </a:xfrm>
          <a:ln/>
        </p:spPr>
        <p:txBody>
          <a:bodyPr vert="horz" wrap="square" lIns="91440" tIns="45720" rIns="91440" bIns="45720" anchor="t" anchorCtr="0"/>
          <a:lstStyle/>
          <a:p>
            <a:pPr eaLnBrk="1" hangingPunct="1">
              <a:lnSpc>
                <a:spcPct val="140000"/>
              </a:lnSpc>
            </a:pPr>
            <a:r>
              <a:rPr lang="zh-CN" altLang="en-US" sz="2800" b="1" dirty="0">
                <a:ea typeface="华文中宋" panose="02010600040101010101" pitchFamily="2" charset="-122"/>
              </a:rPr>
              <a:t>纯钛主要用于 </a:t>
            </a:r>
            <a:r>
              <a:rPr lang="en-US" altLang="zh-CN" sz="2800" b="1">
                <a:ea typeface="华文中宋" panose="02010600040101010101" pitchFamily="2" charset="-122"/>
              </a:rPr>
              <a:t>350℃</a:t>
            </a:r>
            <a:r>
              <a:rPr lang="zh-CN" altLang="en-US" sz="2800" b="1" dirty="0">
                <a:ea typeface="华文中宋" panose="02010600040101010101" pitchFamily="2" charset="-122"/>
              </a:rPr>
              <a:t>以下工作、强度要求不高的零件，如石油化工用热交换器、反应器，海水净化装置及舰船零部件。  </a:t>
            </a:r>
            <a:endParaRPr lang="zh-CN" altLang="en-US" sz="2800" dirty="0">
              <a:ea typeface="华文中宋" panose="02010600040101010101" pitchFamily="2" charset="-122"/>
            </a:endParaRPr>
          </a:p>
        </p:txBody>
      </p:sp>
      <p:grpSp>
        <p:nvGrpSpPr>
          <p:cNvPr id="2" name="Group 3"/>
          <p:cNvGrpSpPr/>
          <p:nvPr/>
        </p:nvGrpSpPr>
        <p:grpSpPr>
          <a:xfrm>
            <a:off x="609600" y="533400"/>
            <a:ext cx="8269288" cy="5816600"/>
            <a:chOff x="384" y="384"/>
            <a:chExt cx="5209" cy="3664"/>
          </a:xfrm>
        </p:grpSpPr>
        <p:grpSp>
          <p:nvGrpSpPr>
            <p:cNvPr id="86020" name="Group 4"/>
            <p:cNvGrpSpPr/>
            <p:nvPr/>
          </p:nvGrpSpPr>
          <p:grpSpPr>
            <a:xfrm>
              <a:off x="2736" y="384"/>
              <a:ext cx="2846" cy="1841"/>
              <a:chOff x="2736" y="384"/>
              <a:chExt cx="2846" cy="1841"/>
            </a:xfrm>
          </p:grpSpPr>
          <p:pic>
            <p:nvPicPr>
              <p:cNvPr id="86027" name="Picture 5" descr="钛钢复合反应釜"/>
              <p:cNvPicPr>
                <a:picLocks noChangeAspect="1"/>
              </p:cNvPicPr>
              <p:nvPr/>
            </p:nvPicPr>
            <p:blipFill>
              <a:blip r:embed="rId2"/>
              <a:stretch>
                <a:fillRect/>
              </a:stretch>
            </p:blipFill>
            <p:spPr>
              <a:xfrm>
                <a:off x="2748" y="384"/>
                <a:ext cx="2834" cy="1841"/>
              </a:xfrm>
              <a:prstGeom prst="rect">
                <a:avLst/>
              </a:prstGeom>
              <a:noFill/>
              <a:ln w="38100" cap="flat" cmpd="sng">
                <a:solidFill>
                  <a:schemeClr val="accent1"/>
                </a:solidFill>
                <a:prstDash val="solid"/>
                <a:miter/>
                <a:headEnd type="none" w="med" len="med"/>
                <a:tailEnd type="none" w="med" len="med"/>
              </a:ln>
            </p:spPr>
          </p:pic>
          <p:sp>
            <p:nvSpPr>
              <p:cNvPr id="86028" name="Text Box 6"/>
              <p:cNvSpPr txBox="1"/>
              <p:nvPr/>
            </p:nvSpPr>
            <p:spPr>
              <a:xfrm>
                <a:off x="2736" y="1968"/>
                <a:ext cx="1248" cy="250"/>
              </a:xfrm>
              <a:prstGeom prst="rect">
                <a:avLst/>
              </a:prstGeom>
              <a:noFill/>
              <a:ln w="38100">
                <a:noFill/>
              </a:ln>
            </p:spPr>
            <p:txBody>
              <a:bodyPr>
                <a:spAutoFit/>
              </a:bodyPr>
              <a:lstStyle/>
              <a:p>
                <a:r>
                  <a:rPr lang="zh-CN" altLang="en-US" sz="2000" dirty="0">
                    <a:latin typeface="Times New Roman" panose="02020603050405020304" pitchFamily="18" charset="0"/>
                  </a:rPr>
                  <a:t>钛钢复合反应釜</a:t>
                </a:r>
              </a:p>
            </p:txBody>
          </p:sp>
        </p:grpSp>
        <p:grpSp>
          <p:nvGrpSpPr>
            <p:cNvPr id="86021" name="Group 7"/>
            <p:cNvGrpSpPr/>
            <p:nvPr/>
          </p:nvGrpSpPr>
          <p:grpSpPr>
            <a:xfrm>
              <a:off x="3552" y="2352"/>
              <a:ext cx="2041" cy="1692"/>
              <a:chOff x="3552" y="2352"/>
              <a:chExt cx="2041" cy="1692"/>
            </a:xfrm>
          </p:grpSpPr>
          <p:pic>
            <p:nvPicPr>
              <p:cNvPr id="86025" name="Picture 8" descr="钛管换热器1"/>
              <p:cNvPicPr>
                <a:picLocks noChangeAspect="1"/>
              </p:cNvPicPr>
              <p:nvPr/>
            </p:nvPicPr>
            <p:blipFill>
              <a:blip r:embed="rId3"/>
              <a:stretch>
                <a:fillRect/>
              </a:stretch>
            </p:blipFill>
            <p:spPr>
              <a:xfrm>
                <a:off x="3600" y="2364"/>
                <a:ext cx="1993" cy="1680"/>
              </a:xfrm>
              <a:prstGeom prst="rect">
                <a:avLst/>
              </a:prstGeom>
              <a:noFill/>
              <a:ln w="38100" cap="flat" cmpd="sng">
                <a:solidFill>
                  <a:srgbClr val="00FF00"/>
                </a:solidFill>
                <a:prstDash val="solid"/>
                <a:miter/>
                <a:headEnd type="none" w="med" len="med"/>
                <a:tailEnd type="none" w="med" len="med"/>
              </a:ln>
            </p:spPr>
          </p:pic>
          <p:sp>
            <p:nvSpPr>
              <p:cNvPr id="86026" name="Text Box 9"/>
              <p:cNvSpPr txBox="1"/>
              <p:nvPr/>
            </p:nvSpPr>
            <p:spPr>
              <a:xfrm>
                <a:off x="3552" y="2352"/>
                <a:ext cx="912" cy="231"/>
              </a:xfrm>
              <a:prstGeom prst="rect">
                <a:avLst/>
              </a:prstGeom>
              <a:noFill/>
              <a:ln w="38100">
                <a:noFill/>
              </a:ln>
            </p:spPr>
            <p:txBody>
              <a:bodyPr>
                <a:spAutoFit/>
              </a:bodyPr>
              <a:lstStyle/>
              <a:p>
                <a:r>
                  <a:rPr lang="zh-CN" altLang="en-US" sz="1800" dirty="0">
                    <a:latin typeface="Times New Roman" panose="02020603050405020304" pitchFamily="18" charset="0"/>
                  </a:rPr>
                  <a:t>钛管换热器</a:t>
                </a:r>
              </a:p>
            </p:txBody>
          </p:sp>
        </p:grpSp>
        <p:grpSp>
          <p:nvGrpSpPr>
            <p:cNvPr id="86022" name="Group 10"/>
            <p:cNvGrpSpPr/>
            <p:nvPr/>
          </p:nvGrpSpPr>
          <p:grpSpPr>
            <a:xfrm>
              <a:off x="384" y="2688"/>
              <a:ext cx="3126" cy="1360"/>
              <a:chOff x="384" y="2688"/>
              <a:chExt cx="3126" cy="1360"/>
            </a:xfrm>
          </p:grpSpPr>
          <p:pic>
            <p:nvPicPr>
              <p:cNvPr id="86023" name="Picture 11" descr="钛制蒸馏塔(TA2)1"/>
              <p:cNvPicPr>
                <a:picLocks noChangeAspect="1"/>
              </p:cNvPicPr>
              <p:nvPr/>
            </p:nvPicPr>
            <p:blipFill>
              <a:blip r:embed="rId4"/>
              <a:stretch>
                <a:fillRect/>
              </a:stretch>
            </p:blipFill>
            <p:spPr>
              <a:xfrm>
                <a:off x="384" y="2688"/>
                <a:ext cx="3126" cy="1360"/>
              </a:xfrm>
              <a:prstGeom prst="rect">
                <a:avLst/>
              </a:prstGeom>
              <a:noFill/>
              <a:ln w="38100" cap="flat" cmpd="sng">
                <a:solidFill>
                  <a:srgbClr val="FF6600"/>
                </a:solidFill>
                <a:prstDash val="solid"/>
                <a:miter/>
                <a:headEnd type="none" w="med" len="med"/>
                <a:tailEnd type="none" w="med" len="med"/>
              </a:ln>
            </p:spPr>
          </p:pic>
          <p:sp>
            <p:nvSpPr>
              <p:cNvPr id="86024" name="Rectangle 12"/>
              <p:cNvSpPr/>
              <p:nvPr/>
            </p:nvSpPr>
            <p:spPr>
              <a:xfrm>
                <a:off x="384" y="3852"/>
                <a:ext cx="829" cy="166"/>
              </a:xfrm>
              <a:prstGeom prst="rect">
                <a:avLst/>
              </a:prstGeom>
              <a:solidFill>
                <a:schemeClr val="tx1"/>
              </a:solidFill>
              <a:ln w="38100" cap="flat" cmpd="sng">
                <a:solidFill>
                  <a:schemeClr val="tx1"/>
                </a:solidFill>
                <a:prstDash val="solid"/>
                <a:miter/>
                <a:headEnd type="none" w="med" len="med"/>
                <a:tailEnd type="none" w="med" len="med"/>
              </a:ln>
            </p:spPr>
            <p:txBody>
              <a:bodyPr wrap="none" anchor="ctr" anchorCtr="0"/>
              <a:lstStyle/>
              <a:p>
                <a:r>
                  <a:rPr lang="zh-CN" altLang="en-US" sz="2000" dirty="0">
                    <a:solidFill>
                      <a:srgbClr val="A50021"/>
                    </a:solidFill>
                    <a:latin typeface="Times New Roman" panose="02020603050405020304" pitchFamily="18" charset="0"/>
                  </a:rPr>
                  <a:t>钛制蒸馏塔</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882">
                                            <p:txEl>
                                              <p:pRg st="0" end="0"/>
                                            </p:txEl>
                                          </p:spTgt>
                                        </p:tgtEl>
                                        <p:attrNameLst>
                                          <p:attrName>style.visibility</p:attrName>
                                        </p:attrNameLst>
                                      </p:cBhvr>
                                      <p:to>
                                        <p:strVal val="visible"/>
                                      </p:to>
                                    </p:set>
                                    <p:animEffect transition="in" filter="wipe(left)">
                                      <p:cBhvr>
                                        <p:cTn id="7" dur="500"/>
                                        <p:tgtEl>
                                          <p:spTgt spid="12288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advAuto="100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p:cNvSpPr>
          <p:nvPr>
            <p:ph idx="1"/>
          </p:nvPr>
        </p:nvSpPr>
        <p:spPr>
          <a:xfrm>
            <a:off x="228600" y="228600"/>
            <a:ext cx="8686800" cy="5159375"/>
          </a:xfrm>
          <a:ln/>
        </p:spPr>
        <p:txBody>
          <a:bodyPr vert="horz" wrap="square" lIns="91440" tIns="45720" rIns="91440" bIns="45720" anchor="t" anchorCtr="0"/>
          <a:lstStyle/>
          <a:p>
            <a:pPr eaLnBrk="1" hangingPunct="1"/>
            <a:r>
              <a:rPr lang="zh-CN" altLang="en-US" b="1" dirty="0">
                <a:solidFill>
                  <a:schemeClr val="tx2"/>
                </a:solidFill>
                <a:ea typeface="华文中宋" panose="02010600040101010101" pitchFamily="2" charset="-122"/>
              </a:rPr>
              <a:t>二、钛合金</a:t>
            </a:r>
          </a:p>
          <a:p>
            <a:pPr eaLnBrk="1" hangingPunct="1">
              <a:lnSpc>
                <a:spcPct val="140000"/>
              </a:lnSpc>
            </a:pPr>
            <a:r>
              <a:rPr lang="zh-CN" altLang="en-US" sz="2800" b="1" dirty="0">
                <a:solidFill>
                  <a:srgbClr val="CCFFFF"/>
                </a:solidFill>
                <a:ea typeface="华文中宋" panose="02010600040101010101" pitchFamily="2" charset="-122"/>
              </a:rPr>
              <a:t>纯钛加入合金元素形成钛合金。</a:t>
            </a:r>
            <a:r>
              <a:rPr lang="zh-CN" altLang="en-US" sz="2800" b="1" dirty="0">
                <a:ea typeface="华文中宋" panose="02010600040101010101" pitchFamily="2" charset="-122"/>
              </a:rPr>
              <a:t>钛合金几乎都含有铝。铝能提高钛合金的强度、比强度和再结晶温度</a:t>
            </a:r>
            <a:r>
              <a:rPr lang="en-US" altLang="zh-CN" sz="2800" b="1">
                <a:ea typeface="华文中宋" panose="02010600040101010101" pitchFamily="2" charset="-122"/>
              </a:rPr>
              <a:t>.</a:t>
            </a:r>
            <a:endParaRPr lang="en-US" altLang="zh-CN" sz="2800" b="1">
              <a:solidFill>
                <a:schemeClr val="folHlink"/>
              </a:solidFill>
              <a:ea typeface="华文中宋" panose="02010600040101010101" pitchFamily="2" charset="-122"/>
            </a:endParaRPr>
          </a:p>
        </p:txBody>
      </p:sp>
      <p:sp>
        <p:nvSpPr>
          <p:cNvPr id="123907" name="Rectangle 3"/>
          <p:cNvSpPr/>
          <p:nvPr/>
        </p:nvSpPr>
        <p:spPr>
          <a:xfrm>
            <a:off x="228600" y="2035175"/>
            <a:ext cx="4572000" cy="4264025"/>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按退火组织，钛合金可分为</a:t>
            </a:r>
            <a:r>
              <a:rPr lang="zh-CN" altLang="en-US" sz="2800" dirty="0">
                <a:latin typeface="Times New Roman" panose="02020603050405020304" pitchFamily="18" charset="0"/>
                <a:ea typeface="华文中宋" panose="02010600040101010101" pitchFamily="2" charset="-122"/>
                <a:sym typeface="Symbol" panose="05050102010706020507" pitchFamily="18" charset="2"/>
              </a:rPr>
              <a:t></a:t>
            </a:r>
            <a:r>
              <a:rPr lang="zh-CN" altLang="en-US" sz="2800" dirty="0">
                <a:latin typeface="Times New Roman" panose="02020603050405020304" pitchFamily="18" charset="0"/>
                <a:ea typeface="华文中宋" panose="02010600040101010101" pitchFamily="2" charset="-122"/>
              </a:rPr>
              <a:t>型钛合金、</a:t>
            </a:r>
            <a:r>
              <a:rPr lang="zh-CN" altLang="en-US" sz="2800" dirty="0">
                <a:latin typeface="Times New Roman" panose="02020603050405020304" pitchFamily="18" charset="0"/>
                <a:ea typeface="华文中宋" panose="02010600040101010101" pitchFamily="2" charset="-122"/>
                <a:sym typeface="Symbol" panose="05050102010706020507" pitchFamily="18" charset="2"/>
              </a:rPr>
              <a:t></a:t>
            </a:r>
            <a:r>
              <a:rPr lang="zh-CN" altLang="en-US" sz="2800" dirty="0">
                <a:latin typeface="Times New Roman" panose="02020603050405020304" pitchFamily="18" charset="0"/>
                <a:ea typeface="华文中宋" panose="02010600040101010101" pitchFamily="2" charset="-122"/>
              </a:rPr>
              <a:t>型钛合金和</a:t>
            </a:r>
            <a:r>
              <a:rPr lang="zh-CN" altLang="en-US" sz="2800" dirty="0">
                <a:latin typeface="Times New Roman" panose="02020603050405020304" pitchFamily="18" charset="0"/>
                <a:ea typeface="华文中宋" panose="02010600040101010101" pitchFamily="2" charset="-122"/>
                <a:sym typeface="Symbol" panose="05050102010706020507" pitchFamily="18" charset="2"/>
              </a:rPr>
              <a:t></a:t>
            </a:r>
            <a:r>
              <a:rPr lang="en-US" altLang="zh-CN" sz="280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sym typeface="Symbol" panose="05050102010706020507" pitchFamily="18" charset="2"/>
              </a:rPr>
              <a:t></a:t>
            </a:r>
            <a:r>
              <a:rPr lang="zh-CN" altLang="en-US" sz="2800" dirty="0">
                <a:latin typeface="Times New Roman" panose="02020603050405020304" pitchFamily="18" charset="0"/>
                <a:ea typeface="华文中宋" panose="02010600040101010101" pitchFamily="2" charset="-122"/>
              </a:rPr>
              <a:t>型钛合金三类，它们的牌号分别用</a:t>
            </a:r>
            <a:r>
              <a:rPr lang="en-US" altLang="zh-CN" sz="2800">
                <a:latin typeface="Times New Roman" panose="02020603050405020304" pitchFamily="18" charset="0"/>
                <a:ea typeface="华文中宋" panose="02010600040101010101" pitchFamily="2" charset="-122"/>
              </a:rPr>
              <a:t>TA</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TB</a:t>
            </a:r>
            <a:r>
              <a:rPr lang="zh-CN" altLang="en-US" sz="1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TC</a:t>
            </a:r>
            <a:r>
              <a:rPr lang="zh-CN" altLang="en-US" sz="2800" dirty="0">
                <a:latin typeface="Times New Roman" panose="02020603050405020304" pitchFamily="18" charset="0"/>
                <a:ea typeface="华文中宋" panose="02010600040101010101" pitchFamily="2" charset="-122"/>
              </a:rPr>
              <a:t>加顺序号表示 。如</a:t>
            </a:r>
            <a:r>
              <a:rPr lang="en-US" altLang="zh-CN" sz="2800">
                <a:latin typeface="Times New Roman" panose="02020603050405020304" pitchFamily="18" charset="0"/>
                <a:ea typeface="华文中宋" panose="02010600040101010101" pitchFamily="2" charset="-122"/>
              </a:rPr>
              <a:t>TA5</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TB2</a:t>
            </a:r>
            <a:r>
              <a:rPr lang="zh-CN" altLang="en-US" sz="2800" dirty="0">
                <a:latin typeface="Times New Roman" panose="02020603050405020304" pitchFamily="18" charset="0"/>
                <a:ea typeface="华文中宋" panose="02010600040101010101" pitchFamily="2" charset="-122"/>
              </a:rPr>
              <a:t>、</a:t>
            </a:r>
            <a:r>
              <a:rPr lang="en-US" altLang="zh-CN" sz="2800">
                <a:latin typeface="Times New Roman" panose="02020603050405020304" pitchFamily="18" charset="0"/>
                <a:ea typeface="华文中宋" panose="02010600040101010101" pitchFamily="2" charset="-122"/>
              </a:rPr>
              <a:t>TC4</a:t>
            </a:r>
            <a:r>
              <a:rPr lang="zh-CN" altLang="en-US" sz="2800" dirty="0">
                <a:latin typeface="Times New Roman" panose="02020603050405020304" pitchFamily="18" charset="0"/>
                <a:ea typeface="华文中宋" panose="02010600040101010101" pitchFamily="2" charset="-122"/>
              </a:rPr>
              <a:t>等。其中</a:t>
            </a:r>
            <a:r>
              <a:rPr lang="en-US" altLang="zh-CN" sz="2800">
                <a:latin typeface="Times New Roman" panose="02020603050405020304" pitchFamily="18" charset="0"/>
                <a:ea typeface="华文中宋" panose="02010600040101010101" pitchFamily="2" charset="-122"/>
              </a:rPr>
              <a:t>TA0~TA3</a:t>
            </a:r>
            <a:r>
              <a:rPr lang="zh-CN" altLang="en-US" sz="2800" dirty="0">
                <a:latin typeface="Times New Roman" panose="02020603050405020304" pitchFamily="18" charset="0"/>
                <a:ea typeface="华文中宋" panose="02010600040101010101" pitchFamily="2" charset="-122"/>
              </a:rPr>
              <a:t>为工业纯钛。  </a:t>
            </a:r>
          </a:p>
        </p:txBody>
      </p:sp>
      <p:grpSp>
        <p:nvGrpSpPr>
          <p:cNvPr id="2" name="Group 4"/>
          <p:cNvGrpSpPr/>
          <p:nvPr/>
        </p:nvGrpSpPr>
        <p:grpSpPr>
          <a:xfrm>
            <a:off x="4953000" y="2514600"/>
            <a:ext cx="3598863" cy="3536950"/>
            <a:chOff x="3120" y="1584"/>
            <a:chExt cx="2267" cy="2228"/>
          </a:xfrm>
        </p:grpSpPr>
        <p:pic>
          <p:nvPicPr>
            <p:cNvPr id="87045" name="Picture 5" descr="钛泵"/>
            <p:cNvPicPr>
              <a:picLocks noChangeAspect="1"/>
            </p:cNvPicPr>
            <p:nvPr/>
          </p:nvPicPr>
          <p:blipFill>
            <a:blip r:embed="rId2"/>
            <a:stretch>
              <a:fillRect/>
            </a:stretch>
          </p:blipFill>
          <p:spPr>
            <a:xfrm>
              <a:off x="3120" y="1584"/>
              <a:ext cx="2267" cy="2228"/>
            </a:xfrm>
            <a:prstGeom prst="rect">
              <a:avLst/>
            </a:prstGeom>
            <a:noFill/>
            <a:ln w="38100" cap="flat" cmpd="sng">
              <a:solidFill>
                <a:schemeClr val="accent1"/>
              </a:solidFill>
              <a:prstDash val="solid"/>
              <a:miter/>
              <a:headEnd type="none" w="med" len="med"/>
              <a:tailEnd type="none" w="med" len="med"/>
            </a:ln>
          </p:spPr>
        </p:pic>
        <p:sp>
          <p:nvSpPr>
            <p:cNvPr id="87046" name="Text Box 6"/>
            <p:cNvSpPr txBox="1"/>
            <p:nvPr/>
          </p:nvSpPr>
          <p:spPr>
            <a:xfrm>
              <a:off x="3120" y="1584"/>
              <a:ext cx="768" cy="250"/>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钛合金泵</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906">
                                            <p:txEl>
                                              <p:pRg st="0" end="0"/>
                                            </p:txEl>
                                          </p:spTgt>
                                        </p:tgtEl>
                                        <p:attrNameLst>
                                          <p:attrName>style.visibility</p:attrName>
                                        </p:attrNameLst>
                                      </p:cBhvr>
                                      <p:to>
                                        <p:strVal val="visible"/>
                                      </p:to>
                                    </p:set>
                                    <p:animEffect transition="in" filter="wipe(left)">
                                      <p:cBhvr>
                                        <p:cTn id="7" dur="500"/>
                                        <p:tgtEl>
                                          <p:spTgt spid="12390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3906">
                                            <p:txEl>
                                              <p:pRg st="1" end="1"/>
                                            </p:txEl>
                                          </p:spTgt>
                                        </p:tgtEl>
                                        <p:attrNameLst>
                                          <p:attrName>style.visibility</p:attrName>
                                        </p:attrNameLst>
                                      </p:cBhvr>
                                      <p:to>
                                        <p:strVal val="visible"/>
                                      </p:to>
                                    </p:set>
                                    <p:animEffect transition="in" filter="wipe(left)">
                                      <p:cBhvr>
                                        <p:cTn id="11" dur="500"/>
                                        <p:tgtEl>
                                          <p:spTgt spid="12390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3907"/>
                                        </p:tgtEl>
                                        <p:attrNameLst>
                                          <p:attrName>style.visibility</p:attrName>
                                        </p:attrNameLst>
                                      </p:cBhvr>
                                      <p:to>
                                        <p:strVal val="visible"/>
                                      </p:to>
                                    </p:set>
                                    <p:animEffect transition="in" filter="wipe(left)">
                                      <p:cBhvr>
                                        <p:cTn id="15" dur="500"/>
                                        <p:tgtEl>
                                          <p:spTgt spid="123907"/>
                                        </p:tgtEl>
                                      </p:cBhvr>
                                    </p:animEffect>
                                  </p:childTnLst>
                                </p:cTn>
                              </p:par>
                            </p:childTnLst>
                          </p:cTn>
                        </p:par>
                        <p:par>
                          <p:cTn id="16" fill="hold">
                            <p:stCondLst>
                              <p:cond delay="1500"/>
                            </p:stCondLst>
                            <p:childTnLst>
                              <p:par>
                                <p:cTn id="17" presetID="23" presetClass="entr" presetSubtype="28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strVal val="4/3*#ppt_w"/>
                                          </p:val>
                                        </p:tav>
                                        <p:tav tm="100000">
                                          <p:val>
                                            <p:strVal val="#ppt_w"/>
                                          </p:val>
                                        </p:tav>
                                      </p:tavLst>
                                    </p:anim>
                                    <p:anim calcmode="lin" valueType="num">
                                      <p:cBhvr>
                                        <p:cTn id="20" dur="500" fill="hold"/>
                                        <p:tgtEl>
                                          <p:spTgt spid="2"/>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uild="p" advAuto="1000"/>
      <p:bldP spid="12390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p:cNvSpPr>
          <p:nvPr>
            <p:ph idx="1"/>
          </p:nvPr>
        </p:nvSpPr>
        <p:spPr>
          <a:xfrm>
            <a:off x="247650" y="609600"/>
            <a:ext cx="3943350" cy="58674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1</a:t>
            </a:r>
            <a:r>
              <a:rPr lang="zh-CN" altLang="en-US"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sym typeface="Symbol" panose="05050102010706020507" pitchFamily="18" charset="2"/>
              </a:rPr>
              <a:t></a:t>
            </a:r>
            <a:r>
              <a:rPr lang="zh-CN" altLang="en-US" sz="2800" b="1" dirty="0">
                <a:solidFill>
                  <a:schemeClr val="tx2"/>
                </a:solidFill>
                <a:ea typeface="华文中宋" panose="02010600040101010101" pitchFamily="2" charset="-122"/>
              </a:rPr>
              <a:t>型钛合金</a:t>
            </a:r>
          </a:p>
          <a:p>
            <a:pPr eaLnBrk="1" hangingPunct="1">
              <a:lnSpc>
                <a:spcPct val="140000"/>
              </a:lnSpc>
            </a:pPr>
            <a:r>
              <a:rPr lang="zh-CN" altLang="en-US" sz="2800" b="1" dirty="0">
                <a:solidFill>
                  <a:schemeClr val="folHlink"/>
                </a:solidFill>
                <a:ea typeface="华文中宋" panose="02010600040101010101" pitchFamily="2" charset="-122"/>
              </a:rPr>
              <a:t>主加元素为铝，还有锡、硼等。</a:t>
            </a:r>
            <a:r>
              <a:rPr lang="zh-CN" altLang="en-US" sz="2800" b="1" dirty="0">
                <a:ea typeface="华文中宋" panose="02010600040101010101" pitchFamily="2" charset="-122"/>
              </a:rPr>
              <a:t> </a:t>
            </a:r>
          </a:p>
          <a:p>
            <a:pPr eaLnBrk="1" hangingPunct="1">
              <a:lnSpc>
                <a:spcPct val="140000"/>
              </a:lnSpc>
            </a:pPr>
            <a:r>
              <a:rPr lang="zh-CN" altLang="en-US" sz="2800" b="1" dirty="0">
                <a:ea typeface="华文中宋" panose="02010600040101010101" pitchFamily="2" charset="-122"/>
              </a:rPr>
              <a:t>不能热处理强化，通常在退火状态下使用</a:t>
            </a:r>
            <a:r>
              <a:rPr lang="en-US" altLang="zh-CN" sz="2800" b="1">
                <a:ea typeface="华文中宋" panose="02010600040101010101" pitchFamily="2" charset="-122"/>
              </a:rPr>
              <a:t>,</a:t>
            </a:r>
            <a:r>
              <a:rPr lang="zh-CN" altLang="en-US" sz="2800" b="1" dirty="0">
                <a:solidFill>
                  <a:srgbClr val="CCFF33"/>
                </a:solidFill>
                <a:ea typeface="华文中宋" panose="02010600040101010101" pitchFamily="2" charset="-122"/>
              </a:rPr>
              <a:t>组织为单相</a:t>
            </a:r>
            <a:r>
              <a:rPr lang="zh-CN" altLang="en-US" sz="2800" b="1" dirty="0">
                <a:solidFill>
                  <a:srgbClr val="CCFF33"/>
                </a:solidFill>
                <a:ea typeface="华文中宋" panose="02010600040101010101" pitchFamily="2" charset="-122"/>
                <a:sym typeface="Symbol" panose="05050102010706020507" pitchFamily="18" charset="2"/>
              </a:rPr>
              <a:t></a:t>
            </a:r>
            <a:r>
              <a:rPr lang="zh-CN" altLang="en-US" sz="2800" b="1" dirty="0">
                <a:solidFill>
                  <a:srgbClr val="CCFF33"/>
                </a:solidFill>
                <a:ea typeface="华文中宋" panose="02010600040101010101" pitchFamily="2" charset="-122"/>
              </a:rPr>
              <a:t>固溶体</a:t>
            </a:r>
            <a:r>
              <a:rPr lang="en-US" altLang="zh-CN" sz="2800" b="1">
                <a:solidFill>
                  <a:srgbClr val="CCFF33"/>
                </a:solidFill>
                <a:ea typeface="华文中宋" panose="02010600040101010101" pitchFamily="2" charset="-122"/>
              </a:rPr>
              <a:t>.</a:t>
            </a:r>
            <a:r>
              <a:rPr lang="en-US" altLang="zh-CN" sz="2800" b="1">
                <a:ea typeface="华文中宋" panose="02010600040101010101" pitchFamily="2" charset="-122"/>
              </a:rPr>
              <a:t> </a:t>
            </a:r>
          </a:p>
          <a:p>
            <a:pPr eaLnBrk="1" hangingPunct="1">
              <a:lnSpc>
                <a:spcPct val="140000"/>
              </a:lnSpc>
            </a:pPr>
            <a:r>
              <a:rPr lang="zh-CN" altLang="en-US" sz="2800" b="1" dirty="0">
                <a:solidFill>
                  <a:schemeClr val="folHlink"/>
                </a:solidFill>
                <a:ea typeface="华文中宋" panose="02010600040101010101" pitchFamily="2" charset="-122"/>
              </a:rPr>
              <a:t>强度低于另两类钛合金，但高温强度、低温韧性及耐蚀性优越</a:t>
            </a:r>
            <a:r>
              <a:rPr lang="en-US" altLang="zh-CN" sz="2800" b="1">
                <a:solidFill>
                  <a:schemeClr val="folHlink"/>
                </a:solidFill>
                <a:ea typeface="华文中宋" panose="02010600040101010101" pitchFamily="2" charset="-122"/>
              </a:rPr>
              <a:t>. </a:t>
            </a:r>
          </a:p>
        </p:txBody>
      </p:sp>
      <p:grpSp>
        <p:nvGrpSpPr>
          <p:cNvPr id="2" name="Group 3"/>
          <p:cNvGrpSpPr/>
          <p:nvPr/>
        </p:nvGrpSpPr>
        <p:grpSpPr>
          <a:xfrm>
            <a:off x="4591050" y="457200"/>
            <a:ext cx="4095750" cy="5821363"/>
            <a:chOff x="2892" y="288"/>
            <a:chExt cx="2580" cy="3667"/>
          </a:xfrm>
        </p:grpSpPr>
        <p:grpSp>
          <p:nvGrpSpPr>
            <p:cNvPr id="88068" name="Group 4"/>
            <p:cNvGrpSpPr/>
            <p:nvPr/>
          </p:nvGrpSpPr>
          <p:grpSpPr>
            <a:xfrm>
              <a:off x="2928" y="336"/>
              <a:ext cx="2494" cy="3619"/>
              <a:chOff x="2928" y="336"/>
              <a:chExt cx="2494" cy="3619"/>
            </a:xfrm>
          </p:grpSpPr>
          <p:pic>
            <p:nvPicPr>
              <p:cNvPr id="88071" name="Picture 5" descr="钛合金氢泵诱导轮"/>
              <p:cNvPicPr>
                <a:picLocks noChangeAspect="1"/>
              </p:cNvPicPr>
              <p:nvPr/>
            </p:nvPicPr>
            <p:blipFill>
              <a:blip r:embed="rId2"/>
              <a:stretch>
                <a:fillRect/>
              </a:stretch>
            </p:blipFill>
            <p:spPr>
              <a:xfrm>
                <a:off x="2928" y="336"/>
                <a:ext cx="2494" cy="1792"/>
              </a:xfrm>
              <a:prstGeom prst="rect">
                <a:avLst/>
              </a:prstGeom>
              <a:noFill/>
              <a:ln w="38100" cap="flat" cmpd="sng">
                <a:solidFill>
                  <a:srgbClr val="FF9900"/>
                </a:solidFill>
                <a:prstDash val="solid"/>
                <a:miter/>
                <a:headEnd type="none" w="med" len="med"/>
                <a:tailEnd type="none" w="med" len="med"/>
              </a:ln>
            </p:spPr>
          </p:pic>
          <p:pic>
            <p:nvPicPr>
              <p:cNvPr id="88072" name="Picture 6" descr="钛合金氢泵壳体"/>
              <p:cNvPicPr>
                <a:picLocks noChangeAspect="1"/>
              </p:cNvPicPr>
              <p:nvPr/>
            </p:nvPicPr>
            <p:blipFill>
              <a:blip r:embed="rId3"/>
              <a:stretch>
                <a:fillRect/>
              </a:stretch>
            </p:blipFill>
            <p:spPr>
              <a:xfrm>
                <a:off x="2928" y="2208"/>
                <a:ext cx="2494" cy="1747"/>
              </a:xfrm>
              <a:prstGeom prst="rect">
                <a:avLst/>
              </a:prstGeom>
              <a:noFill/>
              <a:ln w="38100" cap="flat" cmpd="sng">
                <a:solidFill>
                  <a:srgbClr val="FF9900"/>
                </a:solidFill>
                <a:prstDash val="solid"/>
                <a:miter/>
                <a:headEnd type="none" w="med" len="med"/>
                <a:tailEnd type="none" w="med" len="med"/>
              </a:ln>
            </p:spPr>
          </p:pic>
        </p:grpSp>
        <p:sp>
          <p:nvSpPr>
            <p:cNvPr id="88069" name="Text Box 7"/>
            <p:cNvSpPr txBox="1"/>
            <p:nvPr/>
          </p:nvSpPr>
          <p:spPr>
            <a:xfrm>
              <a:off x="2892" y="288"/>
              <a:ext cx="948" cy="442"/>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钛合金氢泵诱导轮</a:t>
              </a:r>
            </a:p>
          </p:txBody>
        </p:sp>
        <p:sp>
          <p:nvSpPr>
            <p:cNvPr id="88070" name="Text Box 8"/>
            <p:cNvSpPr txBox="1"/>
            <p:nvPr/>
          </p:nvSpPr>
          <p:spPr>
            <a:xfrm>
              <a:off x="3840" y="2208"/>
              <a:ext cx="1632" cy="250"/>
            </a:xfrm>
            <a:prstGeom prst="rect">
              <a:avLst/>
            </a:prstGeom>
            <a:noFill/>
            <a:ln w="9525">
              <a:noFill/>
            </a:ln>
          </p:spPr>
          <p:txBody>
            <a:bodyPr>
              <a:spAutoFit/>
            </a:bodyPr>
            <a:lstStyle/>
            <a:p>
              <a:pPr algn="r"/>
              <a:r>
                <a:rPr lang="zh-CN" altLang="en-US" sz="2000" dirty="0">
                  <a:solidFill>
                    <a:srgbClr val="800000"/>
                  </a:solidFill>
                  <a:latin typeface="Times New Roman" panose="02020603050405020304" pitchFamily="18" charset="0"/>
                </a:rPr>
                <a:t>钛合金氢泵壳体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4930">
                                            <p:txEl>
                                              <p:pRg st="0" end="0"/>
                                            </p:txEl>
                                          </p:spTgt>
                                        </p:tgtEl>
                                        <p:attrNameLst>
                                          <p:attrName>style.visibility</p:attrName>
                                        </p:attrNameLst>
                                      </p:cBhvr>
                                      <p:to>
                                        <p:strVal val="visible"/>
                                      </p:to>
                                    </p:set>
                                    <p:animEffect transition="in" filter="wipe(left)">
                                      <p:cBhvr>
                                        <p:cTn id="7" dur="500"/>
                                        <p:tgtEl>
                                          <p:spTgt spid="124930">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4930">
                                            <p:txEl>
                                              <p:pRg st="1" end="1"/>
                                            </p:txEl>
                                          </p:spTgt>
                                        </p:tgtEl>
                                        <p:attrNameLst>
                                          <p:attrName>style.visibility</p:attrName>
                                        </p:attrNameLst>
                                      </p:cBhvr>
                                      <p:to>
                                        <p:strVal val="visible"/>
                                      </p:to>
                                    </p:set>
                                    <p:animEffect transition="in" filter="wipe(left)">
                                      <p:cBhvr>
                                        <p:cTn id="11" dur="500"/>
                                        <p:tgtEl>
                                          <p:spTgt spid="124930">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4930">
                                            <p:txEl>
                                              <p:pRg st="2" end="2"/>
                                            </p:txEl>
                                          </p:spTgt>
                                        </p:tgtEl>
                                        <p:attrNameLst>
                                          <p:attrName>style.visibility</p:attrName>
                                        </p:attrNameLst>
                                      </p:cBhvr>
                                      <p:to>
                                        <p:strVal val="visible"/>
                                      </p:to>
                                    </p:set>
                                    <p:animEffect transition="in" filter="wipe(left)">
                                      <p:cBhvr>
                                        <p:cTn id="15" dur="500"/>
                                        <p:tgtEl>
                                          <p:spTgt spid="124930">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4930">
                                            <p:txEl>
                                              <p:pRg st="3" end="3"/>
                                            </p:txEl>
                                          </p:spTgt>
                                        </p:tgtEl>
                                        <p:attrNameLst>
                                          <p:attrName>style.visibility</p:attrName>
                                        </p:attrNameLst>
                                      </p:cBhvr>
                                      <p:to>
                                        <p:strVal val="visible"/>
                                      </p:to>
                                    </p:set>
                                    <p:animEffect transition="in" filter="wipe(left)">
                                      <p:cBhvr>
                                        <p:cTn id="19" dur="500"/>
                                        <p:tgtEl>
                                          <p:spTgt spid="124930">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build="p" advAuto="100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p:cNvSpPr>
          <p:nvPr>
            <p:ph idx="1"/>
          </p:nvPr>
        </p:nvSpPr>
        <p:spPr>
          <a:xfrm>
            <a:off x="190500" y="381000"/>
            <a:ext cx="5638800" cy="3733800"/>
          </a:xfrm>
          <a:ln/>
        </p:spPr>
        <p:txBody>
          <a:bodyPr vert="horz" wrap="square" lIns="91440" tIns="45720" rIns="91440" bIns="45720" anchor="t" anchorCtr="0"/>
          <a:lstStyle/>
          <a:p>
            <a:pPr eaLnBrk="1" hangingPunct="1"/>
            <a:r>
              <a:rPr lang="zh-CN" altLang="en-US" sz="2800" b="1" dirty="0">
                <a:ea typeface="华文中宋" panose="02010600040101010101" pitchFamily="2" charset="-122"/>
              </a:rPr>
              <a:t>常用牌号有</a:t>
            </a:r>
            <a:r>
              <a:rPr lang="en-US" altLang="zh-CN" sz="2800" b="1">
                <a:ea typeface="华文中宋" panose="02010600040101010101" pitchFamily="2" charset="-122"/>
              </a:rPr>
              <a:t>TA5</a:t>
            </a:r>
            <a:r>
              <a:rPr lang="zh-CN" altLang="en-US" sz="2800" b="1" dirty="0">
                <a:ea typeface="华文中宋" panose="02010600040101010101" pitchFamily="2" charset="-122"/>
              </a:rPr>
              <a:t>、</a:t>
            </a:r>
            <a:r>
              <a:rPr lang="en-US" altLang="zh-CN" sz="2800" b="1">
                <a:ea typeface="华文中宋" panose="02010600040101010101" pitchFamily="2" charset="-122"/>
              </a:rPr>
              <a:t>TA7</a:t>
            </a:r>
            <a:r>
              <a:rPr lang="zh-CN" altLang="en-US" sz="2800" b="1" dirty="0">
                <a:ea typeface="华文中宋" panose="02010600040101010101" pitchFamily="2" charset="-122"/>
              </a:rPr>
              <a:t>等 </a:t>
            </a:r>
          </a:p>
          <a:p>
            <a:pPr eaLnBrk="1" hangingPunct="1">
              <a:lnSpc>
                <a:spcPct val="140000"/>
              </a:lnSpc>
            </a:pPr>
            <a:r>
              <a:rPr lang="zh-CN" altLang="en-US" sz="2800" b="1" dirty="0">
                <a:solidFill>
                  <a:schemeClr val="folHlink"/>
                </a:solidFill>
                <a:ea typeface="华文中宋" panose="02010600040101010101" pitchFamily="2" charset="-122"/>
              </a:rPr>
              <a:t>主要用于制造</a:t>
            </a:r>
            <a:r>
              <a:rPr lang="en-US" altLang="zh-CN" sz="2800" b="1">
                <a:solidFill>
                  <a:schemeClr val="folHlink"/>
                </a:solidFill>
                <a:ea typeface="华文中宋" panose="02010600040101010101" pitchFamily="2" charset="-122"/>
              </a:rPr>
              <a:t>500℃</a:t>
            </a:r>
            <a:r>
              <a:rPr lang="zh-CN" altLang="en-US" sz="2800" b="1" dirty="0">
                <a:solidFill>
                  <a:schemeClr val="folHlink"/>
                </a:solidFill>
                <a:ea typeface="华文中宋" panose="02010600040101010101" pitchFamily="2" charset="-122"/>
              </a:rPr>
              <a:t>以下工作的零件，如飞机压气机叶片、导弹的燃料罐、超音速飞机的蜗轮机匣及飞船上的高压低温容器等。</a:t>
            </a:r>
            <a:r>
              <a:rPr lang="zh-CN" altLang="en-US" sz="2800" dirty="0">
                <a:ea typeface="华文中宋" panose="02010600040101010101" pitchFamily="2" charset="-122"/>
              </a:rPr>
              <a:t> </a:t>
            </a:r>
          </a:p>
        </p:txBody>
      </p:sp>
      <p:grpSp>
        <p:nvGrpSpPr>
          <p:cNvPr id="2" name="Group 3"/>
          <p:cNvGrpSpPr/>
          <p:nvPr/>
        </p:nvGrpSpPr>
        <p:grpSpPr>
          <a:xfrm>
            <a:off x="257175" y="3810000"/>
            <a:ext cx="8705850" cy="2540000"/>
            <a:chOff x="162" y="2504"/>
            <a:chExt cx="5484" cy="1600"/>
          </a:xfrm>
        </p:grpSpPr>
        <p:pic>
          <p:nvPicPr>
            <p:cNvPr id="89095" name="Picture 4" descr="钛合金卫星框架"/>
            <p:cNvPicPr>
              <a:picLocks noChangeAspect="1"/>
            </p:cNvPicPr>
            <p:nvPr/>
          </p:nvPicPr>
          <p:blipFill>
            <a:blip r:embed="rId2"/>
            <a:stretch>
              <a:fillRect/>
            </a:stretch>
          </p:blipFill>
          <p:spPr>
            <a:xfrm>
              <a:off x="162" y="2508"/>
              <a:ext cx="2784" cy="1596"/>
            </a:xfrm>
            <a:prstGeom prst="rect">
              <a:avLst/>
            </a:prstGeom>
            <a:noFill/>
            <a:ln w="38100" cap="flat" cmpd="sng">
              <a:solidFill>
                <a:srgbClr val="FF9900"/>
              </a:solidFill>
              <a:prstDash val="solid"/>
              <a:miter/>
              <a:headEnd type="none" w="med" len="med"/>
              <a:tailEnd type="none" w="med" len="med"/>
            </a:ln>
          </p:spPr>
        </p:pic>
        <p:pic>
          <p:nvPicPr>
            <p:cNvPr id="89096" name="Picture 5" descr="钛合金液下泵"/>
            <p:cNvPicPr>
              <a:picLocks noChangeAspect="1"/>
            </p:cNvPicPr>
            <p:nvPr/>
          </p:nvPicPr>
          <p:blipFill>
            <a:blip r:embed="rId3"/>
            <a:stretch>
              <a:fillRect/>
            </a:stretch>
          </p:blipFill>
          <p:spPr>
            <a:xfrm>
              <a:off x="3050" y="2508"/>
              <a:ext cx="2596" cy="1591"/>
            </a:xfrm>
            <a:prstGeom prst="rect">
              <a:avLst/>
            </a:prstGeom>
            <a:noFill/>
            <a:ln w="38100" cap="flat" cmpd="sng">
              <a:solidFill>
                <a:srgbClr val="FF9900"/>
              </a:solidFill>
              <a:prstDash val="solid"/>
              <a:miter/>
              <a:headEnd type="none" w="med" len="med"/>
              <a:tailEnd type="none" w="med" len="med"/>
            </a:ln>
          </p:spPr>
        </p:pic>
        <p:sp>
          <p:nvSpPr>
            <p:cNvPr id="89097" name="Text Box 6"/>
            <p:cNvSpPr txBox="1"/>
            <p:nvPr/>
          </p:nvSpPr>
          <p:spPr>
            <a:xfrm>
              <a:off x="1622" y="2504"/>
              <a:ext cx="1488" cy="250"/>
            </a:xfrm>
            <a:prstGeom prst="rect">
              <a:avLst/>
            </a:prstGeom>
            <a:noFill/>
            <a:ln w="38100">
              <a:noFill/>
            </a:ln>
          </p:spPr>
          <p:txBody>
            <a:bodyPr>
              <a:spAutoFit/>
            </a:bodyPr>
            <a:lstStyle/>
            <a:p>
              <a:r>
                <a:rPr lang="zh-CN" altLang="en-US" sz="2000" dirty="0">
                  <a:solidFill>
                    <a:srgbClr val="800000"/>
                  </a:solidFill>
                  <a:latin typeface="Times New Roman" panose="02020603050405020304" pitchFamily="18" charset="0"/>
                </a:rPr>
                <a:t>钛合金卫星框架</a:t>
              </a:r>
            </a:p>
          </p:txBody>
        </p:sp>
        <p:sp>
          <p:nvSpPr>
            <p:cNvPr id="89098" name="Text Box 7"/>
            <p:cNvSpPr txBox="1"/>
            <p:nvPr/>
          </p:nvSpPr>
          <p:spPr>
            <a:xfrm>
              <a:off x="2837" y="2504"/>
              <a:ext cx="1488" cy="250"/>
            </a:xfrm>
            <a:prstGeom prst="rect">
              <a:avLst/>
            </a:prstGeom>
            <a:noFill/>
            <a:ln w="38100">
              <a:noFill/>
            </a:ln>
          </p:spPr>
          <p:txBody>
            <a:bodyPr>
              <a:spAutoFit/>
            </a:bodyPr>
            <a:lstStyle/>
            <a:p>
              <a:r>
                <a:rPr lang="zh-CN" altLang="en-US" sz="2000" dirty="0">
                  <a:solidFill>
                    <a:srgbClr val="800000"/>
                  </a:solidFill>
                  <a:latin typeface="Times New Roman" panose="02020603050405020304" pitchFamily="18" charset="0"/>
                </a:rPr>
                <a:t>钛合金液下泵</a:t>
              </a:r>
            </a:p>
          </p:txBody>
        </p:sp>
      </p:grpSp>
      <p:grpSp>
        <p:nvGrpSpPr>
          <p:cNvPr id="3" name="Group 8"/>
          <p:cNvGrpSpPr/>
          <p:nvPr/>
        </p:nvGrpSpPr>
        <p:grpSpPr>
          <a:xfrm>
            <a:off x="5886450" y="471488"/>
            <a:ext cx="3036888" cy="2897187"/>
            <a:chOff x="3708" y="297"/>
            <a:chExt cx="1913" cy="1825"/>
          </a:xfrm>
        </p:grpSpPr>
        <p:pic>
          <p:nvPicPr>
            <p:cNvPr id="89093" name="Picture 9" descr="αTi合金组织"/>
            <p:cNvPicPr>
              <a:picLocks noChangeAspect="1"/>
            </p:cNvPicPr>
            <p:nvPr/>
          </p:nvPicPr>
          <p:blipFill>
            <a:blip r:embed="rId4"/>
            <a:stretch>
              <a:fillRect/>
            </a:stretch>
          </p:blipFill>
          <p:spPr>
            <a:xfrm>
              <a:off x="3708" y="297"/>
              <a:ext cx="1913" cy="1815"/>
            </a:xfrm>
            <a:prstGeom prst="rect">
              <a:avLst/>
            </a:prstGeom>
            <a:noFill/>
            <a:ln w="38100" cap="flat" cmpd="sng">
              <a:solidFill>
                <a:srgbClr val="00CCFF"/>
              </a:solidFill>
              <a:prstDash val="solid"/>
              <a:miter/>
              <a:headEnd type="none" w="med" len="med"/>
              <a:tailEnd type="none" w="med" len="med"/>
            </a:ln>
          </p:spPr>
        </p:pic>
        <p:sp>
          <p:nvSpPr>
            <p:cNvPr id="89094" name="Text Box 10"/>
            <p:cNvSpPr txBox="1"/>
            <p:nvPr/>
          </p:nvSpPr>
          <p:spPr>
            <a:xfrm>
              <a:off x="4464" y="1872"/>
              <a:ext cx="1152" cy="250"/>
            </a:xfrm>
            <a:prstGeom prst="rect">
              <a:avLst/>
            </a:prstGeom>
            <a:solidFill>
              <a:schemeClr val="tx1"/>
            </a:solidFill>
            <a:ln w="9525">
              <a:noFill/>
            </a:ln>
          </p:spPr>
          <p:txBody>
            <a:bodyPr>
              <a:spAutoFit/>
            </a:bodyPr>
            <a:lstStyle/>
            <a:p>
              <a:pPr algn="r"/>
              <a:r>
                <a:rPr lang="en-US" altLang="zh-CN" sz="2000">
                  <a:solidFill>
                    <a:srgbClr val="800000"/>
                  </a:solidFill>
                  <a:latin typeface="Times New Roman" panose="02020603050405020304" pitchFamily="18" charset="0"/>
                  <a:sym typeface="Symbol" panose="05050102010706020507" pitchFamily="18" charset="2"/>
                </a:rPr>
                <a:t>-Ti</a:t>
              </a:r>
              <a:r>
                <a:rPr lang="zh-CN" altLang="en-US" sz="2000" dirty="0">
                  <a:solidFill>
                    <a:srgbClr val="800000"/>
                  </a:solidFill>
                  <a:latin typeface="Times New Roman" panose="02020603050405020304" pitchFamily="18" charset="0"/>
                  <a:sym typeface="Symbol" panose="05050102010706020507" pitchFamily="18" charset="2"/>
                </a:rPr>
                <a:t>合金组织</a:t>
              </a:r>
              <a:endParaRPr lang="zh-CN" altLang="en-US" sz="2000" dirty="0">
                <a:solidFill>
                  <a:srgbClr val="80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5954">
                                            <p:txEl>
                                              <p:pRg st="0" end="0"/>
                                            </p:txEl>
                                          </p:spTgt>
                                        </p:tgtEl>
                                        <p:attrNameLst>
                                          <p:attrName>style.visibility</p:attrName>
                                        </p:attrNameLst>
                                      </p:cBhvr>
                                      <p:to>
                                        <p:strVal val="visible"/>
                                      </p:to>
                                    </p:set>
                                    <p:animEffect transition="in" filter="wipe(left)">
                                      <p:cBhvr>
                                        <p:cTn id="7" dur="500"/>
                                        <p:tgtEl>
                                          <p:spTgt spid="12595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5954">
                                            <p:txEl>
                                              <p:pRg st="1" end="1"/>
                                            </p:txEl>
                                          </p:spTgt>
                                        </p:tgtEl>
                                        <p:attrNameLst>
                                          <p:attrName>style.visibility</p:attrName>
                                        </p:attrNameLst>
                                      </p:cBhvr>
                                      <p:to>
                                        <p:strVal val="visible"/>
                                      </p:to>
                                    </p:set>
                                    <p:animEffect transition="in" filter="wipe(left)">
                                      <p:cBhvr>
                                        <p:cTn id="11" dur="500"/>
                                        <p:tgtEl>
                                          <p:spTgt spid="125954">
                                            <p:txEl>
                                              <p:pRg st="1" end="1"/>
                                            </p:txEl>
                                          </p:spTgt>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childTnLst>
                                </p:cTn>
                              </p:par>
                            </p:childTnLst>
                          </p:cTn>
                        </p:par>
                        <p:par>
                          <p:cTn id="17" fill="hold">
                            <p:stCondLst>
                              <p:cond delay="1500"/>
                            </p:stCondLst>
                            <p:childTnLst>
                              <p:par>
                                <p:cTn id="18" presetID="16" presetClass="entr" presetSubtype="37"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outVertic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advAuto="100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p:cNvSpPr>
          <p:nvPr>
            <p:ph idx="1"/>
          </p:nvPr>
        </p:nvSpPr>
        <p:spPr>
          <a:xfrm>
            <a:off x="228600" y="444500"/>
            <a:ext cx="4191000" cy="58801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2</a:t>
            </a:r>
            <a:r>
              <a:rPr lang="zh-CN" altLang="en-US"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sym typeface="Symbol" panose="05050102010706020507" pitchFamily="18" charset="2"/>
              </a:rPr>
              <a:t></a:t>
            </a:r>
            <a:r>
              <a:rPr lang="zh-CN" altLang="en-US" sz="2800" b="1" dirty="0">
                <a:solidFill>
                  <a:schemeClr val="tx2"/>
                </a:solidFill>
                <a:ea typeface="华文中宋" panose="02010600040101010101" pitchFamily="2" charset="-122"/>
              </a:rPr>
              <a:t>型钛合金</a:t>
            </a:r>
          </a:p>
          <a:p>
            <a:pPr eaLnBrk="1" hangingPunct="1">
              <a:lnSpc>
                <a:spcPct val="145000"/>
              </a:lnSpc>
            </a:pPr>
            <a:r>
              <a:rPr lang="zh-CN" altLang="en-US" sz="2800" b="1" dirty="0">
                <a:ea typeface="华文中宋" panose="02010600040101010101" pitchFamily="2" charset="-122"/>
              </a:rPr>
              <a:t>加入的合金元素有钼、铬、钒、铝等。</a:t>
            </a:r>
          </a:p>
          <a:p>
            <a:pPr eaLnBrk="1" hangingPunct="1">
              <a:lnSpc>
                <a:spcPct val="145000"/>
              </a:lnSpc>
            </a:pPr>
            <a:r>
              <a:rPr lang="zh-CN" altLang="en-US" sz="2800" b="1" dirty="0">
                <a:solidFill>
                  <a:schemeClr val="folHlink"/>
                </a:solidFill>
                <a:ea typeface="华文中宋" panose="02010600040101010101" pitchFamily="2" charset="-122"/>
              </a:rPr>
              <a:t>经淬火加时效处理后，组织为</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相基体上分布着细小的</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相粒子。</a:t>
            </a:r>
          </a:p>
          <a:p>
            <a:pPr eaLnBrk="1" hangingPunct="1">
              <a:lnSpc>
                <a:spcPct val="145000"/>
              </a:lnSpc>
            </a:pPr>
            <a:r>
              <a:rPr lang="zh-CN" altLang="en-US" sz="2800" b="1" dirty="0">
                <a:ea typeface="华文中宋" panose="02010600040101010101" pitchFamily="2" charset="-122"/>
              </a:rPr>
              <a:t>这类合金强度高，但冶炼工艺复杂，难于焊接</a:t>
            </a:r>
            <a:r>
              <a:rPr lang="en-US" altLang="zh-CN" sz="2800" b="1">
                <a:ea typeface="华文中宋" panose="02010600040101010101" pitchFamily="2" charset="-122"/>
              </a:rPr>
              <a:t>,</a:t>
            </a:r>
            <a:r>
              <a:rPr lang="zh-CN" altLang="en-US" sz="2800" b="1" dirty="0">
                <a:ea typeface="华文中宋" panose="02010600040101010101" pitchFamily="2" charset="-122"/>
              </a:rPr>
              <a:t>应用受到限制。</a:t>
            </a:r>
            <a:endParaRPr lang="zh-CN" altLang="en-US" sz="2800" dirty="0">
              <a:ea typeface="华文中宋" panose="02010600040101010101" pitchFamily="2" charset="-122"/>
            </a:endParaRPr>
          </a:p>
        </p:txBody>
      </p:sp>
      <p:grpSp>
        <p:nvGrpSpPr>
          <p:cNvPr id="2" name="Group 3"/>
          <p:cNvGrpSpPr/>
          <p:nvPr/>
        </p:nvGrpSpPr>
        <p:grpSpPr>
          <a:xfrm>
            <a:off x="4803775" y="481013"/>
            <a:ext cx="3959225" cy="5919787"/>
            <a:chOff x="3024" y="240"/>
            <a:chExt cx="2494" cy="3729"/>
          </a:xfrm>
        </p:grpSpPr>
        <p:grpSp>
          <p:nvGrpSpPr>
            <p:cNvPr id="90116" name="Group 4"/>
            <p:cNvGrpSpPr/>
            <p:nvPr/>
          </p:nvGrpSpPr>
          <p:grpSpPr>
            <a:xfrm>
              <a:off x="3024" y="240"/>
              <a:ext cx="2494" cy="3729"/>
              <a:chOff x="3024" y="336"/>
              <a:chExt cx="2494" cy="3729"/>
            </a:xfrm>
          </p:grpSpPr>
          <p:pic>
            <p:nvPicPr>
              <p:cNvPr id="90119" name="Picture 5" descr="钛合金管"/>
              <p:cNvPicPr>
                <a:picLocks noChangeAspect="1"/>
              </p:cNvPicPr>
              <p:nvPr/>
            </p:nvPicPr>
            <p:blipFill>
              <a:blip r:embed="rId2"/>
              <a:stretch>
                <a:fillRect/>
              </a:stretch>
            </p:blipFill>
            <p:spPr>
              <a:xfrm>
                <a:off x="3024" y="336"/>
                <a:ext cx="2494" cy="1467"/>
              </a:xfrm>
              <a:prstGeom prst="rect">
                <a:avLst/>
              </a:prstGeom>
              <a:noFill/>
              <a:ln w="38100" cap="flat" cmpd="sng">
                <a:solidFill>
                  <a:srgbClr val="FF9900"/>
                </a:solidFill>
                <a:prstDash val="solid"/>
                <a:miter/>
                <a:headEnd type="none" w="med" len="med"/>
                <a:tailEnd type="none" w="med" len="med"/>
              </a:ln>
            </p:spPr>
          </p:pic>
          <p:pic>
            <p:nvPicPr>
              <p:cNvPr id="90120" name="Picture 6" descr="钛管应用"/>
              <p:cNvPicPr>
                <a:picLocks noChangeAspect="1"/>
              </p:cNvPicPr>
              <p:nvPr/>
            </p:nvPicPr>
            <p:blipFill>
              <a:blip r:embed="rId3"/>
              <a:stretch>
                <a:fillRect/>
              </a:stretch>
            </p:blipFill>
            <p:spPr>
              <a:xfrm>
                <a:off x="3024" y="1872"/>
                <a:ext cx="2494" cy="2193"/>
              </a:xfrm>
              <a:prstGeom prst="rect">
                <a:avLst/>
              </a:prstGeom>
              <a:noFill/>
              <a:ln w="38100" cap="flat" cmpd="sng">
                <a:solidFill>
                  <a:srgbClr val="FF9900"/>
                </a:solidFill>
                <a:prstDash val="solid"/>
                <a:miter/>
                <a:headEnd type="none" w="med" len="med"/>
                <a:tailEnd type="none" w="med" len="med"/>
              </a:ln>
            </p:spPr>
          </p:pic>
        </p:grpSp>
        <p:sp>
          <p:nvSpPr>
            <p:cNvPr id="90117" name="Text Box 7"/>
            <p:cNvSpPr txBox="1"/>
            <p:nvPr/>
          </p:nvSpPr>
          <p:spPr>
            <a:xfrm>
              <a:off x="3024" y="240"/>
              <a:ext cx="1152" cy="250"/>
            </a:xfrm>
            <a:prstGeom prst="rect">
              <a:avLst/>
            </a:prstGeom>
            <a:noFill/>
            <a:ln w="9525">
              <a:noFill/>
            </a:ln>
          </p:spPr>
          <p:txBody>
            <a:bodyPr>
              <a:spAutoFit/>
            </a:bodyPr>
            <a:lstStyle/>
            <a:p>
              <a:r>
                <a:rPr lang="zh-CN" altLang="en-US" sz="2000" dirty="0">
                  <a:latin typeface="Times New Roman" panose="02020603050405020304" pitchFamily="18" charset="0"/>
                </a:rPr>
                <a:t>钛合金管</a:t>
              </a:r>
            </a:p>
          </p:txBody>
        </p:sp>
        <p:sp>
          <p:nvSpPr>
            <p:cNvPr id="90118" name="Text Box 8"/>
            <p:cNvSpPr txBox="1"/>
            <p:nvPr/>
          </p:nvSpPr>
          <p:spPr>
            <a:xfrm>
              <a:off x="3024" y="1824"/>
              <a:ext cx="1152" cy="250"/>
            </a:xfrm>
            <a:prstGeom prst="rect">
              <a:avLst/>
            </a:prstGeom>
            <a:noFill/>
            <a:ln w="9525">
              <a:noFill/>
            </a:ln>
          </p:spPr>
          <p:txBody>
            <a:bodyPr>
              <a:spAutoFit/>
            </a:bodyPr>
            <a:lstStyle/>
            <a:p>
              <a:r>
                <a:rPr lang="zh-CN" altLang="en-US" sz="2000" dirty="0">
                  <a:latin typeface="Times New Roman" panose="02020603050405020304" pitchFamily="18" charset="0"/>
                </a:rPr>
                <a:t>钛合金管应用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6978">
                                            <p:txEl>
                                              <p:pRg st="0" end="0"/>
                                            </p:txEl>
                                          </p:spTgt>
                                        </p:tgtEl>
                                        <p:attrNameLst>
                                          <p:attrName>style.visibility</p:attrName>
                                        </p:attrNameLst>
                                      </p:cBhvr>
                                      <p:to>
                                        <p:strVal val="visible"/>
                                      </p:to>
                                    </p:set>
                                    <p:animEffect transition="in" filter="wipe(left)">
                                      <p:cBhvr>
                                        <p:cTn id="7" dur="500"/>
                                        <p:tgtEl>
                                          <p:spTgt spid="12697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6978">
                                            <p:txEl>
                                              <p:pRg st="1" end="1"/>
                                            </p:txEl>
                                          </p:spTgt>
                                        </p:tgtEl>
                                        <p:attrNameLst>
                                          <p:attrName>style.visibility</p:attrName>
                                        </p:attrNameLst>
                                      </p:cBhvr>
                                      <p:to>
                                        <p:strVal val="visible"/>
                                      </p:to>
                                    </p:set>
                                    <p:animEffect transition="in" filter="wipe(left)">
                                      <p:cBhvr>
                                        <p:cTn id="11" dur="500"/>
                                        <p:tgtEl>
                                          <p:spTgt spid="12697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6978">
                                            <p:txEl>
                                              <p:pRg st="2" end="2"/>
                                            </p:txEl>
                                          </p:spTgt>
                                        </p:tgtEl>
                                        <p:attrNameLst>
                                          <p:attrName>style.visibility</p:attrName>
                                        </p:attrNameLst>
                                      </p:cBhvr>
                                      <p:to>
                                        <p:strVal val="visible"/>
                                      </p:to>
                                    </p:set>
                                    <p:animEffect transition="in" filter="wipe(left)">
                                      <p:cBhvr>
                                        <p:cTn id="15" dur="500"/>
                                        <p:tgtEl>
                                          <p:spTgt spid="126978">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26978">
                                            <p:txEl>
                                              <p:pRg st="3" end="3"/>
                                            </p:txEl>
                                          </p:spTgt>
                                        </p:tgtEl>
                                        <p:attrNameLst>
                                          <p:attrName>style.visibility</p:attrName>
                                        </p:attrNameLst>
                                      </p:cBhvr>
                                      <p:to>
                                        <p:strVal val="visible"/>
                                      </p:to>
                                    </p:set>
                                    <p:animEffect transition="in" filter="wipe(left)">
                                      <p:cBhvr>
                                        <p:cTn id="19" dur="500"/>
                                        <p:tgtEl>
                                          <p:spTgt spid="126978">
                                            <p:txEl>
                                              <p:pRg st="3" end="3"/>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uild="p" advAuto="100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idx="1"/>
          </p:nvPr>
        </p:nvSpPr>
        <p:spPr>
          <a:xfrm>
            <a:off x="381000" y="304800"/>
            <a:ext cx="3962400" cy="4038600"/>
          </a:xfrm>
          <a:ln/>
        </p:spPr>
        <p:txBody>
          <a:bodyPr vert="horz" wrap="square" lIns="91440" tIns="45720" rIns="91440" bIns="45720" anchor="t" anchorCtr="0"/>
          <a:lstStyle/>
          <a:p>
            <a:pPr eaLnBrk="1" hangingPunct="1">
              <a:lnSpc>
                <a:spcPct val="140000"/>
              </a:lnSpc>
            </a:pPr>
            <a:r>
              <a:rPr lang="en-US" altLang="zh-CN" sz="2800" b="1">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型钛合金有</a:t>
            </a:r>
            <a:r>
              <a:rPr lang="en-US" altLang="zh-CN" sz="2800" b="1">
                <a:solidFill>
                  <a:schemeClr val="folHlink"/>
                </a:solidFill>
                <a:ea typeface="华文中宋" panose="02010600040101010101" pitchFamily="2" charset="-122"/>
              </a:rPr>
              <a:t>TB2</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TB3</a:t>
            </a:r>
            <a:r>
              <a:rPr lang="zh-CN" altLang="en-US" sz="2800" b="1" dirty="0">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rPr>
              <a:t>TB4</a:t>
            </a:r>
            <a:r>
              <a:rPr lang="zh-CN" altLang="en-US" sz="2800" b="1" dirty="0">
                <a:solidFill>
                  <a:schemeClr val="folHlink"/>
                </a:solidFill>
                <a:ea typeface="华文中宋" panose="02010600040101010101" pitchFamily="2" charset="-122"/>
              </a:rPr>
              <a:t>三个牌号。</a:t>
            </a:r>
          </a:p>
          <a:p>
            <a:pPr eaLnBrk="1" hangingPunct="1">
              <a:lnSpc>
                <a:spcPct val="140000"/>
              </a:lnSpc>
            </a:pPr>
            <a:r>
              <a:rPr lang="zh-CN" altLang="en-US" sz="2800" b="1" dirty="0">
                <a:ea typeface="华文中宋" panose="02010600040101010101" pitchFamily="2" charset="-122"/>
              </a:rPr>
              <a:t>主要用于</a:t>
            </a:r>
            <a:r>
              <a:rPr lang="en-US" altLang="zh-CN" sz="2800" b="1">
                <a:ea typeface="华文中宋" panose="02010600040101010101" pitchFamily="2" charset="-122"/>
              </a:rPr>
              <a:t>350℃</a:t>
            </a:r>
            <a:r>
              <a:rPr lang="zh-CN" altLang="en-US" sz="2800" b="1" dirty="0">
                <a:ea typeface="华文中宋" panose="02010600040101010101" pitchFamily="2" charset="-122"/>
              </a:rPr>
              <a:t>以下工作的结构件和紧固件</a:t>
            </a:r>
            <a:r>
              <a:rPr lang="en-US" altLang="zh-CN" sz="2800" b="1">
                <a:ea typeface="华文中宋" panose="02010600040101010101" pitchFamily="2" charset="-122"/>
              </a:rPr>
              <a:t>,</a:t>
            </a:r>
            <a:r>
              <a:rPr lang="zh-CN" altLang="en-US" sz="2800" b="1" dirty="0">
                <a:ea typeface="华文中宋" panose="02010600040101010101" pitchFamily="2" charset="-122"/>
              </a:rPr>
              <a:t>如飞机压气机叶片、轴、弹簧、轮盘等。</a:t>
            </a:r>
          </a:p>
        </p:txBody>
      </p:sp>
      <p:grpSp>
        <p:nvGrpSpPr>
          <p:cNvPr id="2" name="Group 3"/>
          <p:cNvGrpSpPr/>
          <p:nvPr/>
        </p:nvGrpSpPr>
        <p:grpSpPr>
          <a:xfrm>
            <a:off x="800100" y="652463"/>
            <a:ext cx="7891463" cy="5786437"/>
            <a:chOff x="504" y="411"/>
            <a:chExt cx="4971" cy="3645"/>
          </a:xfrm>
        </p:grpSpPr>
        <p:pic>
          <p:nvPicPr>
            <p:cNvPr id="91140" name="Picture 4" descr="钛（β钛眼镜架）"/>
            <p:cNvPicPr>
              <a:picLocks noChangeAspect="1"/>
            </p:cNvPicPr>
            <p:nvPr/>
          </p:nvPicPr>
          <p:blipFill>
            <a:blip r:embed="rId2"/>
            <a:stretch>
              <a:fillRect/>
            </a:stretch>
          </p:blipFill>
          <p:spPr>
            <a:xfrm>
              <a:off x="2976" y="2186"/>
              <a:ext cx="2494" cy="1870"/>
            </a:xfrm>
            <a:prstGeom prst="rect">
              <a:avLst/>
            </a:prstGeom>
            <a:noFill/>
            <a:ln w="38100" cap="flat" cmpd="sng">
              <a:solidFill>
                <a:srgbClr val="FF9900"/>
              </a:solidFill>
              <a:prstDash val="solid"/>
              <a:miter/>
              <a:headEnd type="none" w="med" len="med"/>
              <a:tailEnd type="none" w="med" len="med"/>
            </a:ln>
          </p:spPr>
        </p:pic>
        <p:pic>
          <p:nvPicPr>
            <p:cNvPr id="91141" name="Picture 5" descr="钛棒"/>
            <p:cNvPicPr>
              <a:picLocks noChangeAspect="1"/>
            </p:cNvPicPr>
            <p:nvPr/>
          </p:nvPicPr>
          <p:blipFill>
            <a:blip r:embed="rId3"/>
            <a:stretch>
              <a:fillRect/>
            </a:stretch>
          </p:blipFill>
          <p:spPr>
            <a:xfrm>
              <a:off x="2976" y="411"/>
              <a:ext cx="2494" cy="1605"/>
            </a:xfrm>
            <a:prstGeom prst="rect">
              <a:avLst/>
            </a:prstGeom>
            <a:noFill/>
            <a:ln w="38100" cap="flat" cmpd="sng">
              <a:solidFill>
                <a:srgbClr val="FF9900"/>
              </a:solidFill>
              <a:prstDash val="solid"/>
              <a:miter/>
              <a:headEnd type="none" w="med" len="med"/>
              <a:tailEnd type="none" w="med" len="med"/>
            </a:ln>
          </p:spPr>
        </p:pic>
        <p:sp>
          <p:nvSpPr>
            <p:cNvPr id="91142" name="Text Box 6"/>
            <p:cNvSpPr txBox="1"/>
            <p:nvPr/>
          </p:nvSpPr>
          <p:spPr>
            <a:xfrm>
              <a:off x="4563" y="1763"/>
              <a:ext cx="912" cy="250"/>
            </a:xfrm>
            <a:prstGeom prst="rect">
              <a:avLst/>
            </a:prstGeom>
            <a:noFill/>
            <a:ln w="9525">
              <a:noFill/>
            </a:ln>
          </p:spPr>
          <p:txBody>
            <a:bodyPr>
              <a:spAutoFit/>
            </a:bodyPr>
            <a:lstStyle/>
            <a:p>
              <a:r>
                <a:rPr lang="zh-CN" altLang="en-US" sz="2000" dirty="0">
                  <a:solidFill>
                    <a:srgbClr val="A50021"/>
                  </a:solidFill>
                  <a:latin typeface="Times New Roman" panose="02020603050405020304" pitchFamily="18" charset="0"/>
                </a:rPr>
                <a:t>钛合金棒</a:t>
              </a:r>
            </a:p>
          </p:txBody>
        </p:sp>
        <p:sp>
          <p:nvSpPr>
            <p:cNvPr id="91143" name="Text Box 7"/>
            <p:cNvSpPr txBox="1"/>
            <p:nvPr/>
          </p:nvSpPr>
          <p:spPr>
            <a:xfrm>
              <a:off x="4080" y="3792"/>
              <a:ext cx="1344" cy="250"/>
            </a:xfrm>
            <a:prstGeom prst="rect">
              <a:avLst/>
            </a:prstGeom>
            <a:noFill/>
            <a:ln w="9525">
              <a:noFill/>
            </a:ln>
          </p:spPr>
          <p:txBody>
            <a:bodyPr>
              <a:spAutoFit/>
            </a:bodyPr>
            <a:lstStyle/>
            <a:p>
              <a:r>
                <a:rPr lang="en-US" altLang="zh-CN" sz="2000">
                  <a:solidFill>
                    <a:srgbClr val="A50021"/>
                  </a:solidFill>
                  <a:latin typeface="Times New Roman" panose="02020603050405020304" pitchFamily="18" charset="0"/>
                </a:rPr>
                <a:t>β</a:t>
              </a:r>
              <a:r>
                <a:rPr lang="zh-CN" altLang="en-US" sz="2000" dirty="0">
                  <a:solidFill>
                    <a:srgbClr val="A50021"/>
                  </a:solidFill>
                  <a:latin typeface="Times New Roman" panose="02020603050405020304" pitchFamily="18" charset="0"/>
                </a:rPr>
                <a:t>钛合金眼镜架</a:t>
              </a:r>
            </a:p>
          </p:txBody>
        </p:sp>
        <p:grpSp>
          <p:nvGrpSpPr>
            <p:cNvPr id="91144" name="Group 8"/>
            <p:cNvGrpSpPr/>
            <p:nvPr/>
          </p:nvGrpSpPr>
          <p:grpSpPr>
            <a:xfrm>
              <a:off x="504" y="2664"/>
              <a:ext cx="2090" cy="1383"/>
              <a:chOff x="504" y="2664"/>
              <a:chExt cx="2090" cy="1383"/>
            </a:xfrm>
          </p:grpSpPr>
          <p:pic>
            <p:nvPicPr>
              <p:cNvPr id="91145" name="Picture 9" descr="钛离心机"/>
              <p:cNvPicPr>
                <a:picLocks noChangeAspect="1"/>
              </p:cNvPicPr>
              <p:nvPr/>
            </p:nvPicPr>
            <p:blipFill>
              <a:blip r:embed="rId4"/>
              <a:stretch>
                <a:fillRect/>
              </a:stretch>
            </p:blipFill>
            <p:spPr>
              <a:xfrm>
                <a:off x="576" y="2688"/>
                <a:ext cx="2018" cy="1359"/>
              </a:xfrm>
              <a:prstGeom prst="rect">
                <a:avLst/>
              </a:prstGeom>
              <a:noFill/>
              <a:ln w="28575" cap="flat" cmpd="sng">
                <a:solidFill>
                  <a:srgbClr val="FF99CC"/>
                </a:solidFill>
                <a:prstDash val="solid"/>
                <a:miter/>
                <a:headEnd type="none" w="med" len="med"/>
                <a:tailEnd type="none" w="med" len="med"/>
              </a:ln>
            </p:spPr>
          </p:pic>
          <p:sp>
            <p:nvSpPr>
              <p:cNvPr id="91146" name="Text Box 10"/>
              <p:cNvSpPr txBox="1"/>
              <p:nvPr/>
            </p:nvSpPr>
            <p:spPr>
              <a:xfrm>
                <a:off x="504" y="2664"/>
                <a:ext cx="816" cy="250"/>
              </a:xfrm>
              <a:prstGeom prst="rect">
                <a:avLst/>
              </a:prstGeom>
              <a:noFill/>
              <a:ln w="9525">
                <a:noFill/>
              </a:ln>
            </p:spPr>
            <p:txBody>
              <a:bodyPr>
                <a:spAutoFit/>
              </a:bodyPr>
              <a:lstStyle/>
              <a:p>
                <a:r>
                  <a:rPr lang="zh-CN" altLang="en-US" sz="2000" dirty="0">
                    <a:latin typeface="Times New Roman" panose="02020603050405020304" pitchFamily="18" charset="0"/>
                  </a:rPr>
                  <a:t>钛离心泵</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8002">
                                            <p:txEl>
                                              <p:pRg st="0" end="0"/>
                                            </p:txEl>
                                          </p:spTgt>
                                        </p:tgtEl>
                                        <p:attrNameLst>
                                          <p:attrName>style.visibility</p:attrName>
                                        </p:attrNameLst>
                                      </p:cBhvr>
                                      <p:to>
                                        <p:strVal val="visible"/>
                                      </p:to>
                                    </p:set>
                                    <p:animEffect transition="in" filter="wipe(left)">
                                      <p:cBhvr>
                                        <p:cTn id="7" dur="500"/>
                                        <p:tgtEl>
                                          <p:spTgt spid="12800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8002">
                                            <p:txEl>
                                              <p:pRg st="1" end="1"/>
                                            </p:txEl>
                                          </p:spTgt>
                                        </p:tgtEl>
                                        <p:attrNameLst>
                                          <p:attrName>style.visibility</p:attrName>
                                        </p:attrNameLst>
                                      </p:cBhvr>
                                      <p:to>
                                        <p:strVal val="visible"/>
                                      </p:to>
                                    </p:set>
                                    <p:animEffect transition="in" filter="wipe(left)">
                                      <p:cBhvr>
                                        <p:cTn id="11" dur="500"/>
                                        <p:tgtEl>
                                          <p:spTgt spid="128002">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build="p" advAuto="100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p:cNvSpPr>
          <p:nvPr>
            <p:ph idx="1"/>
          </p:nvPr>
        </p:nvSpPr>
        <p:spPr>
          <a:xfrm>
            <a:off x="304800" y="228600"/>
            <a:ext cx="8382000" cy="4800600"/>
          </a:xfrm>
          <a:ln/>
        </p:spPr>
        <p:txBody>
          <a:bodyPr vert="horz" wrap="square" lIns="91440" tIns="45720" rIns="91440" bIns="45720" anchor="t" anchorCtr="0"/>
          <a:lstStyle/>
          <a:p>
            <a:pPr eaLnBrk="1" hangingPunct="1"/>
            <a:r>
              <a:rPr lang="en-US" altLang="zh-CN" sz="2800" b="1">
                <a:solidFill>
                  <a:schemeClr val="tx2"/>
                </a:solidFill>
                <a:ea typeface="华文中宋" panose="02010600040101010101" pitchFamily="2" charset="-122"/>
              </a:rPr>
              <a:t>3</a:t>
            </a:r>
            <a:r>
              <a:rPr lang="zh-CN" altLang="en-US"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sym typeface="Symbol" panose="05050102010706020507" pitchFamily="18" charset="2"/>
              </a:rPr>
              <a:t></a:t>
            </a:r>
            <a:r>
              <a:rPr lang="en-US" altLang="zh-CN" sz="2800" b="1">
                <a:solidFill>
                  <a:schemeClr val="tx2"/>
                </a:solidFill>
                <a:ea typeface="华文中宋" panose="02010600040101010101" pitchFamily="2" charset="-122"/>
              </a:rPr>
              <a:t>+</a:t>
            </a:r>
            <a:r>
              <a:rPr lang="en-US" altLang="zh-CN" sz="2800" b="1">
                <a:solidFill>
                  <a:schemeClr val="tx2"/>
                </a:solidFill>
                <a:ea typeface="华文中宋" panose="02010600040101010101" pitchFamily="2" charset="-122"/>
                <a:sym typeface="Symbol" panose="05050102010706020507" pitchFamily="18" charset="2"/>
              </a:rPr>
              <a:t></a:t>
            </a:r>
            <a:r>
              <a:rPr lang="zh-CN" altLang="en-US" sz="2800" b="1" dirty="0">
                <a:solidFill>
                  <a:schemeClr val="tx2"/>
                </a:solidFill>
                <a:ea typeface="华文中宋" panose="02010600040101010101" pitchFamily="2" charset="-122"/>
              </a:rPr>
              <a:t>型钛合金</a:t>
            </a:r>
          </a:p>
          <a:p>
            <a:pPr eaLnBrk="1" hangingPunct="1">
              <a:lnSpc>
                <a:spcPct val="140000"/>
              </a:lnSpc>
            </a:pPr>
            <a:r>
              <a:rPr lang="zh-CN" altLang="en-US" sz="2800" b="1" dirty="0">
                <a:solidFill>
                  <a:schemeClr val="folHlink"/>
                </a:solidFill>
                <a:ea typeface="华文中宋" panose="02010600040101010101" pitchFamily="2" charset="-122"/>
              </a:rPr>
              <a:t>加入的合金元素有铝、钒、 钼 铬等。</a:t>
            </a:r>
          </a:p>
          <a:p>
            <a:pPr eaLnBrk="1" hangingPunct="1">
              <a:lnSpc>
                <a:spcPct val="140000"/>
              </a:lnSpc>
            </a:pPr>
            <a:r>
              <a:rPr lang="zh-CN" altLang="en-US" sz="2800" b="1" dirty="0">
                <a:ea typeface="华文中宋" panose="02010600040101010101" pitchFamily="2" charset="-122"/>
              </a:rPr>
              <a:t>可进行热处理强化，强度高，塑性好，具有良好的热强性、耐蚀性和低温韧性。</a:t>
            </a:r>
          </a:p>
        </p:txBody>
      </p:sp>
      <p:grpSp>
        <p:nvGrpSpPr>
          <p:cNvPr id="2" name="Group 3"/>
          <p:cNvGrpSpPr/>
          <p:nvPr/>
        </p:nvGrpSpPr>
        <p:grpSpPr>
          <a:xfrm>
            <a:off x="779463" y="3200400"/>
            <a:ext cx="7616825" cy="3240088"/>
            <a:chOff x="491" y="2016"/>
            <a:chExt cx="4798" cy="2041"/>
          </a:xfrm>
        </p:grpSpPr>
        <p:pic>
          <p:nvPicPr>
            <p:cNvPr id="92164" name="Picture 4" descr="钛制列管换热器"/>
            <p:cNvPicPr>
              <a:picLocks noChangeAspect="1"/>
            </p:cNvPicPr>
            <p:nvPr/>
          </p:nvPicPr>
          <p:blipFill>
            <a:blip r:embed="rId2"/>
            <a:stretch>
              <a:fillRect/>
            </a:stretch>
          </p:blipFill>
          <p:spPr>
            <a:xfrm>
              <a:off x="491" y="2016"/>
              <a:ext cx="2784" cy="2041"/>
            </a:xfrm>
            <a:prstGeom prst="rect">
              <a:avLst/>
            </a:prstGeom>
            <a:noFill/>
            <a:ln w="38100" cap="flat" cmpd="sng">
              <a:solidFill>
                <a:schemeClr val="accent1"/>
              </a:solidFill>
              <a:prstDash val="solid"/>
              <a:miter/>
              <a:headEnd type="none" w="med" len="med"/>
              <a:tailEnd type="none" w="med" len="med"/>
            </a:ln>
          </p:spPr>
        </p:pic>
        <p:pic>
          <p:nvPicPr>
            <p:cNvPr id="92165" name="Picture 5" descr="钛制列管换热器2"/>
            <p:cNvPicPr>
              <a:picLocks noChangeAspect="1"/>
            </p:cNvPicPr>
            <p:nvPr/>
          </p:nvPicPr>
          <p:blipFill>
            <a:blip r:embed="rId3"/>
            <a:srcRect l="2405"/>
            <a:stretch>
              <a:fillRect/>
            </a:stretch>
          </p:blipFill>
          <p:spPr>
            <a:xfrm>
              <a:off x="3659" y="2016"/>
              <a:ext cx="1630" cy="2040"/>
            </a:xfrm>
            <a:prstGeom prst="rect">
              <a:avLst/>
            </a:prstGeom>
            <a:noFill/>
            <a:ln w="38100" cap="flat" cmpd="sng">
              <a:solidFill>
                <a:schemeClr val="accent1"/>
              </a:solidFill>
              <a:prstDash val="solid"/>
              <a:miter/>
              <a:headEnd type="none" w="med" len="med"/>
              <a:tailEnd type="none" w="med" len="med"/>
            </a:ln>
          </p:spPr>
        </p:pic>
        <p:sp>
          <p:nvSpPr>
            <p:cNvPr id="92166" name="Text Box 6"/>
            <p:cNvSpPr txBox="1"/>
            <p:nvPr/>
          </p:nvSpPr>
          <p:spPr>
            <a:xfrm>
              <a:off x="3288" y="2112"/>
              <a:ext cx="346" cy="1806"/>
            </a:xfrm>
            <a:prstGeom prst="rect">
              <a:avLst/>
            </a:prstGeom>
            <a:noFill/>
            <a:ln w="9525">
              <a:noFill/>
            </a:ln>
          </p:spPr>
          <p:txBody>
            <a:bodyPr vert="eaVert">
              <a:spAutoFit/>
            </a:bodyPr>
            <a:lstStyle/>
            <a:p>
              <a:r>
                <a:rPr lang="zh-CN" altLang="en-US" dirty="0">
                  <a:latin typeface="Times New Roman" panose="02020603050405020304" pitchFamily="18" charset="0"/>
                </a:rPr>
                <a:t>钛合金列管式换热器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9026">
                                            <p:txEl>
                                              <p:pRg st="0" end="0"/>
                                            </p:txEl>
                                          </p:spTgt>
                                        </p:tgtEl>
                                        <p:attrNameLst>
                                          <p:attrName>style.visibility</p:attrName>
                                        </p:attrNameLst>
                                      </p:cBhvr>
                                      <p:to>
                                        <p:strVal val="visible"/>
                                      </p:to>
                                    </p:set>
                                    <p:animEffect transition="in" filter="wipe(left)">
                                      <p:cBhvr>
                                        <p:cTn id="7" dur="500"/>
                                        <p:tgtEl>
                                          <p:spTgt spid="12902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9026">
                                            <p:txEl>
                                              <p:pRg st="1" end="1"/>
                                            </p:txEl>
                                          </p:spTgt>
                                        </p:tgtEl>
                                        <p:attrNameLst>
                                          <p:attrName>style.visibility</p:attrName>
                                        </p:attrNameLst>
                                      </p:cBhvr>
                                      <p:to>
                                        <p:strVal val="visible"/>
                                      </p:to>
                                    </p:set>
                                    <p:animEffect transition="in" filter="wipe(left)">
                                      <p:cBhvr>
                                        <p:cTn id="11" dur="500"/>
                                        <p:tgtEl>
                                          <p:spTgt spid="12902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9026">
                                            <p:txEl>
                                              <p:pRg st="2" end="2"/>
                                            </p:txEl>
                                          </p:spTgt>
                                        </p:tgtEl>
                                        <p:attrNameLst>
                                          <p:attrName>style.visibility</p:attrName>
                                        </p:attrNameLst>
                                      </p:cBhvr>
                                      <p:to>
                                        <p:strVal val="visible"/>
                                      </p:to>
                                    </p:set>
                                    <p:animEffect transition="in" filter="wipe(left)">
                                      <p:cBhvr>
                                        <p:cTn id="15" dur="500"/>
                                        <p:tgtEl>
                                          <p:spTgt spid="129026">
                                            <p:txEl>
                                              <p:pRg st="2" end="2"/>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advAuto="100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idx="1"/>
          </p:nvPr>
        </p:nvSpPr>
        <p:spPr>
          <a:xfrm>
            <a:off x="228600" y="152400"/>
            <a:ext cx="5715000" cy="3276600"/>
          </a:xfrm>
          <a:ln/>
        </p:spPr>
        <p:txBody>
          <a:bodyPr vert="horz" wrap="square" lIns="91440" tIns="45720" rIns="91440" bIns="45720" anchor="t" anchorCtr="0"/>
          <a:lstStyle/>
          <a:p>
            <a:pPr eaLnBrk="1" hangingPunct="1">
              <a:lnSpc>
                <a:spcPct val="140000"/>
              </a:lnSpc>
            </a:pPr>
            <a:r>
              <a:rPr lang="en-US" altLang="zh-CN" sz="2800" b="1">
                <a:solidFill>
                  <a:schemeClr val="folHlink"/>
                </a:solidFill>
                <a:ea typeface="华文中宋" panose="02010600040101010101" pitchFamily="2" charset="-122"/>
                <a:sym typeface="Symbol" panose="05050102010706020507" pitchFamily="18" charset="2"/>
              </a:rPr>
              <a:t></a:t>
            </a:r>
            <a:r>
              <a:rPr lang="en-US" altLang="zh-CN" sz="2800" b="1">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型钛合金共有九个牌号，其中以</a:t>
            </a:r>
            <a:r>
              <a:rPr lang="en-US" altLang="zh-CN" sz="2800" b="1">
                <a:solidFill>
                  <a:schemeClr val="folHlink"/>
                </a:solidFill>
                <a:ea typeface="华文中宋" panose="02010600040101010101" pitchFamily="2" charset="-122"/>
              </a:rPr>
              <a:t>TC4</a:t>
            </a:r>
            <a:r>
              <a:rPr lang="zh-CN" altLang="en-US" sz="2800" b="1" dirty="0">
                <a:solidFill>
                  <a:schemeClr val="folHlink"/>
                </a:solidFill>
                <a:ea typeface="华文中宋" panose="02010600040101010101" pitchFamily="2" charset="-122"/>
              </a:rPr>
              <a:t>应用最广、用量最大，其经过淬火加时效处理后，组织为</a:t>
            </a:r>
            <a:r>
              <a:rPr lang="zh-CN" altLang="en-US" sz="2800" b="1" dirty="0">
                <a:solidFill>
                  <a:schemeClr val="folHlink"/>
                </a:solidFill>
                <a:ea typeface="华文中宋" panose="02010600040101010101" pitchFamily="2" charset="-122"/>
                <a:sym typeface="Symbol" panose="05050102010706020507" pitchFamily="18" charset="2"/>
              </a:rPr>
              <a:t></a:t>
            </a:r>
            <a:r>
              <a:rPr lang="en-US" altLang="zh-CN" sz="2800" b="1">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sym typeface="Symbol" panose="05050102010706020507" pitchFamily="18" charset="2"/>
              </a:rPr>
              <a:t></a:t>
            </a:r>
            <a:r>
              <a:rPr lang="en-US" altLang="zh-CN" sz="2800" b="1">
                <a:solidFill>
                  <a:schemeClr val="folHlink"/>
                </a:solidFill>
                <a:ea typeface="华文中宋" panose="02010600040101010101" pitchFamily="2" charset="-122"/>
              </a:rPr>
              <a:t>+</a:t>
            </a:r>
            <a:r>
              <a:rPr lang="zh-CN" altLang="en-US" sz="2800" b="1" dirty="0">
                <a:solidFill>
                  <a:schemeClr val="folHlink"/>
                </a:solidFill>
                <a:ea typeface="华文中宋" panose="02010600040101010101" pitchFamily="2" charset="-122"/>
              </a:rPr>
              <a:t>时效析出的针状</a:t>
            </a:r>
            <a:r>
              <a:rPr lang="zh-CN" altLang="en-US" sz="2800" b="1" dirty="0">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a:t>
            </a:r>
            <a:endParaRPr lang="zh-CN" altLang="en-US" sz="2800" dirty="0">
              <a:ea typeface="华文中宋" panose="02010600040101010101" pitchFamily="2" charset="-122"/>
            </a:endParaRPr>
          </a:p>
        </p:txBody>
      </p:sp>
      <p:grpSp>
        <p:nvGrpSpPr>
          <p:cNvPr id="2" name="Group 3"/>
          <p:cNvGrpSpPr/>
          <p:nvPr/>
        </p:nvGrpSpPr>
        <p:grpSpPr>
          <a:xfrm>
            <a:off x="1054100" y="381000"/>
            <a:ext cx="7408863" cy="6172200"/>
            <a:chOff x="664" y="240"/>
            <a:chExt cx="4667" cy="3888"/>
          </a:xfrm>
        </p:grpSpPr>
        <p:grpSp>
          <p:nvGrpSpPr>
            <p:cNvPr id="93188" name="Group 4"/>
            <p:cNvGrpSpPr/>
            <p:nvPr/>
          </p:nvGrpSpPr>
          <p:grpSpPr>
            <a:xfrm>
              <a:off x="664" y="1963"/>
              <a:ext cx="4540" cy="2165"/>
              <a:chOff x="768" y="1872"/>
              <a:chExt cx="4540" cy="2165"/>
            </a:xfrm>
          </p:grpSpPr>
          <p:pic>
            <p:nvPicPr>
              <p:cNvPr id="93190" name="Picture 5" descr="钛合金（α+β钛合金组织）"/>
              <p:cNvPicPr>
                <a:picLocks noChangeAspect="1"/>
              </p:cNvPicPr>
              <p:nvPr/>
            </p:nvPicPr>
            <p:blipFill>
              <a:blip r:embed="rId2"/>
              <a:stretch>
                <a:fillRect/>
              </a:stretch>
            </p:blipFill>
            <p:spPr>
              <a:xfrm>
                <a:off x="768" y="1872"/>
                <a:ext cx="1786" cy="2153"/>
              </a:xfrm>
              <a:prstGeom prst="rect">
                <a:avLst/>
              </a:prstGeom>
              <a:noFill/>
              <a:ln w="38100" cap="flat" cmpd="sng">
                <a:solidFill>
                  <a:srgbClr val="FF9900"/>
                </a:solidFill>
                <a:prstDash val="solid"/>
                <a:miter/>
                <a:headEnd type="none" w="med" len="med"/>
                <a:tailEnd type="none" w="med" len="med"/>
              </a:ln>
            </p:spPr>
          </p:pic>
          <p:pic>
            <p:nvPicPr>
              <p:cNvPr id="93191" name="Picture 6" descr="钛合金（TC11组织）"/>
              <p:cNvPicPr>
                <a:picLocks noChangeAspect="1"/>
              </p:cNvPicPr>
              <p:nvPr/>
            </p:nvPicPr>
            <p:blipFill>
              <a:blip r:embed="rId3"/>
              <a:stretch>
                <a:fillRect/>
              </a:stretch>
            </p:blipFill>
            <p:spPr>
              <a:xfrm>
                <a:off x="2880" y="1872"/>
                <a:ext cx="2428" cy="2165"/>
              </a:xfrm>
              <a:prstGeom prst="rect">
                <a:avLst/>
              </a:prstGeom>
              <a:noFill/>
              <a:ln w="38100" cap="flat" cmpd="sng">
                <a:solidFill>
                  <a:srgbClr val="FF9900"/>
                </a:solidFill>
                <a:prstDash val="solid"/>
                <a:miter/>
                <a:headEnd type="none" w="med" len="med"/>
                <a:tailEnd type="none" w="med" len="med"/>
              </a:ln>
            </p:spPr>
          </p:pic>
          <p:sp>
            <p:nvSpPr>
              <p:cNvPr id="93192" name="Text Box 7"/>
              <p:cNvSpPr txBox="1"/>
              <p:nvPr/>
            </p:nvSpPr>
            <p:spPr>
              <a:xfrm>
                <a:off x="1056" y="3766"/>
                <a:ext cx="1488" cy="250"/>
              </a:xfrm>
              <a:prstGeom prst="rect">
                <a:avLst/>
              </a:prstGeom>
              <a:solidFill>
                <a:schemeClr val="tx1"/>
              </a:solidFill>
              <a:ln w="9525">
                <a:noFill/>
              </a:ln>
            </p:spPr>
            <p:txBody>
              <a:bodyPr>
                <a:spAutoFit/>
              </a:bodyPr>
              <a:lstStyle/>
              <a:p>
                <a:r>
                  <a:rPr lang="en-US" altLang="zh-CN" sz="2000" err="1">
                    <a:solidFill>
                      <a:schemeClr val="bg2"/>
                    </a:solidFill>
                    <a:latin typeface="Times New Roman" panose="02020603050405020304" pitchFamily="18" charset="0"/>
                  </a:rPr>
                  <a:t>α+β</a:t>
                </a:r>
                <a:r>
                  <a:rPr lang="zh-CN" altLang="en-US" sz="2000" dirty="0">
                    <a:solidFill>
                      <a:schemeClr val="bg2"/>
                    </a:solidFill>
                    <a:latin typeface="Times New Roman" panose="02020603050405020304" pitchFamily="18" charset="0"/>
                  </a:rPr>
                  <a:t>钛合金组织</a:t>
                </a:r>
              </a:p>
            </p:txBody>
          </p:sp>
          <p:sp>
            <p:nvSpPr>
              <p:cNvPr id="93193" name="Text Box 8"/>
              <p:cNvSpPr txBox="1"/>
              <p:nvPr/>
            </p:nvSpPr>
            <p:spPr>
              <a:xfrm>
                <a:off x="3382" y="3783"/>
                <a:ext cx="1920" cy="250"/>
              </a:xfrm>
              <a:prstGeom prst="rect">
                <a:avLst/>
              </a:prstGeom>
              <a:solidFill>
                <a:schemeClr val="tx1"/>
              </a:solidFill>
              <a:ln w="9525">
                <a:noFill/>
              </a:ln>
            </p:spPr>
            <p:txBody>
              <a:bodyPr>
                <a:spAutoFit/>
              </a:bodyPr>
              <a:lstStyle/>
              <a:p>
                <a:r>
                  <a:rPr lang="en-US" altLang="zh-CN" sz="2000" err="1">
                    <a:solidFill>
                      <a:schemeClr val="bg2"/>
                    </a:solidFill>
                    <a:latin typeface="Times New Roman" panose="02020603050405020304" pitchFamily="18" charset="0"/>
                  </a:rPr>
                  <a:t>α+β</a:t>
                </a:r>
                <a:r>
                  <a:rPr lang="zh-CN" altLang="en-US" sz="2000" dirty="0">
                    <a:solidFill>
                      <a:schemeClr val="bg2"/>
                    </a:solidFill>
                    <a:latin typeface="Times New Roman" panose="02020603050405020304" pitchFamily="18" charset="0"/>
                  </a:rPr>
                  <a:t>钛合金组织（电镜）</a:t>
                </a:r>
              </a:p>
            </p:txBody>
          </p:sp>
        </p:grpSp>
        <p:pic>
          <p:nvPicPr>
            <p:cNvPr id="93189" name="Picture 9" descr="α+βTi合金组织"/>
            <p:cNvPicPr>
              <a:picLocks noChangeAspect="1"/>
            </p:cNvPicPr>
            <p:nvPr/>
          </p:nvPicPr>
          <p:blipFill>
            <a:blip r:embed="rId4"/>
            <a:stretch>
              <a:fillRect/>
            </a:stretch>
          </p:blipFill>
          <p:spPr>
            <a:xfrm>
              <a:off x="3744" y="240"/>
              <a:ext cx="1587" cy="1587"/>
            </a:xfrm>
            <a:prstGeom prst="rect">
              <a:avLst/>
            </a:prstGeom>
            <a:noFill/>
            <a:ln w="38100" cap="flat" cmpd="sng">
              <a:solidFill>
                <a:srgbClr val="FF00FF"/>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0050">
                                            <p:txEl>
                                              <p:pRg st="0" end="0"/>
                                            </p:txEl>
                                          </p:spTgt>
                                        </p:tgtEl>
                                        <p:attrNameLst>
                                          <p:attrName>style.visibility</p:attrName>
                                        </p:attrNameLst>
                                      </p:cBhvr>
                                      <p:to>
                                        <p:strVal val="visible"/>
                                      </p:to>
                                    </p:set>
                                    <p:animEffect transition="in" filter="wipe(left)">
                                      <p:cBhvr>
                                        <p:cTn id="7" dur="500"/>
                                        <p:tgtEl>
                                          <p:spTgt spid="130050">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build="p" advAuto="100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p:cNvSpPr>
          <p:nvPr>
            <p:ph idx="1"/>
          </p:nvPr>
        </p:nvSpPr>
        <p:spPr>
          <a:xfrm>
            <a:off x="304800" y="152400"/>
            <a:ext cx="3581400" cy="4419600"/>
          </a:xfrm>
          <a:ln/>
        </p:spPr>
        <p:txBody>
          <a:bodyPr vert="horz" wrap="square" lIns="91440" tIns="45720" rIns="91440" bIns="45720" anchor="t" anchorCtr="0"/>
          <a:lstStyle/>
          <a:p>
            <a:pPr eaLnBrk="1" hangingPunct="1">
              <a:lnSpc>
                <a:spcPct val="140000"/>
              </a:lnSpc>
            </a:pPr>
            <a:r>
              <a:rPr lang="en-US" altLang="zh-CN" sz="2800" b="1">
                <a:solidFill>
                  <a:schemeClr val="folHlink"/>
                </a:solidFill>
                <a:ea typeface="华文中宋" panose="02010600040101010101" pitchFamily="2" charset="-122"/>
                <a:sym typeface="Symbol" panose="05050102010706020507" pitchFamily="18" charset="2"/>
              </a:rPr>
              <a:t></a:t>
            </a:r>
            <a:r>
              <a:rPr lang="en-US" altLang="zh-CN" sz="2800" b="1">
                <a:solidFill>
                  <a:schemeClr val="folHlink"/>
                </a:solidFill>
                <a:ea typeface="华文中宋" panose="02010600040101010101" pitchFamily="2" charset="-122"/>
              </a:rPr>
              <a:t>+</a:t>
            </a:r>
            <a:r>
              <a:rPr lang="en-US" altLang="zh-CN" sz="2800" b="1">
                <a:solidFill>
                  <a:schemeClr val="folHlink"/>
                </a:solidFill>
                <a:ea typeface="华文中宋" panose="02010600040101010101" pitchFamily="2" charset="-122"/>
                <a:sym typeface="Symbol" panose="05050102010706020507" pitchFamily="18" charset="2"/>
              </a:rPr>
              <a:t></a:t>
            </a:r>
            <a:r>
              <a:rPr lang="zh-CN" altLang="en-US" sz="2800" b="1" dirty="0">
                <a:solidFill>
                  <a:schemeClr val="folHlink"/>
                </a:solidFill>
                <a:ea typeface="华文中宋" panose="02010600040101010101" pitchFamily="2" charset="-122"/>
              </a:rPr>
              <a:t>型钛合金</a:t>
            </a:r>
            <a:r>
              <a:rPr lang="zh-CN" altLang="en-US" sz="2800" b="1" dirty="0">
                <a:ea typeface="华文中宋" panose="02010600040101010101" pitchFamily="2" charset="-122"/>
              </a:rPr>
              <a:t>主要用于制造</a:t>
            </a:r>
            <a:r>
              <a:rPr lang="en-US" altLang="zh-CN" sz="2800" b="1">
                <a:ea typeface="华文中宋" panose="02010600040101010101" pitchFamily="2" charset="-122"/>
              </a:rPr>
              <a:t>400℃</a:t>
            </a:r>
            <a:r>
              <a:rPr lang="zh-CN" altLang="en-US" sz="2800" b="1" dirty="0">
                <a:ea typeface="华文中宋" panose="02010600040101010101" pitchFamily="2" charset="-122"/>
              </a:rPr>
              <a:t>以下工作的飞机压气机叶片、火箭发动机外壳、火箭和导弹的液氢燃料箱部件及舰船耐压壳体等</a:t>
            </a:r>
            <a:r>
              <a:rPr lang="en-US" altLang="zh-CN" sz="2800" b="1">
                <a:ea typeface="华文中宋" panose="02010600040101010101" pitchFamily="2" charset="-122"/>
              </a:rPr>
              <a:t>.</a:t>
            </a:r>
            <a:r>
              <a:rPr lang="en-US" altLang="zh-CN" sz="2800">
                <a:ea typeface="华文中宋" panose="02010600040101010101" pitchFamily="2" charset="-122"/>
              </a:rPr>
              <a:t> </a:t>
            </a:r>
          </a:p>
        </p:txBody>
      </p:sp>
      <p:grpSp>
        <p:nvGrpSpPr>
          <p:cNvPr id="2" name="Group 3"/>
          <p:cNvGrpSpPr/>
          <p:nvPr/>
        </p:nvGrpSpPr>
        <p:grpSpPr>
          <a:xfrm>
            <a:off x="914400" y="381000"/>
            <a:ext cx="7670800" cy="6197600"/>
            <a:chOff x="576" y="240"/>
            <a:chExt cx="4832" cy="3904"/>
          </a:xfrm>
        </p:grpSpPr>
        <p:grpSp>
          <p:nvGrpSpPr>
            <p:cNvPr id="94212" name="Group 4"/>
            <p:cNvGrpSpPr/>
            <p:nvPr/>
          </p:nvGrpSpPr>
          <p:grpSpPr>
            <a:xfrm>
              <a:off x="576" y="240"/>
              <a:ext cx="4832" cy="3904"/>
              <a:chOff x="576" y="240"/>
              <a:chExt cx="4832" cy="3904"/>
            </a:xfrm>
          </p:grpSpPr>
          <p:pic>
            <p:nvPicPr>
              <p:cNvPr id="94214" name="Picture 5" descr="飞机发动机"/>
              <p:cNvPicPr>
                <a:picLocks noChangeAspect="1"/>
              </p:cNvPicPr>
              <p:nvPr/>
            </p:nvPicPr>
            <p:blipFill>
              <a:blip r:embed="rId2"/>
              <a:stretch>
                <a:fillRect/>
              </a:stretch>
            </p:blipFill>
            <p:spPr>
              <a:xfrm>
                <a:off x="2688" y="240"/>
                <a:ext cx="2720" cy="2448"/>
              </a:xfrm>
              <a:prstGeom prst="rect">
                <a:avLst/>
              </a:prstGeom>
              <a:noFill/>
              <a:ln w="38100" cap="flat" cmpd="sng">
                <a:solidFill>
                  <a:srgbClr val="CC99FF"/>
                </a:solidFill>
                <a:prstDash val="solid"/>
                <a:miter/>
                <a:headEnd type="none" w="med" len="med"/>
                <a:tailEnd type="none" w="med" len="med"/>
              </a:ln>
            </p:spPr>
          </p:pic>
          <p:pic>
            <p:nvPicPr>
              <p:cNvPr id="94215" name="Picture 6" descr="飞机发动机2"/>
              <p:cNvPicPr>
                <a:picLocks noChangeAspect="1"/>
              </p:cNvPicPr>
              <p:nvPr/>
            </p:nvPicPr>
            <p:blipFill>
              <a:blip r:embed="rId3"/>
              <a:stretch>
                <a:fillRect/>
              </a:stretch>
            </p:blipFill>
            <p:spPr>
              <a:xfrm>
                <a:off x="576" y="2928"/>
                <a:ext cx="1578" cy="1216"/>
              </a:xfrm>
              <a:prstGeom prst="rect">
                <a:avLst/>
              </a:prstGeom>
              <a:noFill/>
              <a:ln w="38100" cap="flat" cmpd="sng">
                <a:solidFill>
                  <a:srgbClr val="FFCC00"/>
                </a:solidFill>
                <a:prstDash val="solid"/>
                <a:miter/>
                <a:headEnd type="none" w="med" len="med"/>
                <a:tailEnd type="none" w="med" len="med"/>
              </a:ln>
            </p:spPr>
          </p:pic>
          <p:sp>
            <p:nvSpPr>
              <p:cNvPr id="94216" name="Line 7"/>
              <p:cNvSpPr/>
              <p:nvPr/>
            </p:nvSpPr>
            <p:spPr>
              <a:xfrm flipH="1">
                <a:off x="1056" y="2688"/>
                <a:ext cx="1632" cy="336"/>
              </a:xfrm>
              <a:prstGeom prst="line">
                <a:avLst/>
              </a:prstGeom>
              <a:ln w="57150" cap="flat" cmpd="sng">
                <a:solidFill>
                  <a:schemeClr val="hlink"/>
                </a:solidFill>
                <a:prstDash val="solid"/>
                <a:headEnd type="triangle" w="med" len="med"/>
                <a:tailEnd type="triangle" w="med" len="med"/>
              </a:ln>
            </p:spPr>
          </p:sp>
          <p:pic>
            <p:nvPicPr>
              <p:cNvPr id="94217" name="Picture 8" descr="生物医用材料"/>
              <p:cNvPicPr>
                <a:picLocks noChangeAspect="1"/>
              </p:cNvPicPr>
              <p:nvPr/>
            </p:nvPicPr>
            <p:blipFill>
              <a:blip r:embed="rId4"/>
              <a:stretch>
                <a:fillRect/>
              </a:stretch>
            </p:blipFill>
            <p:spPr>
              <a:xfrm>
                <a:off x="3120" y="2784"/>
                <a:ext cx="2029" cy="1359"/>
              </a:xfrm>
              <a:prstGeom prst="rect">
                <a:avLst/>
              </a:prstGeom>
              <a:noFill/>
              <a:ln w="38100" cap="flat" cmpd="sng">
                <a:solidFill>
                  <a:srgbClr val="FF9900"/>
                </a:solidFill>
                <a:prstDash val="solid"/>
                <a:miter/>
                <a:headEnd type="none" w="med" len="med"/>
                <a:tailEnd type="none" w="med" len="med"/>
              </a:ln>
            </p:spPr>
          </p:pic>
          <p:sp>
            <p:nvSpPr>
              <p:cNvPr id="94218" name="Text Box 9"/>
              <p:cNvSpPr txBox="1"/>
              <p:nvPr/>
            </p:nvSpPr>
            <p:spPr>
              <a:xfrm>
                <a:off x="3072" y="2784"/>
                <a:ext cx="720" cy="442"/>
              </a:xfrm>
              <a:prstGeom prst="rect">
                <a:avLst/>
              </a:prstGeom>
              <a:noFill/>
              <a:ln w="9525">
                <a:noFill/>
              </a:ln>
            </p:spPr>
            <p:txBody>
              <a:bodyPr>
                <a:spAutoFit/>
              </a:bodyPr>
              <a:lstStyle/>
              <a:p>
                <a:r>
                  <a:rPr lang="zh-CN" altLang="en-US" sz="2000" dirty="0">
                    <a:solidFill>
                      <a:srgbClr val="800000"/>
                    </a:solidFill>
                    <a:latin typeface="Times New Roman" panose="02020603050405020304" pitchFamily="18" charset="0"/>
                  </a:rPr>
                  <a:t>生物医用材料</a:t>
                </a:r>
              </a:p>
            </p:txBody>
          </p:sp>
        </p:grpSp>
        <p:sp>
          <p:nvSpPr>
            <p:cNvPr id="94213" name="Text Box 10"/>
            <p:cNvSpPr txBox="1"/>
            <p:nvPr/>
          </p:nvSpPr>
          <p:spPr>
            <a:xfrm>
              <a:off x="2678" y="1224"/>
              <a:ext cx="346" cy="1440"/>
            </a:xfrm>
            <a:prstGeom prst="rect">
              <a:avLst/>
            </a:prstGeom>
            <a:noFill/>
            <a:ln w="9525">
              <a:noFill/>
            </a:ln>
          </p:spPr>
          <p:txBody>
            <a:bodyPr vert="eaVert">
              <a:spAutoFit/>
            </a:bodyPr>
            <a:lstStyle/>
            <a:p>
              <a:r>
                <a:rPr lang="zh-CN" altLang="en-US" dirty="0">
                  <a:latin typeface="Times New Roman" panose="02020603050405020304" pitchFamily="18" charset="0"/>
                </a:rPr>
                <a:t>飞机压气机叶片</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1074">
                                            <p:txEl>
                                              <p:pRg st="0" end="0"/>
                                            </p:txEl>
                                          </p:spTgt>
                                        </p:tgtEl>
                                        <p:attrNameLst>
                                          <p:attrName>style.visibility</p:attrName>
                                        </p:attrNameLst>
                                      </p:cBhvr>
                                      <p:to>
                                        <p:strVal val="visible"/>
                                      </p:to>
                                    </p:set>
                                    <p:animEffect transition="in" filter="wipe(left)">
                                      <p:cBhvr>
                                        <p:cTn id="7" dur="500"/>
                                        <p:tgtEl>
                                          <p:spTgt spid="13107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advAuto="100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685800" y="609600"/>
            <a:ext cx="7772400" cy="8382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4400" b="1" i="0" u="none" strike="noStrike" kern="0" cap="none" spc="0" normalizeH="0" baseline="0" noProof="0">
                <a:ln>
                  <a:noFill/>
                </a:ln>
                <a:solidFill>
                  <a:schemeClr val="tx2"/>
                </a:solidFill>
                <a:effectLst>
                  <a:outerShdw blurRad="38100" dist="38100" dir="2700000" algn="tl">
                    <a:srgbClr val="000000"/>
                  </a:outerShdw>
                </a:effectLst>
                <a:uLnTx/>
                <a:uFillTx/>
                <a:latin typeface="华文中宋" panose="02010600040101010101" pitchFamily="2" charset="-122"/>
                <a:ea typeface="华文中宋" panose="02010600040101010101" pitchFamily="2" charset="-122"/>
                <a:cs typeface="+mj-cs"/>
              </a:rPr>
              <a:t>第四节  轴承合金</a:t>
            </a:r>
            <a:r>
              <a:rPr kumimoji="1" lang="zh-CN" altLang="en-US" sz="4400" b="0" i="0" u="none" strike="noStrike" kern="0" cap="none" spc="0" normalizeH="0" baseline="0" noProof="0">
                <a:ln>
                  <a:noFill/>
                </a:ln>
                <a:solidFill>
                  <a:schemeClr val="tx2"/>
                </a:solidFill>
                <a:effectLst>
                  <a:outerShdw blurRad="38100" dist="38100" dir="2700000" algn="tl">
                    <a:srgbClr val="000000"/>
                  </a:outerShdw>
                </a:effectLst>
                <a:uLnTx/>
                <a:uFillTx/>
                <a:latin typeface="+mj-lt"/>
                <a:ea typeface="+mj-ea"/>
                <a:cs typeface="+mj-cs"/>
              </a:rPr>
              <a:t> </a:t>
            </a:r>
          </a:p>
        </p:txBody>
      </p:sp>
      <p:sp>
        <p:nvSpPr>
          <p:cNvPr id="132099" name="Rectangle 3"/>
          <p:cNvSpPr>
            <a:spLocks noGrp="1"/>
          </p:cNvSpPr>
          <p:nvPr>
            <p:ph idx="1"/>
          </p:nvPr>
        </p:nvSpPr>
        <p:spPr>
          <a:xfrm>
            <a:off x="381000" y="2006600"/>
            <a:ext cx="8534400" cy="2870200"/>
          </a:xfrm>
          <a:ln/>
        </p:spPr>
        <p:txBody>
          <a:bodyPr vert="horz" wrap="square" lIns="91440" tIns="45720" rIns="91440" bIns="45720" anchor="t" anchorCtr="0"/>
          <a:lstStyle/>
          <a:p>
            <a:pPr eaLnBrk="1" hangingPunct="1">
              <a:lnSpc>
                <a:spcPct val="140000"/>
              </a:lnSpc>
            </a:pPr>
            <a:r>
              <a:rPr lang="zh-CN" altLang="en-US" sz="2800" b="1" dirty="0">
                <a:solidFill>
                  <a:schemeClr val="folHlink"/>
                </a:solidFill>
                <a:ea typeface="华文中宋" panose="02010600040101010101" pitchFamily="2" charset="-122"/>
              </a:rPr>
              <a:t>制造滑动轴承的轴瓦及其内衬的耐磨合金称为轴承合金。</a:t>
            </a:r>
            <a:r>
              <a:rPr lang="zh-CN" altLang="en-US" sz="2800" b="1" dirty="0">
                <a:ea typeface="华文中宋" panose="02010600040101010101" pitchFamily="2" charset="-122"/>
              </a:rPr>
              <a:t>滑动轴承是许多机器设备中对旋转轴起支撑</a:t>
            </a:r>
          </a:p>
        </p:txBody>
      </p:sp>
      <p:pic>
        <p:nvPicPr>
          <p:cNvPr id="132100" name="Picture 4" descr="YOUSE"/>
          <p:cNvPicPr>
            <a:picLocks noChangeAspect="1"/>
          </p:cNvPicPr>
          <p:nvPr/>
        </p:nvPicPr>
        <p:blipFill>
          <a:blip r:embed="rId2"/>
          <a:stretch>
            <a:fillRect/>
          </a:stretch>
        </p:blipFill>
        <p:spPr>
          <a:xfrm>
            <a:off x="5334000" y="3429000"/>
            <a:ext cx="3297238" cy="2698750"/>
          </a:xfrm>
          <a:prstGeom prst="rect">
            <a:avLst/>
          </a:prstGeom>
          <a:noFill/>
          <a:ln w="38100" cap="flat" cmpd="sng">
            <a:solidFill>
              <a:schemeClr val="accent1"/>
            </a:solidFill>
            <a:prstDash val="solid"/>
            <a:miter/>
            <a:headEnd type="none" w="med" len="med"/>
            <a:tailEnd type="none" w="med" len="med"/>
          </a:ln>
        </p:spPr>
      </p:pic>
      <p:sp>
        <p:nvSpPr>
          <p:cNvPr id="132101" name="Rectangle 5"/>
          <p:cNvSpPr/>
          <p:nvPr/>
        </p:nvSpPr>
        <p:spPr>
          <a:xfrm>
            <a:off x="381000" y="3200400"/>
            <a:ext cx="4953000" cy="32766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pPr>
            <a:r>
              <a:rPr lang="en-US" altLang="zh-CN" sz="2800">
                <a:latin typeface="Times New Roman" panose="02020603050405020304" pitchFamily="18" charset="0"/>
                <a:ea typeface="华文中宋" panose="02010600040101010101" pitchFamily="2" charset="-122"/>
              </a:rPr>
              <a:t>    </a:t>
            </a:r>
            <a:r>
              <a:rPr lang="zh-CN" altLang="en-US" sz="2800" dirty="0">
                <a:latin typeface="Times New Roman" panose="02020603050405020304" pitchFamily="18" charset="0"/>
                <a:ea typeface="华文中宋" panose="02010600040101010101" pitchFamily="2" charset="-122"/>
              </a:rPr>
              <a:t>作用的重要部件，由轴承体和轴瓦两部分组成。</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与滚动轴承相比滑动轴承具有承载面积大，工作平稳，无噪音及拆装方便等优点。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wipe(left)">
                                      <p:cBhvr>
                                        <p:cTn id="7" dur="500"/>
                                        <p:tgtEl>
                                          <p:spTgt spid="13209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2099">
                                            <p:txEl>
                                              <p:pRg st="0" end="0"/>
                                            </p:txEl>
                                          </p:spTgt>
                                        </p:tgtEl>
                                        <p:attrNameLst>
                                          <p:attrName>style.visibility</p:attrName>
                                        </p:attrNameLst>
                                      </p:cBhvr>
                                      <p:to>
                                        <p:strVal val="visible"/>
                                      </p:to>
                                    </p:set>
                                    <p:animEffect transition="in" filter="wipe(left)">
                                      <p:cBhvr>
                                        <p:cTn id="11" dur="500"/>
                                        <p:tgtEl>
                                          <p:spTgt spid="132099">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2101"/>
                                        </p:tgtEl>
                                        <p:attrNameLst>
                                          <p:attrName>style.visibility</p:attrName>
                                        </p:attrNameLst>
                                      </p:cBhvr>
                                      <p:to>
                                        <p:strVal val="visible"/>
                                      </p:to>
                                    </p:set>
                                    <p:animEffect transition="in" filter="wipe(left)">
                                      <p:cBhvr>
                                        <p:cTn id="15" dur="500"/>
                                        <p:tgtEl>
                                          <p:spTgt spid="132101"/>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132100"/>
                                        </p:tgtEl>
                                        <p:attrNameLst>
                                          <p:attrName>style.visibility</p:attrName>
                                        </p:attrNameLst>
                                      </p:cBhvr>
                                      <p:to>
                                        <p:strVal val="visible"/>
                                      </p:to>
                                    </p:set>
                                    <p:anim calcmode="lin" valueType="num">
                                      <p:cBhvr>
                                        <p:cTn id="19" dur="500" fill="hold"/>
                                        <p:tgtEl>
                                          <p:spTgt spid="132100"/>
                                        </p:tgtEl>
                                        <p:attrNameLst>
                                          <p:attrName>ppt_w</p:attrName>
                                        </p:attrNameLst>
                                      </p:cBhvr>
                                      <p:tavLst>
                                        <p:tav tm="0">
                                          <p:val>
                                            <p:fltVal val="0"/>
                                          </p:val>
                                        </p:tav>
                                        <p:tav tm="100000">
                                          <p:val>
                                            <p:strVal val="#ppt_w"/>
                                          </p:val>
                                        </p:tav>
                                      </p:tavLst>
                                    </p:anim>
                                    <p:anim calcmode="lin" valueType="num">
                                      <p:cBhvr>
                                        <p:cTn id="20" dur="500" fill="hold"/>
                                        <p:tgtEl>
                                          <p:spTgt spid="1321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p:bldP spid="132099" grpId="0" build="p" advAuto="1000"/>
      <p:bldP spid="13210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p:cNvSpPr>
          <p:nvPr>
            <p:ph idx="1"/>
          </p:nvPr>
        </p:nvSpPr>
        <p:spPr>
          <a:xfrm>
            <a:off x="228600" y="381000"/>
            <a:ext cx="8686800" cy="6172200"/>
          </a:xfrm>
          <a:ln/>
        </p:spPr>
        <p:txBody>
          <a:bodyPr vert="horz" wrap="square" lIns="91440" tIns="45720" rIns="91440" bIns="45720" anchor="t" anchorCtr="0"/>
          <a:lstStyle/>
          <a:p>
            <a:pPr algn="just" eaLnBrk="1" hangingPunct="1"/>
            <a:r>
              <a:rPr lang="zh-CN" altLang="en-US" b="1" dirty="0">
                <a:solidFill>
                  <a:schemeClr val="tx2"/>
                </a:solidFill>
                <a:ea typeface="华文中宋" panose="02010600040101010101" pitchFamily="2" charset="-122"/>
              </a:rPr>
              <a:t>一、组织性能要求</a:t>
            </a:r>
          </a:p>
          <a:p>
            <a:pPr algn="just" eaLnBrk="1" hangingPunct="1">
              <a:lnSpc>
                <a:spcPct val="140000"/>
              </a:lnSpc>
            </a:pPr>
            <a:r>
              <a:rPr lang="zh-CN" altLang="en-US" sz="2800" b="1" dirty="0">
                <a:ea typeface="华文中宋" panose="02010600040101010101" pitchFamily="2" charset="-122"/>
              </a:rPr>
              <a:t>当轴高速旋转时，轴瓦与轴颈发生强烈摩擦，承受轴颈施加的交变载荷和冲击力。</a:t>
            </a:r>
          </a:p>
          <a:p>
            <a:pPr algn="just" eaLnBrk="1" hangingPunct="1">
              <a:lnSpc>
                <a:spcPct val="140000"/>
              </a:lnSpc>
            </a:pPr>
            <a:r>
              <a:rPr lang="zh-CN" altLang="en-US" sz="2800" b="1" dirty="0">
                <a:solidFill>
                  <a:srgbClr val="CCFF33"/>
                </a:solidFill>
                <a:ea typeface="华文中宋" panose="02010600040101010101" pitchFamily="2" charset="-122"/>
              </a:rPr>
              <a:t>对轴承合金的性能要求：</a:t>
            </a:r>
            <a:r>
              <a:rPr lang="zh-CN" altLang="en-US" sz="2800" b="1" dirty="0">
                <a:ea typeface="华文中宋" panose="02010600040101010101" pitchFamily="2" charset="-122"/>
              </a:rPr>
              <a:t> </a:t>
            </a:r>
          </a:p>
          <a:p>
            <a:pPr algn="just" eaLnBrk="1" hangingPunct="1">
              <a:lnSpc>
                <a:spcPct val="140000"/>
              </a:lnSpc>
            </a:pPr>
            <a:r>
              <a:rPr lang="zh-CN" altLang="en-US" sz="2800" b="1" dirty="0">
                <a:solidFill>
                  <a:schemeClr val="folHlink"/>
                </a:solidFill>
                <a:ea typeface="华文中宋" panose="02010600040101010101" pitchFamily="2" charset="-122"/>
              </a:rPr>
              <a:t>⑴ 足够的强韧性</a:t>
            </a:r>
            <a:r>
              <a:rPr lang="zh-CN" altLang="en-US" sz="2800" b="1" dirty="0">
                <a:solidFill>
                  <a:srgbClr val="CCFFFF"/>
                </a:solidFill>
                <a:ea typeface="华文中宋" panose="02010600040101010101" pitchFamily="2" charset="-122"/>
              </a:rPr>
              <a:t>，以承受轴颈施加的交变冲击载荷</a:t>
            </a:r>
            <a:r>
              <a:rPr lang="en-US" altLang="zh-CN" sz="2800" b="1">
                <a:ea typeface="华文中宋" panose="02010600040101010101" pitchFamily="2" charset="-122"/>
              </a:rPr>
              <a:t>.</a:t>
            </a:r>
          </a:p>
          <a:p>
            <a:pPr algn="just" eaLnBrk="1" hangingPunct="1">
              <a:lnSpc>
                <a:spcPct val="140000"/>
              </a:lnSpc>
            </a:pPr>
            <a:r>
              <a:rPr lang="en-US" altLang="zh-CN" sz="2800" b="1">
                <a:solidFill>
                  <a:schemeClr val="folHlink"/>
                </a:solidFill>
                <a:ea typeface="华文中宋" panose="02010600040101010101" pitchFamily="2" charset="-122"/>
              </a:rPr>
              <a:t>⑵ </a:t>
            </a:r>
            <a:r>
              <a:rPr lang="zh-CN" altLang="en-US" sz="2800" b="1" dirty="0">
                <a:solidFill>
                  <a:schemeClr val="folHlink"/>
                </a:solidFill>
                <a:ea typeface="华文中宋" panose="02010600040101010101" pitchFamily="2" charset="-122"/>
              </a:rPr>
              <a:t>较小的热膨胀系数</a:t>
            </a:r>
            <a:r>
              <a:rPr lang="zh-CN" altLang="en-US" sz="2800" b="1" dirty="0">
                <a:ea typeface="华文中宋" panose="02010600040101010101" pitchFamily="2" charset="-122"/>
              </a:rPr>
              <a:t>，</a:t>
            </a:r>
            <a:r>
              <a:rPr lang="zh-CN" altLang="en-US" sz="2800" b="1" dirty="0">
                <a:solidFill>
                  <a:schemeClr val="folHlink"/>
                </a:solidFill>
                <a:ea typeface="华文中宋" panose="02010600040101010101" pitchFamily="2" charset="-122"/>
              </a:rPr>
              <a:t>良好的导热性和耐蚀性</a:t>
            </a:r>
            <a:r>
              <a:rPr lang="zh-CN" altLang="en-US" sz="2800" b="1" dirty="0">
                <a:solidFill>
                  <a:srgbClr val="CCFFFF"/>
                </a:solidFill>
                <a:ea typeface="华文中宋" panose="02010600040101010101" pitchFamily="2" charset="-122"/>
              </a:rPr>
              <a:t>，以防止轴与轴瓦之间咬合。</a:t>
            </a:r>
          </a:p>
          <a:p>
            <a:pPr algn="just" eaLnBrk="1" hangingPunct="1">
              <a:lnSpc>
                <a:spcPct val="140000"/>
              </a:lnSpc>
            </a:pPr>
            <a:r>
              <a:rPr lang="zh-CN" altLang="en-US" sz="2800" b="1" dirty="0">
                <a:solidFill>
                  <a:schemeClr val="folHlink"/>
                </a:solidFill>
                <a:ea typeface="华文中宋" panose="02010600040101010101" pitchFamily="2" charset="-122"/>
              </a:rPr>
              <a:t>⑶ 较小的摩擦系数，良好的耐磨性和磨合性</a:t>
            </a:r>
            <a:r>
              <a:rPr lang="zh-CN" altLang="en-US" sz="2800" b="1" dirty="0">
                <a:solidFill>
                  <a:srgbClr val="CCFFFF"/>
                </a:solidFill>
                <a:ea typeface="华文中宋" panose="02010600040101010101" pitchFamily="2" charset="-122"/>
              </a:rPr>
              <a:t>，以减少轴颈磨损，保证轴与轴瓦良好的跑合。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3122">
                                            <p:txEl>
                                              <p:pRg st="0" end="0"/>
                                            </p:txEl>
                                          </p:spTgt>
                                        </p:tgtEl>
                                        <p:attrNameLst>
                                          <p:attrName>style.visibility</p:attrName>
                                        </p:attrNameLst>
                                      </p:cBhvr>
                                      <p:to>
                                        <p:strVal val="visible"/>
                                      </p:to>
                                    </p:set>
                                    <p:animEffect transition="in" filter="wipe(left)">
                                      <p:cBhvr>
                                        <p:cTn id="7" dur="500"/>
                                        <p:tgtEl>
                                          <p:spTgt spid="13312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22">
                                            <p:txEl>
                                              <p:pRg st="1" end="1"/>
                                            </p:txEl>
                                          </p:spTgt>
                                        </p:tgtEl>
                                        <p:attrNameLst>
                                          <p:attrName>style.visibility</p:attrName>
                                        </p:attrNameLst>
                                      </p:cBhvr>
                                      <p:to>
                                        <p:strVal val="visible"/>
                                      </p:to>
                                    </p:set>
                                    <p:animEffect transition="in" filter="wipe(left)">
                                      <p:cBhvr>
                                        <p:cTn id="11" dur="500"/>
                                        <p:tgtEl>
                                          <p:spTgt spid="13312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22">
                                            <p:txEl>
                                              <p:pRg st="2" end="2"/>
                                            </p:txEl>
                                          </p:spTgt>
                                        </p:tgtEl>
                                        <p:attrNameLst>
                                          <p:attrName>style.visibility</p:attrName>
                                        </p:attrNameLst>
                                      </p:cBhvr>
                                      <p:to>
                                        <p:strVal val="visible"/>
                                      </p:to>
                                    </p:set>
                                    <p:animEffect transition="in" filter="wipe(left)">
                                      <p:cBhvr>
                                        <p:cTn id="15" dur="500"/>
                                        <p:tgtEl>
                                          <p:spTgt spid="13312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3122">
                                            <p:txEl>
                                              <p:pRg st="3" end="3"/>
                                            </p:txEl>
                                          </p:spTgt>
                                        </p:tgtEl>
                                        <p:attrNameLst>
                                          <p:attrName>style.visibility</p:attrName>
                                        </p:attrNameLst>
                                      </p:cBhvr>
                                      <p:to>
                                        <p:strVal val="visible"/>
                                      </p:to>
                                    </p:set>
                                    <p:animEffect transition="in" filter="wipe(left)">
                                      <p:cBhvr>
                                        <p:cTn id="19" dur="500"/>
                                        <p:tgtEl>
                                          <p:spTgt spid="13312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22">
                                            <p:txEl>
                                              <p:pRg st="4" end="4"/>
                                            </p:txEl>
                                          </p:spTgt>
                                        </p:tgtEl>
                                        <p:attrNameLst>
                                          <p:attrName>style.visibility</p:attrName>
                                        </p:attrNameLst>
                                      </p:cBhvr>
                                      <p:to>
                                        <p:strVal val="visible"/>
                                      </p:to>
                                    </p:set>
                                    <p:animEffect transition="in" filter="wipe(left)">
                                      <p:cBhvr>
                                        <p:cTn id="23" dur="500"/>
                                        <p:tgtEl>
                                          <p:spTgt spid="133122">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3122">
                                            <p:txEl>
                                              <p:pRg st="5" end="5"/>
                                            </p:txEl>
                                          </p:spTgt>
                                        </p:tgtEl>
                                        <p:attrNameLst>
                                          <p:attrName>style.visibility</p:attrName>
                                        </p:attrNameLst>
                                      </p:cBhvr>
                                      <p:to>
                                        <p:strVal val="visible"/>
                                      </p:to>
                                    </p:set>
                                    <p:animEffect transition="in" filter="wipe(left)">
                                      <p:cBhvr>
                                        <p:cTn id="27" dur="500"/>
                                        <p:tgtEl>
                                          <p:spTgt spid="1331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build="p" advAuto="100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p:cNvSpPr>
          <p:nvPr>
            <p:ph idx="1"/>
          </p:nvPr>
        </p:nvSpPr>
        <p:spPr>
          <a:xfrm>
            <a:off x="228600" y="1543050"/>
            <a:ext cx="3886200" cy="4114800"/>
          </a:xfrm>
          <a:ln/>
        </p:spPr>
        <p:txBody>
          <a:bodyPr vert="horz" wrap="square" lIns="91440" tIns="45720" rIns="91440" bIns="45720" anchor="t" anchorCtr="0"/>
          <a:lstStyle/>
          <a:p>
            <a:pPr eaLnBrk="1" hangingPunct="1">
              <a:lnSpc>
                <a:spcPct val="140000"/>
              </a:lnSpc>
            </a:pPr>
            <a:r>
              <a:rPr lang="en-US" altLang="zh-CN" sz="2800" b="1">
                <a:solidFill>
                  <a:schemeClr val="tx2"/>
                </a:solidFill>
                <a:ea typeface="华文中宋" panose="02010600040101010101" pitchFamily="2" charset="-122"/>
              </a:rPr>
              <a:t>1</a:t>
            </a:r>
            <a:r>
              <a:rPr lang="zh-CN" altLang="en-US" sz="2800" b="1" dirty="0">
                <a:solidFill>
                  <a:schemeClr val="tx2"/>
                </a:solidFill>
                <a:ea typeface="华文中宋" panose="02010600040101010101" pitchFamily="2" charset="-122"/>
              </a:rPr>
              <a:t>、锡基轴承合金</a:t>
            </a:r>
            <a:r>
              <a:rPr lang="zh-CN" altLang="en-US" sz="2800" b="1" dirty="0">
                <a:ea typeface="华文中宋" panose="02010600040101010101" pitchFamily="2" charset="-122"/>
              </a:rPr>
              <a:t> </a:t>
            </a:r>
          </a:p>
          <a:p>
            <a:pPr eaLnBrk="1" hangingPunct="1">
              <a:lnSpc>
                <a:spcPct val="140000"/>
              </a:lnSpc>
            </a:pPr>
            <a:r>
              <a:rPr lang="zh-CN" altLang="en-US" sz="2800" b="1" dirty="0">
                <a:solidFill>
                  <a:srgbClr val="FFFF00"/>
                </a:solidFill>
                <a:ea typeface="华文中宋" panose="02010600040101010101" pitchFamily="2" charset="-122"/>
              </a:rPr>
              <a:t>是以锡为主并加入少量锑、铜等元素组成的合金</a:t>
            </a:r>
            <a:r>
              <a:rPr lang="zh-CN" altLang="en-US" sz="2800" b="1" dirty="0">
                <a:ea typeface="华文中宋" panose="02010600040101010101" pitchFamily="2" charset="-122"/>
              </a:rPr>
              <a:t>，熔点较低，是软基体硬质点组织类型的轴承合金。</a:t>
            </a:r>
            <a:endParaRPr lang="zh-CN" altLang="en-US" sz="2800" dirty="0">
              <a:ea typeface="华文中宋" panose="02010600040101010101" pitchFamily="2" charset="-122"/>
            </a:endParaRPr>
          </a:p>
        </p:txBody>
      </p:sp>
      <p:sp>
        <p:nvSpPr>
          <p:cNvPr id="135171" name="Rectangle 3"/>
          <p:cNvSpPr/>
          <p:nvPr/>
        </p:nvSpPr>
        <p:spPr>
          <a:xfrm>
            <a:off x="228600" y="304800"/>
            <a:ext cx="8915400" cy="3733800"/>
          </a:xfrm>
          <a:prstGeom prst="rect">
            <a:avLst/>
          </a:prstGeom>
          <a:noFill/>
          <a:ln w="9525">
            <a:noFill/>
          </a:ln>
        </p:spPr>
        <p:txBody>
          <a:bodyPr/>
          <a:lstStyle/>
          <a:p>
            <a:pPr marL="342900" indent="-342900">
              <a:spcBef>
                <a:spcPct val="20000"/>
              </a:spcBef>
              <a:buClr>
                <a:schemeClr val="accent2"/>
              </a:buClr>
              <a:buSzPct val="80000"/>
              <a:buFont typeface="Wingdings" panose="05000000000000000000" pitchFamily="2" charset="2"/>
              <a:buChar char="l"/>
            </a:pPr>
            <a:r>
              <a:rPr lang="zh-CN" altLang="en-US" sz="3200" dirty="0">
                <a:solidFill>
                  <a:schemeClr val="tx2"/>
                </a:solidFill>
                <a:latin typeface="Times New Roman" panose="02020603050405020304" pitchFamily="18" charset="0"/>
                <a:ea typeface="华文中宋" panose="02010600040101010101" pitchFamily="2" charset="-122"/>
              </a:rPr>
              <a:t>二、常用轴承合金</a:t>
            </a:r>
          </a:p>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工业上常用的是锡基</a:t>
            </a:r>
            <a:r>
              <a:rPr lang="zh-CN" altLang="en-US" sz="1800" dirty="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铅基轴承合金</a:t>
            </a:r>
            <a:r>
              <a:rPr lang="en-US" altLang="zh-CN" sz="2800">
                <a:latin typeface="Times New Roman" panose="02020603050405020304" pitchFamily="18" charset="0"/>
                <a:ea typeface="华文中宋" panose="02010600040101010101" pitchFamily="2" charset="-122"/>
              </a:rPr>
              <a:t>, </a:t>
            </a:r>
            <a:r>
              <a:rPr lang="zh-CN" altLang="en-US" sz="2800" dirty="0">
                <a:latin typeface="Times New Roman" panose="02020603050405020304" pitchFamily="18" charset="0"/>
                <a:ea typeface="华文中宋" panose="02010600040101010101" pitchFamily="2" charset="-122"/>
              </a:rPr>
              <a:t>又称</a:t>
            </a:r>
            <a:r>
              <a:rPr lang="zh-CN" altLang="en-US" sz="2800" dirty="0">
                <a:solidFill>
                  <a:srgbClr val="CCFFCC"/>
                </a:solidFill>
                <a:latin typeface="Times New Roman" panose="02020603050405020304" pitchFamily="18" charset="0"/>
                <a:ea typeface="华文中宋" panose="02010600040101010101" pitchFamily="2" charset="-122"/>
              </a:rPr>
              <a:t>巴氏合金</a:t>
            </a:r>
            <a:r>
              <a:rPr lang="zh-CN" altLang="en-US" sz="2800" dirty="0">
                <a:latin typeface="Times New Roman" panose="02020603050405020304" pitchFamily="18" charset="0"/>
                <a:ea typeface="华文中宋" panose="02010600040101010101" pitchFamily="2" charset="-122"/>
              </a:rPr>
              <a:t>。</a:t>
            </a:r>
          </a:p>
        </p:txBody>
      </p:sp>
      <p:sp>
        <p:nvSpPr>
          <p:cNvPr id="135172" name="Rectangle 4"/>
          <p:cNvSpPr/>
          <p:nvPr/>
        </p:nvSpPr>
        <p:spPr>
          <a:xfrm>
            <a:off x="228600" y="5410200"/>
            <a:ext cx="7772400" cy="1066800"/>
          </a:xfrm>
          <a:prstGeom prst="rect">
            <a:avLst/>
          </a:prstGeom>
          <a:noFill/>
          <a:ln w="9525">
            <a:noFill/>
          </a:ln>
        </p:spPr>
        <p:txBody>
          <a:bodyPr/>
          <a:lstStyle/>
          <a:p>
            <a:pPr marL="342900" indent="-342900">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典型牌号为</a:t>
            </a:r>
            <a:r>
              <a:rPr lang="en-US" altLang="zh-CN" sz="2800">
                <a:latin typeface="Times New Roman" panose="02020603050405020304" pitchFamily="18" charset="0"/>
                <a:ea typeface="华文中宋" panose="02010600040101010101" pitchFamily="2" charset="-122"/>
              </a:rPr>
              <a:t>ZSnSb11Cu6</a:t>
            </a:r>
            <a:r>
              <a:rPr lang="zh-CN" altLang="en-US" sz="2800" dirty="0">
                <a:latin typeface="Times New Roman" panose="02020603050405020304" pitchFamily="18" charset="0"/>
                <a:ea typeface="华文中宋" panose="02010600040101010101" pitchFamily="2" charset="-122"/>
              </a:rPr>
              <a:t>。</a:t>
            </a:r>
          </a:p>
          <a:p>
            <a:pPr marL="342900" indent="-342900">
              <a:spcBef>
                <a:spcPct val="20000"/>
              </a:spcBef>
              <a:buClr>
                <a:schemeClr val="accent2"/>
              </a:buClr>
              <a:buSzPct val="80000"/>
              <a:buFont typeface="Wingdings" panose="05000000000000000000" pitchFamily="2" charset="2"/>
              <a:buChar char="l"/>
            </a:pPr>
            <a:r>
              <a:rPr lang="en-US" altLang="zh-CN" sz="2800">
                <a:latin typeface="Times New Roman" panose="02020603050405020304" pitchFamily="18" charset="0"/>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其组织为</a:t>
            </a:r>
            <a:r>
              <a:rPr lang="zh-CN" altLang="en-US" dirty="0">
                <a:latin typeface="华文中宋" panose="02010600040101010101" pitchFamily="2" charset="-122"/>
                <a:ea typeface="华文中宋" panose="02010600040101010101" pitchFamily="2" charset="-122"/>
                <a:sym typeface="Symbol" panose="05050102010706020507" pitchFamily="18" charset="2"/>
              </a:rPr>
              <a:t>基体</a:t>
            </a:r>
            <a:r>
              <a:rPr lang="en-US" altLang="zh-CN">
                <a:latin typeface="华文中宋" panose="02010600040101010101" pitchFamily="2" charset="-122"/>
                <a:ea typeface="华文中宋" panose="02010600040101010101" pitchFamily="2" charset="-122"/>
                <a:sym typeface="Symbol" panose="05050102010706020507" pitchFamily="18" charset="2"/>
              </a:rPr>
              <a:t>+</a:t>
            </a:r>
            <a:r>
              <a:rPr lang="zh-CN" altLang="en-US" dirty="0">
                <a:latin typeface="华文中宋" panose="02010600040101010101" pitchFamily="2" charset="-122"/>
                <a:ea typeface="华文中宋" panose="02010600040101010101" pitchFamily="2" charset="-122"/>
                <a:sym typeface="Symbol" panose="05050102010706020507" pitchFamily="18" charset="2"/>
              </a:rPr>
              <a:t>白亮块状</a:t>
            </a:r>
            <a:r>
              <a:rPr lang="en-US" altLang="zh-CN" err="1">
                <a:latin typeface="华文中宋" panose="02010600040101010101" pitchFamily="2" charset="-122"/>
                <a:ea typeface="华文中宋" panose="02010600040101010101" pitchFamily="2" charset="-122"/>
                <a:sym typeface="Symbol" panose="05050102010706020507" pitchFamily="18" charset="2"/>
              </a:rPr>
              <a:t>SnSb</a:t>
            </a:r>
            <a:r>
              <a:rPr lang="en-US" altLang="zh-CN">
                <a:latin typeface="华文中宋" panose="02010600040101010101" pitchFamily="2" charset="-122"/>
                <a:ea typeface="华文中宋" panose="02010600040101010101" pitchFamily="2" charset="-122"/>
                <a:sym typeface="Symbol" panose="05050102010706020507" pitchFamily="18" charset="2"/>
              </a:rPr>
              <a:t>+</a:t>
            </a:r>
            <a:r>
              <a:rPr lang="zh-CN" altLang="en-US" dirty="0">
                <a:latin typeface="华文中宋" panose="02010600040101010101" pitchFamily="2" charset="-122"/>
                <a:ea typeface="华文中宋" panose="02010600040101010101" pitchFamily="2" charset="-122"/>
                <a:sym typeface="Symbol" panose="05050102010706020507" pitchFamily="18" charset="2"/>
              </a:rPr>
              <a:t>星状</a:t>
            </a:r>
            <a:r>
              <a:rPr lang="en-US" altLang="zh-CN">
                <a:latin typeface="华文中宋" panose="02010600040101010101" pitchFamily="2" charset="-122"/>
                <a:ea typeface="华文中宋" panose="02010600040101010101" pitchFamily="2" charset="-122"/>
                <a:sym typeface="Symbol" panose="05050102010706020507" pitchFamily="18" charset="2"/>
              </a:rPr>
              <a:t>Cu</a:t>
            </a:r>
            <a:r>
              <a:rPr lang="en-US" altLang="zh-CN" baseline="-25000">
                <a:latin typeface="华文中宋" panose="02010600040101010101" pitchFamily="2" charset="-122"/>
                <a:ea typeface="华文中宋" panose="02010600040101010101" pitchFamily="2" charset="-122"/>
                <a:sym typeface="Symbol" panose="05050102010706020507" pitchFamily="18" charset="2"/>
              </a:rPr>
              <a:t>3</a:t>
            </a:r>
            <a:r>
              <a:rPr lang="en-US" altLang="zh-CN">
                <a:latin typeface="华文中宋" panose="02010600040101010101" pitchFamily="2" charset="-122"/>
                <a:ea typeface="华文中宋" panose="02010600040101010101" pitchFamily="2" charset="-122"/>
                <a:sym typeface="Symbol" panose="05050102010706020507" pitchFamily="18" charset="2"/>
              </a:rPr>
              <a:t>Sn</a:t>
            </a:r>
            <a:r>
              <a:rPr lang="en-US" altLang="zh-CN">
                <a:latin typeface="Times New Roman" panose="02020603050405020304" pitchFamily="18" charset="0"/>
                <a:ea typeface="仿宋_GB2312" pitchFamily="49" charset="-122"/>
              </a:rPr>
              <a:t>)</a:t>
            </a:r>
            <a:endParaRPr lang="en-US" altLang="zh-CN" sz="2800">
              <a:latin typeface="Times New Roman" panose="02020603050405020304" pitchFamily="18" charset="0"/>
              <a:ea typeface="华文中宋" panose="02010600040101010101" pitchFamily="2" charset="-122"/>
            </a:endParaRPr>
          </a:p>
        </p:txBody>
      </p:sp>
      <p:grpSp>
        <p:nvGrpSpPr>
          <p:cNvPr id="2" name="Group 5"/>
          <p:cNvGrpSpPr/>
          <p:nvPr/>
        </p:nvGrpSpPr>
        <p:grpSpPr>
          <a:xfrm>
            <a:off x="4191000" y="1752600"/>
            <a:ext cx="4495800" cy="3622675"/>
            <a:chOff x="2640" y="1104"/>
            <a:chExt cx="2832" cy="2282"/>
          </a:xfrm>
        </p:grpSpPr>
        <p:pic>
          <p:nvPicPr>
            <p:cNvPr id="98310" name="Picture 6" descr="6"/>
            <p:cNvPicPr>
              <a:picLocks noChangeAspect="1"/>
            </p:cNvPicPr>
            <p:nvPr/>
          </p:nvPicPr>
          <p:blipFill>
            <a:blip r:embed="rId2"/>
            <a:stretch>
              <a:fillRect/>
            </a:stretch>
          </p:blipFill>
          <p:spPr>
            <a:xfrm>
              <a:off x="2640" y="1104"/>
              <a:ext cx="2827" cy="2268"/>
            </a:xfrm>
            <a:prstGeom prst="rect">
              <a:avLst/>
            </a:prstGeom>
            <a:noFill/>
            <a:ln w="38100" cap="flat" cmpd="sng">
              <a:solidFill>
                <a:srgbClr val="FF9900"/>
              </a:solidFill>
              <a:prstDash val="solid"/>
              <a:miter/>
              <a:headEnd type="none" w="med" len="med"/>
              <a:tailEnd type="none" w="med" len="med"/>
            </a:ln>
          </p:spPr>
        </p:pic>
        <p:sp>
          <p:nvSpPr>
            <p:cNvPr id="98311" name="Text Box 7"/>
            <p:cNvSpPr txBox="1"/>
            <p:nvPr/>
          </p:nvSpPr>
          <p:spPr>
            <a:xfrm>
              <a:off x="2640" y="3144"/>
              <a:ext cx="2832" cy="242"/>
            </a:xfrm>
            <a:prstGeom prst="rect">
              <a:avLst/>
            </a:prstGeom>
            <a:solidFill>
              <a:schemeClr val="tx1"/>
            </a:solidFill>
            <a:ln w="9525">
              <a:noFill/>
            </a:ln>
          </p:spPr>
          <p:txBody>
            <a:bodyPr>
              <a:spAutoFit/>
            </a:bodyPr>
            <a:lstStyle/>
            <a:p>
              <a:pPr>
                <a:lnSpc>
                  <a:spcPct val="80000"/>
                </a:lnSpc>
              </a:pPr>
              <a:r>
                <a:rPr lang="en-US" altLang="zh-CN">
                  <a:solidFill>
                    <a:srgbClr val="800000"/>
                  </a:solidFill>
                  <a:latin typeface="Times New Roman" panose="02020603050405020304" pitchFamily="18" charset="0"/>
                  <a:ea typeface="仿宋_GB2312" pitchFamily="49" charset="-122"/>
                </a:rPr>
                <a:t>ZSnSb11Cu6</a:t>
              </a:r>
              <a:r>
                <a:rPr lang="zh-CN" altLang="en-US" dirty="0">
                  <a:solidFill>
                    <a:srgbClr val="800000"/>
                  </a:solidFill>
                  <a:latin typeface="Times New Roman" panose="02020603050405020304" pitchFamily="18" charset="0"/>
                  <a:ea typeface="仿宋_GB2312" pitchFamily="49" charset="-122"/>
                </a:rPr>
                <a:t>合金的显微组织</a:t>
              </a:r>
              <a:r>
                <a:rPr lang="zh-CN" altLang="en-US" dirty="0">
                  <a:latin typeface="Times New Roman" panose="02020603050405020304" pitchFamily="18" charset="0"/>
                  <a:ea typeface="仿宋_GB2312" pitchFamily="49"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wipe(left)">
                                      <p:cBhvr>
                                        <p:cTn id="7" dur="500"/>
                                        <p:tgtEl>
                                          <p:spTgt spid="135171">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5171">
                                            <p:txEl>
                                              <p:pRg st="1" end="1"/>
                                            </p:txEl>
                                          </p:spTgt>
                                        </p:tgtEl>
                                        <p:attrNameLst>
                                          <p:attrName>style.visibility</p:attrName>
                                        </p:attrNameLst>
                                      </p:cBhvr>
                                      <p:to>
                                        <p:strVal val="visible"/>
                                      </p:to>
                                    </p:set>
                                    <p:animEffect transition="in" filter="wipe(left)">
                                      <p:cBhvr>
                                        <p:cTn id="11" dur="500"/>
                                        <p:tgtEl>
                                          <p:spTgt spid="135171">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5170">
                                            <p:txEl>
                                              <p:pRg st="0" end="0"/>
                                            </p:txEl>
                                          </p:spTgt>
                                        </p:tgtEl>
                                        <p:attrNameLst>
                                          <p:attrName>style.visibility</p:attrName>
                                        </p:attrNameLst>
                                      </p:cBhvr>
                                      <p:to>
                                        <p:strVal val="visible"/>
                                      </p:to>
                                    </p:set>
                                    <p:animEffect transition="in" filter="wipe(left)">
                                      <p:cBhvr>
                                        <p:cTn id="15" dur="500"/>
                                        <p:tgtEl>
                                          <p:spTgt spid="135170">
                                            <p:txEl>
                                              <p:pRg st="0" end="0"/>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5170">
                                            <p:txEl>
                                              <p:pRg st="1" end="1"/>
                                            </p:txEl>
                                          </p:spTgt>
                                        </p:tgtEl>
                                        <p:attrNameLst>
                                          <p:attrName>style.visibility</p:attrName>
                                        </p:attrNameLst>
                                      </p:cBhvr>
                                      <p:to>
                                        <p:strVal val="visible"/>
                                      </p:to>
                                    </p:set>
                                    <p:animEffect transition="in" filter="wipe(left)">
                                      <p:cBhvr>
                                        <p:cTn id="19" dur="500"/>
                                        <p:tgtEl>
                                          <p:spTgt spid="135170">
                                            <p:txEl>
                                              <p:pRg st="1" end="1"/>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5172"/>
                                        </p:tgtEl>
                                        <p:attrNameLst>
                                          <p:attrName>style.visibility</p:attrName>
                                        </p:attrNameLst>
                                      </p:cBhvr>
                                      <p:to>
                                        <p:strVal val="visible"/>
                                      </p:to>
                                    </p:set>
                                    <p:animEffect transition="in" filter="wipe(left)">
                                      <p:cBhvr>
                                        <p:cTn id="23" dur="500"/>
                                        <p:tgtEl>
                                          <p:spTgt spid="135172"/>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uild="p" advAuto="1000"/>
      <p:bldP spid="135171" grpId="0" build="p" advAuto="1000"/>
      <p:bldP spid="13517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p:cNvSpPr>
          <p:nvPr>
            <p:ph idx="1"/>
          </p:nvPr>
        </p:nvSpPr>
        <p:spPr>
          <a:xfrm>
            <a:off x="228600" y="228600"/>
            <a:ext cx="3505200" cy="5257800"/>
          </a:xfrm>
          <a:ln/>
        </p:spPr>
        <p:txBody>
          <a:bodyPr vert="horz" wrap="square" lIns="91440" tIns="45720" rIns="91440" bIns="45720" anchor="t" anchorCtr="0"/>
          <a:lstStyle/>
          <a:p>
            <a:pPr eaLnBrk="1" hangingPunct="1">
              <a:lnSpc>
                <a:spcPct val="140000"/>
              </a:lnSpc>
            </a:pPr>
            <a:r>
              <a:rPr lang="zh-CN" altLang="en-US" sz="2800" b="1" dirty="0">
                <a:solidFill>
                  <a:schemeClr val="folHlink"/>
                </a:solidFill>
                <a:ea typeface="华文中宋" panose="02010600040101010101" pitchFamily="2" charset="-122"/>
              </a:rPr>
              <a:t>锡基轴承合金具有较高的耐磨性、导热性、耐蚀性和嵌藏性，摩擦系数和热膨胀系数小，</a:t>
            </a:r>
            <a:r>
              <a:rPr lang="zh-CN" altLang="en-US" sz="2800" b="1" dirty="0">
                <a:solidFill>
                  <a:srgbClr val="CCFFFF"/>
                </a:solidFill>
                <a:ea typeface="华文中宋" panose="02010600040101010101" pitchFamily="2" charset="-122"/>
              </a:rPr>
              <a:t>但疲劳强度较低，工作温度不超过 </a:t>
            </a:r>
            <a:r>
              <a:rPr lang="en-US" altLang="zh-CN" sz="2800" b="1">
                <a:solidFill>
                  <a:srgbClr val="CCFFFF"/>
                </a:solidFill>
                <a:ea typeface="华文中宋" panose="02010600040101010101" pitchFamily="2" charset="-122"/>
              </a:rPr>
              <a:t>150 ℃</a:t>
            </a:r>
            <a:r>
              <a:rPr lang="zh-CN" altLang="en-US" sz="2800" b="1" dirty="0">
                <a:solidFill>
                  <a:srgbClr val="CCFFFF"/>
                </a:solidFill>
                <a:ea typeface="华文中宋" panose="02010600040101010101" pitchFamily="2" charset="-122"/>
              </a:rPr>
              <a:t>，价格高。</a:t>
            </a:r>
          </a:p>
        </p:txBody>
      </p:sp>
      <p:grpSp>
        <p:nvGrpSpPr>
          <p:cNvPr id="2" name="Group 3"/>
          <p:cNvGrpSpPr/>
          <p:nvPr/>
        </p:nvGrpSpPr>
        <p:grpSpPr>
          <a:xfrm>
            <a:off x="4114800" y="609600"/>
            <a:ext cx="4465638" cy="4114800"/>
            <a:chOff x="2592" y="336"/>
            <a:chExt cx="2813" cy="2592"/>
          </a:xfrm>
        </p:grpSpPr>
        <p:sp>
          <p:nvSpPr>
            <p:cNvPr id="99333" name="Text Box 4"/>
            <p:cNvSpPr txBox="1"/>
            <p:nvPr/>
          </p:nvSpPr>
          <p:spPr>
            <a:xfrm>
              <a:off x="3120" y="2640"/>
              <a:ext cx="1920" cy="288"/>
            </a:xfrm>
            <a:prstGeom prst="rect">
              <a:avLst/>
            </a:prstGeom>
            <a:noFill/>
            <a:ln w="38100">
              <a:noFill/>
            </a:ln>
          </p:spPr>
          <p:txBody>
            <a:bodyPr>
              <a:spAutoFit/>
            </a:bodyPr>
            <a:lstStyle/>
            <a:p>
              <a:r>
                <a:rPr lang="zh-CN" altLang="en-US" dirty="0">
                  <a:latin typeface="Times New Roman" panose="02020603050405020304" pitchFamily="18" charset="0"/>
                </a:rPr>
                <a:t>巴氏合金轴瓦</a:t>
              </a:r>
            </a:p>
          </p:txBody>
        </p:sp>
        <p:pic>
          <p:nvPicPr>
            <p:cNvPr id="99334" name="Picture 5" descr="巴氏合金轴瓦"/>
            <p:cNvPicPr>
              <a:picLocks noChangeAspect="1"/>
            </p:cNvPicPr>
            <p:nvPr/>
          </p:nvPicPr>
          <p:blipFill>
            <a:blip r:embed="rId2"/>
            <a:stretch>
              <a:fillRect/>
            </a:stretch>
          </p:blipFill>
          <p:spPr>
            <a:xfrm>
              <a:off x="2592" y="336"/>
              <a:ext cx="2813" cy="2265"/>
            </a:xfrm>
            <a:prstGeom prst="rect">
              <a:avLst/>
            </a:prstGeom>
            <a:noFill/>
            <a:ln w="38100" cap="flat" cmpd="sng">
              <a:solidFill>
                <a:srgbClr val="FF9900"/>
              </a:solidFill>
              <a:prstDash val="solid"/>
              <a:miter/>
              <a:headEnd type="none" w="med" len="med"/>
              <a:tailEnd type="none" w="med" len="med"/>
            </a:ln>
          </p:spPr>
        </p:pic>
      </p:grpSp>
      <p:sp>
        <p:nvSpPr>
          <p:cNvPr id="136198" name="Rectangle 6"/>
          <p:cNvSpPr/>
          <p:nvPr/>
        </p:nvSpPr>
        <p:spPr>
          <a:xfrm>
            <a:off x="228600" y="5029200"/>
            <a:ext cx="8686800" cy="15240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广泛用于重型动力机械，如气轮机、涡轮机和内燃机等大型机器的高速轴瓦。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6194">
                                            <p:txEl>
                                              <p:pRg st="0" end="0"/>
                                            </p:txEl>
                                          </p:spTgt>
                                        </p:tgtEl>
                                        <p:attrNameLst>
                                          <p:attrName>style.visibility</p:attrName>
                                        </p:attrNameLst>
                                      </p:cBhvr>
                                      <p:to>
                                        <p:strVal val="visible"/>
                                      </p:to>
                                    </p:set>
                                    <p:animEffect transition="in" filter="wipe(left)">
                                      <p:cBhvr>
                                        <p:cTn id="7" dur="500"/>
                                        <p:tgtEl>
                                          <p:spTgt spid="13619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6198"/>
                                        </p:tgtEl>
                                        <p:attrNameLst>
                                          <p:attrName>style.visibility</p:attrName>
                                        </p:attrNameLst>
                                      </p:cBhvr>
                                      <p:to>
                                        <p:strVal val="visible"/>
                                      </p:to>
                                    </p:set>
                                    <p:animEffect transition="in" filter="wipe(left)">
                                      <p:cBhvr>
                                        <p:cTn id="11" dur="500"/>
                                        <p:tgtEl>
                                          <p:spTgt spid="136198"/>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ox(ou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build="p" advAuto="1000"/>
      <p:bldP spid="13619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p:cNvSpPr>
          <p:nvPr>
            <p:ph idx="1"/>
          </p:nvPr>
        </p:nvSpPr>
        <p:spPr>
          <a:xfrm>
            <a:off x="228600" y="533400"/>
            <a:ext cx="3838575" cy="5791200"/>
          </a:xfrm>
          <a:ln/>
        </p:spPr>
        <p:txBody>
          <a:bodyPr vert="horz" wrap="square" lIns="91440" tIns="45720" rIns="91440" bIns="45720" anchor="t" anchorCtr="0"/>
          <a:lstStyle/>
          <a:p>
            <a:pPr eaLnBrk="1" hangingPunct="1">
              <a:lnSpc>
                <a:spcPct val="120000"/>
              </a:lnSpc>
            </a:pPr>
            <a:r>
              <a:rPr lang="en-US" altLang="zh-CN" sz="2800" b="1">
                <a:solidFill>
                  <a:schemeClr val="tx2"/>
                </a:solidFill>
                <a:ea typeface="华文中宋" panose="02010600040101010101" pitchFamily="2" charset="-122"/>
              </a:rPr>
              <a:t>2</a:t>
            </a:r>
            <a:r>
              <a:rPr lang="zh-CN" altLang="en-US" sz="2800" b="1" dirty="0">
                <a:solidFill>
                  <a:schemeClr val="tx2"/>
                </a:solidFill>
                <a:ea typeface="华文中宋" panose="02010600040101010101" pitchFamily="2" charset="-122"/>
              </a:rPr>
              <a:t>、铅基轴承合金</a:t>
            </a:r>
          </a:p>
          <a:p>
            <a:pPr eaLnBrk="1" hangingPunct="1">
              <a:lnSpc>
                <a:spcPct val="160000"/>
              </a:lnSpc>
            </a:pPr>
            <a:r>
              <a:rPr lang="zh-CN" altLang="en-US" sz="2800" b="1" dirty="0">
                <a:ea typeface="华文中宋" panose="02010600040101010101" pitchFamily="2" charset="-122"/>
              </a:rPr>
              <a:t>是以铅为主加入少量锑、锡、铜等元素的合金，也是软基体硬质点型轴承合金。</a:t>
            </a:r>
          </a:p>
          <a:p>
            <a:pPr eaLnBrk="1" hangingPunct="1">
              <a:lnSpc>
                <a:spcPct val="160000"/>
              </a:lnSpc>
            </a:pPr>
            <a:r>
              <a:rPr lang="zh-CN" altLang="en-US" sz="2800" b="1" dirty="0">
                <a:solidFill>
                  <a:schemeClr val="folHlink"/>
                </a:solidFill>
                <a:ea typeface="华文中宋" panose="02010600040101010101" pitchFamily="2" charset="-122"/>
              </a:rPr>
              <a:t>典型牌号为</a:t>
            </a:r>
            <a:r>
              <a:rPr lang="en-US" altLang="zh-CN" sz="2800" b="1">
                <a:solidFill>
                  <a:schemeClr val="folHlink"/>
                </a:solidFill>
                <a:ea typeface="华文中宋" panose="02010600040101010101" pitchFamily="2" charset="-122"/>
              </a:rPr>
              <a:t>ZPbSb16Sn16Cu2</a:t>
            </a:r>
            <a:endParaRPr lang="zh-CN" altLang="en-US" sz="2800" b="1" dirty="0">
              <a:solidFill>
                <a:schemeClr val="folHlink"/>
              </a:solidFill>
              <a:ea typeface="华文中宋" panose="02010600040101010101" pitchFamily="2" charset="-122"/>
            </a:endParaRPr>
          </a:p>
        </p:txBody>
      </p:sp>
      <p:grpSp>
        <p:nvGrpSpPr>
          <p:cNvPr id="2" name="Group 3"/>
          <p:cNvGrpSpPr/>
          <p:nvPr/>
        </p:nvGrpSpPr>
        <p:grpSpPr>
          <a:xfrm>
            <a:off x="3962400" y="838200"/>
            <a:ext cx="4876800" cy="4375150"/>
            <a:chOff x="2496" y="528"/>
            <a:chExt cx="3072" cy="2756"/>
          </a:xfrm>
        </p:grpSpPr>
        <p:sp>
          <p:nvSpPr>
            <p:cNvPr id="100356" name="Text Box 4"/>
            <p:cNvSpPr txBox="1"/>
            <p:nvPr/>
          </p:nvSpPr>
          <p:spPr>
            <a:xfrm>
              <a:off x="2496" y="2880"/>
              <a:ext cx="3072" cy="404"/>
            </a:xfrm>
            <a:prstGeom prst="rect">
              <a:avLst/>
            </a:prstGeom>
            <a:noFill/>
            <a:ln w="9525">
              <a:noFill/>
            </a:ln>
          </p:spPr>
          <p:txBody>
            <a:bodyPr>
              <a:spAutoFit/>
            </a:bodyPr>
            <a:lstStyle/>
            <a:p>
              <a:r>
                <a:rPr lang="en-US" altLang="zh-CN" sz="1800">
                  <a:latin typeface="Times New Roman" panose="02020603050405020304" pitchFamily="18" charset="0"/>
                  <a:ea typeface="华文中宋" panose="02010600040101010101" pitchFamily="2" charset="-122"/>
                </a:rPr>
                <a:t>ZPbSb16Sn16Cu2</a:t>
              </a:r>
              <a:r>
                <a:rPr lang="zh-CN" altLang="en-US" sz="1800" dirty="0">
                  <a:latin typeface="Times New Roman" panose="02020603050405020304" pitchFamily="18" charset="0"/>
                  <a:ea typeface="华文中宋" panose="02010600040101010101" pitchFamily="2" charset="-122"/>
                </a:rPr>
                <a:t>合金的显微组织</a:t>
              </a:r>
            </a:p>
            <a:p>
              <a:r>
                <a:rPr lang="en-US" altLang="zh-CN" sz="1800">
                  <a:latin typeface="Times New Roman" panose="02020603050405020304" pitchFamily="18" charset="0"/>
                  <a:ea typeface="华文中宋" panose="02010600040101010101" pitchFamily="2" charset="-122"/>
                </a:rPr>
                <a:t>[</a:t>
              </a:r>
              <a:r>
                <a:rPr lang="en-US" altLang="zh-CN" sz="1800">
                  <a:solidFill>
                    <a:srgbClr val="CCFF33"/>
                  </a:solidFill>
                  <a:latin typeface="Times New Roman" panose="02020603050405020304" pitchFamily="18" charset="0"/>
                  <a:ea typeface="华文中宋" panose="02010600040101010101" pitchFamily="2" charset="-122"/>
                </a:rPr>
                <a:t>(</a:t>
              </a:r>
              <a:r>
                <a:rPr lang="en-US" altLang="zh-CN" sz="1800">
                  <a:solidFill>
                    <a:srgbClr val="CCFF33"/>
                  </a:solidFill>
                  <a:latin typeface="Times New Roman" panose="02020603050405020304" pitchFamily="18" charset="0"/>
                  <a:ea typeface="华文中宋" panose="02010600040101010101" pitchFamily="2" charset="-122"/>
                  <a:sym typeface="Symbol" panose="05050102010706020507" pitchFamily="18" charset="2"/>
                </a:rPr>
                <a:t>+</a:t>
              </a:r>
              <a:r>
                <a:rPr lang="en-US" altLang="zh-CN" sz="1800">
                  <a:solidFill>
                    <a:srgbClr val="CCFF33"/>
                  </a:solidFill>
                  <a:latin typeface="Times New Roman" panose="02020603050405020304" pitchFamily="18" charset="0"/>
                  <a:ea typeface="华文中宋" panose="02010600040101010101" pitchFamily="2" charset="-122"/>
                </a:rPr>
                <a:t>)</a:t>
              </a:r>
              <a:r>
                <a:rPr lang="zh-CN" altLang="en-US" sz="1800" dirty="0">
                  <a:solidFill>
                    <a:srgbClr val="CCFF33"/>
                  </a:solidFill>
                  <a:latin typeface="Times New Roman" panose="02020603050405020304" pitchFamily="18" charset="0"/>
                  <a:ea typeface="华文中宋" panose="02010600040101010101" pitchFamily="2" charset="-122"/>
                </a:rPr>
                <a:t>共晶基体</a:t>
              </a:r>
              <a:r>
                <a:rPr lang="en-US" altLang="zh-CN" sz="1800">
                  <a:solidFill>
                    <a:srgbClr val="CCFF33"/>
                  </a:solidFill>
                  <a:latin typeface="Times New Roman" panose="02020603050405020304" pitchFamily="18" charset="0"/>
                  <a:ea typeface="华文中宋" panose="02010600040101010101" pitchFamily="2" charset="-122"/>
                </a:rPr>
                <a:t>+</a:t>
              </a:r>
              <a:r>
                <a:rPr lang="zh-CN" altLang="en-US" sz="1800" dirty="0">
                  <a:solidFill>
                    <a:srgbClr val="CCFF33"/>
                  </a:solidFill>
                  <a:latin typeface="Times New Roman" panose="02020603050405020304" pitchFamily="18" charset="0"/>
                  <a:ea typeface="华文中宋" panose="02010600040101010101" pitchFamily="2" charset="-122"/>
                </a:rPr>
                <a:t>方块状</a:t>
              </a:r>
              <a:r>
                <a:rPr lang="en-US" altLang="zh-CN" sz="1800" err="1">
                  <a:solidFill>
                    <a:srgbClr val="CCFF33"/>
                  </a:solidFill>
                  <a:latin typeface="Times New Roman" panose="02020603050405020304" pitchFamily="18" charset="0"/>
                  <a:ea typeface="华文中宋" panose="02010600040101010101" pitchFamily="2" charset="-122"/>
                </a:rPr>
                <a:t>SnSb</a:t>
              </a:r>
              <a:r>
                <a:rPr lang="en-US" altLang="zh-CN" sz="1800">
                  <a:solidFill>
                    <a:srgbClr val="CCFF33"/>
                  </a:solidFill>
                  <a:latin typeface="Times New Roman" panose="02020603050405020304" pitchFamily="18" charset="0"/>
                  <a:ea typeface="华文中宋" panose="02010600040101010101" pitchFamily="2" charset="-122"/>
                </a:rPr>
                <a:t>+</a:t>
              </a:r>
              <a:r>
                <a:rPr lang="zh-CN" altLang="en-US" sz="1800" dirty="0">
                  <a:solidFill>
                    <a:srgbClr val="CCFF33"/>
                  </a:solidFill>
                  <a:latin typeface="Times New Roman" panose="02020603050405020304" pitchFamily="18" charset="0"/>
                  <a:ea typeface="华文中宋" panose="02010600040101010101" pitchFamily="2" charset="-122"/>
                </a:rPr>
                <a:t>针状</a:t>
              </a:r>
              <a:r>
                <a:rPr lang="en-US" altLang="zh-CN" sz="1800">
                  <a:solidFill>
                    <a:srgbClr val="CCFF33"/>
                  </a:solidFill>
                  <a:latin typeface="Times New Roman" panose="02020603050405020304" pitchFamily="18" charset="0"/>
                  <a:ea typeface="华文中宋" panose="02010600040101010101" pitchFamily="2" charset="-122"/>
                  <a:sym typeface="Symbol" panose="05050102010706020507" pitchFamily="18" charset="2"/>
                </a:rPr>
                <a:t>Cu</a:t>
              </a:r>
              <a:r>
                <a:rPr lang="en-US" altLang="zh-CN" sz="1800" baseline="-25000">
                  <a:solidFill>
                    <a:srgbClr val="CCFF33"/>
                  </a:solidFill>
                  <a:latin typeface="Times New Roman" panose="02020603050405020304" pitchFamily="18" charset="0"/>
                  <a:ea typeface="华文中宋" panose="02010600040101010101" pitchFamily="2" charset="-122"/>
                  <a:sym typeface="Symbol" panose="05050102010706020507" pitchFamily="18" charset="2"/>
                </a:rPr>
                <a:t>3</a:t>
              </a:r>
              <a:r>
                <a:rPr lang="en-US" altLang="zh-CN" sz="1800">
                  <a:solidFill>
                    <a:srgbClr val="CCFF33"/>
                  </a:solidFill>
                  <a:latin typeface="Times New Roman" panose="02020603050405020304" pitchFamily="18" charset="0"/>
                  <a:ea typeface="华文中宋" panose="02010600040101010101" pitchFamily="2" charset="-122"/>
                  <a:sym typeface="Symbol" panose="05050102010706020507" pitchFamily="18" charset="2"/>
                </a:rPr>
                <a:t>Sn</a:t>
              </a:r>
              <a:r>
                <a:rPr lang="en-US" altLang="zh-CN" sz="1800">
                  <a:latin typeface="Times New Roman" panose="02020603050405020304" pitchFamily="18" charset="0"/>
                  <a:ea typeface="华文中宋" panose="02010600040101010101" pitchFamily="2" charset="-122"/>
                  <a:sym typeface="Symbol" panose="05050102010706020507" pitchFamily="18" charset="2"/>
                </a:rPr>
                <a:t>]</a:t>
              </a:r>
              <a:r>
                <a:rPr lang="en-US" altLang="zh-CN" sz="1800">
                  <a:latin typeface="Times New Roman" panose="02020603050405020304" pitchFamily="18" charset="0"/>
                  <a:ea typeface="华文中宋" panose="02010600040101010101" pitchFamily="2" charset="-122"/>
                </a:rPr>
                <a:t> </a:t>
              </a:r>
            </a:p>
          </p:txBody>
        </p:sp>
        <p:pic>
          <p:nvPicPr>
            <p:cNvPr id="100357" name="Picture 5" descr="5"/>
            <p:cNvPicPr>
              <a:picLocks noChangeAspect="1"/>
            </p:cNvPicPr>
            <p:nvPr/>
          </p:nvPicPr>
          <p:blipFill>
            <a:blip r:embed="rId2"/>
            <a:stretch>
              <a:fillRect/>
            </a:stretch>
          </p:blipFill>
          <p:spPr>
            <a:xfrm>
              <a:off x="2592" y="528"/>
              <a:ext cx="2920" cy="2268"/>
            </a:xfrm>
            <a:prstGeom prst="rect">
              <a:avLst/>
            </a:prstGeom>
            <a:noFill/>
            <a:ln w="38100" cap="flat" cmpd="sng">
              <a:solidFill>
                <a:srgbClr val="FF9900"/>
              </a:solidFill>
              <a:prstDash val="solid"/>
              <a:miter/>
              <a:headEnd type="none" w="med" len="med"/>
              <a:tailEnd type="none" w="med" len="me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7218">
                                            <p:txEl>
                                              <p:pRg st="0" end="0"/>
                                            </p:txEl>
                                          </p:spTgt>
                                        </p:tgtEl>
                                        <p:attrNameLst>
                                          <p:attrName>style.visibility</p:attrName>
                                        </p:attrNameLst>
                                      </p:cBhvr>
                                      <p:to>
                                        <p:strVal val="visible"/>
                                      </p:to>
                                    </p:set>
                                    <p:animEffect transition="in" filter="wipe(left)">
                                      <p:cBhvr>
                                        <p:cTn id="7" dur="500"/>
                                        <p:tgtEl>
                                          <p:spTgt spid="13721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7218">
                                            <p:txEl>
                                              <p:pRg st="1" end="1"/>
                                            </p:txEl>
                                          </p:spTgt>
                                        </p:tgtEl>
                                        <p:attrNameLst>
                                          <p:attrName>style.visibility</p:attrName>
                                        </p:attrNameLst>
                                      </p:cBhvr>
                                      <p:to>
                                        <p:strVal val="visible"/>
                                      </p:to>
                                    </p:set>
                                    <p:animEffect transition="in" filter="wipe(left)">
                                      <p:cBhvr>
                                        <p:cTn id="11" dur="500"/>
                                        <p:tgtEl>
                                          <p:spTgt spid="137218">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7218">
                                            <p:txEl>
                                              <p:pRg st="2" end="2"/>
                                            </p:txEl>
                                          </p:spTgt>
                                        </p:tgtEl>
                                        <p:attrNameLst>
                                          <p:attrName>style.visibility</p:attrName>
                                        </p:attrNameLst>
                                      </p:cBhvr>
                                      <p:to>
                                        <p:strVal val="visible"/>
                                      </p:to>
                                    </p:set>
                                    <p:animEffect transition="in" filter="wipe(left)">
                                      <p:cBhvr>
                                        <p:cTn id="15" dur="500"/>
                                        <p:tgtEl>
                                          <p:spTgt spid="137218">
                                            <p:txEl>
                                              <p:pRg st="2" end="2"/>
                                            </p:txEl>
                                          </p:spTgt>
                                        </p:tgtEl>
                                      </p:cBhvr>
                                    </p:animEffect>
                                  </p:childTnLst>
                                </p:cTn>
                              </p:par>
                            </p:childTnLst>
                          </p:cTn>
                        </p:par>
                        <p:par>
                          <p:cTn id="16" fill="hold">
                            <p:stCondLst>
                              <p:cond delay="1500"/>
                            </p:stCondLst>
                            <p:childTnLst>
                              <p:par>
                                <p:cTn id="17" presetID="23" presetClass="entr" presetSubtype="272"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strVal val="2/3*#ppt_w"/>
                                          </p:val>
                                        </p:tav>
                                        <p:tav tm="100000">
                                          <p:val>
                                            <p:strVal val="#ppt_w"/>
                                          </p:val>
                                        </p:tav>
                                      </p:tavLst>
                                    </p:anim>
                                    <p:anim calcmode="lin" valueType="num">
                                      <p:cBhvr>
                                        <p:cTn id="20" dur="5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build="p" advAuto="100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p:cNvSpPr>
          <p:nvPr>
            <p:ph idx="1"/>
          </p:nvPr>
        </p:nvSpPr>
        <p:spPr>
          <a:xfrm>
            <a:off x="287338" y="527050"/>
            <a:ext cx="8628062" cy="2443163"/>
          </a:xfrm>
          <a:ln/>
        </p:spPr>
        <p:txBody>
          <a:bodyPr vert="horz" wrap="square" lIns="91440" tIns="45720" rIns="91440" bIns="45720" anchor="t" anchorCtr="0"/>
          <a:lstStyle/>
          <a:p>
            <a:pPr eaLnBrk="1" hangingPunct="1">
              <a:lnSpc>
                <a:spcPct val="140000"/>
              </a:lnSpc>
            </a:pPr>
            <a:r>
              <a:rPr lang="zh-CN" altLang="en-US" sz="2800" b="1" dirty="0">
                <a:ea typeface="华文中宋" panose="02010600040101010101" pitchFamily="2" charset="-122"/>
              </a:rPr>
              <a:t>铅基轴承合金的强度、硬度、耐蚀性和导热性都不如锡基轴承合金，但其成本低，高温强度好，有自润滑性。</a:t>
            </a:r>
          </a:p>
        </p:txBody>
      </p:sp>
      <p:sp>
        <p:nvSpPr>
          <p:cNvPr id="138243" name="Rectangle 3"/>
          <p:cNvSpPr/>
          <p:nvPr/>
        </p:nvSpPr>
        <p:spPr>
          <a:xfrm>
            <a:off x="290513" y="2438400"/>
            <a:ext cx="2625725" cy="3810000"/>
          </a:xfrm>
          <a:prstGeom prst="rect">
            <a:avLst/>
          </a:prstGeom>
          <a:noFill/>
          <a:ln w="9525">
            <a:noFill/>
          </a:ln>
        </p:spPr>
        <p:txBody>
          <a:bodyPr/>
          <a:lstStyle/>
          <a:p>
            <a:pPr marL="342900" indent="-342900">
              <a:lnSpc>
                <a:spcPct val="140000"/>
              </a:lnSpc>
              <a:spcBef>
                <a:spcPct val="20000"/>
              </a:spcBef>
              <a:buClr>
                <a:schemeClr val="accent2"/>
              </a:buClr>
              <a:buSzPct val="80000"/>
              <a:buFont typeface="Wingdings" panose="05000000000000000000" pitchFamily="2" charset="2"/>
              <a:buChar char="l"/>
            </a:pPr>
            <a:r>
              <a:rPr lang="zh-CN" altLang="en-US" sz="2800" dirty="0">
                <a:latin typeface="Times New Roman" panose="02020603050405020304" pitchFamily="18" charset="0"/>
                <a:ea typeface="华文中宋" panose="02010600040101010101" pitchFamily="2" charset="-122"/>
              </a:rPr>
              <a:t>常用于低速</a:t>
            </a:r>
            <a:r>
              <a:rPr lang="zh-CN" altLang="en-US" sz="1800" dirty="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低载条件下工作的设备</a:t>
            </a:r>
            <a:r>
              <a:rPr lang="en-US" altLang="zh-CN" sz="2800">
                <a:latin typeface="Times New Roman" panose="02020603050405020304" pitchFamily="18" charset="0"/>
                <a:ea typeface="华文中宋" panose="02010600040101010101" pitchFamily="2" charset="-122"/>
              </a:rPr>
              <a:t>,</a:t>
            </a:r>
            <a:r>
              <a:rPr lang="zh-CN" altLang="en-US" sz="2800" dirty="0">
                <a:latin typeface="Times New Roman" panose="02020603050405020304" pitchFamily="18" charset="0"/>
                <a:ea typeface="华文中宋" panose="02010600040101010101" pitchFamily="2" charset="-122"/>
              </a:rPr>
              <a:t>如汽车、拖拉机曲轴的轴承等。  </a:t>
            </a:r>
          </a:p>
        </p:txBody>
      </p:sp>
      <p:grpSp>
        <p:nvGrpSpPr>
          <p:cNvPr id="2" name="Group 4"/>
          <p:cNvGrpSpPr/>
          <p:nvPr/>
        </p:nvGrpSpPr>
        <p:grpSpPr>
          <a:xfrm>
            <a:off x="2924175" y="2209800"/>
            <a:ext cx="5686425" cy="3629025"/>
            <a:chOff x="2064" y="1536"/>
            <a:chExt cx="3582" cy="2286"/>
          </a:xfrm>
        </p:grpSpPr>
        <p:pic>
          <p:nvPicPr>
            <p:cNvPr id="101381" name="Picture 5" descr="内燃机轴瓦1"/>
            <p:cNvPicPr>
              <a:picLocks noChangeAspect="1"/>
            </p:cNvPicPr>
            <p:nvPr/>
          </p:nvPicPr>
          <p:blipFill>
            <a:blip r:embed="rId2"/>
            <a:stretch>
              <a:fillRect/>
            </a:stretch>
          </p:blipFill>
          <p:spPr>
            <a:xfrm>
              <a:off x="2064" y="1553"/>
              <a:ext cx="1727" cy="2269"/>
            </a:xfrm>
            <a:prstGeom prst="rect">
              <a:avLst/>
            </a:prstGeom>
            <a:noFill/>
            <a:ln w="9525">
              <a:noFill/>
            </a:ln>
          </p:spPr>
        </p:pic>
        <p:pic>
          <p:nvPicPr>
            <p:cNvPr id="101382" name="Picture 6" descr="内燃机轴瓦3"/>
            <p:cNvPicPr>
              <a:picLocks noChangeAspect="1"/>
            </p:cNvPicPr>
            <p:nvPr/>
          </p:nvPicPr>
          <p:blipFill>
            <a:blip r:embed="rId3"/>
            <a:stretch>
              <a:fillRect/>
            </a:stretch>
          </p:blipFill>
          <p:spPr>
            <a:xfrm>
              <a:off x="3792" y="1553"/>
              <a:ext cx="1779" cy="2269"/>
            </a:xfrm>
            <a:prstGeom prst="rect">
              <a:avLst/>
            </a:prstGeom>
            <a:noFill/>
            <a:ln w="57150">
              <a:noFill/>
            </a:ln>
          </p:spPr>
        </p:pic>
        <p:sp>
          <p:nvSpPr>
            <p:cNvPr id="101383" name="Text Box 7"/>
            <p:cNvSpPr txBox="1"/>
            <p:nvPr/>
          </p:nvSpPr>
          <p:spPr>
            <a:xfrm>
              <a:off x="4638" y="3556"/>
              <a:ext cx="1008" cy="250"/>
            </a:xfrm>
            <a:prstGeom prst="rect">
              <a:avLst/>
            </a:prstGeom>
            <a:noFill/>
            <a:ln w="9525">
              <a:noFill/>
            </a:ln>
          </p:spPr>
          <p:txBody>
            <a:bodyPr>
              <a:spAutoFit/>
            </a:bodyPr>
            <a:lstStyle/>
            <a:p>
              <a:r>
                <a:rPr lang="zh-CN" altLang="en-US" sz="2000" dirty="0">
                  <a:latin typeface="Times New Roman" panose="02020603050405020304" pitchFamily="18" charset="0"/>
                </a:rPr>
                <a:t>内燃机轴瓦</a:t>
              </a:r>
            </a:p>
          </p:txBody>
        </p:sp>
        <p:sp>
          <p:nvSpPr>
            <p:cNvPr id="101384" name="Rectangle 8"/>
            <p:cNvSpPr/>
            <p:nvPr/>
          </p:nvSpPr>
          <p:spPr>
            <a:xfrm>
              <a:off x="2064" y="1536"/>
              <a:ext cx="3504" cy="2256"/>
            </a:xfrm>
            <a:prstGeom prst="rect">
              <a:avLst/>
            </a:prstGeom>
            <a:noFill/>
            <a:ln w="57150"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8242">
                                            <p:txEl>
                                              <p:pRg st="0" end="0"/>
                                            </p:txEl>
                                          </p:spTgt>
                                        </p:tgtEl>
                                        <p:attrNameLst>
                                          <p:attrName>style.visibility</p:attrName>
                                        </p:attrNameLst>
                                      </p:cBhvr>
                                      <p:to>
                                        <p:strVal val="visible"/>
                                      </p:to>
                                    </p:set>
                                    <p:animEffect transition="in" filter="wipe(left)">
                                      <p:cBhvr>
                                        <p:cTn id="7" dur="500"/>
                                        <p:tgtEl>
                                          <p:spTgt spid="13824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8243"/>
                                        </p:tgtEl>
                                        <p:attrNameLst>
                                          <p:attrName>style.visibility</p:attrName>
                                        </p:attrNameLst>
                                      </p:cBhvr>
                                      <p:to>
                                        <p:strVal val="visible"/>
                                      </p:to>
                                    </p:set>
                                    <p:animEffect transition="in" filter="wipe(left)">
                                      <p:cBhvr>
                                        <p:cTn id="11" dur="500"/>
                                        <p:tgtEl>
                                          <p:spTgt spid="13824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uild="p" advAuto="1000"/>
      <p:bldP spid="13824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p:cNvSpPr>
          <p:nvPr>
            <p:ph idx="1"/>
          </p:nvPr>
        </p:nvSpPr>
        <p:spPr>
          <a:xfrm>
            <a:off x="457200" y="304800"/>
            <a:ext cx="8229600" cy="3124200"/>
          </a:xfrm>
          <a:ln/>
        </p:spPr>
        <p:txBody>
          <a:bodyPr vert="horz" wrap="square" lIns="91440" tIns="45720" rIns="91440" bIns="45720" anchor="t" anchorCtr="0"/>
          <a:lstStyle/>
          <a:p>
            <a:pPr eaLnBrk="1" hangingPunct="1">
              <a:lnSpc>
                <a:spcPct val="140000"/>
              </a:lnSpc>
            </a:pPr>
            <a:r>
              <a:rPr lang="zh-CN" altLang="en-US" sz="2800" b="1" dirty="0">
                <a:solidFill>
                  <a:schemeClr val="folHlink"/>
                </a:solidFill>
                <a:ea typeface="华文中宋" panose="02010600040101010101" pitchFamily="2" charset="-122"/>
              </a:rPr>
              <a:t>锡基和铅基轴承合金强度比较低，为提高其承载能力和使用寿命，生产上常采用离心浇注法，将它们镶铸在低碳钢轴瓦上，形成一层薄而均匀的内衬，成为双金属轴承。</a:t>
            </a:r>
            <a:endParaRPr lang="zh-CN" altLang="en-US" sz="2800" dirty="0">
              <a:ea typeface="华文中宋" panose="02010600040101010101" pitchFamily="2" charset="-122"/>
            </a:endParaRPr>
          </a:p>
        </p:txBody>
      </p:sp>
      <p:grpSp>
        <p:nvGrpSpPr>
          <p:cNvPr id="2" name="Group 3"/>
          <p:cNvGrpSpPr/>
          <p:nvPr/>
        </p:nvGrpSpPr>
        <p:grpSpPr>
          <a:xfrm>
            <a:off x="1981200" y="3200400"/>
            <a:ext cx="4910138" cy="3046413"/>
            <a:chOff x="1392" y="2203"/>
            <a:chExt cx="3093" cy="1919"/>
          </a:xfrm>
        </p:grpSpPr>
        <p:grpSp>
          <p:nvGrpSpPr>
            <p:cNvPr id="102404" name="Group 4"/>
            <p:cNvGrpSpPr/>
            <p:nvPr/>
          </p:nvGrpSpPr>
          <p:grpSpPr>
            <a:xfrm>
              <a:off x="1392" y="2203"/>
              <a:ext cx="3093" cy="1919"/>
              <a:chOff x="357" y="768"/>
              <a:chExt cx="3093" cy="1919"/>
            </a:xfrm>
          </p:grpSpPr>
          <p:pic>
            <p:nvPicPr>
              <p:cNvPr id="102414" name="Picture 5" descr="滑动轴承结构"/>
              <p:cNvPicPr>
                <a:picLocks noChangeAspect="1"/>
              </p:cNvPicPr>
              <p:nvPr/>
            </p:nvPicPr>
            <p:blipFill>
              <a:blip r:embed="rId2"/>
              <a:stretch>
                <a:fillRect/>
              </a:stretch>
            </p:blipFill>
            <p:spPr>
              <a:xfrm>
                <a:off x="1344" y="864"/>
                <a:ext cx="2106" cy="1823"/>
              </a:xfrm>
              <a:prstGeom prst="rect">
                <a:avLst/>
              </a:prstGeom>
              <a:noFill/>
              <a:ln w="9525">
                <a:noFill/>
              </a:ln>
            </p:spPr>
          </p:pic>
          <p:sp>
            <p:nvSpPr>
              <p:cNvPr id="102415" name="Text Box 6"/>
              <p:cNvSpPr txBox="1"/>
              <p:nvPr/>
            </p:nvSpPr>
            <p:spPr>
              <a:xfrm>
                <a:off x="357" y="768"/>
                <a:ext cx="1056" cy="288"/>
              </a:xfrm>
              <a:prstGeom prst="rect">
                <a:avLst/>
              </a:prstGeom>
              <a:noFill/>
              <a:ln w="9525">
                <a:noFill/>
              </a:ln>
            </p:spPr>
            <p:txBody>
              <a:bodyPr>
                <a:spAutoFit/>
              </a:bodyPr>
              <a:lstStyle/>
              <a:p>
                <a:r>
                  <a:rPr lang="zh-CN" altLang="en-US" sz="2000" dirty="0">
                    <a:latin typeface="宋体" panose="02010600030101010101" pitchFamily="2" charset="-122"/>
                  </a:rPr>
                  <a:t>表面保护层</a:t>
                </a:r>
                <a:r>
                  <a:rPr lang="zh-CN" altLang="en-US" dirty="0">
                    <a:solidFill>
                      <a:srgbClr val="000080"/>
                    </a:solidFill>
                    <a:latin typeface="宋体" panose="02010600030101010101" pitchFamily="2" charset="-122"/>
                  </a:rPr>
                  <a:t> </a:t>
                </a:r>
              </a:p>
            </p:txBody>
          </p:sp>
          <p:sp>
            <p:nvSpPr>
              <p:cNvPr id="102416" name="Text Box 7"/>
              <p:cNvSpPr txBox="1"/>
              <p:nvPr/>
            </p:nvSpPr>
            <p:spPr>
              <a:xfrm>
                <a:off x="681" y="1104"/>
                <a:ext cx="912" cy="288"/>
              </a:xfrm>
              <a:prstGeom prst="rect">
                <a:avLst/>
              </a:prstGeom>
              <a:noFill/>
              <a:ln w="9525">
                <a:noFill/>
              </a:ln>
            </p:spPr>
            <p:txBody>
              <a:bodyPr>
                <a:spAutoFit/>
              </a:bodyPr>
              <a:lstStyle/>
              <a:p>
                <a:r>
                  <a:rPr lang="zh-CN" altLang="en-US" sz="2000" dirty="0">
                    <a:latin typeface="宋体" panose="02010600030101010101" pitchFamily="2" charset="-122"/>
                  </a:rPr>
                  <a:t>减磨层</a:t>
                </a:r>
                <a:r>
                  <a:rPr lang="zh-CN" altLang="en-US" dirty="0">
                    <a:solidFill>
                      <a:srgbClr val="000080"/>
                    </a:solidFill>
                    <a:latin typeface="宋体" panose="02010600030101010101" pitchFamily="2" charset="-122"/>
                  </a:rPr>
                  <a:t> </a:t>
                </a:r>
              </a:p>
            </p:txBody>
          </p:sp>
          <p:sp>
            <p:nvSpPr>
              <p:cNvPr id="102417" name="Text Box 8"/>
              <p:cNvSpPr txBox="1"/>
              <p:nvPr/>
            </p:nvSpPr>
            <p:spPr>
              <a:xfrm>
                <a:off x="672" y="1436"/>
                <a:ext cx="624" cy="288"/>
              </a:xfrm>
              <a:prstGeom prst="rect">
                <a:avLst/>
              </a:prstGeom>
              <a:noFill/>
              <a:ln w="9525">
                <a:noFill/>
              </a:ln>
            </p:spPr>
            <p:txBody>
              <a:bodyPr>
                <a:spAutoFit/>
              </a:bodyPr>
              <a:lstStyle/>
              <a:p>
                <a:r>
                  <a:rPr lang="zh-CN" altLang="en-US" sz="2000" dirty="0">
                    <a:latin typeface="宋体" panose="02010600030101010101" pitchFamily="2" charset="-122"/>
                  </a:rPr>
                  <a:t>镍栅层</a:t>
                </a:r>
                <a:r>
                  <a:rPr lang="zh-CN" altLang="en-US" dirty="0">
                    <a:solidFill>
                      <a:srgbClr val="000080"/>
                    </a:solidFill>
                    <a:latin typeface="宋体" panose="02010600030101010101" pitchFamily="2" charset="-122"/>
                  </a:rPr>
                  <a:t> </a:t>
                </a:r>
              </a:p>
            </p:txBody>
          </p:sp>
          <p:sp>
            <p:nvSpPr>
              <p:cNvPr id="102418" name="Text Box 9"/>
              <p:cNvSpPr txBox="1"/>
              <p:nvPr/>
            </p:nvSpPr>
            <p:spPr>
              <a:xfrm>
                <a:off x="533" y="1715"/>
                <a:ext cx="768" cy="288"/>
              </a:xfrm>
              <a:prstGeom prst="rect">
                <a:avLst/>
              </a:prstGeom>
              <a:noFill/>
              <a:ln w="9525">
                <a:noFill/>
              </a:ln>
            </p:spPr>
            <p:txBody>
              <a:bodyPr>
                <a:spAutoFit/>
              </a:bodyPr>
              <a:lstStyle/>
              <a:p>
                <a:r>
                  <a:rPr lang="zh-CN" altLang="en-US" sz="2000" dirty="0">
                    <a:latin typeface="宋体" panose="02010600030101010101" pitchFamily="2" charset="-122"/>
                  </a:rPr>
                  <a:t>轴承合金</a:t>
                </a:r>
                <a:r>
                  <a:rPr lang="zh-CN" altLang="en-US" dirty="0">
                    <a:solidFill>
                      <a:srgbClr val="000080"/>
                    </a:solidFill>
                    <a:latin typeface="宋体" panose="02010600030101010101" pitchFamily="2" charset="-122"/>
                  </a:rPr>
                  <a:t> </a:t>
                </a:r>
              </a:p>
            </p:txBody>
          </p:sp>
          <p:sp>
            <p:nvSpPr>
              <p:cNvPr id="102419" name="Text Box 10"/>
              <p:cNvSpPr txBox="1"/>
              <p:nvPr/>
            </p:nvSpPr>
            <p:spPr>
              <a:xfrm>
                <a:off x="846" y="1982"/>
                <a:ext cx="480" cy="288"/>
              </a:xfrm>
              <a:prstGeom prst="rect">
                <a:avLst/>
              </a:prstGeom>
              <a:noFill/>
              <a:ln w="9525">
                <a:noFill/>
              </a:ln>
            </p:spPr>
            <p:txBody>
              <a:bodyPr>
                <a:spAutoFit/>
              </a:bodyPr>
              <a:lstStyle/>
              <a:p>
                <a:r>
                  <a:rPr lang="zh-CN" altLang="en-US" sz="2000" dirty="0">
                    <a:latin typeface="宋体" panose="02010600030101010101" pitchFamily="2" charset="-122"/>
                  </a:rPr>
                  <a:t>衬背</a:t>
                </a:r>
                <a:r>
                  <a:rPr lang="zh-CN" altLang="en-US" dirty="0">
                    <a:solidFill>
                      <a:srgbClr val="000080"/>
                    </a:solidFill>
                    <a:latin typeface="宋体" panose="02010600030101010101" pitchFamily="2" charset="-122"/>
                  </a:rPr>
                  <a:t> </a:t>
                </a:r>
              </a:p>
            </p:txBody>
          </p:sp>
        </p:grpSp>
        <p:sp>
          <p:nvSpPr>
            <p:cNvPr id="102405" name="Line 11"/>
            <p:cNvSpPr/>
            <p:nvPr/>
          </p:nvSpPr>
          <p:spPr>
            <a:xfrm>
              <a:off x="2256" y="2387"/>
              <a:ext cx="864" cy="0"/>
            </a:xfrm>
            <a:prstGeom prst="line">
              <a:avLst/>
            </a:prstGeom>
            <a:ln w="9525" cap="flat" cmpd="sng">
              <a:solidFill>
                <a:schemeClr val="hlink"/>
              </a:solidFill>
              <a:prstDash val="solid"/>
              <a:headEnd type="none" w="med" len="med"/>
              <a:tailEnd type="none" w="med" len="med"/>
            </a:ln>
          </p:spPr>
        </p:sp>
        <p:sp>
          <p:nvSpPr>
            <p:cNvPr id="102406" name="Line 12"/>
            <p:cNvSpPr/>
            <p:nvPr/>
          </p:nvSpPr>
          <p:spPr>
            <a:xfrm>
              <a:off x="3120" y="2387"/>
              <a:ext cx="0" cy="1200"/>
            </a:xfrm>
            <a:prstGeom prst="line">
              <a:avLst/>
            </a:prstGeom>
            <a:ln w="9525" cap="flat" cmpd="sng">
              <a:solidFill>
                <a:schemeClr val="hlink"/>
              </a:solidFill>
              <a:prstDash val="solid"/>
              <a:headEnd type="none" w="med" len="med"/>
              <a:tailEnd type="none" w="med" len="med"/>
            </a:ln>
          </p:spPr>
        </p:sp>
        <p:sp>
          <p:nvSpPr>
            <p:cNvPr id="102407" name="Line 13"/>
            <p:cNvSpPr/>
            <p:nvPr/>
          </p:nvSpPr>
          <p:spPr>
            <a:xfrm>
              <a:off x="2304" y="3334"/>
              <a:ext cx="384" cy="0"/>
            </a:xfrm>
            <a:prstGeom prst="line">
              <a:avLst/>
            </a:prstGeom>
            <a:ln w="9525" cap="flat" cmpd="sng">
              <a:solidFill>
                <a:schemeClr val="hlink"/>
              </a:solidFill>
              <a:prstDash val="solid"/>
              <a:headEnd type="none" w="med" len="med"/>
              <a:tailEnd type="none" w="med" len="med"/>
            </a:ln>
          </p:spPr>
        </p:sp>
        <p:sp>
          <p:nvSpPr>
            <p:cNvPr id="102408" name="Line 14"/>
            <p:cNvSpPr/>
            <p:nvPr/>
          </p:nvSpPr>
          <p:spPr>
            <a:xfrm>
              <a:off x="2688" y="3351"/>
              <a:ext cx="0" cy="214"/>
            </a:xfrm>
            <a:prstGeom prst="line">
              <a:avLst/>
            </a:prstGeom>
            <a:ln w="9525" cap="flat" cmpd="sng">
              <a:solidFill>
                <a:schemeClr val="hlink"/>
              </a:solidFill>
              <a:prstDash val="solid"/>
              <a:headEnd type="none" w="med" len="med"/>
              <a:tailEnd type="none" w="med" len="med"/>
            </a:ln>
          </p:spPr>
        </p:sp>
        <p:sp>
          <p:nvSpPr>
            <p:cNvPr id="102409" name="Line 15"/>
            <p:cNvSpPr/>
            <p:nvPr/>
          </p:nvSpPr>
          <p:spPr>
            <a:xfrm>
              <a:off x="2304" y="3600"/>
              <a:ext cx="336" cy="0"/>
            </a:xfrm>
            <a:prstGeom prst="line">
              <a:avLst/>
            </a:prstGeom>
            <a:ln w="9525" cap="flat" cmpd="sng">
              <a:solidFill>
                <a:schemeClr val="hlink"/>
              </a:solidFill>
              <a:prstDash val="solid"/>
              <a:headEnd type="none" w="med" len="med"/>
              <a:tailEnd type="none" w="med" len="med"/>
            </a:ln>
          </p:spPr>
        </p:sp>
        <p:sp>
          <p:nvSpPr>
            <p:cNvPr id="102410" name="Line 16"/>
            <p:cNvSpPr/>
            <p:nvPr/>
          </p:nvSpPr>
          <p:spPr>
            <a:xfrm>
              <a:off x="2304" y="3016"/>
              <a:ext cx="528" cy="0"/>
            </a:xfrm>
            <a:prstGeom prst="line">
              <a:avLst/>
            </a:prstGeom>
            <a:ln w="9525" cap="flat" cmpd="sng">
              <a:solidFill>
                <a:schemeClr val="hlink"/>
              </a:solidFill>
              <a:prstDash val="solid"/>
              <a:headEnd type="none" w="med" len="med"/>
              <a:tailEnd type="none" w="med" len="med"/>
            </a:ln>
          </p:spPr>
        </p:sp>
        <p:sp>
          <p:nvSpPr>
            <p:cNvPr id="102411" name="Line 17"/>
            <p:cNvSpPr/>
            <p:nvPr/>
          </p:nvSpPr>
          <p:spPr>
            <a:xfrm>
              <a:off x="2832" y="3024"/>
              <a:ext cx="0" cy="555"/>
            </a:xfrm>
            <a:prstGeom prst="line">
              <a:avLst/>
            </a:prstGeom>
            <a:ln w="9525" cap="flat" cmpd="sng">
              <a:solidFill>
                <a:schemeClr val="hlink"/>
              </a:solidFill>
              <a:prstDash val="solid"/>
              <a:headEnd type="none" w="med" len="med"/>
              <a:tailEnd type="none" w="med" len="med"/>
            </a:ln>
          </p:spPr>
        </p:sp>
        <p:sp>
          <p:nvSpPr>
            <p:cNvPr id="102412" name="Line 18"/>
            <p:cNvSpPr/>
            <p:nvPr/>
          </p:nvSpPr>
          <p:spPr>
            <a:xfrm>
              <a:off x="2304" y="2715"/>
              <a:ext cx="659" cy="0"/>
            </a:xfrm>
            <a:prstGeom prst="line">
              <a:avLst/>
            </a:prstGeom>
            <a:ln w="9525" cap="flat" cmpd="sng">
              <a:solidFill>
                <a:schemeClr val="hlink"/>
              </a:solidFill>
              <a:prstDash val="solid"/>
              <a:headEnd type="none" w="med" len="med"/>
              <a:tailEnd type="none" w="med" len="med"/>
            </a:ln>
          </p:spPr>
        </p:sp>
        <p:sp>
          <p:nvSpPr>
            <p:cNvPr id="102413" name="Line 19"/>
            <p:cNvSpPr/>
            <p:nvPr/>
          </p:nvSpPr>
          <p:spPr>
            <a:xfrm>
              <a:off x="2976" y="2715"/>
              <a:ext cx="0" cy="864"/>
            </a:xfrm>
            <a:prstGeom prst="line">
              <a:avLst/>
            </a:prstGeom>
            <a:ln w="9525" cap="flat" cmpd="sng">
              <a:solidFill>
                <a:schemeClr val="hlink"/>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9266">
                                            <p:txEl>
                                              <p:pRg st="0" end="0"/>
                                            </p:txEl>
                                          </p:spTgt>
                                        </p:tgtEl>
                                        <p:attrNameLst>
                                          <p:attrName>style.visibility</p:attrName>
                                        </p:attrNameLst>
                                      </p:cBhvr>
                                      <p:to>
                                        <p:strVal val="visible"/>
                                      </p:to>
                                    </p:set>
                                    <p:animEffect transition="in" filter="wipe(left)">
                                      <p:cBhvr>
                                        <p:cTn id="7" dur="500"/>
                                        <p:tgtEl>
                                          <p:spTgt spid="13926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advAuto="1000"/>
    </p:bldLst>
  </p:timing>
</p:sld>
</file>

<file path=ppt/theme/theme1.xml><?xml version="1.0" encoding="utf-8"?>
<a:theme xmlns:a="http://schemas.openxmlformats.org/drawingml/2006/main" name="1_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400" b="1" i="0" u="none" strike="noStrike" cap="none" normalizeH="0" baseline="0" smtClean="0">
            <a:ln>
              <a:noFill/>
            </a:ln>
            <a:solidFill>
              <a:schemeClr val="folHlink"/>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400" b="1" i="0" u="none" strike="noStrike" cap="none" normalizeH="0" baseline="0" smtClean="0">
            <a:ln>
              <a:noFill/>
            </a:ln>
            <a:solidFill>
              <a:schemeClr val="folHlink"/>
            </a:solidFill>
            <a:effectLst/>
            <a:latin typeface="Times New Roman" panose="02020603050405020304" pitchFamily="18" charset="0"/>
            <a:ea typeface="楷体_GB2312" pitchFamily="49"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拱道">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拱道">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
  <TotalTime>61</TotalTime>
  <Words>8020</Words>
  <Application>Microsoft Office PowerPoint</Application>
  <PresentationFormat>全屏显示(4:3)</PresentationFormat>
  <Paragraphs>643</Paragraphs>
  <Slides>71</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71</vt:i4>
      </vt:variant>
    </vt:vector>
  </HeadingPairs>
  <TitlesOfParts>
    <vt:vector size="85" baseType="lpstr">
      <vt:lpstr>Arial Unicode MS</vt:lpstr>
      <vt:lpstr>仿宋_GB2312</vt:lpstr>
      <vt:lpstr>华文宋体</vt:lpstr>
      <vt:lpstr>华文新魏</vt:lpstr>
      <vt:lpstr>华文中宋</vt:lpstr>
      <vt:lpstr>宋体</vt:lpstr>
      <vt:lpstr>Arial</vt:lpstr>
      <vt:lpstr>Calibri</vt:lpstr>
      <vt:lpstr>Felix Titling</vt:lpstr>
      <vt:lpstr>Goudy Old Style</vt:lpstr>
      <vt:lpstr>Times New Roman</vt:lpstr>
      <vt:lpstr>Wingdings</vt:lpstr>
      <vt:lpstr>1_Soaring</vt:lpstr>
      <vt:lpstr>拱道</vt:lpstr>
      <vt:lpstr>PowerPoint 演示文稿</vt:lpstr>
      <vt:lpstr>PowerPoint 演示文稿</vt:lpstr>
      <vt:lpstr>PowerPoint 演示文稿</vt:lpstr>
      <vt:lpstr>PowerPoint 演示文稿</vt:lpstr>
      <vt:lpstr>PowerPoint 演示文稿</vt:lpstr>
      <vt:lpstr>PowerPoint 演示文稿</vt:lpstr>
      <vt:lpstr>4.2.3 铸铁的特点及分类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可锻铸铁的显微组织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四、铝合金的牌号、性能及用途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铜及铜合金 </vt:lpstr>
      <vt:lpstr>PowerPoint 演示文稿</vt:lpstr>
      <vt:lpstr>PowerPoint 演示文稿</vt:lpstr>
      <vt:lpstr>PowerPoint 演示文稿</vt:lpstr>
      <vt:lpstr>普通黄铜的显微组织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钛及钛合金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轴承合金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7铸铁</dc:title>
  <dc:creator>孙士斌</dc:creator>
  <cp:lastModifiedBy>志学 王</cp:lastModifiedBy>
  <cp:revision>281</cp:revision>
  <dcterms:created xsi:type="dcterms:W3CDTF">2001-12-30T03:17:41Z</dcterms:created>
  <dcterms:modified xsi:type="dcterms:W3CDTF">2026-09-21T11:32:17Z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03AB7216FF3B42399F7D5D466EDABC82_12</vt:lpwstr>
  </property>
  <property fmtid="{D5CDD505-2E9C-101B-9397-08002B2CF9AE}" pid="3" name="KSOProductBuildVer">
    <vt:lpwstr>2052-12.1.0.22529</vt:lpwstr>
  </property>
</Properties>
</file>