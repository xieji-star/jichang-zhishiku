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higuan_yunlian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higuan_yunlian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e23c4b28a79ffec.png"/>
  <Relationship Id="rId3" Type="http://schemas.openxmlformats.org/officeDocument/2006/relationships/image" Target="../media/image_41e3880e8c481b2f.png"/>
  <Relationship Id="rId4" Type="http://schemas.openxmlformats.org/officeDocument/2006/relationships/image" Target="../media/image_bb3a307da5dc02ff.png"/>
  <Relationship Id="rId5" Type="http://schemas.openxmlformats.org/officeDocument/2006/relationships/image" Target="../media/image_b41da2fb42eb1dc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55e1270239fdf9f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087b086be0690fa.png"/>
  <Relationship Id="rId3" Type="http://schemas.openxmlformats.org/officeDocument/2006/relationships/image" Target="../media/image_0fbeee4e2bd592cf.png"/>
  <Relationship Id="rId4" Type="http://schemas.openxmlformats.org/officeDocument/2006/relationships/image" Target="../media/image_74d5c63d4c3e86e9.png"/>
  <Relationship Id="rId5" Type="http://schemas.openxmlformats.org/officeDocument/2006/relationships/image" Target="../media/image_448f724666c70e36.png"/>
  <Relationship Id="rId6" Type="http://schemas.openxmlformats.org/officeDocument/2006/relationships/image" Target="../media/image_7822e4f34ecbe97c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54adcd17ba6e756.png"/>
  <Relationship Id="rId3" Type="http://schemas.openxmlformats.org/officeDocument/2006/relationships/image" Target="../media/image_82161e3c43dbdddb.png"/>
  <Relationship Id="rId4" Type="http://schemas.openxmlformats.org/officeDocument/2006/relationships/image" Target="../media/image_9eeaaf6ba2d9ffa0.png"/>
  <Relationship Id="rId5" Type="http://schemas.openxmlformats.org/officeDocument/2006/relationships/image" Target="../media/image_129b4eca31e79837.png"/>
  <Relationship Id="rId6" Type="http://schemas.openxmlformats.org/officeDocument/2006/relationships/image" Target="../media/image_bd7233c759c7e759.png"/>
  <Relationship Id="rId7" Type="http://schemas.openxmlformats.org/officeDocument/2006/relationships/image" Target="../media/image_80cd2f6ba549f4c7.png"/>
  <Relationship Id="rId8" Type="http://schemas.openxmlformats.org/officeDocument/2006/relationships/image" Target="../media/image_4e6a7fe2529c320b.png"/>
  <Relationship Id="rId9" Type="http://schemas.openxmlformats.org/officeDocument/2006/relationships/image" Target="../media/image_ccea6459eeaecf02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5f8dcc935a056b.png"/>
  <Relationship Id="rId3" Type="http://schemas.openxmlformats.org/officeDocument/2006/relationships/image" Target="../media/image_dd258bef30162c09.png"/>
  <Relationship Id="rId4" Type="http://schemas.openxmlformats.org/officeDocument/2006/relationships/image" Target="../media/image_f1bd693433c62d32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53625" y="-1209675"/>
            <a:ext cx="3905250" cy="3905250"/>
          </a:xfrm>
          <a:prstGeom prst="ellipse">
            <a:avLst/>
          </a:prstGeom>
          <a:solidFill>
            <a:srgbClr val="EAF2E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3946398" cy="1032701"/>
            <a:chOff x="571500" y="381000"/>
            <a:chExt cx="3946398" cy="1032701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85725" cy="476250"/>
            </a:xfrm>
            <a:prstGeom prst="roundRect">
              <a:avLst>
                <a:gd name="adj" fmla="val 44444"/>
              </a:avLst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0966" y="477202"/>
              <a:ext cx="1352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A84F"/>
                  </a:solidFill>
                  <a:latin typeface="Segoe UI"/>
                  <a:ea typeface="Microsoft YaHei"/>
                  <a:cs typeface="Segoe UI"/>
                </a:rPr>
                <a:t>PART 01 · 推广路径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1060" y="64770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市场推广路径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9442" y="11496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60"/>
                  </a:solidFill>
                  <a:latin typeface="Segoe UI"/>
                  <a:ea typeface="Microsoft YaHei"/>
                  <a:cs typeface="Segoe UI"/>
                </a:rPr>
                <a:t>从示范田切入，逐步复制到合作社与规模农场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1733550"/>
            <a:ext cx="11049000" cy="2971800"/>
            <a:chOff x="571500" y="1733550"/>
            <a:chExt cx="11049000" cy="2971800"/>
          </a:xfrm>
        </p:grpSpPr>
        <p:sp>
          <p:nvSpPr>
            <p:cNvPr id="8" name="Freeform 8"/>
            <p:cNvSpPr/>
            <p:nvPr/>
          </p:nvSpPr>
          <p:spPr>
            <a:xfrm>
              <a:off x="3209925" y="2581275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</a:path>
              </a:pathLst>
            </a:custGeom>
            <a:noFill/>
            <a:ln w="23812" cap="rnd">
              <a:solidFill>
                <a:srgbClr val="2F6B3A"/>
              </a:solidFill>
              <a:round/>
            </a:ln>
          </p:spPr>
        </p:sp>
        <p:sp>
          <p:nvSpPr>
            <p:cNvPr id="9" name="Freeform 9"/>
            <p:cNvSpPr/>
            <p:nvPr/>
          </p:nvSpPr>
          <p:spPr>
            <a:xfrm>
              <a:off x="6019800" y="2581275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</a:path>
              </a:pathLst>
            </a:custGeom>
            <a:noFill/>
            <a:ln w="23812" cap="rnd">
              <a:solidFill>
                <a:srgbClr val="2F6B3A"/>
              </a:solidFill>
              <a:round/>
            </a:ln>
          </p:spPr>
        </p:sp>
        <p:sp>
          <p:nvSpPr>
            <p:cNvPr id="10" name="Freeform 10"/>
            <p:cNvSpPr/>
            <p:nvPr/>
          </p:nvSpPr>
          <p:spPr>
            <a:xfrm>
              <a:off x="8829675" y="2581275"/>
              <a:ext cx="76200" cy="133350"/>
            </a:xfrm>
            <a:custGeom>
              <a:avLst/>
              <a:gdLst/>
              <a:ahLst/>
              <a:cxnLst/>
              <a:rect l="l" t="t" r="r" b="b"/>
              <a:pathLst>
                <a:path w="76200" h="133350">
                  <a:moveTo>
                    <a:pt x="0" y="0"/>
                  </a:moveTo>
                  <a:lnTo>
                    <a:pt x="76200" y="66675"/>
                  </a:lnTo>
                  <a:lnTo>
                    <a:pt x="0" y="133350"/>
                  </a:lnTo>
                </a:path>
              </a:pathLst>
            </a:custGeom>
            <a:noFill/>
            <a:ln w="23812" cap="rnd">
              <a:solidFill>
                <a:srgbClr val="2F6B3A"/>
              </a:solidFill>
              <a:round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71500" y="1733550"/>
              <a:ext cx="2619375" cy="2971800"/>
              <a:chOff x="571500" y="1733550"/>
              <a:chExt cx="2619375" cy="2971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733550"/>
                <a:ext cx="2619375" cy="2971800"/>
              </a:xfrm>
              <a:prstGeom prst="roundRect">
                <a:avLst>
                  <a:gd name="adj" fmla="val 6545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12" name="Image 12"/>
              <p:cNvPicPr>
                <a:picLocks noChangeAspect="1"/>
              </p:cNvPicPr>
              <p:nvPr/>
            </p:nvPicPr>
            <p:blipFill>
              <a:blip r:embed="rId2"/>
              <a:srcRect l="0" t="9876" r="0" b="9877"/>
              <a:stretch>
                <a:fillRect/>
              </a:stretch>
            </p:blipFill>
            <p:spPr>
              <a:xfrm>
                <a:off x="723900" y="1885950"/>
                <a:ext cx="2314575" cy="1571625"/>
              </a:xfrm>
              <a:prstGeom prst="roundRect">
                <a:avLst>
                  <a:gd name="adj" fmla="val 7272"/>
                </a:avLst>
              </a:prstGeom>
            </p:spPr>
          </p:pic>
          <p:sp>
            <p:nvSpPr>
              <p:cNvPr id="13" name="Ellipse 13"/>
              <p:cNvSpPr/>
              <p:nvPr/>
            </p:nvSpPr>
            <p:spPr>
              <a:xfrm>
                <a:off x="733425" y="1905000"/>
                <a:ext cx="342900" cy="342900"/>
              </a:xfrm>
              <a:prstGeom prst="ellipse">
                <a:avLst/>
              </a:prstGeom>
              <a:solidFill>
                <a:srgbClr val="2F6B3A"/>
              </a:solidFill>
              <a:ln w="23812">
                <a:solidFill>
                  <a:srgbClr val="FFFFFF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12088" y="2012156"/>
                <a:ext cx="185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3618" y="370808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示范田验证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762000" y="3981450"/>
                <a:ext cx="285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56285" y="4164806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小范围示范，验证效果与收益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381375" y="1733550"/>
              <a:ext cx="2619375" cy="2971800"/>
              <a:chOff x="3381375" y="1733550"/>
              <a:chExt cx="2619375" cy="29718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381375" y="1733550"/>
                <a:ext cx="2619375" cy="2971800"/>
              </a:xfrm>
              <a:prstGeom prst="roundRect">
                <a:avLst>
                  <a:gd name="adj" fmla="val 6545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20" name="Image 20"/>
              <p:cNvPicPr>
                <a:picLocks noChangeAspect="1"/>
              </p:cNvPicPr>
              <p:nvPr/>
            </p:nvPicPr>
            <p:blipFill>
              <a:blip r:embed="rId3"/>
              <a:srcRect l="0" t="9876" r="0" b="9877"/>
              <a:stretch>
                <a:fillRect/>
              </a:stretch>
            </p:blipFill>
            <p:spPr>
              <a:xfrm>
                <a:off x="3533775" y="1885950"/>
                <a:ext cx="2314575" cy="1571625"/>
              </a:xfrm>
              <a:prstGeom prst="roundRect">
                <a:avLst>
                  <a:gd name="adj" fmla="val 7272"/>
                </a:avLst>
              </a:prstGeom>
            </p:spPr>
          </p:pic>
          <p:sp>
            <p:nvSpPr>
              <p:cNvPr id="21" name="Ellipse 21"/>
              <p:cNvSpPr/>
              <p:nvPr/>
            </p:nvSpPr>
            <p:spPr>
              <a:xfrm>
                <a:off x="3543300" y="1905000"/>
                <a:ext cx="342900" cy="342900"/>
              </a:xfrm>
              <a:prstGeom prst="ellipse">
                <a:avLst/>
              </a:prstGeom>
              <a:solidFill>
                <a:srgbClr val="2F6B3A"/>
              </a:solidFill>
              <a:ln w="23812">
                <a:solidFill>
                  <a:srgbClr val="FFFFFF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621963" y="2012156"/>
                <a:ext cx="185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563493" y="370808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合作社复制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3571875" y="3981450"/>
                <a:ext cx="285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566160" y="4164806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与合作社合作，批量复制推广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191250" y="1733550"/>
              <a:ext cx="2619375" cy="2971800"/>
              <a:chOff x="6191250" y="1733550"/>
              <a:chExt cx="2619375" cy="2971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191250" y="1733550"/>
                <a:ext cx="2619375" cy="2971800"/>
              </a:xfrm>
              <a:prstGeom prst="roundRect">
                <a:avLst>
                  <a:gd name="adj" fmla="val 6545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28" name="Image 28"/>
              <p:cNvPicPr>
                <a:picLocks noChangeAspect="1"/>
              </p:cNvPicPr>
              <p:nvPr/>
            </p:nvPicPr>
            <p:blipFill>
              <a:blip r:embed="rId4"/>
              <a:srcRect l="0" t="9876" r="0" b="9877"/>
              <a:stretch>
                <a:fillRect/>
              </a:stretch>
            </p:blipFill>
            <p:spPr>
              <a:xfrm>
                <a:off x="6343650" y="1885950"/>
                <a:ext cx="2314575" cy="1571625"/>
              </a:xfrm>
              <a:prstGeom prst="roundRect">
                <a:avLst>
                  <a:gd name="adj" fmla="val 7272"/>
                </a:avLst>
              </a:prstGeom>
            </p:spPr>
          </p:pic>
          <p:sp>
            <p:nvSpPr>
              <p:cNvPr id="29" name="Ellipse 29"/>
              <p:cNvSpPr/>
              <p:nvPr/>
            </p:nvSpPr>
            <p:spPr>
              <a:xfrm>
                <a:off x="6353175" y="1905000"/>
                <a:ext cx="342900" cy="342900"/>
              </a:xfrm>
              <a:prstGeom prst="ellipse">
                <a:avLst/>
              </a:prstGeom>
              <a:solidFill>
                <a:srgbClr val="2F6B3A"/>
              </a:solidFill>
              <a:ln w="23812">
                <a:solidFill>
                  <a:srgbClr val="FFFFFF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431838" y="2012156"/>
                <a:ext cx="185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373368" y="370808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区域农场推广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381750" y="3981450"/>
                <a:ext cx="285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376035" y="41648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向周边大户与规模农场推广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9001125" y="1733550"/>
              <a:ext cx="2619375" cy="2971800"/>
              <a:chOff x="9001125" y="1733550"/>
              <a:chExt cx="2619375" cy="29718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9001125" y="1733550"/>
                <a:ext cx="2619375" cy="2971800"/>
              </a:xfrm>
              <a:prstGeom prst="roundRect">
                <a:avLst>
                  <a:gd name="adj" fmla="val 6545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36" name="Image 36"/>
              <p:cNvPicPr>
                <a:picLocks noChangeAspect="1"/>
              </p:cNvPicPr>
              <p:nvPr/>
            </p:nvPicPr>
            <p:blipFill>
              <a:blip r:embed="rId5"/>
              <a:srcRect l="0" t="9876" r="0" b="9877"/>
              <a:stretch>
                <a:fillRect/>
              </a:stretch>
            </p:blipFill>
            <p:spPr>
              <a:xfrm>
                <a:off x="9153525" y="1885950"/>
                <a:ext cx="2314575" cy="1571625"/>
              </a:xfrm>
              <a:prstGeom prst="roundRect">
                <a:avLst>
                  <a:gd name="adj" fmla="val 7272"/>
                </a:avLst>
              </a:prstGeom>
            </p:spPr>
          </p:pic>
          <p:sp>
            <p:nvSpPr>
              <p:cNvPr id="37" name="Ellipse 37"/>
              <p:cNvSpPr/>
              <p:nvPr/>
            </p:nvSpPr>
            <p:spPr>
              <a:xfrm>
                <a:off x="9163050" y="1905000"/>
                <a:ext cx="342900" cy="342900"/>
              </a:xfrm>
              <a:prstGeom prst="ellipse">
                <a:avLst/>
              </a:prstGeom>
              <a:solidFill>
                <a:srgbClr val="2F6B3A"/>
              </a:solidFill>
              <a:ln w="23812">
                <a:solidFill>
                  <a:srgbClr val="FFFFFF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241713" y="2012156"/>
                <a:ext cx="185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04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83243" y="370808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服务网络拓展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9191625" y="3981450"/>
                <a:ext cx="285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185910" y="4164806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建设服务网络，提供持续支持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71500" y="5276850"/>
            <a:ext cx="3505200" cy="361950"/>
            <a:chOff x="571500" y="5276850"/>
            <a:chExt cx="3505200" cy="361950"/>
          </a:xfrm>
        </p:grpSpPr>
        <p:sp>
          <p:nvSpPr>
            <p:cNvPr id="44" name="Rectangle 44"/>
            <p:cNvSpPr/>
            <p:nvPr/>
          </p:nvSpPr>
          <p:spPr>
            <a:xfrm>
              <a:off x="5715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77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先示范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56210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69545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88595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09222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再复制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287655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300990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2004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4066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后扩张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5772150"/>
            <a:ext cx="11049000" cy="685800"/>
            <a:chOff x="571500" y="5772150"/>
            <a:chExt cx="11049000" cy="685800"/>
          </a:xfrm>
        </p:grpSpPr>
        <p:sp>
          <p:nvSpPr>
            <p:cNvPr id="55" name="Rectangle 55"/>
            <p:cNvSpPr/>
            <p:nvPr/>
          </p:nvSpPr>
          <p:spPr>
            <a:xfrm>
              <a:off x="571500" y="5772150"/>
              <a:ext cx="11049000" cy="685800"/>
            </a:xfrm>
            <a:prstGeom prst="roundRect">
              <a:avLst>
                <a:gd name="adj" fmla="val 25000"/>
              </a:avLst>
            </a:prstGeom>
            <a:gradFill>
              <a:gsLst>
                <a:gs pos="0">
                  <a:srgbClr val="2F6B3A"/>
                </a:gs>
                <a:gs pos="100000">
                  <a:srgbClr val="1F4A2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838200" y="5943600"/>
              <a:ext cx="342900" cy="3429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33450" y="6057900"/>
              <a:ext cx="152400" cy="123825"/>
            </a:xfrm>
            <a:custGeom>
              <a:avLst/>
              <a:gdLst/>
              <a:ahLst/>
              <a:cxnLst/>
              <a:rect l="l" t="t" r="r" b="b"/>
              <a:pathLst>
                <a:path w="152400" h="123825">
                  <a:moveTo>
                    <a:pt x="0" y="57150"/>
                  </a:moveTo>
                  <a:lnTo>
                    <a:pt x="57150" y="123825"/>
                  </a:lnTo>
                  <a:lnTo>
                    <a:pt x="152400" y="0"/>
                  </a:lnTo>
                </a:path>
              </a:pathLst>
            </a:custGeom>
            <a:noFill/>
            <a:ln w="23812" cap="rnd">
              <a:solidFill>
                <a:srgbClr val="FFFFFF"/>
              </a:solidFill>
              <a:round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343406" y="59969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推广不是一次卖出，而是靠口碑和效果持续扩散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53625" y="-1209675"/>
            <a:ext cx="3905250" cy="3905250"/>
          </a:xfrm>
          <a:prstGeom prst="ellipse">
            <a:avLst/>
          </a:prstGeom>
          <a:solidFill>
            <a:srgbClr val="EAF2E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4128135" cy="1032701"/>
            <a:chOff x="571500" y="381000"/>
            <a:chExt cx="4128135" cy="1032701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85725" cy="476250"/>
            </a:xfrm>
            <a:prstGeom prst="roundRect">
              <a:avLst>
                <a:gd name="adj" fmla="val 44444"/>
              </a:avLst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0966" y="477202"/>
              <a:ext cx="1352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A84F"/>
                  </a:solidFill>
                  <a:latin typeface="Segoe UI"/>
                  <a:ea typeface="Microsoft YaHei"/>
                  <a:cs typeface="Segoe UI"/>
                </a:rPr>
                <a:t>PART 02 · 应用场景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1060" y="6477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应用场景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9442" y="11496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60"/>
                  </a:solidFill>
                  <a:latin typeface="Segoe UI"/>
                  <a:ea typeface="Microsoft YaHei"/>
                  <a:cs typeface="Segoe UI"/>
                </a:rPr>
                <a:t>围绕玉米生产全过程，覆盖田间管理与远程运维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743075"/>
            <a:ext cx="5334000" cy="2895600"/>
            <a:chOff x="571500" y="1743075"/>
            <a:chExt cx="5334000" cy="2895600"/>
          </a:xfrm>
        </p:grpSpPr>
        <p:sp>
          <p:nvSpPr>
            <p:cNvPr id="8" name="Rectangle 8"/>
            <p:cNvSpPr/>
            <p:nvPr/>
          </p:nvSpPr>
          <p:spPr>
            <a:xfrm>
              <a:off x="571500" y="1743075"/>
              <a:ext cx="5334000" cy="2895600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4288">
              <a:solidFill>
                <a:srgbClr val="E0E7D6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1346" r="0" b="21347"/>
            <a:stretch>
              <a:fillRect/>
            </a:stretch>
          </p:blipFill>
          <p:spPr>
            <a:xfrm>
              <a:off x="723900" y="1895475"/>
              <a:ext cx="5029200" cy="1666875"/>
            </a:xfrm>
            <a:prstGeom prst="roundRect">
              <a:avLst>
                <a:gd name="adj" fmla="val 8000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904494" y="371379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合作社示范田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4038600"/>
              <a:ext cx="3238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4400" y="4267200"/>
              <a:ext cx="1485900" cy="342900"/>
            </a:xfrm>
            <a:prstGeom prst="roundRect">
              <a:avLst>
                <a:gd name="adj" fmla="val 27778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50086" y="4374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节水增效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52700" y="4267200"/>
              <a:ext cx="1485900" cy="342900"/>
            </a:xfrm>
            <a:prstGeom prst="roundRect">
              <a:avLst>
                <a:gd name="adj" fmla="val 27778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12999" y="43743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方案可复制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191000" y="4267200"/>
              <a:ext cx="1485900" cy="342900"/>
            </a:xfrm>
            <a:prstGeom prst="roundRect">
              <a:avLst>
                <a:gd name="adj" fmla="val 27778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26686" y="4374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带动增收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72200" y="1743075"/>
            <a:ext cx="5448300" cy="1333500"/>
            <a:chOff x="6172200" y="1743075"/>
            <a:chExt cx="54483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6172200" y="1743075"/>
              <a:ext cx="5448300" cy="1333500"/>
            </a:xfrm>
            <a:prstGeom prst="roundRect">
              <a:avLst>
                <a:gd name="adj" fmla="val 12857"/>
              </a:avLst>
            </a:prstGeom>
            <a:solidFill>
              <a:srgbClr val="FFFFFF"/>
            </a:solidFill>
            <a:ln w="14288">
              <a:solidFill>
                <a:srgbClr val="E0E7D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30518" y="19554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规模农场管理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38900" y="236220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38900" y="259080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22211" y="2688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精准灌溉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24825" y="259080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08136" y="2688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降本增产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810750" y="259080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294061" y="2688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过程可控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72200" y="3305175"/>
            <a:ext cx="5448300" cy="1333500"/>
            <a:chOff x="6172200" y="3305175"/>
            <a:chExt cx="5448300" cy="1333500"/>
          </a:xfrm>
        </p:grpSpPr>
        <p:sp>
          <p:nvSpPr>
            <p:cNvPr id="29" name="Rectangle 29"/>
            <p:cNvSpPr/>
            <p:nvPr/>
          </p:nvSpPr>
          <p:spPr>
            <a:xfrm>
              <a:off x="6172200" y="3305175"/>
              <a:ext cx="5448300" cy="1333500"/>
            </a:xfrm>
            <a:prstGeom prst="roundRect">
              <a:avLst>
                <a:gd name="adj" fmla="val 12857"/>
              </a:avLst>
            </a:prstGeom>
            <a:solidFill>
              <a:srgbClr val="FFFFFF"/>
            </a:solidFill>
            <a:ln w="14288">
              <a:solidFill>
                <a:srgbClr val="E0E7D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30518" y="35175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远程监控运维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38900" y="392430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8900" y="415290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22211" y="42505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远程看控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124825" y="415290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08136" y="42505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异常预警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810750" y="4152900"/>
              <a:ext cx="1581150" cy="323850"/>
            </a:xfrm>
            <a:prstGeom prst="roundRect">
              <a:avLst>
                <a:gd name="adj" fmla="val 29412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294061" y="42505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运维高效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5276850"/>
            <a:ext cx="3505200" cy="361950"/>
            <a:chOff x="571500" y="5276850"/>
            <a:chExt cx="3505200" cy="361950"/>
          </a:xfrm>
        </p:grpSpPr>
        <p:sp>
          <p:nvSpPr>
            <p:cNvPr id="39" name="Rectangle 39"/>
            <p:cNvSpPr/>
            <p:nvPr/>
          </p:nvSpPr>
          <p:spPr>
            <a:xfrm>
              <a:off x="5715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77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看得见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156210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69545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88595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09222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管得住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287655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300990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2004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4066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用得起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5772150"/>
            <a:ext cx="11049000" cy="685800"/>
            <a:chOff x="571500" y="5772150"/>
            <a:chExt cx="11049000" cy="685800"/>
          </a:xfrm>
        </p:grpSpPr>
        <p:sp>
          <p:nvSpPr>
            <p:cNvPr id="50" name="Rectangle 50"/>
            <p:cNvSpPr/>
            <p:nvPr/>
          </p:nvSpPr>
          <p:spPr>
            <a:xfrm>
              <a:off x="571500" y="5772150"/>
              <a:ext cx="11049000" cy="685800"/>
            </a:xfrm>
            <a:prstGeom prst="roundRect">
              <a:avLst>
                <a:gd name="adj" fmla="val 25000"/>
              </a:avLst>
            </a:prstGeom>
            <a:gradFill>
              <a:gsLst>
                <a:gs pos="0">
                  <a:srgbClr val="2F6B3A"/>
                </a:gs>
                <a:gs pos="100000">
                  <a:srgbClr val="1F4A2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38200" y="5943600"/>
              <a:ext cx="342900" cy="3429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33450" y="6057900"/>
              <a:ext cx="152400" cy="123825"/>
            </a:xfrm>
            <a:custGeom>
              <a:avLst/>
              <a:gdLst/>
              <a:ahLst/>
              <a:cxnLst/>
              <a:rect l="l" t="t" r="r" b="b"/>
              <a:pathLst>
                <a:path w="152400" h="123825">
                  <a:moveTo>
                    <a:pt x="0" y="57150"/>
                  </a:moveTo>
                  <a:lnTo>
                    <a:pt x="57150" y="123825"/>
                  </a:lnTo>
                  <a:lnTo>
                    <a:pt x="152400" y="0"/>
                  </a:lnTo>
                </a:path>
              </a:pathLst>
            </a:custGeom>
            <a:noFill/>
            <a:ln w="23812" cap="rnd">
              <a:solidFill>
                <a:srgbClr val="FFFFFF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343406" y="59969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从设备落地到数据回流，形成真正可用的应用场景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53625" y="-1209675"/>
            <a:ext cx="3905250" cy="3905250"/>
          </a:xfrm>
          <a:prstGeom prst="ellipse">
            <a:avLst/>
          </a:prstGeom>
          <a:solidFill>
            <a:srgbClr val="EAF2E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4401769" cy="1032701"/>
            <a:chOff x="571500" y="381000"/>
            <a:chExt cx="4401769" cy="1032701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85725" cy="476250"/>
            </a:xfrm>
            <a:prstGeom prst="roundRect">
              <a:avLst>
                <a:gd name="adj" fmla="val 44444"/>
              </a:avLst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0966" y="477202"/>
              <a:ext cx="1352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A84F"/>
                  </a:solidFill>
                  <a:latin typeface="Segoe UI"/>
                  <a:ea typeface="Microsoft YaHei"/>
                  <a:cs typeface="Segoe UI"/>
                </a:rPr>
                <a:t>PART 03 · 核心团队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1060" y="6477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核心团队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9442" y="1149668"/>
              <a:ext cx="4103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60"/>
                  </a:solidFill>
                  <a:latin typeface="Segoe UI"/>
                  <a:ea typeface="Microsoft YaHei"/>
                  <a:cs typeface="Segoe UI"/>
                </a:rPr>
                <a:t>机械 + 自动化 + 通信 + AI，构成跨学科协同团队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743075"/>
            <a:ext cx="11049000" cy="2809875"/>
            <a:chOff x="571500" y="1743075"/>
            <a:chExt cx="11049000" cy="2809875"/>
          </a:xfrm>
        </p:grpSpPr>
        <p:sp>
          <p:nvSpPr>
            <p:cNvPr id="8" name="Line 8"/>
            <p:cNvSpPr/>
            <p:nvPr/>
          </p:nvSpPr>
          <p:spPr>
            <a:xfrm>
              <a:off x="571500" y="2838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DCE4D0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667000" y="2781300"/>
              <a:ext cx="114300" cy="114300"/>
            </a:xfrm>
            <a:prstGeom prst="ellipse">
              <a:avLst/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4914900" y="2781300"/>
              <a:ext cx="114300" cy="114300"/>
            </a:xfrm>
            <a:prstGeom prst="ellipse">
              <a:avLst/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162800" y="2781300"/>
              <a:ext cx="114300" cy="114300"/>
            </a:xfrm>
            <a:prstGeom prst="ellipse">
              <a:avLst/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410700" y="2781300"/>
              <a:ext cx="114300" cy="114300"/>
            </a:xfrm>
            <a:prstGeom prst="ellipse">
              <a:avLst/>
            </a:prstGeom>
            <a:solidFill>
              <a:srgbClr val="6FA84F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71500" y="1743075"/>
              <a:ext cx="2057400" cy="2809875"/>
              <a:chOff x="571500" y="1743075"/>
              <a:chExt cx="2057400" cy="280987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1743075"/>
                <a:ext cx="2057400" cy="2809875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14" name="Image 14"/>
              <p:cNvPicPr>
                <a:picLocks noChangeAspect="1"/>
              </p:cNvPicPr>
              <p:nvPr/>
            </p:nvPicPr>
            <p:blipFill>
              <a:blip r:embed="rId2"/>
              <a:srcRect l="0" t="1304" r="0" b="1303"/>
              <a:stretch>
                <a:fillRect/>
              </a:stretch>
            </p:blipFill>
            <p:spPr>
              <a:xfrm>
                <a:off x="704850" y="1876425"/>
                <a:ext cx="1752600" cy="1885950"/>
              </a:xfrm>
              <a:prstGeom prst="roundRect">
                <a:avLst>
                  <a:gd name="adj" fmla="val 7608"/>
                </a:avLst>
              </a:prstGeom>
            </p:spPr>
          </p:pic>
          <p:sp>
            <p:nvSpPr>
              <p:cNvPr id="15" name="TextBox 15"/>
              <p:cNvSpPr txBox="1"/>
              <p:nvPr/>
            </p:nvSpPr>
            <p:spPr>
              <a:xfrm>
                <a:off x="1166800" y="4001929"/>
                <a:ext cx="8668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机械研发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447800" y="4276725"/>
                <a:ext cx="30480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2819400" y="1743075"/>
              <a:ext cx="2057400" cy="2809875"/>
              <a:chOff x="2819400" y="1743075"/>
              <a:chExt cx="2057400" cy="280987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819400" y="1743075"/>
                <a:ext cx="2057400" cy="2809875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19" name="Image 19"/>
              <p:cNvPicPr>
                <a:picLocks noChangeAspect="1"/>
              </p:cNvPicPr>
              <p:nvPr/>
            </p:nvPicPr>
            <p:blipFill>
              <a:blip r:embed="rId3"/>
              <a:srcRect l="0" t="1984" r="0" b="1985"/>
              <a:stretch>
                <a:fillRect/>
              </a:stretch>
            </p:blipFill>
            <p:spPr>
              <a:xfrm>
                <a:off x="2952750" y="1876425"/>
                <a:ext cx="1752600" cy="1885950"/>
              </a:xfrm>
              <a:prstGeom prst="roundRect">
                <a:avLst>
                  <a:gd name="adj" fmla="val 7608"/>
                </a:avLst>
              </a:prstGeom>
            </p:spPr>
          </p:pic>
          <p:sp>
            <p:nvSpPr>
              <p:cNvPr id="20" name="TextBox 20"/>
              <p:cNvSpPr txBox="1"/>
              <p:nvPr/>
            </p:nvSpPr>
            <p:spPr>
              <a:xfrm>
                <a:off x="3308350" y="4001929"/>
                <a:ext cx="10795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嵌入式控制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3695700" y="4276725"/>
                <a:ext cx="30480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5067300" y="1743075"/>
              <a:ext cx="2057400" cy="2809875"/>
              <a:chOff x="5067300" y="1743075"/>
              <a:chExt cx="2057400" cy="28098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067300" y="1743075"/>
                <a:ext cx="2057400" cy="2809875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24" name="Image 24"/>
              <p:cNvPicPr>
                <a:picLocks noChangeAspect="1"/>
              </p:cNvPicPr>
              <p:nvPr/>
            </p:nvPicPr>
            <p:blipFill>
              <a:blip r:embed="rId4"/>
              <a:srcRect l="0" t="1644" r="0" b="1644"/>
              <a:stretch>
                <a:fillRect/>
              </a:stretch>
            </p:blipFill>
            <p:spPr>
              <a:xfrm>
                <a:off x="5200650" y="1876425"/>
                <a:ext cx="1752600" cy="1885950"/>
              </a:xfrm>
              <a:prstGeom prst="roundRect">
                <a:avLst>
                  <a:gd name="adj" fmla="val 7608"/>
                </a:avLst>
              </a:prstGeom>
            </p:spPr>
          </p:pic>
          <p:sp>
            <p:nvSpPr>
              <p:cNvPr id="25" name="TextBox 25"/>
              <p:cNvSpPr txBox="1"/>
              <p:nvPr/>
            </p:nvSpPr>
            <p:spPr>
              <a:xfrm>
                <a:off x="5762970" y="4001929"/>
                <a:ext cx="66606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AI算法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943600" y="4276725"/>
                <a:ext cx="30480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7315200" y="1743075"/>
              <a:ext cx="2057400" cy="2809875"/>
              <a:chOff x="7315200" y="1743075"/>
              <a:chExt cx="2057400" cy="28098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315200" y="1743075"/>
                <a:ext cx="2057400" cy="2809875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29" name="Image 29"/>
              <p:cNvPicPr>
                <a:picLocks noChangeAspect="1"/>
              </p:cNvPicPr>
              <p:nvPr/>
            </p:nvPicPr>
            <p:blipFill>
              <a:blip r:embed="rId5"/>
              <a:srcRect l="0" t="2326" r="0" b="2325"/>
              <a:stretch>
                <a:fillRect/>
              </a:stretch>
            </p:blipFill>
            <p:spPr>
              <a:xfrm>
                <a:off x="7448550" y="1876425"/>
                <a:ext cx="1752600" cy="1885950"/>
              </a:xfrm>
              <a:prstGeom prst="roundRect">
                <a:avLst>
                  <a:gd name="adj" fmla="val 7608"/>
                </a:avLst>
              </a:prstGeom>
            </p:spPr>
          </p:pic>
          <p:sp>
            <p:nvSpPr>
              <p:cNvPr id="30" name="TextBox 30"/>
              <p:cNvSpPr txBox="1"/>
              <p:nvPr/>
            </p:nvSpPr>
            <p:spPr>
              <a:xfrm>
                <a:off x="7804150" y="4001929"/>
                <a:ext cx="10795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通信与物联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8191500" y="4276725"/>
                <a:ext cx="30480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9563100" y="1743075"/>
              <a:ext cx="2057400" cy="2809875"/>
              <a:chOff x="9563100" y="1743075"/>
              <a:chExt cx="2057400" cy="2809875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9563100" y="1743075"/>
                <a:ext cx="2057400" cy="2809875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pic>
            <p:nvPicPr>
              <p:cNvPr id="34" name="Image 34"/>
              <p:cNvPicPr>
                <a:picLocks noChangeAspect="1"/>
              </p:cNvPicPr>
              <p:nvPr/>
            </p:nvPicPr>
            <p:blipFill>
              <a:blip r:embed="rId6"/>
              <a:srcRect l="0" t="1984" r="0" b="1985"/>
              <a:stretch>
                <a:fillRect/>
              </a:stretch>
            </p:blipFill>
            <p:spPr>
              <a:xfrm>
                <a:off x="9696450" y="1876425"/>
                <a:ext cx="1752600" cy="1885950"/>
              </a:xfrm>
              <a:prstGeom prst="roundRect">
                <a:avLst>
                  <a:gd name="adj" fmla="val 7608"/>
                </a:avLst>
              </a:prstGeom>
            </p:spPr>
          </p:pic>
          <p:sp>
            <p:nvSpPr>
              <p:cNvPr id="35" name="TextBox 35"/>
              <p:cNvSpPr txBox="1"/>
              <p:nvPr/>
            </p:nvSpPr>
            <p:spPr>
              <a:xfrm>
                <a:off x="10158400" y="4001929"/>
                <a:ext cx="8668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市场调研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0439400" y="4276725"/>
                <a:ext cx="304800" cy="28575"/>
              </a:xfrm>
              <a:prstGeom prst="roundRect">
                <a:avLst>
                  <a:gd name="adj" fmla="val 50000"/>
                </a:avLst>
              </a:prstGeom>
              <a:solidFill>
                <a:srgbClr val="6FA84F"/>
              </a:solidFill>
              <a:ln>
                <a:noFill/>
              </a:ln>
            </p:spPr>
          </p:sp>
        </p:grpSp>
      </p:grpSp>
      <p:grpSp>
        <p:nvGrpSpPr>
          <p:cNvPr id="49" name="Group 49"/>
          <p:cNvGrpSpPr/>
          <p:nvPr/>
        </p:nvGrpSpPr>
        <p:grpSpPr>
          <a:xfrm>
            <a:off x="571500" y="5276850"/>
            <a:ext cx="3505200" cy="361950"/>
            <a:chOff x="571500" y="5276850"/>
            <a:chExt cx="3505200" cy="361950"/>
          </a:xfrm>
        </p:grpSpPr>
        <p:sp>
          <p:nvSpPr>
            <p:cNvPr id="39" name="Rectangle 39"/>
            <p:cNvSpPr/>
            <p:nvPr/>
          </p:nvSpPr>
          <p:spPr>
            <a:xfrm>
              <a:off x="5715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77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跨学科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156210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69545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88595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09222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能研发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287655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300990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2004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406673" y="540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懂田间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5772150"/>
            <a:ext cx="11049000" cy="685800"/>
            <a:chOff x="571500" y="5772150"/>
            <a:chExt cx="11049000" cy="685800"/>
          </a:xfrm>
        </p:grpSpPr>
        <p:sp>
          <p:nvSpPr>
            <p:cNvPr id="50" name="Rectangle 50"/>
            <p:cNvSpPr/>
            <p:nvPr/>
          </p:nvSpPr>
          <p:spPr>
            <a:xfrm>
              <a:off x="571500" y="5772150"/>
              <a:ext cx="11049000" cy="685800"/>
            </a:xfrm>
            <a:prstGeom prst="roundRect">
              <a:avLst>
                <a:gd name="adj" fmla="val 25000"/>
              </a:avLst>
            </a:prstGeom>
            <a:gradFill>
              <a:gsLst>
                <a:gs pos="0">
                  <a:srgbClr val="2F6B3A"/>
                </a:gs>
                <a:gs pos="100000">
                  <a:srgbClr val="1F4A2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38200" y="5943600"/>
              <a:ext cx="342900" cy="3429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33450" y="6057900"/>
              <a:ext cx="152400" cy="123825"/>
            </a:xfrm>
            <a:custGeom>
              <a:avLst/>
              <a:gdLst/>
              <a:ahLst/>
              <a:cxnLst/>
              <a:rect l="l" t="t" r="r" b="b"/>
              <a:pathLst>
                <a:path w="152400" h="123825">
                  <a:moveTo>
                    <a:pt x="0" y="57150"/>
                  </a:moveTo>
                  <a:lnTo>
                    <a:pt x="57150" y="123825"/>
                  </a:lnTo>
                  <a:lnTo>
                    <a:pt x="152400" y="0"/>
                  </a:lnTo>
                </a:path>
              </a:pathLst>
            </a:custGeom>
            <a:noFill/>
            <a:ln w="23812" cap="rnd">
              <a:solidFill>
                <a:srgbClr val="FFFFFF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343406" y="59969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一个能把想法做成设备的团队，才有资格谈落地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53625" y="-1209675"/>
            <a:ext cx="3905250" cy="3905250"/>
          </a:xfrm>
          <a:prstGeom prst="ellipse">
            <a:avLst/>
          </a:prstGeom>
          <a:solidFill>
            <a:srgbClr val="EAF2E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4673346" cy="1032701"/>
            <a:chOff x="571500" y="381000"/>
            <a:chExt cx="4673346" cy="1032701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85725" cy="476250"/>
            </a:xfrm>
            <a:prstGeom prst="roundRect">
              <a:avLst>
                <a:gd name="adj" fmla="val 44444"/>
              </a:avLst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0966" y="477202"/>
              <a:ext cx="1502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A84F"/>
                  </a:solidFill>
                  <a:latin typeface="Segoe UI"/>
                  <a:ea typeface="Microsoft YaHei"/>
                  <a:cs typeface="Segoe UI"/>
                </a:rPr>
                <a:t>PART 04 · 导师与资源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1060" y="6477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导师与资源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9442" y="114966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60"/>
                  </a:solidFill>
                  <a:latin typeface="Segoe UI"/>
                  <a:ea typeface="Microsoft YaHei"/>
                  <a:cs typeface="Segoe UI"/>
                </a:rPr>
                <a:t>高校导师、实验平台与试验田资源，共同支撑项目成长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743075"/>
            <a:ext cx="5334000" cy="3876675"/>
            <a:chOff x="571500" y="1743075"/>
            <a:chExt cx="5334000" cy="3876675"/>
          </a:xfrm>
        </p:grpSpPr>
        <p:sp>
          <p:nvSpPr>
            <p:cNvPr id="8" name="Rectangle 8"/>
            <p:cNvSpPr/>
            <p:nvPr/>
          </p:nvSpPr>
          <p:spPr>
            <a:xfrm>
              <a:off x="571500" y="1743075"/>
              <a:ext cx="5334000" cy="3876675"/>
            </a:xfrm>
            <a:prstGeom prst="roundRect">
              <a:avLst>
                <a:gd name="adj" fmla="val 4914"/>
              </a:avLst>
            </a:prstGeom>
            <a:solidFill>
              <a:srgbClr val="FFFFFF"/>
            </a:solidFill>
            <a:ln w="14288">
              <a:solidFill>
                <a:srgbClr val="E0E7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718" y="2012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导师阵容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" y="2400300"/>
              <a:ext cx="2324100" cy="1352550"/>
            </a:xfrm>
            <a:prstGeom prst="roundRect">
              <a:avLst>
                <a:gd name="adj" fmla="val 9859"/>
              </a:avLst>
            </a:prstGeom>
            <a:solidFill>
              <a:srgbClr val="F7F9F2"/>
            </a:solidFill>
            <a:ln w="9525">
              <a:solidFill>
                <a:srgbClr val="E0E7D6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rcRect l="1562" t="0" r="1563" b="0"/>
            <a:stretch>
              <a:fillRect/>
            </a:stretch>
          </p:blipFill>
          <p:spPr>
            <a:xfrm>
              <a:off x="933450" y="2552700"/>
              <a:ext cx="685800" cy="914400"/>
            </a:xfrm>
            <a:prstGeom prst="roundRect">
              <a:avLst>
                <a:gd name="adj" fmla="val 16666"/>
              </a:avLst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745361" y="2798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农艺指导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52600" y="306705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52800" y="2400300"/>
              <a:ext cx="2324100" cy="1352550"/>
            </a:xfrm>
            <a:prstGeom prst="roundRect">
              <a:avLst>
                <a:gd name="adj" fmla="val 9859"/>
              </a:avLst>
            </a:prstGeom>
            <a:solidFill>
              <a:srgbClr val="F7F9F2"/>
            </a:solidFill>
            <a:ln w="9525">
              <a:solidFill>
                <a:srgbClr val="E0E7D6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rcRect l="1562" t="0" r="1563" b="0"/>
            <a:stretch>
              <a:fillRect/>
            </a:stretch>
          </p:blipFill>
          <p:spPr>
            <a:xfrm>
              <a:off x="3486150" y="2552700"/>
              <a:ext cx="685800" cy="914400"/>
            </a:xfrm>
            <a:prstGeom prst="roundRect">
              <a:avLst>
                <a:gd name="adj" fmla="val 16666"/>
              </a:avLst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4298061" y="2798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节水灌溉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05300" y="306705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0100" y="3886200"/>
              <a:ext cx="2324100" cy="1352550"/>
            </a:xfrm>
            <a:prstGeom prst="roundRect">
              <a:avLst>
                <a:gd name="adj" fmla="val 9859"/>
              </a:avLst>
            </a:prstGeom>
            <a:solidFill>
              <a:srgbClr val="F7F9F2"/>
            </a:solidFill>
            <a:ln w="9525">
              <a:solidFill>
                <a:srgbClr val="E0E7D6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4"/>
            <a:srcRect l="1562" t="0" r="1563" b="0"/>
            <a:stretch>
              <a:fillRect/>
            </a:stretch>
          </p:blipFill>
          <p:spPr>
            <a:xfrm>
              <a:off x="933450" y="4038600"/>
              <a:ext cx="685800" cy="914400"/>
            </a:xfrm>
            <a:prstGeom prst="roundRect">
              <a:avLst>
                <a:gd name="adj" fmla="val 16666"/>
              </a:avLst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1745361" y="42848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工程实现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752600" y="455295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52800" y="3886200"/>
              <a:ext cx="2324100" cy="1352550"/>
            </a:xfrm>
            <a:prstGeom prst="roundRect">
              <a:avLst>
                <a:gd name="adj" fmla="val 9859"/>
              </a:avLst>
            </a:prstGeom>
            <a:solidFill>
              <a:srgbClr val="F7F9F2"/>
            </a:solidFill>
            <a:ln w="9525">
              <a:solidFill>
                <a:srgbClr val="E0E7D6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5"/>
            <a:srcRect l="1562" t="0" r="1563" b="0"/>
            <a:stretch>
              <a:fillRect/>
            </a:stretch>
          </p:blipFill>
          <p:spPr>
            <a:xfrm>
              <a:off x="3486150" y="4038600"/>
              <a:ext cx="685800" cy="914400"/>
            </a:xfrm>
            <a:prstGeom prst="roundRect">
              <a:avLst>
                <a:gd name="adj" fmla="val 16666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4298061" y="42848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项目管理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305300" y="455295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6134100" y="1743075"/>
            <a:ext cx="5486400" cy="3876675"/>
            <a:chOff x="6134100" y="1743075"/>
            <a:chExt cx="5486400" cy="3876675"/>
          </a:xfrm>
        </p:grpSpPr>
        <p:sp>
          <p:nvSpPr>
            <p:cNvPr id="27" name="Rectangle 27"/>
            <p:cNvSpPr/>
            <p:nvPr/>
          </p:nvSpPr>
          <p:spPr>
            <a:xfrm>
              <a:off x="6134100" y="1743075"/>
              <a:ext cx="5486400" cy="3876675"/>
            </a:xfrm>
            <a:prstGeom prst="roundRect">
              <a:avLst>
                <a:gd name="adj" fmla="val 4914"/>
              </a:avLst>
            </a:prstGeom>
            <a:solidFill>
              <a:srgbClr val="FFFFFF"/>
            </a:solidFill>
            <a:ln w="14288">
              <a:solidFill>
                <a:srgbClr val="E0E7D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4318" y="2012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资源支撑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62700" y="2400300"/>
              <a:ext cx="5029200" cy="733425"/>
            </a:xfrm>
            <a:prstGeom prst="roundRect">
              <a:avLst>
                <a:gd name="adj" fmla="val 18182"/>
              </a:avLst>
            </a:prstGeom>
            <a:solidFill>
              <a:srgbClr val="F7F9F2"/>
            </a:solidFill>
            <a:ln w="9525">
              <a:solidFill>
                <a:srgbClr val="E0E7D6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6"/>
            <a:srcRect l="13538" t="0" r="13537" b="0"/>
            <a:stretch>
              <a:fillRect/>
            </a:stretch>
          </p:blipFill>
          <p:spPr>
            <a:xfrm>
              <a:off x="6496050" y="2495550"/>
              <a:ext cx="914400" cy="542925"/>
            </a:xfrm>
            <a:prstGeom prst="roundRect">
              <a:avLst>
                <a:gd name="adj" fmla="val 17543"/>
              </a:avLst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7536942" y="2654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黑龙江大学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543800" y="291465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362700" y="3228975"/>
              <a:ext cx="5029200" cy="733425"/>
            </a:xfrm>
            <a:prstGeom prst="roundRect">
              <a:avLst>
                <a:gd name="adj" fmla="val 18182"/>
              </a:avLst>
            </a:prstGeom>
            <a:solidFill>
              <a:srgbClr val="F7F9F2"/>
            </a:solidFill>
            <a:ln w="9525">
              <a:solidFill>
                <a:srgbClr val="E0E7D6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7"/>
            <a:srcRect l="12770" t="0" r="12770" b="0"/>
            <a:stretch>
              <a:fillRect/>
            </a:stretch>
          </p:blipFill>
          <p:spPr>
            <a:xfrm>
              <a:off x="6496050" y="3324225"/>
              <a:ext cx="914400" cy="542925"/>
            </a:xfrm>
            <a:prstGeom prst="roundRect">
              <a:avLst>
                <a:gd name="adj" fmla="val 17543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536942" y="34832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实验平台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543800" y="3743325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362700" y="4057650"/>
              <a:ext cx="5029200" cy="733425"/>
            </a:xfrm>
            <a:prstGeom prst="roundRect">
              <a:avLst>
                <a:gd name="adj" fmla="val 18182"/>
              </a:avLst>
            </a:prstGeom>
            <a:solidFill>
              <a:srgbClr val="F7F9F2"/>
            </a:solidFill>
            <a:ln w="9525">
              <a:solidFill>
                <a:srgbClr val="E0E7D6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8"/>
            <a:srcRect l="12374" t="0" r="12374" b="0"/>
            <a:stretch>
              <a:fillRect/>
            </a:stretch>
          </p:blipFill>
          <p:spPr>
            <a:xfrm>
              <a:off x="6496050" y="4152900"/>
              <a:ext cx="914400" cy="542925"/>
            </a:xfrm>
            <a:prstGeom prst="roundRect">
              <a:avLst>
                <a:gd name="adj" fmla="val 17543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536942" y="4311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合作社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543800" y="4572000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362700" y="4886325"/>
              <a:ext cx="5029200" cy="733425"/>
            </a:xfrm>
            <a:prstGeom prst="roundRect">
              <a:avLst>
                <a:gd name="adj" fmla="val 18182"/>
              </a:avLst>
            </a:prstGeom>
            <a:solidFill>
              <a:srgbClr val="F7F9F2"/>
            </a:solidFill>
            <a:ln w="9525">
              <a:solidFill>
                <a:srgbClr val="E0E7D6"/>
              </a:solidFill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9"/>
            <a:srcRect l="13158" t="0" r="13158" b="0"/>
            <a:stretch>
              <a:fillRect/>
            </a:stretch>
          </p:blipFill>
          <p:spPr>
            <a:xfrm>
              <a:off x="6496050" y="4981575"/>
              <a:ext cx="914400" cy="542925"/>
            </a:xfrm>
            <a:prstGeom prst="roundRect">
              <a:avLst>
                <a:gd name="adj" fmla="val 17543"/>
              </a:avLst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7536942" y="5140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1F"/>
                  </a:solidFill>
                  <a:latin typeface="Segoe UI"/>
                  <a:ea typeface="Microsoft YaHei"/>
                  <a:cs typeface="Segoe UI"/>
                </a:rPr>
                <a:t>试验田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543800" y="5400675"/>
              <a:ext cx="247650" cy="28575"/>
            </a:xfrm>
            <a:prstGeom prst="roundRect">
              <a:avLst>
                <a:gd name="adj" fmla="val 50000"/>
              </a:avLst>
            </a:prstGeom>
            <a:solidFill>
              <a:srgbClr val="6FA84F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71500" y="5772150"/>
            <a:ext cx="11049000" cy="685800"/>
            <a:chOff x="571500" y="5772150"/>
            <a:chExt cx="11049000" cy="685800"/>
          </a:xfrm>
        </p:grpSpPr>
        <p:sp>
          <p:nvSpPr>
            <p:cNvPr id="46" name="Rectangle 46"/>
            <p:cNvSpPr/>
            <p:nvPr/>
          </p:nvSpPr>
          <p:spPr>
            <a:xfrm>
              <a:off x="571500" y="5772150"/>
              <a:ext cx="11049000" cy="685800"/>
            </a:xfrm>
            <a:prstGeom prst="roundRect">
              <a:avLst>
                <a:gd name="adj" fmla="val 25000"/>
              </a:avLst>
            </a:prstGeom>
            <a:gradFill>
              <a:gsLst>
                <a:gs pos="0">
                  <a:srgbClr val="2F6B3A"/>
                </a:gs>
                <a:gs pos="100000">
                  <a:srgbClr val="1F4A2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838200" y="5943600"/>
              <a:ext cx="342900" cy="3429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33450" y="6057900"/>
              <a:ext cx="152400" cy="123825"/>
            </a:xfrm>
            <a:custGeom>
              <a:avLst/>
              <a:gdLst/>
              <a:ahLst/>
              <a:cxnLst/>
              <a:rect l="l" t="t" r="r" b="b"/>
              <a:pathLst>
                <a:path w="152400" h="123825">
                  <a:moveTo>
                    <a:pt x="0" y="57150"/>
                  </a:moveTo>
                  <a:lnTo>
                    <a:pt x="57150" y="123825"/>
                  </a:lnTo>
                  <a:lnTo>
                    <a:pt x="152400" y="0"/>
                  </a:lnTo>
                </a:path>
              </a:pathLst>
            </a:custGeom>
            <a:noFill/>
            <a:ln w="23812" cap="rnd">
              <a:solidFill>
                <a:srgbClr val="FFFFFF"/>
              </a:solidFill>
              <a:round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343406" y="59969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项目不是单兵作战，而是建立在持续资源支撑之上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53625" y="-1209675"/>
            <a:ext cx="3905250" cy="3905250"/>
          </a:xfrm>
          <a:prstGeom prst="ellipse">
            <a:avLst/>
          </a:prstGeom>
          <a:solidFill>
            <a:srgbClr val="EAF2E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4309872" cy="1032701"/>
            <a:chOff x="571500" y="381000"/>
            <a:chExt cx="4309872" cy="1032701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85725" cy="476250"/>
            </a:xfrm>
            <a:prstGeom prst="roundRect">
              <a:avLst>
                <a:gd name="adj" fmla="val 44444"/>
              </a:avLst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0966" y="477202"/>
              <a:ext cx="1352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FA84F"/>
                  </a:solidFill>
                  <a:latin typeface="Segoe UI"/>
                  <a:ea typeface="Microsoft YaHei"/>
                  <a:cs typeface="Segoe UI"/>
                </a:rPr>
                <a:t>PART 05 · 发展规划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1060" y="6477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发展规划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9442" y="11496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60"/>
                  </a:solidFill>
                  <a:latin typeface="Segoe UI"/>
                  <a:ea typeface="Microsoft YaHei"/>
                  <a:cs typeface="Segoe UI"/>
                </a:rPr>
                <a:t>以示范验证为起点，逐步走向区域复制与规模推广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1828800"/>
            <a:ext cx="11049000" cy="2971800"/>
            <a:chOff x="571500" y="1828800"/>
            <a:chExt cx="11049000" cy="2971800"/>
          </a:xfrm>
        </p:grpSpPr>
        <p:sp>
          <p:nvSpPr>
            <p:cNvPr id="8" name="Line 8"/>
            <p:cNvSpPr/>
            <p:nvPr/>
          </p:nvSpPr>
          <p:spPr>
            <a:xfrm>
              <a:off x="571500" y="2114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DCE4D0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219325" y="2047875"/>
              <a:ext cx="133350" cy="133350"/>
            </a:xfrm>
            <a:prstGeom prst="ellipse">
              <a:avLst/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029325" y="2047875"/>
              <a:ext cx="133350" cy="133350"/>
            </a:xfrm>
            <a:prstGeom prst="ellipse">
              <a:avLst/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839325" y="2047875"/>
              <a:ext cx="133350" cy="133350"/>
            </a:xfrm>
            <a:prstGeom prst="ellipse">
              <a:avLst/>
            </a:prstGeom>
            <a:solidFill>
              <a:srgbClr val="2F6B3A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2286000" y="218122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C9D6B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218122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C9D6B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906000" y="218122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C9D6B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990725" y="1828800"/>
              <a:ext cx="590550" cy="2857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06141" y="190738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6B3A"/>
                  </a:solidFill>
                  <a:latin typeface="Segoe UI"/>
                  <a:ea typeface="Segoe UI"/>
                  <a:cs typeface="Segoe UI"/>
                </a:rPr>
                <a:t>2026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00725" y="1828800"/>
              <a:ext cx="590550" cy="2857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16141" y="190738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6B3A"/>
                  </a:solidFill>
                  <a:latin typeface="Segoe UI"/>
                  <a:ea typeface="Segoe UI"/>
                  <a:cs typeface="Segoe UI"/>
                </a:rPr>
                <a:t>2027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610725" y="1828800"/>
              <a:ext cx="590550" cy="2857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26141" y="190738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6B3A"/>
                  </a:solidFill>
                  <a:latin typeface="Segoe UI"/>
                  <a:ea typeface="Segoe UI"/>
                  <a:cs typeface="Segoe UI"/>
                </a:rPr>
                <a:t>2028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71500" y="2400300"/>
              <a:ext cx="3429000" cy="2400300"/>
              <a:chOff x="571500" y="2400300"/>
              <a:chExt cx="3429000" cy="24003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71500" y="2400300"/>
                <a:ext cx="3429000" cy="24003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91337" y="2595086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示范验证</a:t>
                </a:r>
              </a:p>
            </p:txBody>
          </p:sp>
          <p:pic>
            <p:nvPicPr>
              <p:cNvPr id="23" name="Image 23"/>
              <p:cNvPicPr>
                <a:picLocks noChangeAspect="1"/>
              </p:cNvPicPr>
              <p:nvPr/>
            </p:nvPicPr>
            <p:blipFill>
              <a:blip r:embed="rId2"/>
              <a:srcRect l="0" t="5667" r="0" b="5667"/>
              <a:stretch>
                <a:fillRect/>
              </a:stretch>
            </p:blipFill>
            <p:spPr>
              <a:xfrm>
                <a:off x="800100" y="2933700"/>
                <a:ext cx="2971800" cy="1285875"/>
              </a:xfrm>
              <a:prstGeom prst="roundRect">
                <a:avLst>
                  <a:gd name="adj" fmla="val 8888"/>
                </a:avLst>
              </a:prstGeom>
            </p:spPr>
          </p:pic>
          <p:sp>
            <p:nvSpPr>
              <p:cNvPr id="24" name="TextBox 24"/>
              <p:cNvSpPr txBox="1"/>
              <p:nvPr/>
            </p:nvSpPr>
            <p:spPr>
              <a:xfrm>
                <a:off x="794004" y="448056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落地示范基地，验证效果与模式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381500" y="2400300"/>
              <a:ext cx="3429000" cy="2400300"/>
              <a:chOff x="4381500" y="2400300"/>
              <a:chExt cx="3429000" cy="24003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381500" y="2400300"/>
                <a:ext cx="3429000" cy="24003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601337" y="2595086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区域复制</a:t>
                </a:r>
              </a:p>
            </p:txBody>
          </p:sp>
          <p:pic>
            <p:nvPicPr>
              <p:cNvPr id="28" name="Image 28"/>
              <p:cNvPicPr>
                <a:picLocks noChangeAspect="1"/>
              </p:cNvPicPr>
              <p:nvPr/>
            </p:nvPicPr>
            <p:blipFill>
              <a:blip r:embed="rId3"/>
              <a:srcRect l="0" t="7440" r="0" b="7440"/>
              <a:stretch>
                <a:fillRect/>
              </a:stretch>
            </p:blipFill>
            <p:spPr>
              <a:xfrm>
                <a:off x="4610100" y="2933700"/>
                <a:ext cx="2971800" cy="1285875"/>
              </a:xfrm>
              <a:prstGeom prst="roundRect">
                <a:avLst>
                  <a:gd name="adj" fmla="val 8888"/>
                </a:avLst>
              </a:prstGeom>
            </p:spPr>
          </p:pic>
          <p:sp>
            <p:nvSpPr>
              <p:cNvPr id="29" name="TextBox 29"/>
              <p:cNvSpPr txBox="1"/>
              <p:nvPr/>
            </p:nvSpPr>
            <p:spPr>
              <a:xfrm>
                <a:off x="4604004" y="4480560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拓展合作伙伴，复制服务模式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191500" y="2400300"/>
              <a:ext cx="3429000" cy="2400300"/>
              <a:chOff x="8191500" y="2400300"/>
              <a:chExt cx="3429000" cy="24003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191500" y="2400300"/>
                <a:ext cx="3429000" cy="24003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0E7D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411337" y="2595086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rgbClr val="22301F"/>
                    </a:solidFill>
                    <a:latin typeface="Segoe UI"/>
                    <a:ea typeface="Microsoft YaHei"/>
                    <a:cs typeface="Segoe UI"/>
                  </a:rPr>
                  <a:t>规模推广</a:t>
                </a:r>
              </a:p>
            </p:txBody>
          </p:sp>
          <p:pic>
            <p:nvPicPr>
              <p:cNvPr id="33" name="Image 33"/>
              <p:cNvPicPr>
                <a:picLocks noChangeAspect="1"/>
              </p:cNvPicPr>
              <p:nvPr/>
            </p:nvPicPr>
            <p:blipFill>
              <a:blip r:embed="rId4"/>
              <a:srcRect l="0" t="5667" r="0" b="5667"/>
              <a:stretch>
                <a:fillRect/>
              </a:stretch>
            </p:blipFill>
            <p:spPr>
              <a:xfrm>
                <a:off x="8420100" y="2933700"/>
                <a:ext cx="2971800" cy="1285875"/>
              </a:xfrm>
              <a:prstGeom prst="roundRect">
                <a:avLst>
                  <a:gd name="adj" fmla="val 8888"/>
                </a:avLst>
              </a:prstGeom>
            </p:spPr>
          </p:pic>
          <p:sp>
            <p:nvSpPr>
              <p:cNvPr id="34" name="TextBox 34"/>
              <p:cNvSpPr txBox="1"/>
              <p:nvPr/>
            </p:nvSpPr>
            <p:spPr>
              <a:xfrm>
                <a:off x="8414004" y="448056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60"/>
                    </a:solidFill>
                    <a:latin typeface="Segoe UI"/>
                    <a:ea typeface="Microsoft YaHei"/>
                    <a:cs typeface="Segoe UI"/>
                  </a:rPr>
                  <a:t>实现规模化推广，服务更多农田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571500" y="5276850"/>
            <a:ext cx="3733800" cy="361950"/>
            <a:chOff x="571500" y="5276850"/>
            <a:chExt cx="3733800" cy="361950"/>
          </a:xfrm>
        </p:grpSpPr>
        <p:sp>
          <p:nvSpPr>
            <p:cNvPr id="37" name="Rectangle 37"/>
            <p:cNvSpPr/>
            <p:nvPr/>
          </p:nvSpPr>
          <p:spPr>
            <a:xfrm>
              <a:off x="571500" y="5276850"/>
              <a:ext cx="11049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465" y="5403056"/>
              <a:ext cx="724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200亩示范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179070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92405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11455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245436" y="54030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区域复制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3105150" y="5457825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3238500" y="54006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6FA84F"/>
              </a:solidFill>
              <a:round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29000" y="5276850"/>
              <a:ext cx="876300" cy="361950"/>
            </a:xfrm>
            <a:prstGeom prst="roundRect">
              <a:avLst>
                <a:gd name="adj" fmla="val 50000"/>
              </a:avLst>
            </a:prstGeom>
            <a:solidFill>
              <a:srgbClr val="EAF2E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559886" y="54030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3A"/>
                  </a:solidFill>
                  <a:latin typeface="Segoe UI"/>
                  <a:ea typeface="Microsoft YaHei"/>
                  <a:cs typeface="Segoe UI"/>
                </a:rPr>
                <a:t>持续迭代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5772150"/>
            <a:ext cx="11049000" cy="685800"/>
            <a:chOff x="571500" y="5772150"/>
            <a:chExt cx="11049000" cy="685800"/>
          </a:xfrm>
        </p:grpSpPr>
        <p:sp>
          <p:nvSpPr>
            <p:cNvPr id="48" name="Rectangle 48"/>
            <p:cNvSpPr/>
            <p:nvPr/>
          </p:nvSpPr>
          <p:spPr>
            <a:xfrm>
              <a:off x="571500" y="5772150"/>
              <a:ext cx="11049000" cy="685800"/>
            </a:xfrm>
            <a:prstGeom prst="roundRect">
              <a:avLst>
                <a:gd name="adj" fmla="val 25000"/>
              </a:avLst>
            </a:prstGeom>
            <a:gradFill>
              <a:gsLst>
                <a:gs pos="0">
                  <a:srgbClr val="2F6B3A"/>
                </a:gs>
                <a:gs pos="100000">
                  <a:srgbClr val="1F4A2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38200" y="5943600"/>
              <a:ext cx="342900" cy="3429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33450" y="6057900"/>
              <a:ext cx="152400" cy="123825"/>
            </a:xfrm>
            <a:custGeom>
              <a:avLst/>
              <a:gdLst/>
              <a:ahLst/>
              <a:cxnLst/>
              <a:rect l="l" t="t" r="r" b="b"/>
              <a:pathLst>
                <a:path w="152400" h="123825">
                  <a:moveTo>
                    <a:pt x="0" y="57150"/>
                  </a:moveTo>
                  <a:lnTo>
                    <a:pt x="57150" y="123825"/>
                  </a:lnTo>
                  <a:lnTo>
                    <a:pt x="152400" y="0"/>
                  </a:lnTo>
                </a:path>
              </a:pathLst>
            </a:custGeom>
            <a:noFill/>
            <a:ln w="23812" cap="rnd">
              <a:solidFill>
                <a:srgbClr val="FFFFFF"/>
              </a:solidFill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43406" y="59969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让每一亩玉米田，都能用得上、用得好智能水肥决策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zhiguan_yunlian_beautify">
  <a:themeElements>
    <a:clrScheme name="zhiguan_yunlian_beautif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higuan_yunlian_beautify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guan_yunlian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2026-08-30T09:05:48Z</dcterms:created>
  <dcterms:modified xsi:type="dcterms:W3CDTF">2026-08-30T09:05:48Z</dcterms:modified>
  <cp:category/>
  <cp:contentStatus/>
</cp:coreProperties>
</file>