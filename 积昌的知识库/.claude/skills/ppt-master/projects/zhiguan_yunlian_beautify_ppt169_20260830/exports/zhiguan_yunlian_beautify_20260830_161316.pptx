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higuan_yunlian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higuan_yunlian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e23c4b28a79ffec.png"/>
  <Relationship Id="rId3" Type="http://schemas.openxmlformats.org/officeDocument/2006/relationships/image" Target="../media/image_41e3880e8c481b2f.png"/>
  <Relationship Id="rId4" Type="http://schemas.openxmlformats.org/officeDocument/2006/relationships/image" Target="../media/image_bb3a307da5dc02ff.png"/>
  <Relationship Id="rId5" Type="http://schemas.openxmlformats.org/officeDocument/2006/relationships/image" Target="../media/image_b41da2fb42eb1dc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55e1270239fdf9f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087b086be0690fa.png"/>
  <Relationship Id="rId3" Type="http://schemas.openxmlformats.org/officeDocument/2006/relationships/image" Target="../media/image_0fbeee4e2bd592cf.png"/>
  <Relationship Id="rId4" Type="http://schemas.openxmlformats.org/officeDocument/2006/relationships/image" Target="../media/image_74d5c63d4c3e86e9.png"/>
  <Relationship Id="rId5" Type="http://schemas.openxmlformats.org/officeDocument/2006/relationships/image" Target="../media/image_448f724666c70e36.png"/>
  <Relationship Id="rId6" Type="http://schemas.openxmlformats.org/officeDocument/2006/relationships/image" Target="../media/image_7822e4f34ecbe97c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54adcd17ba6e756.png"/>
  <Relationship Id="rId3" Type="http://schemas.openxmlformats.org/officeDocument/2006/relationships/image" Target="../media/image_82161e3c43dbdddb.png"/>
  <Relationship Id="rId4" Type="http://schemas.openxmlformats.org/officeDocument/2006/relationships/image" Target="../media/image_9eeaaf6ba2d9ffa0.png"/>
  <Relationship Id="rId5" Type="http://schemas.openxmlformats.org/officeDocument/2006/relationships/image" Target="../media/image_129b4eca31e79837.png"/>
  <Relationship Id="rId6" Type="http://schemas.openxmlformats.org/officeDocument/2006/relationships/image" Target="../media/image_bd7233c759c7e759.png"/>
  <Relationship Id="rId7" Type="http://schemas.openxmlformats.org/officeDocument/2006/relationships/image" Target="../media/image_80cd2f6ba549f4c7.png"/>
  <Relationship Id="rId8" Type="http://schemas.openxmlformats.org/officeDocument/2006/relationships/image" Target="../media/image_4e6a7fe2529c320b.png"/>
  <Relationship Id="rId9" Type="http://schemas.openxmlformats.org/officeDocument/2006/relationships/image" Target="../media/image_ccea6459eeaecf02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5f8dcc935a056b.png"/>
  <Relationship Id="rId3" Type="http://schemas.openxmlformats.org/officeDocument/2006/relationships/image" Target="../media/image_dd258bef30162c09.png"/>
  <Relationship Id="rId4" Type="http://schemas.openxmlformats.org/officeDocument/2006/relationships/image" Target="../media/image_f1bd693433c62d32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3946398" cy="1032701"/>
            <a:chOff x="571500" y="381000"/>
            <a:chExt cx="3946398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01 · 推广路径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市场推广路径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从示范田切入，逐步复制到合作社与规模农场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1733550"/>
            <a:ext cx="11049000" cy="2971800"/>
            <a:chOff x="571500" y="1733550"/>
            <a:chExt cx="11049000" cy="2971800"/>
          </a:xfrm>
        </p:grpSpPr>
        <p:sp>
          <p:nvSpPr>
            <p:cNvPr id="8" name="Freeform 8"/>
            <p:cNvSpPr/>
            <p:nvPr/>
          </p:nvSpPr>
          <p:spPr>
            <a:xfrm>
              <a:off x="3209925" y="2457450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</a:path>
              </a:pathLst>
            </a:custGeom>
            <a:noFill/>
            <a:ln w="23812" cap="rnd">
              <a:solidFill>
                <a:srgbClr val="2F6B3A"/>
              </a:solidFill>
              <a:round/>
            </a:ln>
          </p:spPr>
        </p:sp>
        <p:sp>
          <p:nvSpPr>
            <p:cNvPr id="9" name="Freeform 9"/>
            <p:cNvSpPr/>
            <p:nvPr/>
          </p:nvSpPr>
          <p:spPr>
            <a:xfrm>
              <a:off x="6057900" y="2457450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</a:path>
              </a:pathLst>
            </a:custGeom>
            <a:noFill/>
            <a:ln w="23812" cap="rnd">
              <a:solidFill>
                <a:srgbClr val="2F6B3A"/>
              </a:solidFill>
              <a:round/>
            </a:ln>
          </p:spPr>
        </p:sp>
        <p:sp>
          <p:nvSpPr>
            <p:cNvPr id="10" name="Freeform 10"/>
            <p:cNvSpPr/>
            <p:nvPr/>
          </p:nvSpPr>
          <p:spPr>
            <a:xfrm>
              <a:off x="8905875" y="2457450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</a:path>
              </a:pathLst>
            </a:custGeom>
            <a:noFill/>
            <a:ln w="23812" cap="rnd">
              <a:solidFill>
                <a:srgbClr val="2F6B3A"/>
              </a:solidFill>
              <a:round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71500" y="1733550"/>
              <a:ext cx="2505075" cy="2971800"/>
              <a:chOff x="571500" y="1733550"/>
              <a:chExt cx="2505075" cy="2971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733550"/>
                <a:ext cx="2505075" cy="2971800"/>
              </a:xfrm>
              <a:prstGeom prst="roundRect">
                <a:avLst>
                  <a:gd name="adj" fmla="val 6844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12" name="Image 12"/>
              <p:cNvPicPr>
                <a:picLocks noChangeAspect="1"/>
              </p:cNvPicPr>
              <p:nvPr/>
            </p:nvPicPr>
            <p:blipFill>
              <a:blip r:embed="rId2"/>
              <a:srcRect l="0" t="16808" r="0" b="16809"/>
              <a:stretch>
                <a:fillRect/>
              </a:stretch>
            </p:blipFill>
            <p:spPr>
              <a:xfrm>
                <a:off x="704850" y="1895475"/>
                <a:ext cx="2238375" cy="1257300"/>
              </a:xfrm>
              <a:prstGeom prst="roundRect">
                <a:avLst>
                  <a:gd name="adj" fmla="val 9090"/>
                </a:avLst>
              </a:prstGeom>
            </p:spPr>
          </p:pic>
          <p:sp>
            <p:nvSpPr>
              <p:cNvPr id="13" name="Ellipse 13"/>
              <p:cNvSpPr/>
              <p:nvPr/>
            </p:nvSpPr>
            <p:spPr>
              <a:xfrm>
                <a:off x="733425" y="1924050"/>
                <a:ext cx="323850" cy="323850"/>
              </a:xfrm>
              <a:prstGeom prst="ellipse">
                <a:avLst/>
              </a:prstGeom>
              <a:solidFill>
                <a:srgbClr val="2F6B3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02563" y="2021681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3618" y="338423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示范田验证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762000" y="3657600"/>
                <a:ext cx="285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55904" y="385191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小范围示范，验证效果与收益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419475" y="1733550"/>
              <a:ext cx="2505075" cy="2971800"/>
              <a:chOff x="3419475" y="1733550"/>
              <a:chExt cx="2505075" cy="29718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419475" y="1733550"/>
                <a:ext cx="2505075" cy="2971800"/>
              </a:xfrm>
              <a:prstGeom prst="roundRect">
                <a:avLst>
                  <a:gd name="adj" fmla="val 6844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3"/>
              <a:srcRect l="0" t="16808" r="0" b="16809"/>
              <a:stretch>
                <a:fillRect/>
              </a:stretch>
            </p:blipFill>
            <p:spPr>
              <a:xfrm>
                <a:off x="3552825" y="1895475"/>
                <a:ext cx="2238375" cy="1257300"/>
              </a:xfrm>
              <a:prstGeom prst="roundRect">
                <a:avLst>
                  <a:gd name="adj" fmla="val 9090"/>
                </a:avLst>
              </a:prstGeom>
            </p:spPr>
          </p:pic>
          <p:sp>
            <p:nvSpPr>
              <p:cNvPr id="21" name="Ellipse 21"/>
              <p:cNvSpPr/>
              <p:nvPr/>
            </p:nvSpPr>
            <p:spPr>
              <a:xfrm>
                <a:off x="3581400" y="1924050"/>
                <a:ext cx="323850" cy="323850"/>
              </a:xfrm>
              <a:prstGeom prst="ellipse">
                <a:avLst/>
              </a:prstGeom>
              <a:solidFill>
                <a:srgbClr val="2F6B3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650538" y="2021681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01593" y="338423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合作社复制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3609975" y="3657600"/>
                <a:ext cx="285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03879" y="385191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与合作社合作，批量复制推广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267450" y="1733550"/>
              <a:ext cx="2505075" cy="2971800"/>
              <a:chOff x="6267450" y="1733550"/>
              <a:chExt cx="2505075" cy="2971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67450" y="1733550"/>
                <a:ext cx="2505075" cy="2971800"/>
              </a:xfrm>
              <a:prstGeom prst="roundRect">
                <a:avLst>
                  <a:gd name="adj" fmla="val 6844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28" name="Image 28"/>
              <p:cNvPicPr>
                <a:picLocks noChangeAspect="1"/>
              </p:cNvPicPr>
              <p:nvPr/>
            </p:nvPicPr>
            <p:blipFill>
              <a:blip r:embed="rId4"/>
              <a:srcRect l="0" t="16808" r="0" b="16809"/>
              <a:stretch>
                <a:fillRect/>
              </a:stretch>
            </p:blipFill>
            <p:spPr>
              <a:xfrm>
                <a:off x="6400800" y="1895475"/>
                <a:ext cx="2238375" cy="1257300"/>
              </a:xfrm>
              <a:prstGeom prst="roundRect">
                <a:avLst>
                  <a:gd name="adj" fmla="val 9090"/>
                </a:avLst>
              </a:prstGeom>
            </p:spPr>
          </p:pic>
          <p:sp>
            <p:nvSpPr>
              <p:cNvPr id="29" name="Ellipse 29"/>
              <p:cNvSpPr/>
              <p:nvPr/>
            </p:nvSpPr>
            <p:spPr>
              <a:xfrm>
                <a:off x="6429375" y="1924050"/>
                <a:ext cx="323850" cy="323850"/>
              </a:xfrm>
              <a:prstGeom prst="ellipse">
                <a:avLst/>
              </a:prstGeom>
              <a:solidFill>
                <a:srgbClr val="2F6B3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498513" y="2021681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49568" y="33842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区域农场推广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457950" y="3657600"/>
                <a:ext cx="285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451854" y="3851910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向周边大户与规模农场推广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115425" y="1733550"/>
              <a:ext cx="2505075" cy="2971800"/>
              <a:chOff x="9115425" y="1733550"/>
              <a:chExt cx="2505075" cy="29718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115425" y="1733550"/>
                <a:ext cx="2505075" cy="2971800"/>
              </a:xfrm>
              <a:prstGeom prst="roundRect">
                <a:avLst>
                  <a:gd name="adj" fmla="val 6844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36" name="Image 36"/>
              <p:cNvPicPr>
                <a:picLocks noChangeAspect="1"/>
              </p:cNvPicPr>
              <p:nvPr/>
            </p:nvPicPr>
            <p:blipFill>
              <a:blip r:embed="rId5"/>
              <a:srcRect l="0" t="16808" r="0" b="16809"/>
              <a:stretch>
                <a:fillRect/>
              </a:stretch>
            </p:blipFill>
            <p:spPr>
              <a:xfrm>
                <a:off x="9248775" y="1895475"/>
                <a:ext cx="2238375" cy="1257300"/>
              </a:xfrm>
              <a:prstGeom prst="roundRect">
                <a:avLst>
                  <a:gd name="adj" fmla="val 9090"/>
                </a:avLst>
              </a:prstGeom>
            </p:spPr>
          </p:pic>
          <p:sp>
            <p:nvSpPr>
              <p:cNvPr id="37" name="Ellipse 37"/>
              <p:cNvSpPr/>
              <p:nvPr/>
            </p:nvSpPr>
            <p:spPr>
              <a:xfrm>
                <a:off x="9277350" y="1924050"/>
                <a:ext cx="323850" cy="323850"/>
              </a:xfrm>
              <a:prstGeom prst="ellipse">
                <a:avLst/>
              </a:prstGeom>
              <a:solidFill>
                <a:srgbClr val="2F6B3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346488" y="2021681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297543" y="33842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服务网络拓展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9305925" y="3657600"/>
                <a:ext cx="285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299829" y="385191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建设服务网络，提供持续支持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71500" y="5276850"/>
            <a:ext cx="3505200" cy="361950"/>
            <a:chOff x="571500" y="5276850"/>
            <a:chExt cx="3505200" cy="361950"/>
          </a:xfrm>
        </p:grpSpPr>
        <p:sp>
          <p:nvSpPr>
            <p:cNvPr id="44" name="Rectangle 44"/>
            <p:cNvSpPr/>
            <p:nvPr/>
          </p:nvSpPr>
          <p:spPr>
            <a:xfrm>
              <a:off x="5715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77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先示范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56210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69545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88595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09222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再复制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287655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300990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2004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4066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后扩张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55" name="Rectangle 55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343406" y="59969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推广不是一次卖出，而是靠口碑和效果持续扩散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4128135" cy="1032701"/>
            <a:chOff x="571500" y="381000"/>
            <a:chExt cx="4128135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02 · 应用场景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应用场景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围绕玉米生产全过程，覆盖田间管理与远程运维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743075"/>
            <a:ext cx="5334000" cy="2895600"/>
            <a:chOff x="571500" y="1743075"/>
            <a:chExt cx="5334000" cy="2895600"/>
          </a:xfrm>
        </p:grpSpPr>
        <p:sp>
          <p:nvSpPr>
            <p:cNvPr id="8" name="Rectangle 8"/>
            <p:cNvSpPr/>
            <p:nvPr/>
          </p:nvSpPr>
          <p:spPr>
            <a:xfrm>
              <a:off x="571500" y="1743075"/>
              <a:ext cx="5334000" cy="2895600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5440" r="0" b="25440"/>
            <a:stretch>
              <a:fillRect/>
            </a:stretch>
          </p:blipFill>
          <p:spPr>
            <a:xfrm>
              <a:off x="723900" y="1895475"/>
              <a:ext cx="5029200" cy="1428750"/>
            </a:xfrm>
            <a:prstGeom prst="roundRect">
              <a:avLst>
                <a:gd name="adj" fmla="val 8000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904113" y="3515201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合作社示范田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848100"/>
              <a:ext cx="3238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" y="4076700"/>
              <a:ext cx="1485900" cy="342900"/>
            </a:xfrm>
            <a:prstGeom prst="roundRect">
              <a:avLst>
                <a:gd name="adj" fmla="val 27778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50086" y="4183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节水增效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52700" y="4076700"/>
              <a:ext cx="1485900" cy="342900"/>
            </a:xfrm>
            <a:prstGeom prst="roundRect">
              <a:avLst>
                <a:gd name="adj" fmla="val 27778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12999" y="41838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方案可复制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91000" y="4076700"/>
              <a:ext cx="1485900" cy="342900"/>
            </a:xfrm>
            <a:prstGeom prst="roundRect">
              <a:avLst>
                <a:gd name="adj" fmla="val 27778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26686" y="4183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带动增收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72200" y="1743075"/>
            <a:ext cx="5448300" cy="1333500"/>
            <a:chOff x="6172200" y="1743075"/>
            <a:chExt cx="54483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6172200" y="1743075"/>
              <a:ext cx="5448300" cy="1333500"/>
            </a:xfrm>
            <a:prstGeom prst="roundRect">
              <a:avLst>
                <a:gd name="adj" fmla="val 12857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30518" y="1974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规模农场管理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38900" y="238125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22211" y="24788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精准灌溉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24825" y="238125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08136" y="24788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降本增产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810750" y="238125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94061" y="24788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过程可控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72200" y="3305175"/>
            <a:ext cx="5448300" cy="1333500"/>
            <a:chOff x="6172200" y="3305175"/>
            <a:chExt cx="5448300" cy="1333500"/>
          </a:xfrm>
        </p:grpSpPr>
        <p:sp>
          <p:nvSpPr>
            <p:cNvPr id="28" name="Rectangle 28"/>
            <p:cNvSpPr/>
            <p:nvPr/>
          </p:nvSpPr>
          <p:spPr>
            <a:xfrm>
              <a:off x="6172200" y="3305175"/>
              <a:ext cx="5448300" cy="1333500"/>
            </a:xfrm>
            <a:prstGeom prst="roundRect">
              <a:avLst>
                <a:gd name="adj" fmla="val 12857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30518" y="3536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远程监控运维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38900" y="394335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22211" y="40409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远程看控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24825" y="394335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08136" y="40409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异常预警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810750" y="394335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94061" y="40409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运维高效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276850"/>
            <a:ext cx="3505200" cy="361950"/>
            <a:chOff x="571500" y="5276850"/>
            <a:chExt cx="3505200" cy="361950"/>
          </a:xfrm>
        </p:grpSpPr>
        <p:sp>
          <p:nvSpPr>
            <p:cNvPr id="37" name="Rectangle 37"/>
            <p:cNvSpPr/>
            <p:nvPr/>
          </p:nvSpPr>
          <p:spPr>
            <a:xfrm>
              <a:off x="5715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77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看得见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156210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69545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88595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9222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管得住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87655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300990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2004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066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用得起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48" name="Rectangle 48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43406" y="59969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从设备落地到数据回流，形成真正可用的应用场景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4401769" cy="1032701"/>
            <a:chOff x="571500" y="381000"/>
            <a:chExt cx="4401769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03 · 核心团队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核心团队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4103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机械 + 自动化 + 通信 + AI，构成跨学科协同团队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743075"/>
            <a:ext cx="11049000" cy="2762250"/>
            <a:chOff x="571500" y="1743075"/>
            <a:chExt cx="11049000" cy="2762250"/>
          </a:xfrm>
        </p:grpSpPr>
        <p:sp>
          <p:nvSpPr>
            <p:cNvPr id="8" name="Line 8"/>
            <p:cNvSpPr/>
            <p:nvPr/>
          </p:nvSpPr>
          <p:spPr>
            <a:xfrm>
              <a:off x="571500" y="27908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DCE4D0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667000" y="2733675"/>
              <a:ext cx="114300" cy="114300"/>
            </a:xfrm>
            <a:prstGeom prst="ellipse">
              <a:avLst/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914900" y="2733675"/>
              <a:ext cx="114300" cy="114300"/>
            </a:xfrm>
            <a:prstGeom prst="ellipse">
              <a:avLst/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162800" y="2733675"/>
              <a:ext cx="114300" cy="114300"/>
            </a:xfrm>
            <a:prstGeom prst="ellipse">
              <a:avLst/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410700" y="2733675"/>
              <a:ext cx="114300" cy="114300"/>
            </a:xfrm>
            <a:prstGeom prst="ellipse">
              <a:avLst/>
            </a:prstGeom>
            <a:solidFill>
              <a:srgbClr val="6FA84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71500" y="1743075"/>
              <a:ext cx="2057400" cy="2762250"/>
              <a:chOff x="571500" y="1743075"/>
              <a:chExt cx="2057400" cy="2762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1743075"/>
                <a:ext cx="2057400" cy="276225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2"/>
              <a:srcRect l="0" t="4747" r="0" b="4747"/>
              <a:stretch>
                <a:fillRect/>
              </a:stretch>
            </p:blipFill>
            <p:spPr>
              <a:xfrm>
                <a:off x="704850" y="1876425"/>
                <a:ext cx="1790700" cy="1790700"/>
              </a:xfrm>
              <a:prstGeom prst="roundRect">
                <a:avLst>
                  <a:gd name="adj" fmla="val 7446"/>
                </a:avLst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1166800" y="3878104"/>
                <a:ext cx="8668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机械研发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447800" y="4152900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2819400" y="1743075"/>
              <a:ext cx="2057400" cy="2762250"/>
              <a:chOff x="2819400" y="1743075"/>
              <a:chExt cx="2057400" cy="2762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19400" y="1743075"/>
                <a:ext cx="2057400" cy="276225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19" name="Image 19"/>
              <p:cNvPicPr>
                <a:picLocks noChangeAspect="1"/>
              </p:cNvPicPr>
              <p:nvPr/>
            </p:nvPicPr>
            <p:blipFill>
              <a:blip r:embed="rId3"/>
              <a:srcRect l="0" t="5380" r="0" b="5379"/>
              <a:stretch>
                <a:fillRect/>
              </a:stretch>
            </p:blipFill>
            <p:spPr>
              <a:xfrm>
                <a:off x="2952750" y="1876425"/>
                <a:ext cx="1790700" cy="1790700"/>
              </a:xfrm>
              <a:prstGeom prst="roundRect">
                <a:avLst>
                  <a:gd name="adj" fmla="val 7446"/>
                </a:avLst>
              </a:prstGeom>
            </p:spPr>
          </p:pic>
          <p:sp>
            <p:nvSpPr>
              <p:cNvPr id="20" name="TextBox 20"/>
              <p:cNvSpPr txBox="1"/>
              <p:nvPr/>
            </p:nvSpPr>
            <p:spPr>
              <a:xfrm>
                <a:off x="3308350" y="3878104"/>
                <a:ext cx="1079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嵌入式控制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695700" y="4152900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067300" y="1743075"/>
              <a:ext cx="2057400" cy="2762250"/>
              <a:chOff x="5067300" y="1743075"/>
              <a:chExt cx="2057400" cy="2762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067300" y="1743075"/>
                <a:ext cx="2057400" cy="276225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24" name="Image 24"/>
              <p:cNvPicPr>
                <a:picLocks noChangeAspect="1"/>
              </p:cNvPicPr>
              <p:nvPr/>
            </p:nvPicPr>
            <p:blipFill>
              <a:blip r:embed="rId4"/>
              <a:srcRect l="0" t="5064" r="0" b="5063"/>
              <a:stretch>
                <a:fillRect/>
              </a:stretch>
            </p:blipFill>
            <p:spPr>
              <a:xfrm>
                <a:off x="5200650" y="1876425"/>
                <a:ext cx="1790700" cy="1790700"/>
              </a:xfrm>
              <a:prstGeom prst="roundRect">
                <a:avLst>
                  <a:gd name="adj" fmla="val 7446"/>
                </a:avLst>
              </a:prstGeom>
            </p:spPr>
          </p:pic>
          <p:sp>
            <p:nvSpPr>
              <p:cNvPr id="25" name="TextBox 25"/>
              <p:cNvSpPr txBox="1"/>
              <p:nvPr/>
            </p:nvSpPr>
            <p:spPr>
              <a:xfrm>
                <a:off x="5762970" y="3878104"/>
                <a:ext cx="66606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AI算法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43600" y="4152900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7315200" y="1743075"/>
              <a:ext cx="2057400" cy="2762250"/>
              <a:chOff x="7315200" y="1743075"/>
              <a:chExt cx="2057400" cy="2762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315200" y="1743075"/>
                <a:ext cx="2057400" cy="276225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29" name="Image 29"/>
              <p:cNvPicPr>
                <a:picLocks noChangeAspect="1"/>
              </p:cNvPicPr>
              <p:nvPr/>
            </p:nvPicPr>
            <p:blipFill>
              <a:blip r:embed="rId5"/>
              <a:srcRect l="0" t="5696" r="0" b="5696"/>
              <a:stretch>
                <a:fillRect/>
              </a:stretch>
            </p:blipFill>
            <p:spPr>
              <a:xfrm>
                <a:off x="7448550" y="1876425"/>
                <a:ext cx="1790700" cy="1790700"/>
              </a:xfrm>
              <a:prstGeom prst="roundRect">
                <a:avLst>
                  <a:gd name="adj" fmla="val 7446"/>
                </a:avLst>
              </a:prstGeom>
            </p:spPr>
          </p:pic>
          <p:sp>
            <p:nvSpPr>
              <p:cNvPr id="30" name="TextBox 30"/>
              <p:cNvSpPr txBox="1"/>
              <p:nvPr/>
            </p:nvSpPr>
            <p:spPr>
              <a:xfrm>
                <a:off x="7804150" y="3878104"/>
                <a:ext cx="1079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通信与物联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191500" y="4152900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9563100" y="1743075"/>
              <a:ext cx="2057400" cy="2762250"/>
              <a:chOff x="9563100" y="1743075"/>
              <a:chExt cx="2057400" cy="27622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9563100" y="1743075"/>
                <a:ext cx="2057400" cy="276225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34" name="Image 34"/>
              <p:cNvPicPr>
                <a:picLocks noChangeAspect="1"/>
              </p:cNvPicPr>
              <p:nvPr/>
            </p:nvPicPr>
            <p:blipFill>
              <a:blip r:embed="rId6"/>
              <a:srcRect l="0" t="5380" r="0" b="5379"/>
              <a:stretch>
                <a:fillRect/>
              </a:stretch>
            </p:blipFill>
            <p:spPr>
              <a:xfrm>
                <a:off x="9696450" y="1876425"/>
                <a:ext cx="1790700" cy="1790700"/>
              </a:xfrm>
              <a:prstGeom prst="roundRect">
                <a:avLst>
                  <a:gd name="adj" fmla="val 7446"/>
                </a:avLst>
              </a:prstGeom>
            </p:spPr>
          </p:pic>
          <p:sp>
            <p:nvSpPr>
              <p:cNvPr id="35" name="TextBox 35"/>
              <p:cNvSpPr txBox="1"/>
              <p:nvPr/>
            </p:nvSpPr>
            <p:spPr>
              <a:xfrm>
                <a:off x="10158400" y="3878104"/>
                <a:ext cx="8668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市场调研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0439400" y="4152900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</p:grpSp>
      <p:grpSp>
        <p:nvGrpSpPr>
          <p:cNvPr id="49" name="Group 49"/>
          <p:cNvGrpSpPr/>
          <p:nvPr/>
        </p:nvGrpSpPr>
        <p:grpSpPr>
          <a:xfrm>
            <a:off x="571500" y="5276850"/>
            <a:ext cx="3505200" cy="361950"/>
            <a:chOff x="571500" y="5276850"/>
            <a:chExt cx="3505200" cy="361950"/>
          </a:xfrm>
        </p:grpSpPr>
        <p:sp>
          <p:nvSpPr>
            <p:cNvPr id="39" name="Rectangle 39"/>
            <p:cNvSpPr/>
            <p:nvPr/>
          </p:nvSpPr>
          <p:spPr>
            <a:xfrm>
              <a:off x="5715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77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跨学科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56210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69545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88595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09222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能研发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87655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00990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2004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066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懂田间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50" name="Rectangle 50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343406" y="59969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一个能把想法做成设备的团队，才有资格谈落地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4673346" cy="1032701"/>
            <a:chOff x="571500" y="381000"/>
            <a:chExt cx="4673346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502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04 · 导师与资源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导师与资源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高校导师、实验平台与试验田资源，共同支撑项目成长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743075"/>
            <a:ext cx="5334000" cy="3305175"/>
            <a:chOff x="571500" y="1743075"/>
            <a:chExt cx="5334000" cy="3305175"/>
          </a:xfrm>
        </p:grpSpPr>
        <p:sp>
          <p:nvSpPr>
            <p:cNvPr id="8" name="Rectangle 8"/>
            <p:cNvSpPr/>
            <p:nvPr/>
          </p:nvSpPr>
          <p:spPr>
            <a:xfrm>
              <a:off x="571500" y="1743075"/>
              <a:ext cx="5334000" cy="3305175"/>
            </a:xfrm>
            <a:prstGeom prst="roundRect">
              <a:avLst>
                <a:gd name="adj" fmla="val 5764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18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导师阵容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320" t="0" r="321" b="0"/>
            <a:stretch>
              <a:fillRect/>
            </a:stretch>
          </p:blipFill>
          <p:spPr>
            <a:xfrm>
              <a:off x="800100" y="2400300"/>
              <a:ext cx="762000" cy="990600"/>
            </a:xfrm>
            <a:prstGeom prst="roundRect">
              <a:avLst>
                <a:gd name="adj" fmla="val 15000"/>
              </a:avLst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1707261" y="2798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农艺指导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14500" y="30670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320" t="0" r="321" b="0"/>
            <a:stretch>
              <a:fillRect/>
            </a:stretch>
          </p:blipFill>
          <p:spPr>
            <a:xfrm>
              <a:off x="3314700" y="2400300"/>
              <a:ext cx="762000" cy="990600"/>
            </a:xfrm>
            <a:prstGeom prst="roundRect">
              <a:avLst>
                <a:gd name="adj" fmla="val 15000"/>
              </a:avLst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221861" y="2798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节水灌溉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29100" y="30670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rcRect l="320" t="0" r="321" b="0"/>
            <a:stretch>
              <a:fillRect/>
            </a:stretch>
          </p:blipFill>
          <p:spPr>
            <a:xfrm>
              <a:off x="800100" y="3543300"/>
              <a:ext cx="762000" cy="990600"/>
            </a:xfrm>
            <a:prstGeom prst="roundRect">
              <a:avLst>
                <a:gd name="adj" fmla="val 15000"/>
              </a:avLst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1707261" y="3941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工程实现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714500" y="42100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rcRect l="320" t="0" r="321" b="0"/>
            <a:stretch>
              <a:fillRect/>
            </a:stretch>
          </p:blipFill>
          <p:spPr>
            <a:xfrm>
              <a:off x="3314700" y="3543300"/>
              <a:ext cx="762000" cy="990600"/>
            </a:xfrm>
            <a:prstGeom prst="roundRect">
              <a:avLst>
                <a:gd name="adj" fmla="val 15000"/>
              </a:avLst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221861" y="3941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项目管理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229100" y="42100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134100" y="1743075"/>
            <a:ext cx="5486400" cy="3305175"/>
            <a:chOff x="6134100" y="1743075"/>
            <a:chExt cx="5486400" cy="3305175"/>
          </a:xfrm>
        </p:grpSpPr>
        <p:sp>
          <p:nvSpPr>
            <p:cNvPr id="23" name="Rectangle 23"/>
            <p:cNvSpPr/>
            <p:nvPr/>
          </p:nvSpPr>
          <p:spPr>
            <a:xfrm>
              <a:off x="6134100" y="1743075"/>
              <a:ext cx="5486400" cy="3305175"/>
            </a:xfrm>
            <a:prstGeom prst="roundRect">
              <a:avLst>
                <a:gd name="adj" fmla="val 5764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4318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资源支撑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6"/>
            <a:srcRect l="15206" t="0" r="15206" b="0"/>
            <a:stretch>
              <a:fillRect/>
            </a:stretch>
          </p:blipFill>
          <p:spPr>
            <a:xfrm>
              <a:off x="6362700" y="2400300"/>
              <a:ext cx="857250" cy="533400"/>
            </a:xfrm>
            <a:prstGeom prst="roundRect">
              <a:avLst>
                <a:gd name="adj" fmla="val 17857"/>
              </a:avLst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384542" y="26069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黑龙江大学</a:t>
              </a:r>
            </a:p>
          </p:txBody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7"/>
            <a:srcRect l="14474" t="0" r="14473" b="0"/>
            <a:stretch>
              <a:fillRect/>
            </a:stretch>
          </p:blipFill>
          <p:spPr>
            <a:xfrm>
              <a:off x="6362700" y="3067050"/>
              <a:ext cx="857250" cy="533400"/>
            </a:xfrm>
            <a:prstGeom prst="roundRect">
              <a:avLst>
                <a:gd name="adj" fmla="val 17857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384542" y="32737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实验平台</a:t>
              </a: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8"/>
            <a:srcRect l="14096" t="0" r="14095" b="0"/>
            <a:stretch>
              <a:fillRect/>
            </a:stretch>
          </p:blipFill>
          <p:spPr>
            <a:xfrm>
              <a:off x="6362700" y="3733800"/>
              <a:ext cx="857250" cy="533400"/>
            </a:xfrm>
            <a:prstGeom prst="roundRect">
              <a:avLst>
                <a:gd name="adj" fmla="val 17857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384542" y="39404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合作社</a:t>
              </a: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9"/>
            <a:srcRect l="14844" t="0" r="14844" b="0"/>
            <a:stretch>
              <a:fillRect/>
            </a:stretch>
          </p:blipFill>
          <p:spPr>
            <a:xfrm>
              <a:off x="6362700" y="4400550"/>
              <a:ext cx="857250" cy="533400"/>
            </a:xfrm>
            <a:prstGeom prst="roundRect">
              <a:avLst>
                <a:gd name="adj" fmla="val 17857"/>
              </a:avLst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7384542" y="4607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试验田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34" name="Rectangle 34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43406" y="59969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项目不是单兵作战，而是建立在持续资源支撑之上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4309872" cy="1032701"/>
            <a:chOff x="571500" y="381000"/>
            <a:chExt cx="4309872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05 · 发展规划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发展规划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以示范验证为起点，逐步走向区域复制与规模推广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828800"/>
            <a:ext cx="11049000" cy="2971800"/>
            <a:chOff x="571500" y="1828800"/>
            <a:chExt cx="11049000" cy="2971800"/>
          </a:xfrm>
        </p:grpSpPr>
        <p:sp>
          <p:nvSpPr>
            <p:cNvPr id="8" name="Line 8"/>
            <p:cNvSpPr/>
            <p:nvPr/>
          </p:nvSpPr>
          <p:spPr>
            <a:xfrm>
              <a:off x="571500" y="2114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DCE4D0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219325" y="2047875"/>
              <a:ext cx="133350" cy="133350"/>
            </a:xfrm>
            <a:prstGeom prst="ellipse">
              <a:avLst/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029325" y="2047875"/>
              <a:ext cx="133350" cy="133350"/>
            </a:xfrm>
            <a:prstGeom prst="ellipse">
              <a:avLst/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839325" y="2047875"/>
              <a:ext cx="133350" cy="133350"/>
            </a:xfrm>
            <a:prstGeom prst="ellipse">
              <a:avLst/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2286000" y="21812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C9D6B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21812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C9D6B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906000" y="21812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C9D6B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90725" y="1828800"/>
              <a:ext cx="590550" cy="2857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06141" y="19073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6B3A"/>
                  </a:solidFill>
                  <a:latin typeface="Segoe UI"/>
                  <a:ea typeface="Segoe UI"/>
                  <a:cs typeface="Segoe UI"/>
                </a:rPr>
                <a:t>2026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00725" y="1828800"/>
              <a:ext cx="590550" cy="2857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16141" y="19073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6B3A"/>
                  </a:solidFill>
                  <a:latin typeface="Segoe UI"/>
                  <a:ea typeface="Segoe UI"/>
                  <a:cs typeface="Segoe UI"/>
                </a:rPr>
                <a:t>2027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610725" y="1828800"/>
              <a:ext cx="590550" cy="2857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26141" y="19073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6B3A"/>
                  </a:solidFill>
                  <a:latin typeface="Segoe UI"/>
                  <a:ea typeface="Segoe UI"/>
                  <a:cs typeface="Segoe UI"/>
                </a:rPr>
                <a:t>2028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71500" y="2400300"/>
              <a:ext cx="3429000" cy="2400300"/>
              <a:chOff x="571500" y="2400300"/>
              <a:chExt cx="3429000" cy="24003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2400300"/>
                <a:ext cx="3429000" cy="24003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91337" y="2614136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示范验证</a:t>
                </a:r>
              </a:p>
            </p:txBody>
          </p:sp>
          <p:pic>
            <p:nvPicPr>
              <p:cNvPr id="23" name="Image 23"/>
              <p:cNvPicPr>
                <a:picLocks noChangeAspect="1"/>
              </p:cNvPicPr>
              <p:nvPr/>
            </p:nvPicPr>
            <p:blipFill>
              <a:blip r:embed="rId2"/>
              <a:srcRect l="0" t="11250" r="0" b="11249"/>
              <a:stretch>
                <a:fillRect/>
              </a:stretch>
            </p:blipFill>
            <p:spPr>
              <a:xfrm>
                <a:off x="800100" y="3000375"/>
                <a:ext cx="2971800" cy="1123950"/>
              </a:xfrm>
              <a:prstGeom prst="roundRect">
                <a:avLst>
                  <a:gd name="adj" fmla="val 10169"/>
                </a:avLst>
              </a:prstGeom>
            </p:spPr>
          </p:pic>
          <p:sp>
            <p:nvSpPr>
              <p:cNvPr id="24" name="TextBox 24"/>
              <p:cNvSpPr txBox="1"/>
              <p:nvPr/>
            </p:nvSpPr>
            <p:spPr>
              <a:xfrm>
                <a:off x="794004" y="43281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落地示范基地，验证效果与模式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381500" y="2400300"/>
              <a:ext cx="3429000" cy="2400300"/>
              <a:chOff x="4381500" y="2400300"/>
              <a:chExt cx="3429000" cy="24003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81500" y="2400300"/>
                <a:ext cx="3429000" cy="24003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601337" y="2614136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区域复制</a:t>
                </a:r>
              </a:p>
            </p:txBody>
          </p:sp>
          <p:pic>
            <p:nvPicPr>
              <p:cNvPr id="28" name="Image 28"/>
              <p:cNvPicPr>
                <a:picLocks noChangeAspect="1"/>
              </p:cNvPicPr>
              <p:nvPr/>
            </p:nvPicPr>
            <p:blipFill>
              <a:blip r:embed="rId3"/>
              <a:srcRect l="0" t="12800" r="0" b="12799"/>
              <a:stretch>
                <a:fillRect/>
              </a:stretch>
            </p:blipFill>
            <p:spPr>
              <a:xfrm>
                <a:off x="4610100" y="3000375"/>
                <a:ext cx="2971800" cy="1123950"/>
              </a:xfrm>
              <a:prstGeom prst="roundRect">
                <a:avLst>
                  <a:gd name="adj" fmla="val 10169"/>
                </a:avLst>
              </a:prstGeom>
            </p:spPr>
          </p:pic>
          <p:sp>
            <p:nvSpPr>
              <p:cNvPr id="29" name="TextBox 29"/>
              <p:cNvSpPr txBox="1"/>
              <p:nvPr/>
            </p:nvSpPr>
            <p:spPr>
              <a:xfrm>
                <a:off x="4604004" y="432816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拓展合作伙伴，复制服务模式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191500" y="2400300"/>
              <a:ext cx="3429000" cy="2400300"/>
              <a:chOff x="8191500" y="2400300"/>
              <a:chExt cx="3429000" cy="24003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191500" y="2400300"/>
                <a:ext cx="3429000" cy="24003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11337" y="2614136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规模推广</a:t>
                </a:r>
              </a:p>
            </p:txBody>
          </p:sp>
          <p:pic>
            <p:nvPicPr>
              <p:cNvPr id="33" name="Image 33"/>
              <p:cNvPicPr>
                <a:picLocks noChangeAspect="1"/>
              </p:cNvPicPr>
              <p:nvPr/>
            </p:nvPicPr>
            <p:blipFill>
              <a:blip r:embed="rId4"/>
              <a:srcRect l="0" t="11250" r="0" b="11249"/>
              <a:stretch>
                <a:fillRect/>
              </a:stretch>
            </p:blipFill>
            <p:spPr>
              <a:xfrm>
                <a:off x="8420100" y="3000375"/>
                <a:ext cx="2971800" cy="1123950"/>
              </a:xfrm>
              <a:prstGeom prst="roundRect">
                <a:avLst>
                  <a:gd name="adj" fmla="val 10169"/>
                </a:avLst>
              </a:prstGeom>
            </p:spPr>
          </p:pic>
          <p:sp>
            <p:nvSpPr>
              <p:cNvPr id="34" name="TextBox 34"/>
              <p:cNvSpPr txBox="1"/>
              <p:nvPr/>
            </p:nvSpPr>
            <p:spPr>
              <a:xfrm>
                <a:off x="8414004" y="43281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实现规模化推广，服务更多农田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71500" y="5276850"/>
            <a:ext cx="3733800" cy="361950"/>
            <a:chOff x="571500" y="5276850"/>
            <a:chExt cx="3733800" cy="361950"/>
          </a:xfrm>
        </p:grpSpPr>
        <p:sp>
          <p:nvSpPr>
            <p:cNvPr id="37" name="Rectangle 37"/>
            <p:cNvSpPr/>
            <p:nvPr/>
          </p:nvSpPr>
          <p:spPr>
            <a:xfrm>
              <a:off x="571500" y="5276850"/>
              <a:ext cx="11049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465" y="5403056"/>
              <a:ext cx="724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200亩示范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179070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92405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11455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245436" y="5403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区域复制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310515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323850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290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59886" y="5403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持续迭代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48" name="Rectangle 48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43406" y="59969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让每一亩玉米田，都能用得上、用得好智能水肥决策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higuan_yunlian_beautify">
  <a:themeElements>
    <a:clrScheme name="zhiguan_yunlian_beautif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higuan_yunlian_beautify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guan_yunlian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2026-08-30T08:14:19Z</dcterms:created>
  <dcterms:modified xsi:type="dcterms:W3CDTF">2026-08-30T08:14:19Z</dcterms:modified>
  <cp:category/>
  <cp:contentStatus/>
</cp:coreProperties>
</file>